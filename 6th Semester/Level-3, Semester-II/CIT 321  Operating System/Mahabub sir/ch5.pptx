
<file path=[Content_Types].xml><?xml version="1.0" encoding="utf-8"?>
<Types xmlns="http://schemas.openxmlformats.org/package/2006/content-types">
  <Default Extension="xml" ContentType="application/xml"/>
  <Default Extension="svg" ContentType="image/svg+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9.xml" ContentType="application/vnd.openxmlformats-officedocument.presentationml.notesSlide+xml"/>
  <Override PartName="/ppt/notesSlides/notesSlide77.xml" ContentType="application/vnd.openxmlformats-officedocument.presentationml.notesSlide+xml"/>
  <Override PartName="/ppt/notesSlides/notesSlide71.xml" ContentType="application/vnd.openxmlformats-officedocument.presentationml.notesSlide+xml"/>
  <Override PartName="/ppt/notesSlides/notesSlide69.xml" ContentType="application/vnd.openxmlformats-officedocument.presentationml.notesSlide+xml"/>
  <Override PartName="/ppt/notesSlides/notesSlide66.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62.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56.xml" ContentType="application/vnd.openxmlformats-officedocument.presentationml.notesSlide+xml"/>
  <Override PartName="/ppt/notesSlides/notesSlide22.xml" ContentType="application/vnd.openxmlformats-officedocument.presentationml.notesSlide+xml"/>
  <Override PartName="/ppt/notesSlides/notesSlide67.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68.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61.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s/slide79.xml" ContentType="application/vnd.openxmlformats-officedocument.presentationml.slide+xml"/>
  <Override PartName="/ppt/slides/slide77.xml" ContentType="application/vnd.openxmlformats-officedocument.presentationml.slide+xml"/>
  <Override PartName="/ppt/slides/slide23.xml" ContentType="application/vnd.openxmlformats-officedocument.presentationml.slide+xml"/>
  <Override PartName="/ppt/notesSlides/notesSlide40.xml" ContentType="application/vnd.openxmlformats-officedocument.presentationml.notesSlide+xml"/>
  <Override PartName="/ppt/slides/slide56.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74.xml" ContentType="application/vnd.openxmlformats-officedocument.presentationml.notes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notesSlides/notesSlide12.xml" ContentType="application/vnd.openxmlformats-officedocument.presentationml.notesSlide+xml"/>
  <Override PartName="/ppt/slides/slide11.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docProps/core.xml" ContentType="application/vnd.openxmlformats-package.core-properties+xml"/>
  <Override PartName="/ppt/slideLayouts/slideLayout8.xml" ContentType="application/vnd.openxmlformats-officedocument.presentationml.slideLayout+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ppt/notesSlides/notesSlide70.xml" ContentType="application/vnd.openxmlformats-officedocument.presentationml.notesSlide+xml"/>
  <Override PartName="/ppt/slides/slide58.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s/slide68.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67.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s/slide61.xml" ContentType="application/vnd.openxmlformats-officedocument.presentationml.slide+xml"/>
  <Override PartName="/ppt/slideLayouts/slideLayout1.xml" ContentType="application/vnd.openxmlformats-officedocument.presentationml.slideLayout+xml"/>
  <Override PartName="/ppt/slides/slide65.xml" ContentType="application/vnd.openxmlformats-officedocument.presentationml.slide+xml"/>
  <Override PartName="/ppt/slides/slide72.xml" ContentType="application/vnd.openxmlformats-officedocument.presentationml.slide+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18.xml" ContentType="application/vnd.openxmlformats-officedocument.presentationml.slide+xml"/>
  <Override PartName="/ppt/slides/slide69.xml" ContentType="application/vnd.openxmlformats-officedocument.presentationml.slide+xml"/>
  <Override PartName="/ppt/notesSlides/notesSlide75.xml" ContentType="application/vnd.openxmlformats-officedocument.presentationml.notesSlide+xml"/>
  <Override PartName="/ppt/slides/slide31.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71.xml" ContentType="application/vnd.openxmlformats-officedocument.presentationml.slide+xml"/>
  <Override PartName="/ppt/slides/slide39.xml" ContentType="application/vnd.openxmlformats-officedocument.presentationml.slide+xml"/>
  <Override PartName="/ppt/slides/slide33.xml" ContentType="application/vnd.openxmlformats-officedocument.presentationml.slide+xml"/>
  <Override PartName="/ppt/slides/slide63.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73.xml" ContentType="application/vnd.openxmlformats-officedocument.presentationml.notes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notesSlides/notesSlide65.xml" ContentType="application/vnd.openxmlformats-officedocument.presentationml.notes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slides/slide50.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34.xml" ContentType="application/vnd.openxmlformats-officedocument.presentationml.notesSlide+xml"/>
  <Override PartName="/ppt/slides/slide57.xml" ContentType="application/vnd.openxmlformats-officedocument.presentationml.slide+xml"/>
  <Override PartName="/ppt/slides/slide78.xml" ContentType="application/vnd.openxmlformats-officedocument.presentationml.slide+xml"/>
  <Override PartName="/ppt/slides/slide76.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Layouts/slideLayout3.xml" ContentType="application/vnd.openxmlformats-officedocument.presentationml.slideLayout+xml"/>
  <Override PartName="/ppt/slides/slide62.xml" ContentType="application/vnd.openxmlformats-officedocument.presentationml.slide+xml"/>
  <Override PartName="/ppt/notesSlides/notesSlide78.xml" ContentType="application/vnd.openxmlformats-officedocument.presentationml.notesSlide+xml"/>
  <Override PartName="/ppt/slides/slide64.xml" ContentType="application/vnd.openxmlformats-officedocument.presentationml.slide+xml"/>
  <Override PartName="/ppt/slideLayouts/slideLayout10.xml" ContentType="application/vnd.openxmlformats-officedocument.presentationml.slideLayout+xml"/>
  <Override PartName="/ppt/slides/slide66.xml" ContentType="application/vnd.openxmlformats-officedocument.presentationml.slide+xml"/>
  <Override PartName="/ppt/slides/slide43.xml" ContentType="application/vnd.openxmlformats-officedocument.presentationml.slide+xml"/>
  <Override PartName="/ppt/slides/slide70.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73.xml" ContentType="application/vnd.openxmlformats-officedocument.presentationml.slide+xml"/>
  <Override PartName="/ppt/slides/slide75.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strictFirstAndLastChars="0">
  <p:sldMasterIdLst>
    <p:sldMasterId id="2147483648" r:id="rId1"/>
  </p:sldMasterIdLst>
  <p:notesMasterIdLst>
    <p:notesMasterId r:id="rId8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Lst>
  <p:sldSz cx="9144000" cy="6858000" type="screen4x3"/>
  <p:notesSz cx="7086600" cy="9372600"/>
  <p:defaultTextStyle>
    <a:defPPr>
      <a:defRPr lang="en-US"/>
    </a:defPPr>
    <a:lvl1pPr algn="l" rtl="0">
      <a:spcBef>
        <a:spcPts val="0"/>
      </a:spcBef>
      <a:spcAft>
        <a:spcPts val="0"/>
      </a:spcAft>
      <a:defRPr>
        <a:solidFill>
          <a:schemeClr val="tx1"/>
        </a:solidFill>
        <a:latin typeface="Verdana"/>
        <a:ea typeface="MS PGothic"/>
        <a:cs typeface="+mn-cs"/>
      </a:defRPr>
    </a:lvl1pPr>
    <a:lvl2pPr marL="457200" algn="l" rtl="0">
      <a:spcBef>
        <a:spcPts val="0"/>
      </a:spcBef>
      <a:spcAft>
        <a:spcPts val="0"/>
      </a:spcAft>
      <a:defRPr>
        <a:solidFill>
          <a:schemeClr val="tx1"/>
        </a:solidFill>
        <a:latin typeface="Verdana"/>
        <a:ea typeface="MS PGothic"/>
        <a:cs typeface="+mn-cs"/>
      </a:defRPr>
    </a:lvl2pPr>
    <a:lvl3pPr marL="914400" algn="l" rtl="0">
      <a:spcBef>
        <a:spcPts val="0"/>
      </a:spcBef>
      <a:spcAft>
        <a:spcPts val="0"/>
      </a:spcAft>
      <a:defRPr>
        <a:solidFill>
          <a:schemeClr val="tx1"/>
        </a:solidFill>
        <a:latin typeface="Verdana"/>
        <a:ea typeface="MS PGothic"/>
        <a:cs typeface="+mn-cs"/>
      </a:defRPr>
    </a:lvl3pPr>
    <a:lvl4pPr marL="1371600" algn="l" rtl="0">
      <a:spcBef>
        <a:spcPts val="0"/>
      </a:spcBef>
      <a:spcAft>
        <a:spcPts val="0"/>
      </a:spcAft>
      <a:defRPr>
        <a:solidFill>
          <a:schemeClr val="tx1"/>
        </a:solidFill>
        <a:latin typeface="Verdana"/>
        <a:ea typeface="MS PGothic"/>
        <a:cs typeface="+mn-cs"/>
      </a:defRPr>
    </a:lvl4pPr>
    <a:lvl5pPr marL="1828800" algn="l" rtl="0">
      <a:spcBef>
        <a:spcPts val="0"/>
      </a:spcBef>
      <a:spcAft>
        <a:spcPts val="0"/>
      </a:spcAft>
      <a:defRPr>
        <a:solidFill>
          <a:schemeClr val="tx1"/>
        </a:solidFill>
        <a:latin typeface="Verdana"/>
        <a:ea typeface="MS PGothic"/>
        <a:cs typeface="+mn-cs"/>
      </a:defRPr>
    </a:lvl5pPr>
    <a:lvl6pPr marL="2286000" algn="l" defTabSz="914400" rtl="0">
      <a:defRPr>
        <a:solidFill>
          <a:schemeClr val="tx1"/>
        </a:solidFill>
        <a:latin typeface="Verdana"/>
        <a:ea typeface="MS PGothic"/>
        <a:cs typeface="+mn-cs"/>
      </a:defRPr>
    </a:lvl6pPr>
    <a:lvl7pPr marL="2743200" algn="l" defTabSz="914400" rtl="0">
      <a:defRPr>
        <a:solidFill>
          <a:schemeClr val="tx1"/>
        </a:solidFill>
        <a:latin typeface="Verdana"/>
        <a:ea typeface="MS PGothic"/>
        <a:cs typeface="+mn-cs"/>
      </a:defRPr>
    </a:lvl7pPr>
    <a:lvl8pPr marL="3200400" algn="l" defTabSz="914400" rtl="0">
      <a:defRPr>
        <a:solidFill>
          <a:schemeClr val="tx1"/>
        </a:solidFill>
        <a:latin typeface="Verdana"/>
        <a:ea typeface="MS PGothic"/>
        <a:cs typeface="+mn-cs"/>
      </a:defRPr>
    </a:lvl8pPr>
    <a:lvl9pPr marL="3657600" algn="l" defTabSz="914400" rtl="0">
      <a:defRPr>
        <a:solidFill>
          <a:schemeClr val="tx1"/>
        </a:solidFill>
        <a:latin typeface="Verdana"/>
        <a:ea typeface="MS PGothic"/>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5" d="100"/>
          <a:sy n="75" d="100"/>
        </p:scale>
        <p:origin x="883" y="48"/>
      </p:cViewPr>
      <p:guideLst>
        <p:guide pos="816" orient="horz"/>
        <p:guide pos="44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notesMaster" Target="notesMasters/notesMaster1.xml"/><Relationship Id="rId84" Type="http://schemas.openxmlformats.org/officeDocument/2006/relationships/presProps" Target="presProps.xml" /><Relationship Id="rId85" Type="http://schemas.openxmlformats.org/officeDocument/2006/relationships/tableStyles" Target="tableStyles.xml" /><Relationship Id="rId8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bg1"/>
        </a:solidFill>
      </p:bgPr>
    </p:bg>
    <p:spTree>
      <p:nvGrpSpPr>
        <p:cNvPr id="1" name=""/>
        <p:cNvGrpSpPr/>
        <p:nvPr/>
      </p:nvGrpSpPr>
      <p:grpSpPr bwMode="auto">
        <a:xfrm>
          <a:off x="0" y="0"/>
          <a:ext cx="0" cy="0"/>
          <a:chOff x="0" y="0"/>
          <a:chExt cx="0" cy="0"/>
        </a:xfrm>
      </p:grpSpPr>
      <p:sp>
        <p:nvSpPr>
          <p:cNvPr id="1081820161" name="Rectangle 2"/>
          <p:cNvSpPr>
            <a:spLocks noChangeArrowheads="1" noGrp="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bodyPr>
          <a:lstStyle>
            <a:lvl1pPr defTabSz="939800">
              <a:defRPr sz="1200">
                <a:latin typeface="Times New Roman"/>
              </a:defRPr>
            </a:lvl1pPr>
          </a:lstStyle>
          <a:p>
            <a:pPr>
              <a:defRPr/>
            </a:pPr>
            <a:endParaRPr lang="en-US"/>
          </a:p>
        </p:txBody>
      </p:sp>
      <p:sp>
        <p:nvSpPr>
          <p:cNvPr id="1204758829" name="Rectangle 3"/>
          <p:cNvSpPr>
            <a:spLocks noChangeArrowheads="1" noGrp="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bodyPr>
          <a:lstStyle>
            <a:lvl1pPr algn="r" defTabSz="939800">
              <a:defRPr sz="1200">
                <a:latin typeface="Times New Roman"/>
              </a:defRPr>
            </a:lvl1pPr>
          </a:lstStyle>
          <a:p>
            <a:pPr>
              <a:defRPr/>
            </a:pPr>
            <a:endParaRPr lang="en-US"/>
          </a:p>
        </p:txBody>
      </p:sp>
      <p:sp>
        <p:nvSpPr>
          <p:cNvPr id="434207183" name="Rectangle 4"/>
          <p:cNvSpPr>
            <a:spLocks noChangeArrowheads="1" noChangeAspect="1" noGrp="1" noRot="1" noTextEdit="1"/>
          </p:cNvSpPr>
          <p:nvPr>
            <p:ph type="sldImg" idx="2"/>
          </p:nvPr>
        </p:nvSpPr>
        <p:spPr bwMode="auto">
          <a:xfrm>
            <a:off x="1200150" y="704850"/>
            <a:ext cx="4687888" cy="3514725"/>
          </a:xfrm>
          <a:prstGeom prst="rect">
            <a:avLst/>
          </a:prstGeom>
          <a:noFill/>
          <a:ln w="9525">
            <a:solidFill>
              <a:srgbClr val="000000"/>
            </a:solidFill>
            <a:miter lim="800000"/>
            <a:headEnd/>
            <a:tailEnd/>
          </a:ln>
        </p:spPr>
      </p:sp>
      <p:sp>
        <p:nvSpPr>
          <p:cNvPr id="1137347921" name="Rectangle 5"/>
          <p:cNvSpPr>
            <a:spLocks noChangeArrowheads="1" noGrp="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55656603" name="Rectangle 6"/>
          <p:cNvSpPr>
            <a:spLocks noChangeArrowheads="1" noGrp="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bodyPr>
          <a:lstStyle>
            <a:lvl1pPr defTabSz="939800">
              <a:defRPr sz="1200">
                <a:latin typeface="Times New Roman"/>
              </a:defRPr>
            </a:lvl1pPr>
          </a:lstStyle>
          <a:p>
            <a:pPr>
              <a:defRPr/>
            </a:pPr>
            <a:endParaRPr lang="en-US"/>
          </a:p>
        </p:txBody>
      </p:sp>
      <p:sp>
        <p:nvSpPr>
          <p:cNvPr id="1850409308" name="Rectangle 7"/>
          <p:cNvSpPr>
            <a:spLocks noChangeArrowheads="1" noGrp="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bodyPr>
          <a:lstStyle>
            <a:lvl1pPr algn="r" defTabSz="939800">
              <a:defRPr sz="1200">
                <a:latin typeface="Times New Roman"/>
                <a:ea typeface="MS PGothic"/>
              </a:defRPr>
            </a:lvl1pPr>
          </a:lstStyle>
          <a:p>
            <a:pPr>
              <a:defRPr/>
            </a:pPr>
            <a:fld id="{C9F949B7-291A-4420-9D9C-B1ABA67FB313}" type="slidenum">
              <a:rPr lang="en-US"/>
              <a:t>‹#›</a:t>
            </a:fld>
            <a:endParaRPr lang="en-US"/>
          </a:p>
        </p:txBody>
      </p:sp>
    </p:spTree>
  </p:cSld>
  <p:clrMap bg1="lt1" tx1="dk1" bg2="lt2" tx2="dk2" accent1="accent1" accent2="accent2" accent3="accent3" accent4="accent4" accent5="accent5" accent6="accent6" hlink="hlink" folHlink="folHlink"/>
  <p:notesStyle>
    <a:lvl1pPr algn="l" rtl="0">
      <a:spcBef>
        <a:spcPts val="0"/>
      </a:spcBef>
      <a:spcAft>
        <a:spcPts val="0"/>
      </a:spcAft>
      <a:defRPr sz="1200">
        <a:solidFill>
          <a:schemeClr val="tx1"/>
        </a:solidFill>
        <a:latin typeface="Times New Roman"/>
        <a:ea typeface="MS PGothic"/>
        <a:cs typeface="MS PGothic"/>
      </a:defRPr>
    </a:lvl1pPr>
    <a:lvl2pPr marL="457200" algn="l" rtl="0">
      <a:spcBef>
        <a:spcPts val="0"/>
      </a:spcBef>
      <a:spcAft>
        <a:spcPts val="0"/>
      </a:spcAft>
      <a:defRPr sz="1200">
        <a:solidFill>
          <a:schemeClr val="tx1"/>
        </a:solidFill>
        <a:latin typeface="Times New Roman"/>
        <a:ea typeface="MS PGothic"/>
        <a:cs typeface="+mn-cs"/>
      </a:defRPr>
    </a:lvl2pPr>
    <a:lvl3pPr marL="914400" algn="l" rtl="0">
      <a:spcBef>
        <a:spcPts val="0"/>
      </a:spcBef>
      <a:spcAft>
        <a:spcPts val="0"/>
      </a:spcAft>
      <a:defRPr sz="1200">
        <a:solidFill>
          <a:schemeClr val="tx1"/>
        </a:solidFill>
        <a:latin typeface="Times New Roman"/>
        <a:ea typeface="MS PGothic"/>
        <a:cs typeface="+mn-cs"/>
      </a:defRPr>
    </a:lvl3pPr>
    <a:lvl4pPr marL="1371600" algn="l" rtl="0">
      <a:spcBef>
        <a:spcPts val="0"/>
      </a:spcBef>
      <a:spcAft>
        <a:spcPts val="0"/>
      </a:spcAft>
      <a:defRPr sz="1200">
        <a:solidFill>
          <a:schemeClr val="tx1"/>
        </a:solidFill>
        <a:latin typeface="Times New Roman"/>
        <a:ea typeface="MS PGothic"/>
        <a:cs typeface="+mn-cs"/>
      </a:defRPr>
    </a:lvl4pPr>
    <a:lvl5pPr marL="1828800" algn="l" rtl="0">
      <a:spcBef>
        <a:spcPts val="0"/>
      </a:spcBef>
      <a:spcAft>
        <a:spcPts val="0"/>
      </a:spcAft>
      <a:defRPr sz="1200">
        <a:solidFill>
          <a:schemeClr val="tx1"/>
        </a:solidFill>
        <a:latin typeface="Times New Roman"/>
        <a:ea typeface="MS PGothic"/>
        <a:cs typeface="+mn-cs"/>
      </a:defRPr>
    </a:lvl5pPr>
    <a:lvl6pPr marL="2286000" algn="l" defTabSz="457200" rtl="0">
      <a:defRPr sz="1200">
        <a:solidFill>
          <a:schemeClr val="tx1"/>
        </a:solidFill>
        <a:latin typeface="+mn-lt"/>
        <a:ea typeface="+mn-ea"/>
        <a:cs typeface="+mn-cs"/>
      </a:defRPr>
    </a:lvl6pPr>
    <a:lvl7pPr marL="2743200" algn="l" defTabSz="457200" rtl="0">
      <a:defRPr sz="1200">
        <a:solidFill>
          <a:schemeClr val="tx1"/>
        </a:solidFill>
        <a:latin typeface="+mn-lt"/>
        <a:ea typeface="+mn-ea"/>
        <a:cs typeface="+mn-cs"/>
      </a:defRPr>
    </a:lvl7pPr>
    <a:lvl8pPr marL="3200400" algn="l" defTabSz="457200" rtl="0">
      <a:defRPr sz="1200">
        <a:solidFill>
          <a:schemeClr val="tx1"/>
        </a:solidFill>
        <a:latin typeface="+mn-lt"/>
        <a:ea typeface="+mn-ea"/>
        <a:cs typeface="+mn-cs"/>
      </a:defRPr>
    </a:lvl8pPr>
    <a:lvl9pPr marL="3657600" algn="l" defTabSz="4572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8358978"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70CF72FA-BC85-4452-9FD4-6F163D5E4845}" type="slidenum">
              <a:rPr lang="en-US">
                <a:latin typeface="Times New Roman"/>
              </a:rPr>
              <a:t>1</a:t>
            </a:fld>
            <a:endParaRPr lang="en-US">
              <a:latin typeface="Times New Roman"/>
            </a:endParaRPr>
          </a:p>
        </p:txBody>
      </p:sp>
      <p:sp>
        <p:nvSpPr>
          <p:cNvPr id="550495303" name="Rectangle 2"/>
          <p:cNvSpPr>
            <a:spLocks noChangeArrowheads="1" noChangeAspect="1" noGrp="1" noRot="1" noTextEdit="1"/>
          </p:cNvSpPr>
          <p:nvPr>
            <p:ph type="sldImg"/>
          </p:nvPr>
        </p:nvSpPr>
        <p:spPr bwMode="auto">
          <a:ln/>
        </p:spPr>
      </p:sp>
      <p:sp>
        <p:nvSpPr>
          <p:cNvPr id="1095018719"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847651"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A348FB69-0E48-4E9C-AE03-1932E61103CC}" type="slidenum">
              <a:rPr lang="en-US">
                <a:latin typeface="Times New Roman"/>
              </a:rPr>
              <a:t>2</a:t>
            </a:fld>
            <a:endParaRPr lang="en-US">
              <a:latin typeface="Times New Roman"/>
            </a:endParaRPr>
          </a:p>
        </p:txBody>
      </p:sp>
      <p:sp>
        <p:nvSpPr>
          <p:cNvPr id="2060860595" name="Rectangle 2"/>
          <p:cNvSpPr>
            <a:spLocks noChangeArrowheads="1" noChangeAspect="1" noGrp="1" noRot="1" noTextEdit="1"/>
          </p:cNvSpPr>
          <p:nvPr>
            <p:ph type="sldImg"/>
          </p:nvPr>
        </p:nvSpPr>
        <p:spPr bwMode="auto">
          <a:ln/>
        </p:spPr>
      </p:sp>
      <p:sp>
        <p:nvSpPr>
          <p:cNvPr id="75442185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0883795" name="Rectangle 2"/>
          <p:cNvSpPr>
            <a:spLocks noChangeArrowheads="1" noChangeAspect="1" noGrp="1" noRot="1" noTextEdit="1"/>
          </p:cNvSpPr>
          <p:nvPr>
            <p:ph type="sldImg"/>
          </p:nvPr>
        </p:nvSpPr>
        <p:spPr bwMode="auto">
          <a:ln/>
        </p:spPr>
      </p:sp>
      <p:sp>
        <p:nvSpPr>
          <p:cNvPr id="69946327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077009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43A31E14-A3B9-4040-8D31-E2E402615F68}" type="slidenum">
              <a:rPr lang="en-US">
                <a:latin typeface="Times New Roman"/>
              </a:rPr>
              <a:t>4</a:t>
            </a:fld>
            <a:endParaRPr lang="en-US">
              <a:latin typeface="Times New Roman"/>
            </a:endParaRPr>
          </a:p>
        </p:txBody>
      </p:sp>
      <p:sp>
        <p:nvSpPr>
          <p:cNvPr id="1360069936" name="Rectangle 2"/>
          <p:cNvSpPr>
            <a:spLocks noChangeArrowheads="1" noChangeAspect="1" noGrp="1" noRot="1" noTextEdit="1"/>
          </p:cNvSpPr>
          <p:nvPr>
            <p:ph type="sldImg"/>
          </p:nvPr>
        </p:nvSpPr>
        <p:spPr bwMode="auto">
          <a:ln/>
        </p:spPr>
      </p:sp>
      <p:sp>
        <p:nvSpPr>
          <p:cNvPr id="183780734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5827248"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801F39FF-FF4B-4DB5-A12B-99992D735DF8}" type="slidenum">
              <a:rPr lang="en-US">
                <a:latin typeface="Times New Roman"/>
              </a:rPr>
              <a:t>5</a:t>
            </a:fld>
            <a:endParaRPr lang="en-US">
              <a:latin typeface="Times New Roman"/>
            </a:endParaRPr>
          </a:p>
        </p:txBody>
      </p:sp>
      <p:sp>
        <p:nvSpPr>
          <p:cNvPr id="1710644645" name="Rectangle 2"/>
          <p:cNvSpPr>
            <a:spLocks noChangeArrowheads="1" noChangeAspect="1" noGrp="1" noRot="1" noTextEdit="1"/>
          </p:cNvSpPr>
          <p:nvPr>
            <p:ph type="sldImg"/>
          </p:nvPr>
        </p:nvSpPr>
        <p:spPr bwMode="auto">
          <a:ln/>
        </p:spPr>
      </p:sp>
      <p:sp>
        <p:nvSpPr>
          <p:cNvPr id="164092045"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431202"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7559FA64-B840-47E0-A280-D112047F7636}" type="slidenum">
              <a:rPr lang="en-US">
                <a:latin typeface="Times New Roman"/>
              </a:rPr>
              <a:t>6</a:t>
            </a:fld>
            <a:endParaRPr lang="en-US">
              <a:latin typeface="Times New Roman"/>
            </a:endParaRPr>
          </a:p>
        </p:txBody>
      </p:sp>
      <p:sp>
        <p:nvSpPr>
          <p:cNvPr id="640356300" name="Rectangle 2"/>
          <p:cNvSpPr>
            <a:spLocks noChangeArrowheads="1" noChangeAspect="1" noGrp="1" noRot="1" noTextEdit="1"/>
          </p:cNvSpPr>
          <p:nvPr>
            <p:ph type="sldImg"/>
          </p:nvPr>
        </p:nvSpPr>
        <p:spPr bwMode="auto">
          <a:ln/>
        </p:spPr>
      </p:sp>
      <p:sp>
        <p:nvSpPr>
          <p:cNvPr id="68190500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9984771"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7559FA64-B840-47E0-A280-D112047F7636}" type="slidenum">
              <a:rPr lang="en-US">
                <a:latin typeface="Times New Roman"/>
              </a:rPr>
              <a:t>7</a:t>
            </a:fld>
            <a:endParaRPr lang="en-US">
              <a:latin typeface="Times New Roman"/>
            </a:endParaRPr>
          </a:p>
        </p:txBody>
      </p:sp>
      <p:sp>
        <p:nvSpPr>
          <p:cNvPr id="524952284" name="Rectangle 2"/>
          <p:cNvSpPr>
            <a:spLocks noChangeArrowheads="1" noChangeAspect="1" noGrp="1" noRot="1" noTextEdit="1"/>
          </p:cNvSpPr>
          <p:nvPr>
            <p:ph type="sldImg"/>
          </p:nvPr>
        </p:nvSpPr>
        <p:spPr bwMode="auto">
          <a:ln/>
        </p:spPr>
      </p:sp>
      <p:sp>
        <p:nvSpPr>
          <p:cNvPr id="336526953"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4143147"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7559FA64-B840-47E0-A280-D112047F7636}" type="slidenum">
              <a:rPr lang="en-US">
                <a:latin typeface="Times New Roman"/>
              </a:rPr>
              <a:t>8</a:t>
            </a:fld>
            <a:endParaRPr lang="en-US">
              <a:latin typeface="Times New Roman"/>
            </a:endParaRPr>
          </a:p>
        </p:txBody>
      </p:sp>
      <p:sp>
        <p:nvSpPr>
          <p:cNvPr id="801367166" name="Rectangle 2"/>
          <p:cNvSpPr>
            <a:spLocks noChangeArrowheads="1" noChangeAspect="1" noGrp="1" noRot="1" noTextEdit="1"/>
          </p:cNvSpPr>
          <p:nvPr>
            <p:ph type="sldImg"/>
          </p:nvPr>
        </p:nvSpPr>
        <p:spPr bwMode="auto">
          <a:ln/>
        </p:spPr>
      </p:sp>
      <p:sp>
        <p:nvSpPr>
          <p:cNvPr id="826744630"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723373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972593EA-83E9-49DF-9A69-061BE7580B7A}" type="slidenum">
              <a:rPr lang="en-US">
                <a:latin typeface="Times New Roman"/>
              </a:rPr>
              <a:t>9</a:t>
            </a:fld>
            <a:endParaRPr lang="en-US">
              <a:latin typeface="Times New Roman"/>
            </a:endParaRPr>
          </a:p>
        </p:txBody>
      </p:sp>
      <p:sp>
        <p:nvSpPr>
          <p:cNvPr id="102540956" name="Rectangle 2"/>
          <p:cNvSpPr>
            <a:spLocks noChangeArrowheads="1" noChangeAspect="1" noGrp="1" noRot="1" noTextEdit="1"/>
          </p:cNvSpPr>
          <p:nvPr>
            <p:ph type="sldImg"/>
          </p:nvPr>
        </p:nvSpPr>
        <p:spPr bwMode="auto">
          <a:ln/>
        </p:spPr>
      </p:sp>
      <p:sp>
        <p:nvSpPr>
          <p:cNvPr id="70606553"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068345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91DD403B-DC2E-496B-BDE4-8AC536A45743}" type="slidenum">
              <a:rPr lang="en-US">
                <a:latin typeface="Times New Roman"/>
              </a:rPr>
              <a:t>10</a:t>
            </a:fld>
            <a:endParaRPr lang="en-US">
              <a:latin typeface="Times New Roman"/>
            </a:endParaRPr>
          </a:p>
        </p:txBody>
      </p:sp>
      <p:sp>
        <p:nvSpPr>
          <p:cNvPr id="1712275906" name="Rectangle 2"/>
          <p:cNvSpPr>
            <a:spLocks noChangeArrowheads="1" noChangeAspect="1" noGrp="1" noRot="1" noTextEdit="1"/>
          </p:cNvSpPr>
          <p:nvPr>
            <p:ph type="sldImg"/>
          </p:nvPr>
        </p:nvSpPr>
        <p:spPr bwMode="auto">
          <a:ln/>
        </p:spPr>
      </p:sp>
      <p:sp>
        <p:nvSpPr>
          <p:cNvPr id="1420262673"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9651792"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0982816C-CEF7-47A7-92DB-2D0700EC55E4}" type="slidenum">
              <a:rPr lang="en-US">
                <a:latin typeface="Times New Roman"/>
              </a:rPr>
              <a:t>11</a:t>
            </a:fld>
            <a:endParaRPr lang="en-US">
              <a:latin typeface="Times New Roman"/>
            </a:endParaRPr>
          </a:p>
        </p:txBody>
      </p:sp>
      <p:sp>
        <p:nvSpPr>
          <p:cNvPr id="60323843" name="Rectangle 2"/>
          <p:cNvSpPr>
            <a:spLocks noChangeArrowheads="1" noChangeAspect="1" noGrp="1" noRot="1" noTextEdit="1"/>
          </p:cNvSpPr>
          <p:nvPr>
            <p:ph type="sldImg"/>
          </p:nvPr>
        </p:nvSpPr>
        <p:spPr bwMode="auto">
          <a:ln/>
        </p:spPr>
      </p:sp>
      <p:sp>
        <p:nvSpPr>
          <p:cNvPr id="95065297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330557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E85554BC-4E9D-46F3-8CDA-F7DF99B87F74}" type="slidenum">
              <a:rPr lang="en-US">
                <a:latin typeface="Times New Roman"/>
              </a:rPr>
              <a:t>12</a:t>
            </a:fld>
            <a:endParaRPr lang="en-US">
              <a:latin typeface="Times New Roman"/>
            </a:endParaRPr>
          </a:p>
        </p:txBody>
      </p:sp>
      <p:sp>
        <p:nvSpPr>
          <p:cNvPr id="269839255" name="Rectangle 2"/>
          <p:cNvSpPr>
            <a:spLocks noChangeArrowheads="1" noChangeAspect="1" noGrp="1" noRot="1" noTextEdit="1"/>
          </p:cNvSpPr>
          <p:nvPr>
            <p:ph type="sldImg"/>
          </p:nvPr>
        </p:nvSpPr>
        <p:spPr bwMode="auto">
          <a:ln/>
        </p:spPr>
      </p:sp>
      <p:sp>
        <p:nvSpPr>
          <p:cNvPr id="414658336"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6031157"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5D2E19D3-36AF-42FB-A3BF-7AE756C80D6F}" type="slidenum">
              <a:rPr lang="en-US">
                <a:latin typeface="Times New Roman"/>
              </a:rPr>
              <a:t>13</a:t>
            </a:fld>
            <a:endParaRPr lang="en-US">
              <a:latin typeface="Times New Roman"/>
            </a:endParaRPr>
          </a:p>
        </p:txBody>
      </p:sp>
      <p:sp>
        <p:nvSpPr>
          <p:cNvPr id="64693657" name="Rectangle 2"/>
          <p:cNvSpPr>
            <a:spLocks noChangeArrowheads="1" noChangeAspect="1" noGrp="1" noRot="1" noTextEdit="1"/>
          </p:cNvSpPr>
          <p:nvPr>
            <p:ph type="sldImg"/>
          </p:nvPr>
        </p:nvSpPr>
        <p:spPr bwMode="auto">
          <a:ln/>
        </p:spPr>
      </p:sp>
      <p:sp>
        <p:nvSpPr>
          <p:cNvPr id="388895830"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174786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C97320C0-8E4B-4B1E-A830-FE5886CA5D53}" type="slidenum">
              <a:rPr lang="en-US">
                <a:latin typeface="Times New Roman"/>
              </a:rPr>
              <a:t>14</a:t>
            </a:fld>
            <a:endParaRPr lang="en-US">
              <a:latin typeface="Times New Roman"/>
            </a:endParaRPr>
          </a:p>
        </p:txBody>
      </p:sp>
      <p:sp>
        <p:nvSpPr>
          <p:cNvPr id="807660467" name="Rectangle 2"/>
          <p:cNvSpPr>
            <a:spLocks noChangeArrowheads="1" noChangeAspect="1" noGrp="1" noRot="1" noTextEdit="1"/>
          </p:cNvSpPr>
          <p:nvPr>
            <p:ph type="sldImg"/>
          </p:nvPr>
        </p:nvSpPr>
        <p:spPr bwMode="auto">
          <a:ln/>
        </p:spPr>
      </p:sp>
      <p:sp>
        <p:nvSpPr>
          <p:cNvPr id="1905924416"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1402474"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C97320C0-8E4B-4B1E-A830-FE5886CA5D53}" type="slidenum">
              <a:rPr lang="en-US">
                <a:latin typeface="Times New Roman"/>
              </a:rPr>
              <a:t>15</a:t>
            </a:fld>
            <a:endParaRPr lang="en-US">
              <a:latin typeface="Times New Roman"/>
            </a:endParaRPr>
          </a:p>
        </p:txBody>
      </p:sp>
      <p:sp>
        <p:nvSpPr>
          <p:cNvPr id="1321752604" name="Rectangle 2"/>
          <p:cNvSpPr>
            <a:spLocks noChangeArrowheads="1" noChangeAspect="1" noGrp="1" noRot="1" noTextEdit="1"/>
          </p:cNvSpPr>
          <p:nvPr>
            <p:ph type="sldImg"/>
          </p:nvPr>
        </p:nvSpPr>
        <p:spPr bwMode="auto">
          <a:ln/>
        </p:spPr>
      </p:sp>
      <p:sp>
        <p:nvSpPr>
          <p:cNvPr id="211075225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4496572"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45C6A69F-A1A7-4195-B308-73F52EF032EA}" type="slidenum">
              <a:rPr lang="en-US">
                <a:latin typeface="Times New Roman"/>
              </a:rPr>
              <a:t>16</a:t>
            </a:fld>
            <a:endParaRPr lang="en-US">
              <a:latin typeface="Times New Roman"/>
            </a:endParaRPr>
          </a:p>
        </p:txBody>
      </p:sp>
      <p:sp>
        <p:nvSpPr>
          <p:cNvPr id="1617353869" name="Rectangle 2"/>
          <p:cNvSpPr>
            <a:spLocks noChangeArrowheads="1" noChangeAspect="1" noGrp="1" noRot="1" noTextEdit="1"/>
          </p:cNvSpPr>
          <p:nvPr>
            <p:ph type="sldImg"/>
          </p:nvPr>
        </p:nvSpPr>
        <p:spPr bwMode="auto">
          <a:ln/>
        </p:spPr>
      </p:sp>
      <p:sp>
        <p:nvSpPr>
          <p:cNvPr id="94006152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8274900"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C1B5580B-1301-4E06-BEA8-C7B0DE30B0A7}" type="slidenum">
              <a:rPr lang="en-US">
                <a:latin typeface="Times New Roman"/>
              </a:rPr>
              <a:t>17</a:t>
            </a:fld>
            <a:endParaRPr lang="en-US">
              <a:latin typeface="Times New Roman"/>
            </a:endParaRPr>
          </a:p>
        </p:txBody>
      </p:sp>
      <p:sp>
        <p:nvSpPr>
          <p:cNvPr id="1224622742" name="Rectangle 2"/>
          <p:cNvSpPr>
            <a:spLocks noChangeArrowheads="1" noChangeAspect="1" noGrp="1" noRot="1" noTextEdit="1"/>
          </p:cNvSpPr>
          <p:nvPr>
            <p:ph type="sldImg"/>
          </p:nvPr>
        </p:nvSpPr>
        <p:spPr bwMode="auto">
          <a:ln/>
        </p:spPr>
      </p:sp>
      <p:sp>
        <p:nvSpPr>
          <p:cNvPr id="2015912883"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6560173"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0B7BE9DC-710B-4B65-BCCD-8107D53BC9BE}" type="slidenum">
              <a:rPr lang="en-US">
                <a:latin typeface="Times New Roman"/>
              </a:rPr>
              <a:t>18</a:t>
            </a:fld>
            <a:endParaRPr lang="en-US">
              <a:latin typeface="Times New Roman"/>
            </a:endParaRPr>
          </a:p>
        </p:txBody>
      </p:sp>
      <p:sp>
        <p:nvSpPr>
          <p:cNvPr id="1959950484" name="Rectangle 2"/>
          <p:cNvSpPr>
            <a:spLocks noChangeArrowheads="1" noChangeAspect="1" noGrp="1" noRot="1" noTextEdit="1"/>
          </p:cNvSpPr>
          <p:nvPr>
            <p:ph type="sldImg"/>
          </p:nvPr>
        </p:nvSpPr>
        <p:spPr bwMode="auto">
          <a:ln/>
        </p:spPr>
      </p:sp>
      <p:sp>
        <p:nvSpPr>
          <p:cNvPr id="2027180279"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095487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A6F1106F-71C9-45B5-A785-D6B08923631A}" type="slidenum">
              <a:rPr lang="en-US">
                <a:latin typeface="Times New Roman"/>
              </a:rPr>
              <a:t>19</a:t>
            </a:fld>
            <a:endParaRPr lang="en-US">
              <a:latin typeface="Times New Roman"/>
            </a:endParaRPr>
          </a:p>
        </p:txBody>
      </p:sp>
      <p:sp>
        <p:nvSpPr>
          <p:cNvPr id="1921898037" name="Rectangle 2"/>
          <p:cNvSpPr>
            <a:spLocks noChangeArrowheads="1" noChangeAspect="1" noGrp="1" noRot="1" noTextEdit="1"/>
          </p:cNvSpPr>
          <p:nvPr>
            <p:ph type="sldImg"/>
          </p:nvPr>
        </p:nvSpPr>
        <p:spPr bwMode="auto">
          <a:ln/>
        </p:spPr>
      </p:sp>
      <p:sp>
        <p:nvSpPr>
          <p:cNvPr id="106581454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926937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9799B002-221E-4ACE-82C8-ADA61FD05C07}" type="slidenum">
              <a:rPr lang="en-US">
                <a:latin typeface="Times New Roman"/>
              </a:rPr>
              <a:t>20</a:t>
            </a:fld>
            <a:endParaRPr lang="en-US">
              <a:latin typeface="Times New Roman"/>
            </a:endParaRPr>
          </a:p>
        </p:txBody>
      </p:sp>
      <p:sp>
        <p:nvSpPr>
          <p:cNvPr id="1484351359" name="Rectangle 2"/>
          <p:cNvSpPr>
            <a:spLocks noChangeArrowheads="1" noChangeAspect="1" noGrp="1" noRot="1" noTextEdit="1"/>
          </p:cNvSpPr>
          <p:nvPr>
            <p:ph type="sldImg"/>
          </p:nvPr>
        </p:nvSpPr>
        <p:spPr bwMode="auto">
          <a:ln/>
        </p:spPr>
      </p:sp>
      <p:sp>
        <p:nvSpPr>
          <p:cNvPr id="155356910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491769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C4057CCE-FB24-4DCD-B59A-EF29E3EC48F5}" type="slidenum">
              <a:rPr lang="en-US">
                <a:latin typeface="Times New Roman"/>
              </a:rPr>
              <a:t>21</a:t>
            </a:fld>
            <a:endParaRPr lang="en-US">
              <a:latin typeface="Times New Roman"/>
            </a:endParaRPr>
          </a:p>
        </p:txBody>
      </p:sp>
      <p:sp>
        <p:nvSpPr>
          <p:cNvPr id="941145136" name="Rectangle 2"/>
          <p:cNvSpPr>
            <a:spLocks noChangeArrowheads="1" noChangeAspect="1" noGrp="1" noRot="1" noTextEdit="1"/>
          </p:cNvSpPr>
          <p:nvPr>
            <p:ph type="sldImg"/>
          </p:nvPr>
        </p:nvSpPr>
        <p:spPr bwMode="auto">
          <a:ln/>
        </p:spPr>
      </p:sp>
      <p:sp>
        <p:nvSpPr>
          <p:cNvPr id="419356580"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297377"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3E953E37-7182-4EB1-8FE4-F2B2E6FF161A}" type="slidenum">
              <a:rPr lang="en-US">
                <a:latin typeface="Times New Roman"/>
              </a:rPr>
              <a:t>22</a:t>
            </a:fld>
            <a:endParaRPr lang="en-US">
              <a:latin typeface="Times New Roman"/>
            </a:endParaRPr>
          </a:p>
        </p:txBody>
      </p:sp>
      <p:sp>
        <p:nvSpPr>
          <p:cNvPr id="1092148249" name="Rectangle 2"/>
          <p:cNvSpPr>
            <a:spLocks noChangeArrowheads="1" noChangeAspect="1" noGrp="1" noRot="1" noTextEdit="1"/>
          </p:cNvSpPr>
          <p:nvPr>
            <p:ph type="sldImg"/>
          </p:nvPr>
        </p:nvSpPr>
        <p:spPr bwMode="auto">
          <a:ln/>
        </p:spPr>
      </p:sp>
      <p:sp>
        <p:nvSpPr>
          <p:cNvPr id="789501423"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166556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EAF2CFA1-F1C4-4CAE-A60E-FA4BA9406BF9}" type="slidenum">
              <a:rPr lang="en-US">
                <a:latin typeface="Times New Roman"/>
              </a:rPr>
              <a:t>23</a:t>
            </a:fld>
            <a:endParaRPr lang="en-US">
              <a:latin typeface="Times New Roman"/>
            </a:endParaRPr>
          </a:p>
        </p:txBody>
      </p:sp>
      <p:sp>
        <p:nvSpPr>
          <p:cNvPr id="1729129629" name="Rectangle 2"/>
          <p:cNvSpPr>
            <a:spLocks noChangeArrowheads="1" noChangeAspect="1" noGrp="1" noRot="1" noTextEdit="1"/>
          </p:cNvSpPr>
          <p:nvPr>
            <p:ph type="sldImg"/>
          </p:nvPr>
        </p:nvSpPr>
        <p:spPr bwMode="auto">
          <a:ln/>
        </p:spPr>
      </p:sp>
      <p:sp>
        <p:nvSpPr>
          <p:cNvPr id="217547189"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1632513"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8A7A2607-C363-42A4-A7E7-0B2A0C05B6FD}" type="slidenum">
              <a:rPr lang="en-US">
                <a:latin typeface="Times New Roman"/>
              </a:rPr>
              <a:t>24</a:t>
            </a:fld>
            <a:endParaRPr lang="en-US">
              <a:latin typeface="Times New Roman"/>
            </a:endParaRPr>
          </a:p>
        </p:txBody>
      </p:sp>
      <p:sp>
        <p:nvSpPr>
          <p:cNvPr id="669958698" name="Rectangle 2"/>
          <p:cNvSpPr>
            <a:spLocks noChangeArrowheads="1" noChangeAspect="1" noGrp="1" noRot="1" noTextEdit="1"/>
          </p:cNvSpPr>
          <p:nvPr>
            <p:ph type="sldImg"/>
          </p:nvPr>
        </p:nvSpPr>
        <p:spPr bwMode="auto">
          <a:ln/>
        </p:spPr>
      </p:sp>
      <p:sp>
        <p:nvSpPr>
          <p:cNvPr id="42473459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3353083"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E6B59C17-8BC0-4D12-8CAC-4CF08CD54505}" type="slidenum">
              <a:rPr lang="en-US">
                <a:latin typeface="Times New Roman"/>
              </a:rPr>
              <a:t>25</a:t>
            </a:fld>
            <a:endParaRPr lang="en-US">
              <a:latin typeface="Times New Roman"/>
            </a:endParaRPr>
          </a:p>
        </p:txBody>
      </p:sp>
      <p:sp>
        <p:nvSpPr>
          <p:cNvPr id="54699223" name="Rectangle 2"/>
          <p:cNvSpPr>
            <a:spLocks noChangeArrowheads="1" noChangeAspect="1" noGrp="1" noRot="1" noTextEdit="1"/>
          </p:cNvSpPr>
          <p:nvPr>
            <p:ph type="sldImg"/>
          </p:nvPr>
        </p:nvSpPr>
        <p:spPr bwMode="auto">
          <a:ln/>
        </p:spPr>
      </p:sp>
      <p:sp>
        <p:nvSpPr>
          <p:cNvPr id="125036392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4007154"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C753270A-71CB-4C96-9EF2-586D51F6CA41}" type="slidenum">
              <a:rPr lang="en-US">
                <a:latin typeface="Times New Roman"/>
              </a:rPr>
              <a:t>26</a:t>
            </a:fld>
            <a:endParaRPr lang="en-US">
              <a:latin typeface="Times New Roman"/>
            </a:endParaRPr>
          </a:p>
        </p:txBody>
      </p:sp>
      <p:sp>
        <p:nvSpPr>
          <p:cNvPr id="702500847" name="Rectangle 2"/>
          <p:cNvSpPr>
            <a:spLocks noChangeArrowheads="1" noChangeAspect="1" noGrp="1" noRot="1" noTextEdit="1"/>
          </p:cNvSpPr>
          <p:nvPr>
            <p:ph type="sldImg"/>
          </p:nvPr>
        </p:nvSpPr>
        <p:spPr bwMode="auto">
          <a:ln/>
        </p:spPr>
      </p:sp>
      <p:sp>
        <p:nvSpPr>
          <p:cNvPr id="1677616428"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4887554"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EAD9CD47-795C-4CBD-956A-ABB15F37534F}" type="slidenum">
              <a:rPr lang="en-US">
                <a:latin typeface="Times New Roman"/>
              </a:rPr>
              <a:t>27</a:t>
            </a:fld>
            <a:endParaRPr lang="en-US">
              <a:latin typeface="Times New Roman"/>
            </a:endParaRPr>
          </a:p>
        </p:txBody>
      </p:sp>
      <p:sp>
        <p:nvSpPr>
          <p:cNvPr id="1616105700" name="Rectangle 2"/>
          <p:cNvSpPr>
            <a:spLocks noChangeArrowheads="1" noChangeAspect="1" noGrp="1" noRot="1" noTextEdit="1"/>
          </p:cNvSpPr>
          <p:nvPr>
            <p:ph type="sldImg"/>
          </p:nvPr>
        </p:nvSpPr>
        <p:spPr bwMode="auto">
          <a:ln/>
        </p:spPr>
      </p:sp>
      <p:sp>
        <p:nvSpPr>
          <p:cNvPr id="126016918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962459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58111378-CDE2-4578-A4A0-6AE31376CE67}" type="slidenum">
              <a:rPr lang="en-US">
                <a:latin typeface="Times New Roman"/>
              </a:rPr>
              <a:t>28</a:t>
            </a:fld>
            <a:endParaRPr lang="en-US">
              <a:latin typeface="Times New Roman"/>
            </a:endParaRPr>
          </a:p>
        </p:txBody>
      </p:sp>
      <p:sp>
        <p:nvSpPr>
          <p:cNvPr id="17215144" name="Rectangle 2"/>
          <p:cNvSpPr>
            <a:spLocks noChangeArrowheads="1" noChangeAspect="1" noGrp="1" noRot="1" noTextEdit="1"/>
          </p:cNvSpPr>
          <p:nvPr>
            <p:ph type="sldImg"/>
          </p:nvPr>
        </p:nvSpPr>
        <p:spPr bwMode="auto">
          <a:ln/>
        </p:spPr>
      </p:sp>
      <p:sp>
        <p:nvSpPr>
          <p:cNvPr id="985015075"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728722-C69F-C389-F5D0-7217088BDEBA}"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4947698"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7F0E056A-E87D-4C53-83CF-B2CDD3330A52}" type="slidenum">
              <a:rPr lang="en-US">
                <a:latin typeface="Times New Roman"/>
              </a:rPr>
              <a:t>30</a:t>
            </a:fld>
            <a:endParaRPr lang="en-US">
              <a:latin typeface="Times New Roman"/>
            </a:endParaRPr>
          </a:p>
        </p:txBody>
      </p:sp>
      <p:sp>
        <p:nvSpPr>
          <p:cNvPr id="403956510" name="Rectangle 2"/>
          <p:cNvSpPr>
            <a:spLocks noChangeArrowheads="1" noChangeAspect="1" noGrp="1" noRot="1" noTextEdit="1"/>
          </p:cNvSpPr>
          <p:nvPr>
            <p:ph type="sldImg"/>
          </p:nvPr>
        </p:nvSpPr>
        <p:spPr bwMode="auto">
          <a:ln/>
        </p:spPr>
      </p:sp>
      <p:sp>
        <p:nvSpPr>
          <p:cNvPr id="1785857808"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12777"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8014E645-70B9-4D60-95A0-CCC1F65E091F}" type="slidenum">
              <a:rPr lang="en-US">
                <a:latin typeface="Times New Roman"/>
              </a:rPr>
              <a:t>31</a:t>
            </a:fld>
            <a:endParaRPr lang="en-US">
              <a:latin typeface="Times New Roman"/>
            </a:endParaRPr>
          </a:p>
        </p:txBody>
      </p:sp>
      <p:sp>
        <p:nvSpPr>
          <p:cNvPr id="1313190237" name="Rectangle 2"/>
          <p:cNvSpPr>
            <a:spLocks noChangeArrowheads="1" noChangeAspect="1" noGrp="1" noRot="1" noTextEdit="1"/>
          </p:cNvSpPr>
          <p:nvPr>
            <p:ph type="sldImg"/>
          </p:nvPr>
        </p:nvSpPr>
        <p:spPr bwMode="auto">
          <a:ln/>
        </p:spPr>
      </p:sp>
      <p:sp>
        <p:nvSpPr>
          <p:cNvPr id="726211943"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576991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858947FA-5160-4BA9-85D0-928B39E24C9E}" type="slidenum">
              <a:rPr lang="en-US">
                <a:latin typeface="Times New Roman"/>
              </a:rPr>
              <a:t>32</a:t>
            </a:fld>
            <a:endParaRPr lang="en-US">
              <a:latin typeface="Times New Roman"/>
            </a:endParaRPr>
          </a:p>
        </p:txBody>
      </p:sp>
      <p:sp>
        <p:nvSpPr>
          <p:cNvPr id="1116960186" name="Rectangle 2"/>
          <p:cNvSpPr>
            <a:spLocks noChangeArrowheads="1" noChangeAspect="1" noGrp="1" noRot="1" noTextEdit="1"/>
          </p:cNvSpPr>
          <p:nvPr>
            <p:ph type="sldImg"/>
          </p:nvPr>
        </p:nvSpPr>
        <p:spPr bwMode="auto">
          <a:ln/>
        </p:spPr>
      </p:sp>
      <p:sp>
        <p:nvSpPr>
          <p:cNvPr id="1561839585"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54636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F35FF144-0680-4B5D-ABBA-203C1672455E}" type="slidenum">
              <a:rPr lang="en-US">
                <a:latin typeface="Times New Roman"/>
              </a:rPr>
              <a:t>33</a:t>
            </a:fld>
            <a:endParaRPr lang="en-US">
              <a:latin typeface="Times New Roman"/>
            </a:endParaRPr>
          </a:p>
        </p:txBody>
      </p:sp>
      <p:sp>
        <p:nvSpPr>
          <p:cNvPr id="1534474805" name="Rectangle 2"/>
          <p:cNvSpPr>
            <a:spLocks noChangeArrowheads="1" noChangeAspect="1" noGrp="1" noRot="1" noTextEdit="1"/>
          </p:cNvSpPr>
          <p:nvPr>
            <p:ph type="sldImg"/>
          </p:nvPr>
        </p:nvSpPr>
        <p:spPr bwMode="auto">
          <a:ln/>
        </p:spPr>
      </p:sp>
      <p:sp>
        <p:nvSpPr>
          <p:cNvPr id="964378036"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4172623"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BD398207-A734-4802-94DC-3ED3D73DD154}" type="slidenum">
              <a:rPr lang="en-US">
                <a:latin typeface="Times New Roman"/>
              </a:rPr>
              <a:t>34</a:t>
            </a:fld>
            <a:endParaRPr lang="en-US">
              <a:latin typeface="Times New Roman"/>
            </a:endParaRPr>
          </a:p>
        </p:txBody>
      </p:sp>
      <p:sp>
        <p:nvSpPr>
          <p:cNvPr id="783715477" name="Rectangle 2"/>
          <p:cNvSpPr>
            <a:spLocks noChangeArrowheads="1" noChangeAspect="1" noGrp="1" noRot="1" noTextEdit="1"/>
          </p:cNvSpPr>
          <p:nvPr>
            <p:ph type="sldImg"/>
          </p:nvPr>
        </p:nvSpPr>
        <p:spPr bwMode="auto">
          <a:ln/>
        </p:spPr>
      </p:sp>
      <p:sp>
        <p:nvSpPr>
          <p:cNvPr id="861121200"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9965154"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3F8E2939-6A94-4FF2-9BB4-52EE1B7E0CA7}" type="slidenum">
              <a:rPr lang="en-US">
                <a:latin typeface="Times New Roman"/>
              </a:rPr>
              <a:t>35</a:t>
            </a:fld>
            <a:endParaRPr lang="en-US">
              <a:latin typeface="Times New Roman"/>
            </a:endParaRPr>
          </a:p>
        </p:txBody>
      </p:sp>
      <p:sp>
        <p:nvSpPr>
          <p:cNvPr id="1894689845" name="Rectangle 2"/>
          <p:cNvSpPr>
            <a:spLocks noChangeArrowheads="1" noChangeAspect="1" noGrp="1" noRot="1" noTextEdit="1"/>
          </p:cNvSpPr>
          <p:nvPr>
            <p:ph type="sldImg"/>
          </p:nvPr>
        </p:nvSpPr>
        <p:spPr bwMode="auto">
          <a:ln/>
        </p:spPr>
      </p:sp>
      <p:sp>
        <p:nvSpPr>
          <p:cNvPr id="213714666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6548138"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01FFB914-7B67-4023-B91D-BDAED6184615}" type="slidenum">
              <a:rPr lang="en-US">
                <a:latin typeface="Times New Roman"/>
              </a:rPr>
              <a:t>36</a:t>
            </a:fld>
            <a:endParaRPr lang="en-US">
              <a:latin typeface="Times New Roman"/>
            </a:endParaRPr>
          </a:p>
        </p:txBody>
      </p:sp>
      <p:sp>
        <p:nvSpPr>
          <p:cNvPr id="1967193521" name="Rectangle 2"/>
          <p:cNvSpPr>
            <a:spLocks noChangeArrowheads="1" noChangeAspect="1" noGrp="1" noRot="1" noTextEdit="1"/>
          </p:cNvSpPr>
          <p:nvPr>
            <p:ph type="sldImg"/>
          </p:nvPr>
        </p:nvSpPr>
        <p:spPr bwMode="auto">
          <a:ln/>
        </p:spPr>
      </p:sp>
      <p:sp>
        <p:nvSpPr>
          <p:cNvPr id="1597464359"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9C0DE30-046A-9728-C60F-062DA8642373}"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123027" name="Rectangle 2"/>
          <p:cNvSpPr>
            <a:spLocks noChangeArrowheads="1" noChangeAspect="1" noGrp="1" noRot="1" noTextEdit="1"/>
          </p:cNvSpPr>
          <p:nvPr>
            <p:ph type="sldImg"/>
          </p:nvPr>
        </p:nvSpPr>
        <p:spPr bwMode="auto">
          <a:ln/>
        </p:spPr>
      </p:sp>
      <p:sp>
        <p:nvSpPr>
          <p:cNvPr id="967634306"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031650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01FFB914-7B67-4023-B91D-BDAED6184615}" type="slidenum">
              <a:rPr lang="en-US">
                <a:latin typeface="Times New Roman"/>
              </a:rPr>
              <a:t>39</a:t>
            </a:fld>
            <a:endParaRPr lang="en-US">
              <a:latin typeface="Times New Roman"/>
            </a:endParaRPr>
          </a:p>
        </p:txBody>
      </p:sp>
      <p:sp>
        <p:nvSpPr>
          <p:cNvPr id="155027247" name="Rectangle 2"/>
          <p:cNvSpPr>
            <a:spLocks noChangeArrowheads="1" noChangeAspect="1" noGrp="1" noRot="1" noTextEdit="1"/>
          </p:cNvSpPr>
          <p:nvPr>
            <p:ph type="sldImg"/>
          </p:nvPr>
        </p:nvSpPr>
        <p:spPr bwMode="auto">
          <a:ln/>
        </p:spPr>
      </p:sp>
      <p:sp>
        <p:nvSpPr>
          <p:cNvPr id="63569453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B92101C-A8A5-A2AE-7E30-E7D115AA258B}"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A3E0A1-17BE-464E-D49A-2238D85EFB32}"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672390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F3389D00-F0DB-4575-A202-8ED00A374984}" type="slidenum">
              <a:rPr lang="en-US">
                <a:latin typeface="Times New Roman"/>
              </a:rPr>
              <a:t>42</a:t>
            </a:fld>
            <a:endParaRPr lang="en-US">
              <a:latin typeface="Times New Roman"/>
            </a:endParaRPr>
          </a:p>
        </p:txBody>
      </p:sp>
      <p:sp>
        <p:nvSpPr>
          <p:cNvPr id="2136936428" name="Rectangle 2"/>
          <p:cNvSpPr>
            <a:spLocks noChangeArrowheads="1" noChangeAspect="1" noGrp="1" noRot="1" noTextEdit="1"/>
          </p:cNvSpPr>
          <p:nvPr>
            <p:ph type="sldImg"/>
          </p:nvPr>
        </p:nvSpPr>
        <p:spPr bwMode="auto">
          <a:ln/>
        </p:spPr>
      </p:sp>
      <p:sp>
        <p:nvSpPr>
          <p:cNvPr id="214089602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983209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3556A34F-CE26-48DF-BDB6-8512C2015D3A}" type="slidenum">
              <a:rPr lang="en-US">
                <a:latin typeface="Times New Roman"/>
              </a:rPr>
              <a:t>43</a:t>
            </a:fld>
            <a:endParaRPr lang="en-US">
              <a:latin typeface="Times New Roman"/>
            </a:endParaRPr>
          </a:p>
        </p:txBody>
      </p:sp>
      <p:sp>
        <p:nvSpPr>
          <p:cNvPr id="2000397643" name="Rectangle 2"/>
          <p:cNvSpPr>
            <a:spLocks noChangeArrowheads="1" noChangeAspect="1" noGrp="1" noRot="1" noTextEdit="1"/>
          </p:cNvSpPr>
          <p:nvPr>
            <p:ph type="sldImg"/>
          </p:nvPr>
        </p:nvSpPr>
        <p:spPr bwMode="auto">
          <a:ln/>
        </p:spPr>
      </p:sp>
      <p:sp>
        <p:nvSpPr>
          <p:cNvPr id="127167857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4219758" name="Rectangle 2"/>
          <p:cNvSpPr>
            <a:spLocks noChangeArrowheads="1" noChangeAspect="1" noGrp="1" noRot="1" noTextEdit="1"/>
          </p:cNvSpPr>
          <p:nvPr>
            <p:ph type="sldImg"/>
          </p:nvPr>
        </p:nvSpPr>
        <p:spPr bwMode="auto">
          <a:ln/>
        </p:spPr>
      </p:sp>
      <p:sp>
        <p:nvSpPr>
          <p:cNvPr id="1177923929"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8209914" name="Rectangle 2"/>
          <p:cNvSpPr>
            <a:spLocks noChangeArrowheads="1" noChangeAspect="1" noGrp="1" noRot="1" noTextEdit="1"/>
          </p:cNvSpPr>
          <p:nvPr>
            <p:ph type="sldImg"/>
          </p:nvPr>
        </p:nvSpPr>
        <p:spPr bwMode="auto">
          <a:ln/>
        </p:spPr>
      </p:sp>
      <p:sp>
        <p:nvSpPr>
          <p:cNvPr id="865857260"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097650" name="Rectangle 2"/>
          <p:cNvSpPr>
            <a:spLocks noChangeArrowheads="1" noChangeAspect="1" noGrp="1" noRot="1" noTextEdit="1"/>
          </p:cNvSpPr>
          <p:nvPr>
            <p:ph type="sldImg"/>
          </p:nvPr>
        </p:nvSpPr>
        <p:spPr bwMode="auto">
          <a:ln/>
        </p:spPr>
      </p:sp>
      <p:sp>
        <p:nvSpPr>
          <p:cNvPr id="135816690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88336E-20CE-E543-7084-2579867173FF}"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0411796" name="Rectangle 2"/>
          <p:cNvSpPr>
            <a:spLocks noChangeArrowheads="1" noChangeAspect="1" noGrp="1" noRot="1" noTextEdit="1"/>
          </p:cNvSpPr>
          <p:nvPr>
            <p:ph type="sldImg"/>
          </p:nvPr>
        </p:nvSpPr>
        <p:spPr bwMode="auto">
          <a:ln/>
        </p:spPr>
      </p:sp>
      <p:sp>
        <p:nvSpPr>
          <p:cNvPr id="111389438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0361686" name="Rectangle 2"/>
          <p:cNvSpPr>
            <a:spLocks noChangeArrowheads="1" noChangeAspect="1" noGrp="1" noRot="1" noTextEdit="1"/>
          </p:cNvSpPr>
          <p:nvPr>
            <p:ph type="sldImg"/>
          </p:nvPr>
        </p:nvSpPr>
        <p:spPr bwMode="auto">
          <a:ln/>
        </p:spPr>
      </p:sp>
      <p:sp>
        <p:nvSpPr>
          <p:cNvPr id="147301642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94180"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4A844920-4587-41BB-A3CA-8E6E52C99E12}" type="slidenum">
              <a:rPr lang="en-US">
                <a:latin typeface="Times New Roman"/>
              </a:rPr>
              <a:t>50</a:t>
            </a:fld>
            <a:endParaRPr lang="en-US">
              <a:latin typeface="Times New Roman"/>
            </a:endParaRPr>
          </a:p>
        </p:txBody>
      </p:sp>
      <p:sp>
        <p:nvSpPr>
          <p:cNvPr id="1138413315" name="Rectangle 2"/>
          <p:cNvSpPr>
            <a:spLocks noChangeArrowheads="1" noChangeAspect="1" noGrp="1" noRot="1" noTextEdit="1"/>
          </p:cNvSpPr>
          <p:nvPr>
            <p:ph type="sldImg"/>
          </p:nvPr>
        </p:nvSpPr>
        <p:spPr bwMode="auto">
          <a:ln/>
        </p:spPr>
      </p:sp>
      <p:sp>
        <p:nvSpPr>
          <p:cNvPr id="922206279"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251278"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4A844920-4587-41BB-A3CA-8E6E52C99E12}" type="slidenum">
              <a:rPr lang="en-US">
                <a:latin typeface="Times New Roman"/>
              </a:rPr>
              <a:t>51</a:t>
            </a:fld>
            <a:endParaRPr lang="en-US">
              <a:latin typeface="Times New Roman"/>
            </a:endParaRPr>
          </a:p>
        </p:txBody>
      </p:sp>
      <p:sp>
        <p:nvSpPr>
          <p:cNvPr id="953283558" name="Rectangle 2"/>
          <p:cNvSpPr>
            <a:spLocks noChangeArrowheads="1" noChangeAspect="1" noGrp="1" noRot="1" noTextEdit="1"/>
          </p:cNvSpPr>
          <p:nvPr>
            <p:ph type="sldImg"/>
          </p:nvPr>
        </p:nvSpPr>
        <p:spPr bwMode="auto">
          <a:ln/>
        </p:spPr>
      </p:sp>
      <p:sp>
        <p:nvSpPr>
          <p:cNvPr id="1577417578"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9522367"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26247B14-7B30-4914-8493-770C5D0217D9}" type="slidenum">
              <a:rPr lang="en-US">
                <a:latin typeface="Times New Roman"/>
              </a:rPr>
              <a:t>52</a:t>
            </a:fld>
            <a:endParaRPr lang="en-US">
              <a:latin typeface="Times New Roman"/>
            </a:endParaRPr>
          </a:p>
        </p:txBody>
      </p:sp>
      <p:sp>
        <p:nvSpPr>
          <p:cNvPr id="1417028164" name="Rectangle 2"/>
          <p:cNvSpPr>
            <a:spLocks noChangeArrowheads="1" noChangeAspect="1" noGrp="1" noRot="1" noTextEdit="1"/>
          </p:cNvSpPr>
          <p:nvPr>
            <p:ph type="sldImg"/>
          </p:nvPr>
        </p:nvSpPr>
        <p:spPr bwMode="auto">
          <a:ln/>
        </p:spPr>
      </p:sp>
      <p:sp>
        <p:nvSpPr>
          <p:cNvPr id="90764135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0086778"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DA0BAF53-828A-49F4-8077-26BB561564F9}" type="slidenum">
              <a:rPr lang="en-US">
                <a:latin typeface="Times New Roman"/>
              </a:rPr>
              <a:t>53</a:t>
            </a:fld>
            <a:endParaRPr lang="en-US">
              <a:latin typeface="Times New Roman"/>
            </a:endParaRPr>
          </a:p>
        </p:txBody>
      </p:sp>
      <p:sp>
        <p:nvSpPr>
          <p:cNvPr id="1109724959" name="Rectangle 2"/>
          <p:cNvSpPr>
            <a:spLocks noChangeArrowheads="1" noChangeAspect="1" noGrp="1" noRot="1" noTextEdit="1"/>
          </p:cNvSpPr>
          <p:nvPr>
            <p:ph type="sldImg"/>
          </p:nvPr>
        </p:nvSpPr>
        <p:spPr bwMode="auto">
          <a:ln/>
        </p:spPr>
      </p:sp>
      <p:sp>
        <p:nvSpPr>
          <p:cNvPr id="1553283139"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7785984"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66628204-E272-49CF-9F32-BF3F333C9D84}" type="slidenum">
              <a:rPr lang="en-US">
                <a:latin typeface="Times New Roman"/>
              </a:rPr>
              <a:t>54</a:t>
            </a:fld>
            <a:endParaRPr lang="en-US">
              <a:latin typeface="Times New Roman"/>
            </a:endParaRPr>
          </a:p>
        </p:txBody>
      </p:sp>
      <p:sp>
        <p:nvSpPr>
          <p:cNvPr id="866856865" name="Rectangle 2"/>
          <p:cNvSpPr>
            <a:spLocks noChangeArrowheads="1" noChangeAspect="1" noGrp="1" noRot="1" noTextEdit="1"/>
          </p:cNvSpPr>
          <p:nvPr>
            <p:ph type="sldImg"/>
          </p:nvPr>
        </p:nvSpPr>
        <p:spPr bwMode="auto">
          <a:ln/>
        </p:spPr>
      </p:sp>
      <p:sp>
        <p:nvSpPr>
          <p:cNvPr id="167401322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656671"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BE3D624F-2319-4971-BD9E-DD1BA8AA2210}" type="slidenum">
              <a:rPr lang="en-US">
                <a:latin typeface="Times New Roman"/>
              </a:rPr>
              <a:t>55</a:t>
            </a:fld>
            <a:endParaRPr lang="en-US">
              <a:latin typeface="Times New Roman"/>
            </a:endParaRPr>
          </a:p>
        </p:txBody>
      </p:sp>
      <p:sp>
        <p:nvSpPr>
          <p:cNvPr id="1614803777" name="Rectangle 2"/>
          <p:cNvSpPr>
            <a:spLocks noChangeArrowheads="1" noChangeAspect="1" noGrp="1" noRot="1" noTextEdit="1"/>
          </p:cNvSpPr>
          <p:nvPr>
            <p:ph type="sldImg"/>
          </p:nvPr>
        </p:nvSpPr>
        <p:spPr bwMode="auto">
          <a:ln/>
        </p:spPr>
      </p:sp>
      <p:sp>
        <p:nvSpPr>
          <p:cNvPr id="1990674317"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0942704"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2DA7A980-1C06-4A44-B4F7-1A8E4D6C7491}" type="slidenum">
              <a:rPr lang="en-US">
                <a:latin typeface="Times New Roman"/>
              </a:rPr>
              <a:t>56</a:t>
            </a:fld>
            <a:endParaRPr lang="en-US">
              <a:latin typeface="Times New Roman"/>
            </a:endParaRPr>
          </a:p>
        </p:txBody>
      </p:sp>
      <p:sp>
        <p:nvSpPr>
          <p:cNvPr id="1550709759" name="Rectangle 2"/>
          <p:cNvSpPr>
            <a:spLocks noChangeArrowheads="1" noChangeAspect="1" noGrp="1" noRot="1" noTextEdit="1"/>
          </p:cNvSpPr>
          <p:nvPr>
            <p:ph type="sldImg"/>
          </p:nvPr>
        </p:nvSpPr>
        <p:spPr bwMode="auto">
          <a:ln/>
        </p:spPr>
      </p:sp>
      <p:sp>
        <p:nvSpPr>
          <p:cNvPr id="663184161"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5010598"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FEC6BA39-A472-4B3B-A7DF-4F396B3C17E7}" type="slidenum">
              <a:rPr lang="en-US">
                <a:latin typeface="Times New Roman"/>
              </a:rPr>
              <a:t>57</a:t>
            </a:fld>
            <a:endParaRPr lang="en-US">
              <a:latin typeface="Times New Roman"/>
            </a:endParaRPr>
          </a:p>
        </p:txBody>
      </p:sp>
      <p:sp>
        <p:nvSpPr>
          <p:cNvPr id="372291148" name="Rectangle 2"/>
          <p:cNvSpPr>
            <a:spLocks noChangeArrowheads="1" noChangeAspect="1" noGrp="1" noRot="1" noTextEdit="1"/>
          </p:cNvSpPr>
          <p:nvPr>
            <p:ph type="sldImg"/>
          </p:nvPr>
        </p:nvSpPr>
        <p:spPr bwMode="auto">
          <a:ln/>
        </p:spPr>
      </p:sp>
      <p:sp>
        <p:nvSpPr>
          <p:cNvPr id="772865944"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2750461"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88F9C382-E9CB-4121-9295-821692F9295E}" type="slidenum">
              <a:rPr lang="en-US">
                <a:latin typeface="Times New Roman"/>
              </a:rPr>
              <a:t>58</a:t>
            </a:fld>
            <a:endParaRPr lang="en-US">
              <a:latin typeface="Times New Roman"/>
            </a:endParaRPr>
          </a:p>
        </p:txBody>
      </p:sp>
      <p:sp>
        <p:nvSpPr>
          <p:cNvPr id="897261399" name="Rectangle 2"/>
          <p:cNvSpPr>
            <a:spLocks noChangeArrowheads="1" noChangeAspect="1" noGrp="1" noRot="1" noTextEdit="1"/>
          </p:cNvSpPr>
          <p:nvPr>
            <p:ph type="sldImg"/>
          </p:nvPr>
        </p:nvSpPr>
        <p:spPr bwMode="auto">
          <a:ln/>
        </p:spPr>
      </p:sp>
      <p:sp>
        <p:nvSpPr>
          <p:cNvPr id="1948445246"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5091433"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38144CDA-524B-42CB-B6A8-1F82635CA2A0}" type="slidenum">
              <a:rPr lang="en-US">
                <a:latin typeface="Times New Roman"/>
              </a:rPr>
              <a:t>59</a:t>
            </a:fld>
            <a:endParaRPr lang="en-US">
              <a:latin typeface="Times New Roman"/>
            </a:endParaRPr>
          </a:p>
        </p:txBody>
      </p:sp>
      <p:sp>
        <p:nvSpPr>
          <p:cNvPr id="721049405" name="Rectangle 2"/>
          <p:cNvSpPr>
            <a:spLocks noChangeArrowheads="1" noChangeAspect="1" noGrp="1" noRot="1" noTextEdit="1"/>
          </p:cNvSpPr>
          <p:nvPr>
            <p:ph type="sldImg"/>
          </p:nvPr>
        </p:nvSpPr>
        <p:spPr bwMode="auto">
          <a:ln/>
        </p:spPr>
      </p:sp>
      <p:sp>
        <p:nvSpPr>
          <p:cNvPr id="831791636"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596832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38144CDA-524B-42CB-B6A8-1F82635CA2A0}" type="slidenum">
              <a:rPr lang="en-US">
                <a:latin typeface="Times New Roman"/>
              </a:rPr>
              <a:t>60</a:t>
            </a:fld>
            <a:endParaRPr lang="en-US">
              <a:latin typeface="Times New Roman"/>
            </a:endParaRPr>
          </a:p>
        </p:txBody>
      </p:sp>
      <p:sp>
        <p:nvSpPr>
          <p:cNvPr id="1579199665" name="Rectangle 2"/>
          <p:cNvSpPr>
            <a:spLocks noChangeArrowheads="1" noChangeAspect="1" noGrp="1" noRot="1" noTextEdit="1"/>
          </p:cNvSpPr>
          <p:nvPr>
            <p:ph type="sldImg"/>
          </p:nvPr>
        </p:nvSpPr>
        <p:spPr bwMode="auto">
          <a:ln/>
        </p:spPr>
      </p:sp>
      <p:sp>
        <p:nvSpPr>
          <p:cNvPr id="892449197"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6354482"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43033E44-AE0A-43BF-A520-184D3757D382}" type="slidenum">
              <a:rPr lang="en-US">
                <a:latin typeface="Times New Roman"/>
              </a:rPr>
              <a:t>61</a:t>
            </a:fld>
            <a:endParaRPr lang="en-US">
              <a:latin typeface="Times New Roman"/>
            </a:endParaRPr>
          </a:p>
        </p:txBody>
      </p:sp>
      <p:sp>
        <p:nvSpPr>
          <p:cNvPr id="1079862384" name="Rectangle 2"/>
          <p:cNvSpPr>
            <a:spLocks noChangeArrowheads="1" noChangeAspect="1" noGrp="1" noRot="1" noTextEdit="1"/>
          </p:cNvSpPr>
          <p:nvPr>
            <p:ph type="sldImg"/>
          </p:nvPr>
        </p:nvSpPr>
        <p:spPr bwMode="auto">
          <a:ln/>
        </p:spPr>
      </p:sp>
      <p:sp>
        <p:nvSpPr>
          <p:cNvPr id="1486309833"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B523336-7F66-4838-5CCE-079137E6E721}"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D9216C6-6675-3F05-F352-1AA98E6A89DD}"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38F3063-AD7A-45A0-7E46-649C975F3F41}"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7B91E6-6F5B-F2E5-4AB2-4D44D1A607AF}"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C06A815-6906-5BB1-0AEB-78B5AA059FC7}"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926664"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E9309D8D-5C8E-47B5-B76C-995FF4B425D8}" type="slidenum">
              <a:rPr lang="en-US">
                <a:latin typeface="Times New Roman"/>
              </a:rPr>
              <a:t>67</a:t>
            </a:fld>
            <a:endParaRPr lang="en-US">
              <a:latin typeface="Times New Roman"/>
            </a:endParaRPr>
          </a:p>
        </p:txBody>
      </p:sp>
      <p:sp>
        <p:nvSpPr>
          <p:cNvPr id="993168743" name="Rectangle 2"/>
          <p:cNvSpPr>
            <a:spLocks noChangeArrowheads="1" noChangeAspect="1" noGrp="1" noRot="1" noTextEdit="1"/>
          </p:cNvSpPr>
          <p:nvPr>
            <p:ph type="sldImg"/>
          </p:nvPr>
        </p:nvSpPr>
        <p:spPr bwMode="auto">
          <a:ln/>
        </p:spPr>
      </p:sp>
      <p:sp>
        <p:nvSpPr>
          <p:cNvPr id="952759418"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CE0BEF5-F39B-BDB3-651C-7609348F9D48}"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0514063"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C74F695C-5F2E-482E-8B6B-62AF14C87ED6}" type="slidenum">
              <a:rPr lang="en-US">
                <a:latin typeface="Times New Roman"/>
              </a:rPr>
              <a:t>69</a:t>
            </a:fld>
            <a:endParaRPr lang="en-US">
              <a:latin typeface="Times New Roman"/>
            </a:endParaRPr>
          </a:p>
        </p:txBody>
      </p:sp>
      <p:sp>
        <p:nvSpPr>
          <p:cNvPr id="954718320" name="Rectangle 2"/>
          <p:cNvSpPr>
            <a:spLocks noChangeArrowheads="1" noChangeAspect="1" noGrp="1" noRot="1" noTextEdit="1"/>
          </p:cNvSpPr>
          <p:nvPr>
            <p:ph type="sldImg"/>
          </p:nvPr>
        </p:nvSpPr>
        <p:spPr bwMode="auto">
          <a:ln/>
        </p:spPr>
      </p:sp>
      <p:sp>
        <p:nvSpPr>
          <p:cNvPr id="1070324220"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4358059" name="Rectangle 2"/>
          <p:cNvSpPr>
            <a:spLocks noChangeArrowheads="1" noChangeAspect="1" noGrp="1" noRot="1" noTextEdit="1"/>
          </p:cNvSpPr>
          <p:nvPr>
            <p:ph type="sldImg"/>
          </p:nvPr>
        </p:nvSpPr>
        <p:spPr bwMode="auto">
          <a:ln/>
        </p:spPr>
      </p:sp>
      <p:sp>
        <p:nvSpPr>
          <p:cNvPr id="1434276628"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44C3AA3-5C26-8E93-E133-3B4EF88293AC}" type="slidenum">
              <a:rPr/>
              <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0930596"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2C970466-3449-4494-8D09-9CEF39776B3E}" type="slidenum">
              <a:rPr lang="en-US">
                <a:latin typeface="Times New Roman"/>
              </a:rPr>
              <a:t>72</a:t>
            </a:fld>
            <a:endParaRPr lang="en-US">
              <a:latin typeface="Times New Roman"/>
            </a:endParaRPr>
          </a:p>
        </p:txBody>
      </p:sp>
      <p:sp>
        <p:nvSpPr>
          <p:cNvPr id="1577303397" name="Rectangle 2"/>
          <p:cNvSpPr>
            <a:spLocks noChangeArrowheads="1" noChangeAspect="1" noGrp="1" noRot="1" noTextEdit="1"/>
          </p:cNvSpPr>
          <p:nvPr>
            <p:ph type="sldImg"/>
          </p:nvPr>
        </p:nvSpPr>
        <p:spPr bwMode="auto">
          <a:ln/>
        </p:spPr>
      </p:sp>
      <p:sp>
        <p:nvSpPr>
          <p:cNvPr id="164191878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7005261"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1C541504-7C9A-4526-994E-304A048D608D}" type="slidenum">
              <a:rPr lang="en-US">
                <a:latin typeface="Times New Roman"/>
              </a:rPr>
              <a:t>73</a:t>
            </a:fld>
            <a:endParaRPr lang="en-US">
              <a:latin typeface="Times New Roman"/>
            </a:endParaRPr>
          </a:p>
        </p:txBody>
      </p:sp>
      <p:sp>
        <p:nvSpPr>
          <p:cNvPr id="645676966" name="Rectangle 2"/>
          <p:cNvSpPr>
            <a:spLocks noChangeArrowheads="1" noChangeAspect="1" noGrp="1" noRot="1" noTextEdit="1"/>
          </p:cNvSpPr>
          <p:nvPr>
            <p:ph type="sldImg"/>
          </p:nvPr>
        </p:nvSpPr>
        <p:spPr bwMode="auto">
          <a:ln/>
        </p:spPr>
      </p:sp>
      <p:sp>
        <p:nvSpPr>
          <p:cNvPr id="1161571018"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E798234-B437-BB1C-8A6B-582CD9ADD73F}" type="slidenum">
              <a:rPr/>
              <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444DDCA-D65D-A788-3879-B9F988A6C554}" type="slidenum">
              <a:rPr/>
              <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CC23E5-27FF-EEAF-347E-F777ABB456B2}" type="slidenum">
              <a:rPr/>
              <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566396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00EA1C6A-8A64-43BB-91B2-5F5909240046}" type="slidenum">
              <a:rPr lang="en-US">
                <a:latin typeface="Times New Roman"/>
              </a:rPr>
              <a:t>77</a:t>
            </a:fld>
            <a:endParaRPr lang="en-US">
              <a:latin typeface="Times New Roman"/>
            </a:endParaRPr>
          </a:p>
        </p:txBody>
      </p:sp>
      <p:sp>
        <p:nvSpPr>
          <p:cNvPr id="485421904" name="Rectangle 2"/>
          <p:cNvSpPr>
            <a:spLocks noChangeArrowheads="1" noChangeAspect="1" noGrp="1" noRot="1" noTextEdit="1"/>
          </p:cNvSpPr>
          <p:nvPr>
            <p:ph type="sldImg"/>
          </p:nvPr>
        </p:nvSpPr>
        <p:spPr bwMode="auto">
          <a:ln/>
        </p:spPr>
      </p:sp>
      <p:sp>
        <p:nvSpPr>
          <p:cNvPr id="1644866946"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0323FFD-7A08-8815-DBA3-2CABCE60D391}" type="slidenum">
              <a:rPr/>
              <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9159539" name="Rectangle 7"/>
          <p:cNvSpPr>
            <a:spLocks noChangeArrowheads="1" noGrp="1"/>
          </p:cNvSpPr>
          <p:nvPr>
            <p:ph type="sldNum" sz="quarter" idx="5"/>
          </p:nvPr>
        </p:nvSpPr>
        <p:spPr bwMode="auto">
          <a:prstGeom prst="rect">
            <a:avLst/>
          </a:prstGeom>
          <a:noFill/>
          <a:ln/>
        </p:spPr>
        <p:txBody>
          <a:bodyPr/>
          <a:lstStyle>
            <a:lvl1pPr defTabSz="939800">
              <a:defRPr>
                <a:solidFill>
                  <a:schemeClr val="tx1"/>
                </a:solidFill>
                <a:latin typeface="Verdana"/>
                <a:ea typeface="MS PGothic"/>
              </a:defRPr>
            </a:lvl1pPr>
            <a:lvl2pPr marL="742950" indent="-285750" defTabSz="939800">
              <a:defRPr>
                <a:solidFill>
                  <a:schemeClr val="tx1"/>
                </a:solidFill>
                <a:latin typeface="Verdana"/>
                <a:ea typeface="MS PGothic"/>
              </a:defRPr>
            </a:lvl2pPr>
            <a:lvl3pPr marL="1143000" indent="-228600" defTabSz="939800">
              <a:defRPr>
                <a:solidFill>
                  <a:schemeClr val="tx1"/>
                </a:solidFill>
                <a:latin typeface="Verdana"/>
                <a:ea typeface="MS PGothic"/>
              </a:defRPr>
            </a:lvl3pPr>
            <a:lvl4pPr marL="1600200" indent="-228600" defTabSz="939800">
              <a:defRPr>
                <a:solidFill>
                  <a:schemeClr val="tx1"/>
                </a:solidFill>
                <a:latin typeface="Verdana"/>
                <a:ea typeface="MS PGothic"/>
              </a:defRPr>
            </a:lvl4pPr>
            <a:lvl5pPr marL="2057400" indent="-228600" defTabSz="939800">
              <a:defRPr>
                <a:solidFill>
                  <a:schemeClr val="tx1"/>
                </a:solidFill>
                <a:latin typeface="Verdana"/>
                <a:ea typeface="MS PGothic"/>
              </a:defRPr>
            </a:lvl5pPr>
            <a:lvl6pPr marL="2514600" indent="-228600" defTabSz="939800">
              <a:spcBef>
                <a:spcPts val="0"/>
              </a:spcBef>
              <a:spcAft>
                <a:spcPts val="0"/>
              </a:spcAft>
              <a:defRPr>
                <a:solidFill>
                  <a:schemeClr val="tx1"/>
                </a:solidFill>
                <a:latin typeface="Verdana"/>
                <a:ea typeface="MS PGothic"/>
              </a:defRPr>
            </a:lvl6pPr>
            <a:lvl7pPr marL="2971800" indent="-228600" defTabSz="939800">
              <a:spcBef>
                <a:spcPts val="0"/>
              </a:spcBef>
              <a:spcAft>
                <a:spcPts val="0"/>
              </a:spcAft>
              <a:defRPr>
                <a:solidFill>
                  <a:schemeClr val="tx1"/>
                </a:solidFill>
                <a:latin typeface="Verdana"/>
                <a:ea typeface="MS PGothic"/>
              </a:defRPr>
            </a:lvl7pPr>
            <a:lvl8pPr marL="3429000" indent="-228600" defTabSz="939800">
              <a:spcBef>
                <a:spcPts val="0"/>
              </a:spcBef>
              <a:spcAft>
                <a:spcPts val="0"/>
              </a:spcAft>
              <a:defRPr>
                <a:solidFill>
                  <a:schemeClr val="tx1"/>
                </a:solidFill>
                <a:latin typeface="Verdana"/>
                <a:ea typeface="MS PGothic"/>
              </a:defRPr>
            </a:lvl8pPr>
            <a:lvl9pPr marL="3886200" indent="-228600" defTabSz="939800">
              <a:spcBef>
                <a:spcPts val="0"/>
              </a:spcBef>
              <a:spcAft>
                <a:spcPts val="0"/>
              </a:spcAft>
              <a:defRPr>
                <a:solidFill>
                  <a:schemeClr val="tx1"/>
                </a:solidFill>
                <a:latin typeface="Verdana"/>
                <a:ea typeface="MS PGothic"/>
              </a:defRPr>
            </a:lvl9pPr>
          </a:lstStyle>
          <a:p>
            <a:pPr>
              <a:defRPr/>
            </a:pPr>
            <a:fld id="{B8EB864C-7330-4E1B-A037-7D79409E01F4}" type="slidenum">
              <a:rPr lang="en-US">
                <a:latin typeface="Times New Roman"/>
              </a:rPr>
              <a:t>79</a:t>
            </a:fld>
            <a:endParaRPr lang="en-US">
              <a:latin typeface="Times New Roman"/>
            </a:endParaRPr>
          </a:p>
        </p:txBody>
      </p:sp>
      <p:sp>
        <p:nvSpPr>
          <p:cNvPr id="1756487271" name="Rectangle 2"/>
          <p:cNvSpPr>
            <a:spLocks noChangeArrowheads="1" noChangeAspect="1" noGrp="1" noRot="1" noTextEdit="1"/>
          </p:cNvSpPr>
          <p:nvPr>
            <p:ph type="sldImg"/>
          </p:nvPr>
        </p:nvSpPr>
        <p:spPr bwMode="auto">
          <a:ln/>
        </p:spPr>
      </p:sp>
      <p:sp>
        <p:nvSpPr>
          <p:cNvPr id="1831369382" name="Rectangle 3"/>
          <p:cNvSpPr>
            <a:spLocks noChangeArrowheads="1" noGrp="1"/>
          </p:cNvSpPr>
          <p:nvPr>
            <p:ph type="body" idx="1"/>
          </p:nvPr>
        </p:nvSpPr>
        <p:spPr bwMode="auto">
          <a:prstGeom prst="rect">
            <a:avLst/>
          </a:prstGeom>
          <a:noFill/>
          <a:ln/>
        </p:spPr>
        <p:txBody>
          <a:bodyPr/>
          <a:lstStyle/>
          <a:p>
            <a:pPr>
              <a:defRPr/>
            </a:pPr>
            <a:endParaRPr lang="en-US">
              <a:latin typeface="Times New Roman"/>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spTree>
      <p:nvGrpSpPr>
        <p:cNvPr id="1" name=""/>
        <p:cNvGrpSpPr/>
        <p:nvPr/>
      </p:nvGrpSpPr>
      <p:grpSpPr bwMode="auto">
        <a:xfrm>
          <a:off x="0" y="0"/>
          <a:ext cx="0" cy="0"/>
          <a:chOff x="0" y="0"/>
          <a:chExt cx="0" cy="0"/>
        </a:xfrm>
      </p:grpSpPr>
      <p:grpSp>
        <p:nvGrpSpPr>
          <p:cNvPr id="1149096491"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defRPr/>
              </a:pPr>
              <a:endParaRPr 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defRPr/>
              </a:pPr>
              <a:endParaRPr 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defRPr/>
              </a:pPr>
              <a:endParaRPr lang="en-US"/>
            </a:p>
          </p:txBody>
        </p:sp>
      </p:grpSp>
      <p:sp>
        <p:nvSpPr>
          <p:cNvPr id="1741613416" name="Text Box 7"/>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lgn="ctr">
              <a:spcBef>
                <a:spcPts val="0"/>
              </a:spcBef>
              <a:defRPr/>
            </a:pPr>
            <a:r>
              <a:rPr lang="en-US" sz="1000" b="1">
                <a:solidFill>
                  <a:srgbClr val="336699"/>
                </a:solidFill>
                <a:latin typeface="Helvetica"/>
              </a:rPr>
              <a:t>Silberschatz, Galvin and Gagne ©2018</a:t>
            </a:r>
            <a:endParaRPr/>
          </a:p>
        </p:txBody>
      </p:sp>
      <p:sp>
        <p:nvSpPr>
          <p:cNvPr id="1182396588" name="Text Box 8"/>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spcBef>
                <a:spcPts val="0"/>
              </a:spcBef>
              <a:defRPr/>
            </a:pPr>
            <a:r>
              <a:rPr lang="en-US" sz="1000" b="1">
                <a:solidFill>
                  <a:srgbClr val="336699"/>
                </a:solidFill>
                <a:latin typeface="Helvetica"/>
              </a:rPr>
              <a:t>Operating System Concepts – 10</a:t>
            </a:r>
            <a:r>
              <a:rPr lang="en-US" sz="1000" b="1" baseline="30000">
                <a:solidFill>
                  <a:srgbClr val="336699"/>
                </a:solidFill>
                <a:latin typeface="Helvetica"/>
              </a:rPr>
              <a:t>th</a:t>
            </a:r>
            <a:r>
              <a:rPr lang="en-US" sz="1000" b="1">
                <a:solidFill>
                  <a:srgbClr val="336699"/>
                </a:solidFill>
                <a:latin typeface="Helvetica"/>
              </a:rPr>
              <a:t> Edition</a:t>
            </a:r>
            <a:endParaRPr/>
          </a:p>
        </p:txBody>
      </p:sp>
      <p:pic>
        <p:nvPicPr>
          <p:cNvPr id="1131625320" name="Picture 9" descr="dino_4"/>
          <p:cNvPicPr>
            <a:picLocks noChangeAspect="1" noChangeArrowheads="1"/>
          </p:cNvPicPr>
          <p:nvPr/>
        </p:nvPicPr>
        <p:blipFill rotWithShape="1">
          <a:blip r:embed="rId2"/>
          <a:stretch/>
        </p:blipFill>
        <p:spPr bwMode="auto">
          <a:xfrm>
            <a:off x="3360738" y="4157663"/>
            <a:ext cx="2062162" cy="1593850"/>
          </a:xfrm>
          <a:prstGeom prst="rect">
            <a:avLst/>
          </a:prstGeom>
          <a:noFill/>
          <a:ln w="76200">
            <a:solidFill>
              <a:srgbClr val="336699"/>
            </a:solidFill>
            <a:miter lim="800000"/>
            <a:headEnd/>
            <a:tailEnd/>
          </a:ln>
        </p:spPr>
      </p:pic>
      <p:sp>
        <p:nvSpPr>
          <p:cNvPr id="487429706"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defRPr/>
            </a:pPr>
            <a:endParaRPr lang="en-US"/>
          </a:p>
        </p:txBody>
      </p:sp>
      <p:sp>
        <p:nvSpPr>
          <p:cNvPr id="832473658" name="Rectangle 2"/>
          <p:cNvSpPr>
            <a:spLocks noChangeArrowheads="1" noGrp="1"/>
          </p:cNvSpPr>
          <p:nvPr>
            <p:ph type="ctrTitle"/>
          </p:nvPr>
        </p:nvSpPr>
        <p:spPr bwMode="auto">
          <a:xfrm>
            <a:off x="685800" y="685800"/>
            <a:ext cx="7772400" cy="2127250"/>
          </a:xfrm>
        </p:spPr>
        <p:txBody>
          <a:bodyPr/>
          <a:lstStyle>
            <a:lvl1pPr>
              <a:defRPr sz="4300"/>
            </a:lvl1pPr>
          </a:lstStyle>
          <a:p>
            <a:pPr>
              <a:defRPr/>
            </a:pPr>
            <a:r>
              <a:rPr lang="en-US"/>
              <a:t>Click to edit Master 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475223373" name="Title 1"/>
          <p:cNvSpPr>
            <a:spLocks noGrp="1"/>
          </p:cNvSpPr>
          <p:nvPr>
            <p:ph type="title"/>
          </p:nvPr>
        </p:nvSpPr>
        <p:spPr bwMode="auto"/>
        <p:txBody>
          <a:bodyPr/>
          <a:lstStyle/>
          <a:p>
            <a:pPr>
              <a:defRPr/>
            </a:pPr>
            <a:r>
              <a:rPr lang="en-US"/>
              <a:t>Click to edit Master title style</a:t>
            </a:r>
            <a:endParaRPr/>
          </a:p>
        </p:txBody>
      </p:sp>
      <p:sp>
        <p:nvSpPr>
          <p:cNvPr id="81443022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92542969"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1814052434" name="Text Placeholder 2"/>
          <p:cNvSpPr>
            <a:spLocks noGrp="1"/>
          </p:cNvSpPr>
          <p:nvPr>
            <p:ph type="body" idx="1"/>
          </p:nvPr>
        </p:nvSpPr>
        <p:spPr bwMode="auto">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defRPr/>
            </a:pPr>
            <a:r>
              <a:rPr lang="en-US"/>
              <a:t>Click to edit Master text styles</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358893923" name="Title 1"/>
          <p:cNvSpPr>
            <a:spLocks noGrp="1"/>
          </p:cNvSpPr>
          <p:nvPr>
            <p:ph type="title"/>
          </p:nvPr>
        </p:nvSpPr>
        <p:spPr bwMode="auto"/>
        <p:txBody>
          <a:bodyPr/>
          <a:lstStyle/>
          <a:p>
            <a:pPr>
              <a:defRPr/>
            </a:pPr>
            <a:r>
              <a:rPr lang="en-US"/>
              <a:t>Click to edit Master title style</a:t>
            </a:r>
            <a:endParaRPr/>
          </a:p>
        </p:txBody>
      </p:sp>
      <p:sp>
        <p:nvSpPr>
          <p:cNvPr id="1862580066" name="Content Placeholder 2"/>
          <p:cNvSpPr>
            <a:spLocks noGrp="1"/>
          </p:cNvSpPr>
          <p:nvPr>
            <p:ph sz="half" idx="1"/>
          </p:nvPr>
        </p:nvSpPr>
        <p:spPr bwMode="auto">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98294977" name="Content Placeholder 3"/>
          <p:cNvSpPr>
            <a:spLocks noGrp="1"/>
          </p:cNvSpPr>
          <p:nvPr>
            <p:ph sz="half" idx="2"/>
          </p:nvPr>
        </p:nvSpPr>
        <p:spPr bwMode="auto">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600126122" name="Title 1"/>
          <p:cNvSpPr>
            <a:spLocks noGrp="1"/>
          </p:cNvSpPr>
          <p:nvPr>
            <p:ph type="title"/>
          </p:nvPr>
        </p:nvSpPr>
        <p:spPr bwMode="auto">
          <a:xfrm>
            <a:off x="457200" y="274638"/>
            <a:ext cx="8229600" cy="1143000"/>
          </a:xfrm>
        </p:spPr>
        <p:txBody>
          <a:bodyPr/>
          <a:lstStyle>
            <a:lvl1pPr>
              <a:defRPr/>
            </a:lvl1pPr>
          </a:lstStyle>
          <a:p>
            <a:pPr>
              <a:defRPr/>
            </a:pPr>
            <a:r>
              <a:rPr lang="en-US"/>
              <a:t>Click to edit Master title style</a:t>
            </a:r>
            <a:endParaRPr/>
          </a:p>
        </p:txBody>
      </p:sp>
      <p:sp>
        <p:nvSpPr>
          <p:cNvPr id="16101260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71247510"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30516770"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27367038"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514934640" name="Title 1"/>
          <p:cNvSpPr>
            <a:spLocks noGrp="1"/>
          </p:cNvSpPr>
          <p:nvPr>
            <p:ph type="title"/>
          </p:nvPr>
        </p:nvSpPr>
        <p:spPr bwMode="auto"/>
        <p:txBody>
          <a:bodyPr/>
          <a:lstStyle/>
          <a:p>
            <a:pPr>
              <a:defRPr/>
            </a:pPr>
            <a:r>
              <a:rPr lang="en-US"/>
              <a:t>Click to edit Master title style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40979162" name="Title 1"/>
          <p:cNvSpPr>
            <a:spLocks noGrp="1"/>
          </p:cNvSpPr>
          <p:nvPr>
            <p:ph type="title"/>
          </p:nvPr>
        </p:nvSpPr>
        <p:spPr bwMode="auto">
          <a:xfrm>
            <a:off x="457200" y="273050"/>
            <a:ext cx="3008313" cy="1162050"/>
          </a:xfrm>
        </p:spPr>
        <p:txBody>
          <a:bodyPr/>
          <a:lstStyle>
            <a:lvl1pPr algn="l">
              <a:defRPr sz="2000" b="1"/>
            </a:lvl1pPr>
          </a:lstStyle>
          <a:p>
            <a:pPr>
              <a:defRPr/>
            </a:pPr>
            <a:r>
              <a:rPr lang="en-US"/>
              <a:t>Click to edit Master title style</a:t>
            </a:r>
            <a:endParaRPr/>
          </a:p>
        </p:txBody>
      </p:sp>
      <p:sp>
        <p:nvSpPr>
          <p:cNvPr id="815282721"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67006506"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483577991" name="Title 1"/>
          <p:cNvSpPr>
            <a:spLocks noGrp="1"/>
          </p:cNvSpPr>
          <p:nvPr>
            <p:ph type="title"/>
          </p:nvPr>
        </p:nvSpPr>
        <p:spPr bwMode="auto">
          <a:xfrm>
            <a:off x="1792288" y="4800600"/>
            <a:ext cx="5486400" cy="566738"/>
          </a:xfrm>
        </p:spPr>
        <p:txBody>
          <a:bodyPr/>
          <a:lstStyle>
            <a:lvl1pPr algn="l">
              <a:defRPr sz="2000" b="1"/>
            </a:lvl1pPr>
          </a:lstStyle>
          <a:p>
            <a:pPr>
              <a:defRPr/>
            </a:pPr>
            <a:r>
              <a:rPr lang="en-US"/>
              <a:t>Click to edit Master title style</a:t>
            </a:r>
            <a:endParaRPr/>
          </a:p>
        </p:txBody>
      </p:sp>
      <p:sp>
        <p:nvSpPr>
          <p:cNvPr id="165105988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en-US"/>
          </a:p>
        </p:txBody>
      </p:sp>
      <p:sp>
        <p:nvSpPr>
          <p:cNvPr id="676000021"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98217180" name="Title 1"/>
          <p:cNvSpPr>
            <a:spLocks noGrp="1"/>
          </p:cNvSpPr>
          <p:nvPr>
            <p:ph type="title"/>
          </p:nvPr>
        </p:nvSpPr>
        <p:spPr bwMode="auto"/>
        <p:txBody>
          <a:bodyPr/>
          <a:lstStyle/>
          <a:p>
            <a:pPr>
              <a:defRPr/>
            </a:pPr>
            <a:r>
              <a:rPr lang="en-US"/>
              <a:t>Click to edit Master title style</a:t>
            </a:r>
            <a:endParaRPr/>
          </a:p>
        </p:txBody>
      </p:sp>
      <p:sp>
        <p:nvSpPr>
          <p:cNvPr id="190034654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318055763" name="Vertical Title 1"/>
          <p:cNvSpPr>
            <a:spLocks noGrp="1"/>
          </p:cNvSpPr>
          <p:nvPr>
            <p:ph type="title" orient="vert"/>
          </p:nvPr>
        </p:nvSpPr>
        <p:spPr bwMode="auto">
          <a:xfrm>
            <a:off x="6891338" y="277813"/>
            <a:ext cx="2144712" cy="5486400"/>
          </a:xfrm>
        </p:spPr>
        <p:txBody>
          <a:bodyPr vert="eaVert"/>
          <a:lstStyle/>
          <a:p>
            <a:pPr>
              <a:defRPr/>
            </a:pPr>
            <a:r>
              <a:rPr lang="en-US"/>
              <a:t>Click to edit Master title style</a:t>
            </a:r>
            <a:endParaRPr/>
          </a:p>
        </p:txBody>
      </p:sp>
      <p:sp>
        <p:nvSpPr>
          <p:cNvPr id="933995598" name="Vertical Text Placeholder 2"/>
          <p:cNvSpPr>
            <a:spLocks noGrp="1"/>
          </p:cNvSpPr>
          <p:nvPr>
            <p:ph type="body" orient="vert" idx="1"/>
          </p:nvPr>
        </p:nvSpPr>
        <p:spPr bwMode="auto">
          <a:xfrm>
            <a:off x="457200" y="277813"/>
            <a:ext cx="6281738" cy="5486400"/>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bg1"/>
        </a:solidFill>
      </p:bgPr>
    </p:bg>
    <p:spTree>
      <p:nvGrpSpPr>
        <p:cNvPr id="1" name=""/>
        <p:cNvGrpSpPr/>
        <p:nvPr/>
      </p:nvGrpSpPr>
      <p:grpSpPr bwMode="auto">
        <a:xfrm>
          <a:off x="0" y="0"/>
          <a:ext cx="0" cy="0"/>
          <a:chOff x="0" y="0"/>
          <a:chExt cx="0" cy="0"/>
        </a:xfrm>
      </p:grpSpPr>
      <p:pic>
        <p:nvPicPr>
          <p:cNvPr id="700906088" name="Picture 2" descr="dino_3"/>
          <p:cNvPicPr>
            <a:picLocks noChangeAspect="1" noChangeArrowheads="1"/>
          </p:cNvPicPr>
          <p:nvPr/>
        </p:nvPicPr>
        <p:blipFill rotWithShape="1">
          <a:blip r:embed="rId13"/>
          <a:stretch/>
        </p:blipFill>
        <p:spPr bwMode="auto">
          <a:xfrm>
            <a:off x="285750" y="0"/>
            <a:ext cx="1195388" cy="908050"/>
          </a:xfrm>
          <a:prstGeom prst="rect">
            <a:avLst/>
          </a:prstGeom>
          <a:noFill/>
          <a:ln>
            <a:noFill/>
          </a:ln>
        </p:spPr>
      </p:pic>
      <p:sp>
        <p:nvSpPr>
          <p:cNvPr id="1523931878" name="Rectangle 3"/>
          <p:cNvSpPr>
            <a:spLocks noChangeArrowheads="1" noGrp="1"/>
          </p:cNvSpPr>
          <p:nvPr>
            <p:ph type="title"/>
          </p:nvPr>
        </p:nvSpPr>
        <p:spPr bwMode="auto">
          <a:xfrm>
            <a:off x="457200" y="233853"/>
            <a:ext cx="8229600" cy="576262"/>
          </a:xfrm>
          <a:prstGeom prst="rect">
            <a:avLst/>
          </a:prstGeom>
          <a:noFill/>
          <a:ln>
            <a:noFill/>
          </a:ln>
        </p:spPr>
        <p:txBody>
          <a:bodyPr vert="horz" wrap="square" lIns="91440" tIns="45720" rIns="91440" bIns="45720" numCol="1" anchor="b" anchorCtr="0" compatLnSpc="1">
            <a:prstTxWarp prst="textNoShape"/>
          </a:bodyPr>
          <a:lstStyle/>
          <a:p>
            <a:pPr lvl="0">
              <a:defRPr/>
            </a:pPr>
            <a:r>
              <a:rPr lang="en-US"/>
              <a:t>Click to edit Master title style</a:t>
            </a:r>
            <a:endParaRPr/>
          </a:p>
        </p:txBody>
      </p:sp>
      <p:sp>
        <p:nvSpPr>
          <p:cNvPr id="1861959200" name="Rectangle 4"/>
          <p:cNvSpPr>
            <a:spLocks noChangeArrowheads="1" noGrp="1"/>
          </p:cNvSpPr>
          <p:nvPr>
            <p:ph type="body" idx="1"/>
          </p:nvPr>
        </p:nvSpPr>
        <p:spPr bwMode="auto">
          <a:xfrm>
            <a:off x="806450" y="1233488"/>
            <a:ext cx="7727950" cy="4530725"/>
          </a:xfrm>
          <a:prstGeom prst="rect">
            <a:avLst/>
          </a:prstGeom>
          <a:noFill/>
          <a:ln>
            <a:noFill/>
          </a:ln>
        </p:spPr>
        <p:txBody>
          <a:bodyPr vert="horz" wrap="square" lIns="91440" tIns="45720" rIns="91440" bIns="45720" numCol="1" anchor="t" anchorCtr="0" compatLnSpc="1">
            <a:prstTxWarp prst="textNoShape"/>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90292294" name="Rectangle 5"/>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lgn="ctr">
              <a:defRPr/>
            </a:pPr>
            <a:endParaRPr lang="en-US" sz="2400">
              <a:latin typeface="Times New Roman"/>
            </a:endParaRPr>
          </a:p>
        </p:txBody>
      </p:sp>
      <p:sp>
        <p:nvSpPr>
          <p:cNvPr id="872725400" name="Line 6"/>
          <p:cNvSpPr>
            <a:spLocks noChangeShapeType="1"/>
          </p:cNvSpPr>
          <p:nvPr/>
        </p:nvSpPr>
        <p:spPr bwMode="auto">
          <a:xfrm>
            <a:off x="457200" y="860425"/>
            <a:ext cx="8077200" cy="0"/>
          </a:xfrm>
          <a:prstGeom prst="line">
            <a:avLst/>
          </a:prstGeom>
          <a:noFill/>
          <a:ln w="19050">
            <a:solidFill>
              <a:srgbClr val="336699"/>
            </a:solidFill>
            <a:round/>
            <a:headEnd/>
            <a:tailEnd/>
          </a:ln>
        </p:spPr>
        <p:txBody>
          <a:bodyPr/>
          <a:lstStyle/>
          <a:p>
            <a:pPr>
              <a:defRPr/>
            </a:pPr>
            <a:endParaRPr lang="en-US"/>
          </a:p>
        </p:txBody>
      </p:sp>
      <p:sp>
        <p:nvSpPr>
          <p:cNvPr id="916912234" name="Rectangle 7"/>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lgn="ctr">
              <a:defRPr/>
            </a:pPr>
            <a:endParaRPr lang="en-US" sz="2400">
              <a:latin typeface="Times New Roman"/>
            </a:endParaRPr>
          </a:p>
        </p:txBody>
      </p:sp>
      <p:sp>
        <p:nvSpPr>
          <p:cNvPr id="520279212" name="Rectangle 8"/>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lgn="ctr">
              <a:defRPr/>
            </a:pPr>
            <a:endParaRPr lang="en-US" sz="2400">
              <a:latin typeface="Times New Roman"/>
            </a:endParaRPr>
          </a:p>
        </p:txBody>
      </p:sp>
      <p:sp>
        <p:nvSpPr>
          <p:cNvPr id="995608820" name="Text Box 9"/>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lgn="ctr">
              <a:spcBef>
                <a:spcPts val="0"/>
              </a:spcBef>
              <a:defRPr/>
            </a:pPr>
            <a:r>
              <a:rPr lang="en-US" sz="1000" b="1">
                <a:solidFill>
                  <a:srgbClr val="006699"/>
                </a:solidFill>
                <a:latin typeface="Helvetica"/>
              </a:rPr>
              <a:t>5.</a:t>
            </a:r>
            <a:fld id="{4EB6AB46-21AB-49DC-9DBD-606B37BEB33B}" type="slidenum">
              <a:rPr lang="en-US" sz="1000" b="1">
                <a:solidFill>
                  <a:srgbClr val="006699"/>
                </a:solidFill>
                <a:latin typeface="Helvetica"/>
              </a:rPr>
              <a:t>‹#›</a:t>
            </a:fld>
            <a:endParaRPr lang="en-US" sz="1000" b="1">
              <a:solidFill>
                <a:srgbClr val="006699"/>
              </a:solidFill>
              <a:latin typeface="Helvetica"/>
            </a:endParaRPr>
          </a:p>
        </p:txBody>
      </p:sp>
      <p:sp>
        <p:nvSpPr>
          <p:cNvPr id="2069681344" name="Text Box 10"/>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lgn="ctr">
              <a:spcBef>
                <a:spcPts val="0"/>
              </a:spcBef>
              <a:defRPr/>
            </a:pPr>
            <a:r>
              <a:rPr lang="en-US" sz="1000" b="1">
                <a:solidFill>
                  <a:srgbClr val="006699"/>
                </a:solidFill>
                <a:latin typeface="Helvetica"/>
              </a:rPr>
              <a:t>Silberschatz, Galvin and Gagne ©2018</a:t>
            </a:r>
            <a:endParaRPr/>
          </a:p>
        </p:txBody>
      </p:sp>
      <p:sp>
        <p:nvSpPr>
          <p:cNvPr id="605701362" name="Text Box 11"/>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a:ea typeface="MS PGothic"/>
              </a:defRPr>
            </a:lvl1pPr>
            <a:lvl2pPr marL="742950" indent="-285750">
              <a:defRPr>
                <a:solidFill>
                  <a:schemeClr val="tx1"/>
                </a:solidFill>
                <a:latin typeface="Verdana"/>
                <a:ea typeface="MS PGothic"/>
              </a:defRPr>
            </a:lvl2pPr>
            <a:lvl3pPr marL="1143000" indent="-228600">
              <a:defRPr>
                <a:solidFill>
                  <a:schemeClr val="tx1"/>
                </a:solidFill>
                <a:latin typeface="Verdana"/>
                <a:ea typeface="MS PGothic"/>
              </a:defRPr>
            </a:lvl3pPr>
            <a:lvl4pPr marL="1600200" indent="-228600">
              <a:defRPr>
                <a:solidFill>
                  <a:schemeClr val="tx1"/>
                </a:solidFill>
                <a:latin typeface="Verdana"/>
                <a:ea typeface="MS PGothic"/>
              </a:defRPr>
            </a:lvl4pPr>
            <a:lvl5pPr marL="2057400" indent="-228600">
              <a:defRPr>
                <a:solidFill>
                  <a:schemeClr val="tx1"/>
                </a:solidFill>
                <a:latin typeface="Verdana"/>
                <a:ea typeface="MS PGothic"/>
              </a:defRPr>
            </a:lvl5pPr>
            <a:lvl6pPr marL="2514600" indent="-228600">
              <a:spcBef>
                <a:spcPts val="0"/>
              </a:spcBef>
              <a:spcAft>
                <a:spcPts val="0"/>
              </a:spcAft>
              <a:defRPr>
                <a:solidFill>
                  <a:schemeClr val="tx1"/>
                </a:solidFill>
                <a:latin typeface="Verdana"/>
                <a:ea typeface="MS PGothic"/>
              </a:defRPr>
            </a:lvl6pPr>
            <a:lvl7pPr marL="2971800" indent="-228600">
              <a:spcBef>
                <a:spcPts val="0"/>
              </a:spcBef>
              <a:spcAft>
                <a:spcPts val="0"/>
              </a:spcAft>
              <a:defRPr>
                <a:solidFill>
                  <a:schemeClr val="tx1"/>
                </a:solidFill>
                <a:latin typeface="Verdana"/>
                <a:ea typeface="MS PGothic"/>
              </a:defRPr>
            </a:lvl7pPr>
            <a:lvl8pPr marL="3429000" indent="-228600">
              <a:spcBef>
                <a:spcPts val="0"/>
              </a:spcBef>
              <a:spcAft>
                <a:spcPts val="0"/>
              </a:spcAft>
              <a:defRPr>
                <a:solidFill>
                  <a:schemeClr val="tx1"/>
                </a:solidFill>
                <a:latin typeface="Verdana"/>
                <a:ea typeface="MS PGothic"/>
              </a:defRPr>
            </a:lvl8pPr>
            <a:lvl9pPr marL="3886200" indent="-228600">
              <a:spcBef>
                <a:spcPts val="0"/>
              </a:spcBef>
              <a:spcAft>
                <a:spcPts val="0"/>
              </a:spcAft>
              <a:defRPr>
                <a:solidFill>
                  <a:schemeClr val="tx1"/>
                </a:solidFill>
                <a:latin typeface="Verdana"/>
                <a:ea typeface="MS PGothic"/>
              </a:defRPr>
            </a:lvl9pPr>
          </a:lstStyle>
          <a:p>
            <a:pPr>
              <a:spcBef>
                <a:spcPts val="0"/>
              </a:spcBef>
              <a:defRPr/>
            </a:pPr>
            <a:r>
              <a:rPr lang="en-US" sz="1000" b="1">
                <a:solidFill>
                  <a:srgbClr val="006699"/>
                </a:solidFill>
                <a:latin typeface="Helvetica"/>
              </a:rPr>
              <a:t>Operating System Concepts – 10</a:t>
            </a:r>
            <a:r>
              <a:rPr lang="en-US" sz="1000" b="1" baseline="30000">
                <a:solidFill>
                  <a:srgbClr val="006699"/>
                </a:solidFill>
                <a:latin typeface="Helvetica"/>
              </a:rPr>
              <a:t>th</a:t>
            </a:r>
            <a:r>
              <a:rPr lang="en-US" sz="1000" b="1">
                <a:solidFill>
                  <a:srgbClr val="006699"/>
                </a:solidFill>
                <a:latin typeface="Helvetica"/>
              </a:rPr>
              <a:t> Edition</a:t>
            </a:r>
            <a:endParaRPr/>
          </a:p>
        </p:txBody>
      </p:sp>
      <p:pic>
        <p:nvPicPr>
          <p:cNvPr id="884287717" name="Picture 12" descr="dino_6"/>
          <p:cNvPicPr>
            <a:picLocks noChangeAspect="1" noChangeArrowheads="1"/>
          </p:cNvPicPr>
          <p:nvPr/>
        </p:nvPicPr>
        <p:blipFill rotWithShape="1">
          <a:blip r:embed="rId14"/>
          <a:stretch/>
        </p:blipFill>
        <p:spPr bwMode="auto">
          <a:xfrm>
            <a:off x="7773988" y="5849938"/>
            <a:ext cx="1284287" cy="792162"/>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a:spcBef>
          <a:spcPts val="0"/>
        </a:spcBef>
        <a:spcAft>
          <a:spcPts val="0"/>
        </a:spcAft>
        <a:defRPr sz="3200" b="1">
          <a:solidFill>
            <a:srgbClr val="006699"/>
          </a:solidFill>
          <a:latin typeface="+mj-lt"/>
          <a:ea typeface="MS PGothic"/>
          <a:cs typeface="MS PGothic"/>
        </a:defRPr>
      </a:lvl1pPr>
      <a:lvl2pPr algn="ctr" rtl="0">
        <a:spcBef>
          <a:spcPts val="0"/>
        </a:spcBef>
        <a:spcAft>
          <a:spcPts val="0"/>
        </a:spcAft>
        <a:defRPr sz="3200" b="1">
          <a:solidFill>
            <a:srgbClr val="006699"/>
          </a:solidFill>
          <a:latin typeface="Arial"/>
          <a:ea typeface="MS PGothic"/>
          <a:cs typeface="MS PGothic"/>
        </a:defRPr>
      </a:lvl2pPr>
      <a:lvl3pPr algn="ctr" rtl="0">
        <a:spcBef>
          <a:spcPts val="0"/>
        </a:spcBef>
        <a:spcAft>
          <a:spcPts val="0"/>
        </a:spcAft>
        <a:defRPr sz="3200" b="1">
          <a:solidFill>
            <a:srgbClr val="006699"/>
          </a:solidFill>
          <a:latin typeface="Arial"/>
          <a:ea typeface="MS PGothic"/>
          <a:cs typeface="MS PGothic"/>
        </a:defRPr>
      </a:lvl3pPr>
      <a:lvl4pPr algn="ctr" rtl="0">
        <a:spcBef>
          <a:spcPts val="0"/>
        </a:spcBef>
        <a:spcAft>
          <a:spcPts val="0"/>
        </a:spcAft>
        <a:defRPr sz="3200" b="1">
          <a:solidFill>
            <a:srgbClr val="006699"/>
          </a:solidFill>
          <a:latin typeface="Arial"/>
          <a:ea typeface="MS PGothic"/>
          <a:cs typeface="MS PGothic"/>
        </a:defRPr>
      </a:lvl4pPr>
      <a:lvl5pPr algn="ctr" rtl="0">
        <a:spcBef>
          <a:spcPts val="0"/>
        </a:spcBef>
        <a:spcAft>
          <a:spcPts val="0"/>
        </a:spcAft>
        <a:defRPr sz="3200" b="1">
          <a:solidFill>
            <a:srgbClr val="006699"/>
          </a:solidFill>
          <a:latin typeface="Arial"/>
          <a:ea typeface="MS PGothic"/>
          <a:cs typeface="MS PGothic"/>
        </a:defRPr>
      </a:lvl5pPr>
      <a:lvl6pPr marL="457200" algn="ctr" rtl="0">
        <a:spcBef>
          <a:spcPts val="0"/>
        </a:spcBef>
        <a:spcAft>
          <a:spcPts val="0"/>
        </a:spcAft>
        <a:defRPr sz="3200" b="1">
          <a:solidFill>
            <a:srgbClr val="006699"/>
          </a:solidFill>
          <a:latin typeface="Arial"/>
        </a:defRPr>
      </a:lvl6pPr>
      <a:lvl7pPr marL="914400" algn="ctr" rtl="0">
        <a:spcBef>
          <a:spcPts val="0"/>
        </a:spcBef>
        <a:spcAft>
          <a:spcPts val="0"/>
        </a:spcAft>
        <a:defRPr sz="3200" b="1">
          <a:solidFill>
            <a:srgbClr val="006699"/>
          </a:solidFill>
          <a:latin typeface="Arial"/>
        </a:defRPr>
      </a:lvl7pPr>
      <a:lvl8pPr marL="1371600" algn="ctr" rtl="0">
        <a:spcBef>
          <a:spcPts val="0"/>
        </a:spcBef>
        <a:spcAft>
          <a:spcPts val="0"/>
        </a:spcAft>
        <a:defRPr sz="3200" b="1">
          <a:solidFill>
            <a:srgbClr val="006699"/>
          </a:solidFill>
          <a:latin typeface="Arial"/>
        </a:defRPr>
      </a:lvl8pPr>
      <a:lvl9pPr marL="1828800" algn="ctr" rtl="0">
        <a:spcBef>
          <a:spcPts val="0"/>
        </a:spcBef>
        <a:spcAft>
          <a:spcPts val="0"/>
        </a:spcAft>
        <a:defRPr sz="3200" b="1">
          <a:solidFill>
            <a:srgbClr val="006699"/>
          </a:solidFill>
          <a:latin typeface="Arial"/>
        </a:defRPr>
      </a:lvl9pPr>
    </p:titleStyle>
    <p:bodyStyle>
      <a:lvl1pPr marL="342900" indent="-342900" algn="l" rtl="0">
        <a:spcBef>
          <a:spcPts val="0"/>
        </a:spcBef>
        <a:spcAft>
          <a:spcPts val="0"/>
        </a:spcAft>
        <a:buClr>
          <a:srgbClr val="993300"/>
        </a:buClr>
        <a:buSzPct val="110000"/>
        <a:buFont typeface="Wingdings"/>
        <a:buChar char="§"/>
        <a:defRPr>
          <a:solidFill>
            <a:schemeClr val="tx1"/>
          </a:solidFill>
          <a:latin typeface="+mn-lt"/>
          <a:ea typeface="MS PGothic"/>
          <a:cs typeface="MS PGothic"/>
        </a:defRPr>
      </a:lvl1pPr>
      <a:lvl2pPr marL="742950" indent="-285750" algn="l" rtl="0">
        <a:spcBef>
          <a:spcPts val="0"/>
        </a:spcBef>
        <a:spcAft>
          <a:spcPts val="0"/>
        </a:spcAft>
        <a:buClr>
          <a:srgbClr val="CC6600"/>
        </a:buClr>
        <a:buSzPct val="110000"/>
        <a:buFont typeface="Arial"/>
        <a:buChar char="•"/>
        <a:defRPr>
          <a:solidFill>
            <a:schemeClr val="tx1"/>
          </a:solidFill>
          <a:latin typeface="+mn-lt"/>
          <a:ea typeface="MS PGothic"/>
        </a:defRPr>
      </a:lvl2pPr>
      <a:lvl3pPr marL="1085850" indent="-228600" algn="l" rtl="0">
        <a:spcBef>
          <a:spcPts val="0"/>
        </a:spcBef>
        <a:spcAft>
          <a:spcPts val="0"/>
        </a:spcAft>
        <a:buClr>
          <a:srgbClr val="009900"/>
        </a:buClr>
        <a:buSzPct val="75000"/>
        <a:buFont typeface="Webdings"/>
        <a:buChar char="4"/>
        <a:defRPr>
          <a:solidFill>
            <a:schemeClr val="tx1"/>
          </a:solidFill>
          <a:latin typeface="+mn-lt"/>
          <a:ea typeface="MS PGothic"/>
        </a:defRPr>
      </a:lvl3pPr>
      <a:lvl4pPr marL="1428750" indent="-228600" algn="l" rtl="0">
        <a:spcBef>
          <a:spcPts val="0"/>
        </a:spcBef>
        <a:spcAft>
          <a:spcPts val="0"/>
        </a:spcAft>
        <a:buClr>
          <a:schemeClr val="hlink"/>
        </a:buClr>
        <a:buSzPct val="75000"/>
        <a:buChar char="–"/>
        <a:defRPr>
          <a:solidFill>
            <a:schemeClr val="tx1"/>
          </a:solidFill>
          <a:latin typeface="+mn-lt"/>
          <a:ea typeface="MS PGothic"/>
        </a:defRPr>
      </a:lvl4pPr>
      <a:lvl5pPr marL="1771650" indent="-228600" algn="l" rtl="0">
        <a:spcBef>
          <a:spcPts val="0"/>
        </a:spcBef>
        <a:spcAft>
          <a:spcPts val="0"/>
        </a:spcAft>
        <a:buClr>
          <a:srgbClr val="FF0066"/>
        </a:buClr>
        <a:buSzPct val="75000"/>
        <a:buChar char="»"/>
        <a:defRPr>
          <a:solidFill>
            <a:schemeClr val="tx1"/>
          </a:solidFill>
          <a:latin typeface="+mn-lt"/>
          <a:ea typeface="MS PGothic"/>
        </a:defRPr>
      </a:lvl5pPr>
      <a:lvl6pPr marL="2228850" indent="-228600" algn="l" rtl="0">
        <a:spcBef>
          <a:spcPts val="0"/>
        </a:spcBef>
        <a:spcAft>
          <a:spcPts val="0"/>
        </a:spcAft>
        <a:buClr>
          <a:srgbClr val="FF0066"/>
        </a:buClr>
        <a:buSzPct val="75000"/>
        <a:buChar char="»"/>
        <a:defRPr>
          <a:solidFill>
            <a:schemeClr val="tx1"/>
          </a:solidFill>
          <a:latin typeface="+mn-lt"/>
          <a:ea typeface="ＭＳ Ｐゴシック"/>
        </a:defRPr>
      </a:lvl6pPr>
      <a:lvl7pPr marL="2686050" indent="-228600" algn="l" rtl="0">
        <a:spcBef>
          <a:spcPts val="0"/>
        </a:spcBef>
        <a:spcAft>
          <a:spcPts val="0"/>
        </a:spcAft>
        <a:buClr>
          <a:srgbClr val="FF0066"/>
        </a:buClr>
        <a:buSzPct val="75000"/>
        <a:buChar char="»"/>
        <a:defRPr>
          <a:solidFill>
            <a:schemeClr val="tx1"/>
          </a:solidFill>
          <a:latin typeface="+mn-lt"/>
          <a:ea typeface="ＭＳ Ｐゴシック"/>
        </a:defRPr>
      </a:lvl7pPr>
      <a:lvl8pPr marL="3143250" indent="-228600" algn="l" rtl="0">
        <a:spcBef>
          <a:spcPts val="0"/>
        </a:spcBef>
        <a:spcAft>
          <a:spcPts val="0"/>
        </a:spcAft>
        <a:buClr>
          <a:srgbClr val="FF0066"/>
        </a:buClr>
        <a:buSzPct val="75000"/>
        <a:buChar char="»"/>
        <a:defRPr>
          <a:solidFill>
            <a:schemeClr val="tx1"/>
          </a:solidFill>
          <a:latin typeface="+mn-lt"/>
          <a:ea typeface="ＭＳ Ｐゴシック"/>
        </a:defRPr>
      </a:lvl8pPr>
      <a:lvl9pPr marL="3600450" indent="-228600" algn="l" rtl="0">
        <a:spcBef>
          <a:spcPts val="0"/>
        </a:spcBef>
        <a:spcAft>
          <a:spcPts val="0"/>
        </a:spcAft>
        <a:buClr>
          <a:srgbClr val="FF0066"/>
        </a:buClr>
        <a:buSzPct val="75000"/>
        <a:buChar char="»"/>
        <a:defRPr>
          <a:solidFill>
            <a:schemeClr val="tx1"/>
          </a:solidFill>
          <a:latin typeface="+mn-lt"/>
          <a:ea typeface="ＭＳ Ｐゴシック"/>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media1.sv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media2.sv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media3.sv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wmf"/><Relationship Id="rId4" Type="http://schemas.openxmlformats.org/officeDocument/2006/relationships/oleObject" Target="../embeddings/oleObject4.bin"/><Relationship Id="rId5" Type="http://schemas.openxmlformats.org/officeDocument/2006/relationships/image" Target="../media/image11.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media5.sv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media6.sv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0.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2.jp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3.jp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4.jp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5.jp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jp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media7.sv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8.jp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29.jp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0.jp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1.jp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2.jp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3.jp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4.jp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5.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6.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7.jp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38.jp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39.jp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0.jp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1.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45.jp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5722669" name="Rectangle 2"/>
          <p:cNvSpPr>
            <a:spLocks noChangeArrowheads="1" noGrp="1"/>
          </p:cNvSpPr>
          <p:nvPr>
            <p:ph type="ctrTitle"/>
          </p:nvPr>
        </p:nvSpPr>
        <p:spPr bwMode="auto">
          <a:xfrm>
            <a:off x="685800" y="782638"/>
            <a:ext cx="7772400" cy="2127250"/>
          </a:xfrm>
        </p:spPr>
        <p:txBody>
          <a:bodyPr/>
          <a:lstStyle/>
          <a:p>
            <a:pPr>
              <a:defRPr/>
            </a:pPr>
            <a:r>
              <a:rPr lang="en-US"/>
              <a:t>Chapter 5:  CPU Scheduling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1054764" name="Rectangle 2"/>
          <p:cNvSpPr>
            <a:spLocks noChangeArrowheads="1" noGrp="1"/>
          </p:cNvSpPr>
          <p:nvPr>
            <p:ph type="title"/>
          </p:nvPr>
        </p:nvSpPr>
        <p:spPr bwMode="auto">
          <a:xfrm>
            <a:off x="914400" y="222868"/>
            <a:ext cx="7772400" cy="576262"/>
          </a:xfrm>
        </p:spPr>
        <p:txBody>
          <a:bodyPr/>
          <a:lstStyle/>
          <a:p>
            <a:pPr>
              <a:defRPr/>
            </a:pPr>
            <a:r>
              <a:rPr lang="en-US"/>
              <a:t>Outline</a:t>
            </a:r>
            <a:endParaRPr/>
          </a:p>
        </p:txBody>
      </p:sp>
      <p:sp>
        <p:nvSpPr>
          <p:cNvPr id="533168922" name="Rectangle 3"/>
          <p:cNvSpPr>
            <a:spLocks noChangeArrowheads="1" noGrp="1"/>
          </p:cNvSpPr>
          <p:nvPr>
            <p:ph type="body" idx="1"/>
          </p:nvPr>
        </p:nvSpPr>
        <p:spPr bwMode="auto">
          <a:xfrm>
            <a:off x="857250" y="1195388"/>
            <a:ext cx="7335837" cy="3773487"/>
          </a:xfrm>
        </p:spPr>
        <p:txBody>
          <a:bodyPr/>
          <a:lstStyle/>
          <a:p>
            <a:pPr>
              <a:defRPr/>
            </a:pPr>
            <a:r>
              <a:rPr lang="en-US"/>
              <a:t>Basic Concepts</a:t>
            </a:r>
            <a:endParaRPr/>
          </a:p>
          <a:p>
            <a:pPr>
              <a:defRPr/>
            </a:pPr>
            <a:r>
              <a:rPr lang="en-US"/>
              <a:t>Scheduling Criteria </a:t>
            </a:r>
            <a:endParaRPr/>
          </a:p>
          <a:p>
            <a:pPr>
              <a:defRPr/>
            </a:pPr>
            <a:r>
              <a:rPr lang="en-US"/>
              <a:t>Scheduling Algorithms</a:t>
            </a:r>
            <a:endParaRPr/>
          </a:p>
          <a:p>
            <a:pPr>
              <a:defRPr/>
            </a:pPr>
            <a:r>
              <a:rPr lang="en-US"/>
              <a:t>Thread Scheduling</a:t>
            </a:r>
            <a:endParaRPr/>
          </a:p>
          <a:p>
            <a:pPr>
              <a:defRPr/>
            </a:pPr>
            <a:r>
              <a:rPr lang="en-US"/>
              <a:t>Multi-Processor Scheduling</a:t>
            </a:r>
            <a:endParaRPr/>
          </a:p>
          <a:p>
            <a:pPr>
              <a:defRPr/>
            </a:pPr>
            <a:r>
              <a:rPr lang="en-US"/>
              <a:t>Real-Time CPU Scheduling</a:t>
            </a:r>
            <a:endParaRPr/>
          </a:p>
          <a:p>
            <a:pPr>
              <a:defRPr/>
            </a:pPr>
            <a:r>
              <a:rPr lang="en-US"/>
              <a:t>Operating Systems Examples</a:t>
            </a:r>
            <a:endParaRPr/>
          </a:p>
          <a:p>
            <a:pPr>
              <a:defRPr/>
            </a:pPr>
            <a:r>
              <a:rPr lang="en-US"/>
              <a:t>Algorithm Evaluation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4416308" name="Title 1"/>
          <p:cNvSpPr>
            <a:spLocks noGrp="1"/>
          </p:cNvSpPr>
          <p:nvPr>
            <p:ph type="title"/>
          </p:nvPr>
        </p:nvSpPr>
        <p:spPr bwMode="auto">
          <a:xfrm>
            <a:off x="457200" y="222868"/>
            <a:ext cx="8229600" cy="576262"/>
          </a:xfrm>
        </p:spPr>
        <p:txBody>
          <a:bodyPr/>
          <a:lstStyle/>
          <a:p>
            <a:pPr>
              <a:defRPr/>
            </a:pPr>
            <a:r>
              <a:rPr lang="en-US"/>
              <a:t>Objectives</a:t>
            </a:r>
            <a:endParaRPr/>
          </a:p>
        </p:txBody>
      </p:sp>
      <p:sp>
        <p:nvSpPr>
          <p:cNvPr id="1000010232" name="Content Placeholder 2"/>
          <p:cNvSpPr>
            <a:spLocks noGrp="1"/>
          </p:cNvSpPr>
          <p:nvPr>
            <p:ph idx="1"/>
          </p:nvPr>
        </p:nvSpPr>
        <p:spPr bwMode="auto">
          <a:xfrm>
            <a:off x="852840" y="1233489"/>
            <a:ext cx="7575863" cy="4400395"/>
          </a:xfrm>
        </p:spPr>
        <p:txBody>
          <a:bodyPr/>
          <a:lstStyle/>
          <a:p>
            <a:pPr>
              <a:defRPr/>
            </a:pPr>
            <a:r>
              <a:rPr lang="en-US"/>
              <a:t>Describe various CPU scheduling algorithms</a:t>
            </a:r>
            <a:endParaRPr/>
          </a:p>
          <a:p>
            <a:pPr>
              <a:defRPr/>
            </a:pPr>
            <a:r>
              <a:rPr lang="en-US"/>
              <a:t>Assess CPU scheduling algorithms based on scheduling criteria</a:t>
            </a:r>
            <a:endParaRPr/>
          </a:p>
          <a:p>
            <a:pPr>
              <a:defRPr/>
            </a:pPr>
            <a:r>
              <a:rPr lang="en-US"/>
              <a:t>Explain the issues related to multiprocessor and multicore scheduling</a:t>
            </a:r>
            <a:endParaRPr/>
          </a:p>
          <a:p>
            <a:pPr>
              <a:defRPr/>
            </a:pPr>
            <a:r>
              <a:rPr lang="en-US"/>
              <a:t>Describe various real-time scheduling algorithms</a:t>
            </a:r>
            <a:endParaRPr/>
          </a:p>
          <a:p>
            <a:pPr>
              <a:defRPr/>
            </a:pPr>
            <a:r>
              <a:rPr lang="en-US"/>
              <a:t>Describe the scheduling algorithms used in the Windows, Linux, and Solaris operating systems</a:t>
            </a:r>
            <a:endParaRPr/>
          </a:p>
          <a:p>
            <a:pPr>
              <a:defRPr/>
            </a:pPr>
            <a:r>
              <a:rPr lang="en-US"/>
              <a:t>Apply modeling and simulations to evaluate CPU scheduling algorithms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5798044" name="Rectangle 2"/>
          <p:cNvSpPr>
            <a:spLocks noChangeArrowheads="1" noGrp="1"/>
          </p:cNvSpPr>
          <p:nvPr>
            <p:ph type="title"/>
          </p:nvPr>
        </p:nvSpPr>
        <p:spPr bwMode="auto">
          <a:xfrm>
            <a:off x="457200" y="223450"/>
            <a:ext cx="8229600" cy="576262"/>
          </a:xfrm>
        </p:spPr>
        <p:txBody>
          <a:bodyPr/>
          <a:lstStyle/>
          <a:p>
            <a:pPr>
              <a:defRPr/>
            </a:pPr>
            <a:r>
              <a:rPr lang="en-US"/>
              <a:t>Basic Concepts</a:t>
            </a:r>
            <a:endParaRPr/>
          </a:p>
        </p:txBody>
      </p:sp>
      <p:sp>
        <p:nvSpPr>
          <p:cNvPr id="480591169" name="Rectangle 3"/>
          <p:cNvSpPr>
            <a:spLocks noChangeArrowheads="1" noGrp="1"/>
          </p:cNvSpPr>
          <p:nvPr>
            <p:ph type="body" idx="1"/>
          </p:nvPr>
        </p:nvSpPr>
        <p:spPr bwMode="auto">
          <a:xfrm>
            <a:off x="841375" y="1274763"/>
            <a:ext cx="3978275" cy="5057775"/>
          </a:xfrm>
        </p:spPr>
        <p:txBody>
          <a:bodyPr/>
          <a:lstStyle/>
          <a:p>
            <a:pPr>
              <a:defRPr/>
            </a:pPr>
            <a:r>
              <a:rPr lang="en-US"/>
              <a:t>Maximum CPU utilization obtained with multiprogramming</a:t>
            </a:r>
            <a:endParaRPr/>
          </a:p>
          <a:p>
            <a:pPr>
              <a:defRPr/>
            </a:pPr>
            <a:r>
              <a:rPr lang="en-US"/>
              <a:t>CPU–I/O Burst Cycle – Process execution consists of a </a:t>
            </a:r>
            <a:r>
              <a:rPr lang="en-US" b="1">
                <a:solidFill>
                  <a:srgbClr val="006699"/>
                </a:solidFill>
                <a:latin typeface="+mj-lt"/>
              </a:rPr>
              <a:t>cycle</a:t>
            </a:r>
            <a:r>
              <a:rPr lang="en-US"/>
              <a:t> of CPU execution and I/O wait</a:t>
            </a:r>
            <a:endParaRPr/>
          </a:p>
          <a:p>
            <a:pPr>
              <a:defRPr/>
            </a:pPr>
            <a:r>
              <a:rPr lang="en-US" b="1">
                <a:solidFill>
                  <a:srgbClr val="006699"/>
                </a:solidFill>
                <a:latin typeface="+mj-lt"/>
              </a:rPr>
              <a:t>CPU</a:t>
            </a:r>
            <a:r>
              <a:rPr lang="en-US" b="1">
                <a:solidFill>
                  <a:srgbClr val="3366FF"/>
                </a:solidFill>
              </a:rPr>
              <a:t> </a:t>
            </a:r>
            <a:r>
              <a:rPr lang="en-US" b="1">
                <a:solidFill>
                  <a:srgbClr val="006699"/>
                </a:solidFill>
                <a:latin typeface="+mj-lt"/>
              </a:rPr>
              <a:t>burst</a:t>
            </a:r>
            <a:r>
              <a:rPr lang="en-US" b="1">
                <a:solidFill>
                  <a:srgbClr val="3366FF"/>
                </a:solidFill>
              </a:rPr>
              <a:t> </a:t>
            </a:r>
            <a:r>
              <a:rPr lang="en-US"/>
              <a:t>followed by </a:t>
            </a:r>
            <a:r>
              <a:rPr lang="en-US" b="1">
                <a:solidFill>
                  <a:srgbClr val="006699"/>
                </a:solidFill>
                <a:latin typeface="+mj-lt"/>
              </a:rPr>
              <a:t>I/O burst</a:t>
            </a:r>
            <a:endParaRPr/>
          </a:p>
          <a:p>
            <a:pPr>
              <a:defRPr/>
            </a:pPr>
            <a:r>
              <a:rPr lang="en-US"/>
              <a:t>CPU burst distribution is of main concern</a:t>
            </a:r>
            <a:endParaRPr/>
          </a:p>
          <a:p>
            <a:pPr>
              <a:buFont typeface="Monotype Sorts"/>
              <a:buNone/>
              <a:defRPr/>
            </a:pPr>
            <a:endParaRPr lang="en-US"/>
          </a:p>
        </p:txBody>
      </p:sp>
      <p:pic>
        <p:nvPicPr>
          <p:cNvPr id="951564039" name="Picture 1"/>
          <p:cNvPicPr>
            <a:picLocks noChangeAspect="1"/>
          </p:cNvPicPr>
          <p:nvPr/>
        </p:nvPicPr>
        <p:blipFill rotWithShape="1">
          <a:blip r:embed="rId3"/>
          <a:stretch/>
        </p:blipFill>
        <p:spPr bwMode="auto">
          <a:xfrm>
            <a:off x="5386388" y="1169988"/>
            <a:ext cx="2603500" cy="484663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6694778" name="Rectangle 2"/>
          <p:cNvSpPr>
            <a:spLocks noChangeArrowheads="1" noGrp="1"/>
          </p:cNvSpPr>
          <p:nvPr>
            <p:ph type="title"/>
          </p:nvPr>
        </p:nvSpPr>
        <p:spPr bwMode="auto">
          <a:xfrm>
            <a:off x="1066800" y="222868"/>
            <a:ext cx="7620000" cy="576262"/>
          </a:xfrm>
        </p:spPr>
        <p:txBody>
          <a:bodyPr/>
          <a:lstStyle/>
          <a:p>
            <a:pPr>
              <a:defRPr/>
            </a:pPr>
            <a:r>
              <a:rPr lang="en-US"/>
              <a:t>Histogram of CPU-burst Times</a:t>
            </a:r>
            <a:endParaRPr/>
          </a:p>
        </p:txBody>
      </p:sp>
      <p:sp>
        <p:nvSpPr>
          <p:cNvPr id="674242198" name="TextBox 2"/>
          <p:cNvSpPr txBox="1">
            <a:spLocks noChangeArrowheads="1"/>
          </p:cNvSpPr>
          <p:nvPr/>
        </p:nvSpPr>
        <p:spPr bwMode="auto">
          <a:xfrm>
            <a:off x="1279525" y="1323974"/>
            <a:ext cx="3725863" cy="922338"/>
          </a:xfrm>
          <a:prstGeom prst="rect">
            <a:avLst/>
          </a:prstGeom>
          <a:noFill/>
          <a:ln>
            <a:noFill/>
          </a:ln>
        </p:spPr>
        <p:txBody>
          <a:bodyPr wrap="none">
            <a:spAutoFit/>
          </a:bodyPr>
          <a:lstStyle>
            <a:lvl1pPr>
              <a:spcBef>
                <a:spcPts val="0"/>
              </a:spcBef>
              <a:buClr>
                <a:srgbClr val="993300"/>
              </a:buClr>
              <a:buSzPct val="90000"/>
              <a:buFont typeface="Monotype Sorts"/>
              <a:buChar char="n"/>
              <a:defRPr>
                <a:solidFill>
                  <a:schemeClr val="tx1"/>
                </a:solidFill>
                <a:latin typeface="Helvetica"/>
                <a:ea typeface="MS PGothic"/>
                <a:cs typeface="MS PGothic"/>
              </a:defRPr>
            </a:lvl1pPr>
            <a:lvl2pPr marL="742950" indent="-285750">
              <a:spcBef>
                <a:spcPts val="0"/>
              </a:spcBef>
              <a:buClr>
                <a:srgbClr val="CC6600"/>
              </a:buClr>
              <a:buSzPct val="80000"/>
              <a:buFont typeface="Monotype Sorts"/>
              <a:buChar char="l"/>
              <a:defRPr>
                <a:solidFill>
                  <a:schemeClr val="tx1"/>
                </a:solidFill>
                <a:latin typeface="Helvetica"/>
                <a:ea typeface="MS PGothic"/>
              </a:defRPr>
            </a:lvl2pPr>
            <a:lvl3pPr marL="1143000" indent="-228600">
              <a:spcBef>
                <a:spcPts val="0"/>
              </a:spcBef>
              <a:buClr>
                <a:srgbClr val="009900"/>
              </a:buClr>
              <a:buSzPct val="75000"/>
              <a:buFont typeface="Webdings"/>
              <a:buChar char="4"/>
              <a:defRPr>
                <a:solidFill>
                  <a:schemeClr val="tx1"/>
                </a:solidFill>
                <a:latin typeface="Helvetica"/>
                <a:ea typeface="MS PGothic"/>
              </a:defRPr>
            </a:lvl3pPr>
            <a:lvl4pPr marL="1600200" indent="-228600">
              <a:spcBef>
                <a:spcPts val="0"/>
              </a:spcBef>
              <a:buClr>
                <a:schemeClr val="hlink"/>
              </a:buClr>
              <a:buSzPct val="75000"/>
              <a:buChar char="–"/>
              <a:defRPr>
                <a:solidFill>
                  <a:schemeClr val="tx1"/>
                </a:solidFill>
                <a:latin typeface="Helvetica"/>
                <a:ea typeface="MS PGothic"/>
              </a:defRPr>
            </a:lvl4pPr>
            <a:lvl5pPr marL="2057400" indent="-228600">
              <a:spcBef>
                <a:spcPts val="0"/>
              </a:spcBef>
              <a:buClr>
                <a:srgbClr val="FF0066"/>
              </a:buClr>
              <a:buSzPct val="75000"/>
              <a:buChar char="»"/>
              <a:defRPr>
                <a:solidFill>
                  <a:schemeClr val="tx1"/>
                </a:solidFill>
                <a:latin typeface="Helvetica"/>
                <a:ea typeface="MS PGothic"/>
              </a:defRPr>
            </a:lvl5pPr>
            <a:lvl6pPr marL="2514600" indent="-228600">
              <a:spcBef>
                <a:spcPts val="0"/>
              </a:spcBef>
              <a:spcAft>
                <a:spcPts val="0"/>
              </a:spcAft>
              <a:buClr>
                <a:srgbClr val="FF0066"/>
              </a:buClr>
              <a:buSzPct val="75000"/>
              <a:buChar char="»"/>
              <a:defRPr>
                <a:solidFill>
                  <a:schemeClr val="tx1"/>
                </a:solidFill>
                <a:latin typeface="Helvetica"/>
                <a:ea typeface="MS PGothic"/>
              </a:defRPr>
            </a:lvl6pPr>
            <a:lvl7pPr marL="2971800" indent="-228600">
              <a:spcBef>
                <a:spcPts val="0"/>
              </a:spcBef>
              <a:spcAft>
                <a:spcPts val="0"/>
              </a:spcAft>
              <a:buClr>
                <a:srgbClr val="FF0066"/>
              </a:buClr>
              <a:buSzPct val="75000"/>
              <a:buChar char="»"/>
              <a:defRPr>
                <a:solidFill>
                  <a:schemeClr val="tx1"/>
                </a:solidFill>
                <a:latin typeface="Helvetica"/>
                <a:ea typeface="MS PGothic"/>
              </a:defRPr>
            </a:lvl7pPr>
            <a:lvl8pPr marL="3429000" indent="-228600">
              <a:spcBef>
                <a:spcPts val="0"/>
              </a:spcBef>
              <a:spcAft>
                <a:spcPts val="0"/>
              </a:spcAft>
              <a:buClr>
                <a:srgbClr val="FF0066"/>
              </a:buClr>
              <a:buSzPct val="75000"/>
              <a:buChar char="»"/>
              <a:defRPr>
                <a:solidFill>
                  <a:schemeClr val="tx1"/>
                </a:solidFill>
                <a:latin typeface="Helvetica"/>
                <a:ea typeface="MS PGothic"/>
              </a:defRPr>
            </a:lvl8pPr>
            <a:lvl9pPr marL="3886200" indent="-228600">
              <a:spcBef>
                <a:spcPts val="0"/>
              </a:spcBef>
              <a:spcAft>
                <a:spcPts val="0"/>
              </a:spcAft>
              <a:buClr>
                <a:srgbClr val="FF0066"/>
              </a:buClr>
              <a:buSzPct val="75000"/>
              <a:buChar char="»"/>
              <a:defRPr>
                <a:solidFill>
                  <a:schemeClr val="tx1"/>
                </a:solidFill>
                <a:latin typeface="Helvetica"/>
                <a:ea typeface="MS PGothic"/>
              </a:defRPr>
            </a:lvl9pPr>
          </a:lstStyle>
          <a:p>
            <a:pPr>
              <a:spcBef>
                <a:spcPts val="0"/>
              </a:spcBef>
              <a:buClrTx/>
              <a:buSzTx/>
              <a:buFontTx/>
              <a:buNone/>
              <a:defRPr/>
            </a:pPr>
            <a:r>
              <a:rPr lang="en-US">
                <a:latin typeface="Verdana"/>
              </a:rPr>
              <a:t>Large number of short bursts</a:t>
            </a:r>
            <a:endParaRPr/>
          </a:p>
          <a:p>
            <a:pPr>
              <a:spcBef>
                <a:spcPts val="0"/>
              </a:spcBef>
              <a:buClrTx/>
              <a:buSzTx/>
              <a:buFontTx/>
              <a:buNone/>
              <a:defRPr/>
            </a:pPr>
            <a:endParaRPr lang="en-US">
              <a:latin typeface="Verdana"/>
            </a:endParaRPr>
          </a:p>
          <a:p>
            <a:pPr>
              <a:spcBef>
                <a:spcPts val="0"/>
              </a:spcBef>
              <a:buClrTx/>
              <a:buSzTx/>
              <a:buFontTx/>
              <a:buNone/>
              <a:defRPr/>
            </a:pPr>
            <a:r>
              <a:rPr lang="en-US">
                <a:latin typeface="Verdana"/>
              </a:rPr>
              <a:t>Small number of longer bursts</a:t>
            </a:r>
            <a:endParaRPr/>
          </a:p>
        </p:txBody>
      </p:sp>
      <p:pic>
        <p:nvPicPr>
          <p:cNvPr id="522339530" name="Picture 1"/>
          <p:cNvPicPr>
            <a:picLocks noChangeAspect="1"/>
          </p:cNvPicPr>
          <p:nvPr/>
        </p:nvPicPr>
        <p:blipFill rotWithShape="1">
          <a:blip r:embed="rId3"/>
          <a:stretch/>
        </p:blipFill>
        <p:spPr bwMode="auto">
          <a:xfrm>
            <a:off x="2417763" y="2479675"/>
            <a:ext cx="4922837" cy="294481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2650283" name="Rectangle 2"/>
          <p:cNvSpPr>
            <a:spLocks noChangeArrowheads="1" noGrp="1"/>
          </p:cNvSpPr>
          <p:nvPr>
            <p:ph type="title"/>
          </p:nvPr>
        </p:nvSpPr>
        <p:spPr bwMode="auto">
          <a:xfrm>
            <a:off x="838200" y="229606"/>
            <a:ext cx="7848600" cy="576262"/>
          </a:xfrm>
        </p:spPr>
        <p:txBody>
          <a:bodyPr/>
          <a:lstStyle/>
          <a:p>
            <a:pPr>
              <a:defRPr/>
            </a:pPr>
            <a:r>
              <a:rPr lang="en-US"/>
              <a:t>CPU Scheduler</a:t>
            </a:r>
            <a:endParaRPr/>
          </a:p>
        </p:txBody>
      </p:sp>
      <p:sp>
        <p:nvSpPr>
          <p:cNvPr id="969337427" name="Rectangle 3"/>
          <p:cNvSpPr>
            <a:spLocks noChangeArrowheads="1" noGrp="1"/>
          </p:cNvSpPr>
          <p:nvPr>
            <p:ph type="body" idx="1"/>
          </p:nvPr>
        </p:nvSpPr>
        <p:spPr bwMode="auto">
          <a:xfrm>
            <a:off x="838201" y="1169988"/>
            <a:ext cx="7227276" cy="4808781"/>
          </a:xfrm>
        </p:spPr>
        <p:txBody>
          <a:bodyPr/>
          <a:lstStyle/>
          <a:p>
            <a:pPr>
              <a:defRPr/>
            </a:pPr>
            <a:r>
              <a:rPr lang="en-US">
                <a:ea typeface="ＭＳ Ｐゴシック"/>
                <a:cs typeface="ＭＳ Ｐゴシック"/>
              </a:rPr>
              <a:t>The</a:t>
            </a:r>
            <a:r>
              <a:rPr lang="en-US" b="1">
                <a:solidFill>
                  <a:srgbClr val="3366FF"/>
                </a:solidFill>
                <a:ea typeface="ＭＳ Ｐゴシック"/>
                <a:cs typeface="ＭＳ Ｐゴシック"/>
              </a:rPr>
              <a:t> </a:t>
            </a:r>
            <a:r>
              <a:rPr lang="en-US" b="1">
                <a:solidFill>
                  <a:srgbClr val="006699"/>
                </a:solidFill>
                <a:latin typeface="+mj-lt"/>
              </a:rPr>
              <a:t>CPU scheduler </a:t>
            </a:r>
            <a:r>
              <a:rPr lang="en-US">
                <a:ea typeface="ＭＳ Ｐゴシック"/>
                <a:cs typeface="ＭＳ Ｐゴシック"/>
              </a:rPr>
              <a:t>selects from among the processes in ready queue, and allocates a CPU core to one of them</a:t>
            </a:r>
            <a:endParaRPr/>
          </a:p>
          <a:p>
            <a:pPr marL="742835" lvl="1">
              <a:defRPr/>
            </a:pPr>
            <a:r>
              <a:rPr lang="en-US">
                <a:ea typeface="ＭＳ Ｐゴシック"/>
              </a:rPr>
              <a:t>Queue may be ordered in various ways</a:t>
            </a:r>
            <a:endParaRPr/>
          </a:p>
          <a:p>
            <a:pPr>
              <a:defRPr/>
            </a:pPr>
            <a:r>
              <a:rPr lang="en-US">
                <a:ea typeface="ＭＳ Ｐゴシック"/>
                <a:cs typeface="ＭＳ Ｐゴシック"/>
              </a:rPr>
              <a:t>CPU scheduling decisions may take place when a process:</a:t>
            </a:r>
            <a:endParaRPr/>
          </a:p>
          <a:p>
            <a:pPr marL="799900" lvl="1" indent="-342815">
              <a:buFont typeface="Monotype Sorts"/>
              <a:buNone/>
              <a:defRPr/>
            </a:pPr>
            <a:r>
              <a:rPr lang="en-US">
                <a:solidFill>
                  <a:srgbClr val="CC6600"/>
                </a:solidFill>
                <a:ea typeface="ＭＳ Ｐゴシック"/>
              </a:rPr>
              <a:t>1.	</a:t>
            </a:r>
            <a:r>
              <a:rPr lang="en-US">
                <a:ea typeface="ＭＳ Ｐゴシック"/>
              </a:rPr>
              <a:t>Switches from running to waiting state</a:t>
            </a:r>
            <a:endParaRPr/>
          </a:p>
          <a:p>
            <a:pPr marL="799900" lvl="1" indent="-342815">
              <a:buFont typeface="Monotype Sorts"/>
              <a:buNone/>
              <a:defRPr/>
            </a:pPr>
            <a:r>
              <a:rPr lang="en-US">
                <a:solidFill>
                  <a:srgbClr val="CC6600"/>
                </a:solidFill>
                <a:ea typeface="ＭＳ Ｐゴシック"/>
              </a:rPr>
              <a:t>2.</a:t>
            </a:r>
            <a:r>
              <a:rPr lang="en-US">
                <a:ea typeface="ＭＳ Ｐゴシック"/>
              </a:rPr>
              <a:t>	Switches from running to ready state</a:t>
            </a:r>
            <a:endParaRPr/>
          </a:p>
          <a:p>
            <a:pPr marL="799900" lvl="1" indent="-342815">
              <a:buFont typeface="Monotype Sorts"/>
              <a:buNone/>
              <a:defRPr/>
            </a:pPr>
            <a:r>
              <a:rPr lang="en-US">
                <a:solidFill>
                  <a:srgbClr val="CC6600"/>
                </a:solidFill>
                <a:ea typeface="ＭＳ Ｐゴシック"/>
              </a:rPr>
              <a:t>3.</a:t>
            </a:r>
            <a:r>
              <a:rPr lang="en-US">
                <a:ea typeface="ＭＳ Ｐゴシック"/>
              </a:rPr>
              <a:t>	Switches from waiting to ready</a:t>
            </a:r>
            <a:endParaRPr/>
          </a:p>
          <a:p>
            <a:pPr marL="799900" lvl="1" indent="-342815">
              <a:buFont typeface="Monotype Sorts"/>
              <a:buAutoNum type="arabicPeriod" startAt="4"/>
              <a:defRPr/>
            </a:pPr>
            <a:r>
              <a:rPr lang="en-US">
                <a:ea typeface="ＭＳ Ｐゴシック"/>
              </a:rPr>
              <a:t>Terminates</a:t>
            </a:r>
            <a:endParaRPr/>
          </a:p>
          <a:p>
            <a:pPr>
              <a:defRPr/>
            </a:pPr>
            <a:r>
              <a:rPr lang="en-US">
                <a:ea typeface="ＭＳ Ｐゴシック"/>
                <a:cs typeface="ＭＳ Ｐゴシック"/>
              </a:rPr>
              <a:t>For situations 1 and 4, there is no choice in terms of scheduling. A new process (if one exists in the ready queue) must be selected for execution. </a:t>
            </a:r>
            <a:endParaRPr/>
          </a:p>
          <a:p>
            <a:pPr>
              <a:defRPr/>
            </a:pPr>
            <a:r>
              <a:rPr lang="en-US">
                <a:ea typeface="ＭＳ Ｐゴシック"/>
                <a:cs typeface="ＭＳ Ｐゴシック"/>
              </a:rPr>
              <a:t>For situations 2 and 3, however, there is  a choice.</a:t>
            </a:r>
            <a:endParaRPr lang="en-US" b="1">
              <a:solidFill>
                <a:srgbClr val="3366FF"/>
              </a:solidFill>
              <a:ea typeface="ＭＳ Ｐゴシック"/>
              <a:cs typeface="ＭＳ Ｐゴシック"/>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759770" name="Rectangle 2"/>
          <p:cNvSpPr>
            <a:spLocks noChangeArrowheads="1" noGrp="1"/>
          </p:cNvSpPr>
          <p:nvPr>
            <p:ph type="title"/>
          </p:nvPr>
        </p:nvSpPr>
        <p:spPr bwMode="auto">
          <a:xfrm>
            <a:off x="1236777" y="167086"/>
            <a:ext cx="7848600" cy="576262"/>
          </a:xfrm>
        </p:spPr>
        <p:txBody>
          <a:bodyPr/>
          <a:lstStyle/>
          <a:p>
            <a:pPr>
              <a:defRPr/>
            </a:pPr>
            <a:r>
              <a:rPr lang="en-US" sz="2800"/>
              <a:t>Preemptive and Nonpreemptive Scheduling</a:t>
            </a:r>
            <a:endParaRPr/>
          </a:p>
        </p:txBody>
      </p:sp>
      <p:sp>
        <p:nvSpPr>
          <p:cNvPr id="438517499" name="Rectangle 3"/>
          <p:cNvSpPr>
            <a:spLocks noChangeArrowheads="1" noGrp="1"/>
          </p:cNvSpPr>
          <p:nvPr>
            <p:ph type="body" idx="1"/>
          </p:nvPr>
        </p:nvSpPr>
        <p:spPr bwMode="auto">
          <a:xfrm>
            <a:off x="931985" y="1193434"/>
            <a:ext cx="6828692" cy="4707181"/>
          </a:xfrm>
        </p:spPr>
        <p:txBody>
          <a:bodyPr/>
          <a:lstStyle/>
          <a:p>
            <a:pPr>
              <a:defRPr/>
            </a:pPr>
            <a:r>
              <a:rPr lang="en-US">
                <a:ea typeface="ＭＳ Ｐゴシック"/>
              </a:rPr>
              <a:t>When scheduling takes place only under circumstances 1 and 4, the scheduling scheme is </a:t>
            </a:r>
            <a:r>
              <a:rPr lang="en-US" b="1">
                <a:solidFill>
                  <a:srgbClr val="006699"/>
                </a:solidFill>
                <a:latin typeface="+mj-lt"/>
              </a:rPr>
              <a:t>nonpreemptive</a:t>
            </a:r>
            <a:r>
              <a:rPr lang="en-US">
                <a:ea typeface="ＭＳ Ｐゴシック"/>
              </a:rPr>
              <a:t>.</a:t>
            </a:r>
            <a:endParaRPr/>
          </a:p>
          <a:p>
            <a:pPr>
              <a:defRPr/>
            </a:pPr>
            <a:r>
              <a:rPr lang="en-US">
                <a:ea typeface="ＭＳ Ｐゴシック"/>
              </a:rPr>
              <a:t>Otherwise, it is </a:t>
            </a:r>
            <a:r>
              <a:rPr lang="en-US" b="1">
                <a:solidFill>
                  <a:srgbClr val="006699"/>
                </a:solidFill>
                <a:latin typeface="+mj-lt"/>
              </a:rPr>
              <a:t>preemptive</a:t>
            </a:r>
            <a:r>
              <a:rPr lang="en-US">
                <a:ea typeface="ＭＳ Ｐゴシック"/>
              </a:rPr>
              <a:t>. </a:t>
            </a:r>
            <a:endParaRPr/>
          </a:p>
          <a:p>
            <a:pPr>
              <a:defRPr/>
            </a:pPr>
            <a:r>
              <a:rPr lang="en-US">
                <a:ea typeface="ＭＳ Ｐゴシック"/>
              </a:rPr>
              <a:t>Under Nonpreemptive scheduling, once the CPU has been allocated to a process, the process keeps the CPU until it releases it either by terminating or by switching to the waiting state. </a:t>
            </a:r>
            <a:endParaRPr/>
          </a:p>
          <a:p>
            <a:pPr>
              <a:defRPr/>
            </a:pPr>
            <a:r>
              <a:rPr lang="en-US">
                <a:ea typeface="ＭＳ Ｐゴシック"/>
              </a:rPr>
              <a:t>Virtually all modern operating systems including Windows, MacOS, Linux, and UNIX use preemptive scheduling algorithms.</a:t>
            </a:r>
            <a:endParaRPr lang="en-US">
              <a:ea typeface="ＭＳ Ｐゴシック"/>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1061663" name="Rectangle 2"/>
          <p:cNvSpPr>
            <a:spLocks noChangeArrowheads="1" noGrp="1"/>
          </p:cNvSpPr>
          <p:nvPr>
            <p:ph type="title"/>
          </p:nvPr>
        </p:nvSpPr>
        <p:spPr bwMode="auto">
          <a:xfrm>
            <a:off x="1236777" y="167086"/>
            <a:ext cx="7848600" cy="576262"/>
          </a:xfrm>
        </p:spPr>
        <p:txBody>
          <a:bodyPr/>
          <a:lstStyle/>
          <a:p>
            <a:pPr>
              <a:defRPr/>
            </a:pPr>
            <a:r>
              <a:rPr lang="en-US" sz="2800"/>
              <a:t>Preemptive Scheduling and Race Conditions</a:t>
            </a:r>
            <a:endParaRPr/>
          </a:p>
        </p:txBody>
      </p:sp>
      <p:sp>
        <p:nvSpPr>
          <p:cNvPr id="1445658008" name="Rectangle 3"/>
          <p:cNvSpPr>
            <a:spLocks noChangeArrowheads="1" noGrp="1"/>
          </p:cNvSpPr>
          <p:nvPr>
            <p:ph type="body" idx="1"/>
          </p:nvPr>
        </p:nvSpPr>
        <p:spPr bwMode="auto">
          <a:xfrm>
            <a:off x="931985" y="1193435"/>
            <a:ext cx="6273800" cy="4621212"/>
          </a:xfrm>
        </p:spPr>
        <p:txBody>
          <a:bodyPr/>
          <a:lstStyle/>
          <a:p>
            <a:pPr>
              <a:defRPr/>
            </a:pPr>
            <a:r>
              <a:rPr lang="en-US">
                <a:ea typeface="ＭＳ Ｐゴシック"/>
              </a:rPr>
              <a:t>Preemptive scheduling can result in race conditions when data are shared among several processes.</a:t>
            </a:r>
            <a:endParaRPr/>
          </a:p>
          <a:p>
            <a:pPr>
              <a:defRPr/>
            </a:pPr>
            <a:r>
              <a:rPr lang="en-US">
                <a:ea typeface="ＭＳ Ｐゴシック"/>
              </a:rPr>
              <a:t>Consider the case of two processes that share data. While one process is updating the data, it is preempted so that the second process can run. The second process then tries to read the data, which are in an inconsistent state. </a:t>
            </a:r>
            <a:endParaRPr/>
          </a:p>
          <a:p>
            <a:pPr>
              <a:defRPr/>
            </a:pPr>
            <a:r>
              <a:rPr lang="en-US">
                <a:ea typeface="ＭＳ Ｐゴシック"/>
              </a:rPr>
              <a:t>This issue will be explored in detail in Chapter 6.</a:t>
            </a:r>
            <a:endParaRPr lang="en-US">
              <a:ea typeface="ＭＳ Ｐゴシック"/>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4103849" name="Rectangle 2"/>
          <p:cNvSpPr>
            <a:spLocks noChangeArrowheads="1" noGrp="1"/>
          </p:cNvSpPr>
          <p:nvPr>
            <p:ph type="title"/>
          </p:nvPr>
        </p:nvSpPr>
        <p:spPr bwMode="auto">
          <a:xfrm>
            <a:off x="457200" y="217329"/>
            <a:ext cx="8229600" cy="576263"/>
          </a:xfrm>
        </p:spPr>
        <p:txBody>
          <a:bodyPr/>
          <a:lstStyle/>
          <a:p>
            <a:pPr>
              <a:defRPr/>
            </a:pPr>
            <a:r>
              <a:rPr lang="en-US"/>
              <a:t>Dispatcher</a:t>
            </a:r>
            <a:endParaRPr/>
          </a:p>
        </p:txBody>
      </p:sp>
      <p:sp>
        <p:nvSpPr>
          <p:cNvPr id="759052681" name="Rectangle 3"/>
          <p:cNvSpPr>
            <a:spLocks noChangeArrowheads="1" noGrp="1"/>
          </p:cNvSpPr>
          <p:nvPr>
            <p:ph type="body" idx="1"/>
          </p:nvPr>
        </p:nvSpPr>
        <p:spPr bwMode="auto">
          <a:xfrm>
            <a:off x="849082" y="1119235"/>
            <a:ext cx="4754548" cy="4515661"/>
          </a:xfrm>
        </p:spPr>
        <p:txBody>
          <a:bodyPr/>
          <a:lstStyle/>
          <a:p>
            <a:pPr>
              <a:defRPr/>
            </a:pPr>
            <a:r>
              <a:rPr lang="en-US"/>
              <a:t>Dispatcher module gives control of the CPU to the process selected by the CPU scheduler; this involves:</a:t>
            </a:r>
            <a:endParaRPr/>
          </a:p>
          <a:p>
            <a:pPr lvl="1">
              <a:defRPr/>
            </a:pPr>
            <a:r>
              <a:rPr lang="en-US"/>
              <a:t>Switching context</a:t>
            </a:r>
            <a:endParaRPr/>
          </a:p>
          <a:p>
            <a:pPr lvl="1">
              <a:defRPr/>
            </a:pPr>
            <a:r>
              <a:rPr lang="en-US"/>
              <a:t>Switching to user mode</a:t>
            </a:r>
            <a:endParaRPr/>
          </a:p>
          <a:p>
            <a:pPr lvl="1">
              <a:defRPr/>
            </a:pPr>
            <a:r>
              <a:rPr lang="en-US"/>
              <a:t>Jumping to the proper location in the user program to restart that program</a:t>
            </a:r>
            <a:endParaRPr/>
          </a:p>
          <a:p>
            <a:pPr>
              <a:defRPr/>
            </a:pPr>
            <a:r>
              <a:rPr lang="en-US" b="1">
                <a:solidFill>
                  <a:srgbClr val="006699"/>
                </a:solidFill>
                <a:latin typeface="+mj-lt"/>
              </a:rPr>
              <a:t>Dispatch latency </a:t>
            </a:r>
            <a:r>
              <a:rPr lang="en-US"/>
              <a:t>– time it takes for the dispatcher to stop one process and start another running</a:t>
            </a:r>
            <a:endParaRPr/>
          </a:p>
        </p:txBody>
      </p:sp>
      <p:pic>
        <p:nvPicPr>
          <p:cNvPr id="579566900" name="Picture 1"/>
          <p:cNvPicPr>
            <a:picLocks noChangeAspect="1"/>
          </p:cNvPicPr>
          <p:nvPr/>
        </p:nvPicPr>
        <p:blipFill rotWithShape="1">
          <a:blip r:embed="rId3"/>
          <a:stretch/>
        </p:blipFill>
        <p:spPr bwMode="auto">
          <a:xfrm>
            <a:off x="5556824" y="1109784"/>
            <a:ext cx="5424942" cy="364844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3465997" name="Rectangle 2"/>
          <p:cNvSpPr>
            <a:spLocks noChangeArrowheads="1" noGrp="1"/>
          </p:cNvSpPr>
          <p:nvPr>
            <p:ph type="title"/>
          </p:nvPr>
        </p:nvSpPr>
        <p:spPr bwMode="auto">
          <a:xfrm>
            <a:off x="990600" y="214313"/>
            <a:ext cx="7696200" cy="576262"/>
          </a:xfrm>
        </p:spPr>
        <p:txBody>
          <a:bodyPr/>
          <a:lstStyle/>
          <a:p>
            <a:pPr>
              <a:defRPr/>
            </a:pPr>
            <a:r>
              <a:rPr lang="en-US"/>
              <a:t>Scheduling Criteria</a:t>
            </a:r>
            <a:endParaRPr/>
          </a:p>
        </p:txBody>
      </p:sp>
      <p:sp>
        <p:nvSpPr>
          <p:cNvPr id="1201335727" name="Rectangle 3"/>
          <p:cNvSpPr>
            <a:spLocks noChangeArrowheads="1" noGrp="1"/>
          </p:cNvSpPr>
          <p:nvPr>
            <p:ph type="body" idx="1"/>
          </p:nvPr>
        </p:nvSpPr>
        <p:spPr bwMode="auto">
          <a:xfrm>
            <a:off x="849085" y="1246189"/>
            <a:ext cx="6692761" cy="4904520"/>
          </a:xfrm>
        </p:spPr>
        <p:txBody>
          <a:bodyPr/>
          <a:lstStyle/>
          <a:p>
            <a:pPr>
              <a:defRPr/>
            </a:pPr>
            <a:r>
              <a:rPr lang="en-US" b="1"/>
              <a:t>CPU utilization </a:t>
            </a:r>
            <a:r>
              <a:rPr lang="en-US"/>
              <a:t>– keep the CPU as busy as possible</a:t>
            </a:r>
            <a:endParaRPr/>
          </a:p>
          <a:p>
            <a:pPr>
              <a:defRPr/>
            </a:pPr>
            <a:r>
              <a:rPr lang="en-US" b="1"/>
              <a:t>Throughput</a:t>
            </a:r>
            <a:r>
              <a:rPr lang="en-US"/>
              <a:t> – # of processes that complete their execution per time unit</a:t>
            </a:r>
            <a:endParaRPr/>
          </a:p>
          <a:p>
            <a:pPr>
              <a:defRPr/>
            </a:pPr>
            <a:r>
              <a:rPr lang="en-US" b="1"/>
              <a:t>Turnaround time </a:t>
            </a:r>
            <a:r>
              <a:rPr lang="en-US"/>
              <a:t>– amount of time to execute a particular process</a:t>
            </a:r>
            <a:endParaRPr/>
          </a:p>
          <a:p>
            <a:pPr>
              <a:defRPr/>
            </a:pPr>
            <a:r>
              <a:rPr lang="en-US" b="1"/>
              <a:t>Waiting time </a:t>
            </a:r>
            <a:r>
              <a:rPr lang="en-US"/>
              <a:t>– amount of time a process has been waiting in the ready queue</a:t>
            </a:r>
            <a:endParaRPr/>
          </a:p>
          <a:p>
            <a:pPr>
              <a:defRPr/>
            </a:pPr>
            <a:r>
              <a:rPr lang="en-US" b="1"/>
              <a:t>Response time </a:t>
            </a:r>
            <a:r>
              <a:rPr lang="en-US"/>
              <a:t>– amount of time it takes from when a request was submitted until the first response is produced.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0876221" name="Rectangle 2"/>
          <p:cNvSpPr>
            <a:spLocks noChangeArrowheads="1" noGrp="1"/>
          </p:cNvSpPr>
          <p:nvPr>
            <p:ph type="title"/>
          </p:nvPr>
        </p:nvSpPr>
        <p:spPr bwMode="auto">
          <a:xfrm>
            <a:off x="1423449" y="143942"/>
            <a:ext cx="7513637" cy="576262"/>
          </a:xfrm>
        </p:spPr>
        <p:txBody>
          <a:bodyPr/>
          <a:lstStyle/>
          <a:p>
            <a:pPr>
              <a:defRPr/>
            </a:pPr>
            <a:r>
              <a:rPr lang="en-US" sz="2800"/>
              <a:t>Scheduling Algorithm Optimization Criteria</a:t>
            </a:r>
            <a:endParaRPr/>
          </a:p>
        </p:txBody>
      </p:sp>
      <p:sp>
        <p:nvSpPr>
          <p:cNvPr id="150877426" name="Rectangle 3"/>
          <p:cNvSpPr>
            <a:spLocks noChangeArrowheads="1" noGrp="1"/>
          </p:cNvSpPr>
          <p:nvPr>
            <p:ph type="body" idx="1"/>
          </p:nvPr>
        </p:nvSpPr>
        <p:spPr bwMode="auto">
          <a:xfrm>
            <a:off x="852488" y="1113511"/>
            <a:ext cx="6115050" cy="4483100"/>
          </a:xfrm>
        </p:spPr>
        <p:txBody>
          <a:bodyPr/>
          <a:lstStyle/>
          <a:p>
            <a:pPr>
              <a:defRPr/>
            </a:pPr>
            <a:r>
              <a:rPr lang="en-US"/>
              <a:t>Max CPU utilization</a:t>
            </a:r>
            <a:endParaRPr/>
          </a:p>
          <a:p>
            <a:pPr>
              <a:defRPr/>
            </a:pPr>
            <a:r>
              <a:rPr lang="en-US"/>
              <a:t>Max throughput</a:t>
            </a:r>
            <a:endParaRPr/>
          </a:p>
          <a:p>
            <a:pPr>
              <a:defRPr/>
            </a:pPr>
            <a:r>
              <a:rPr lang="en-US"/>
              <a:t>Min turnaround time </a:t>
            </a:r>
            <a:endParaRPr/>
          </a:p>
          <a:p>
            <a:pPr>
              <a:defRPr/>
            </a:pPr>
            <a:r>
              <a:rPr lang="en-US"/>
              <a:t>Min waiting time </a:t>
            </a:r>
            <a:endParaRPr/>
          </a:p>
          <a:p>
            <a:pPr>
              <a:defRPr/>
            </a:pPr>
            <a:r>
              <a:rPr lang="en-US"/>
              <a:t>Min response 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9156682" name="Rectangle 2"/>
          <p:cNvSpPr>
            <a:spLocks noChangeArrowheads="1" noGrp="1"/>
          </p:cNvSpPr>
          <p:nvPr>
            <p:ph type="title"/>
          </p:nvPr>
        </p:nvSpPr>
        <p:spPr bwMode="auto">
          <a:xfrm>
            <a:off x="1107396" y="287515"/>
            <a:ext cx="7997825" cy="457200"/>
          </a:xfrm>
        </p:spPr>
        <p:txBody>
          <a:bodyPr/>
          <a:lstStyle/>
          <a:p>
            <a:pPr>
              <a:defRPr/>
            </a:pPr>
            <a:r>
              <a:rPr lang="en-US" sz="2800"/>
              <a:t>First- Come, First-Served (FCFS) Scheduling</a:t>
            </a:r>
            <a:endParaRPr/>
          </a:p>
        </p:txBody>
      </p:sp>
      <p:sp>
        <p:nvSpPr>
          <p:cNvPr id="550302253" name="Rectangle 3"/>
          <p:cNvSpPr>
            <a:spLocks noChangeArrowheads="1" noGrp="1"/>
          </p:cNvSpPr>
          <p:nvPr>
            <p:ph type="body" idx="1"/>
          </p:nvPr>
        </p:nvSpPr>
        <p:spPr bwMode="auto">
          <a:xfrm>
            <a:off x="833438" y="1250950"/>
            <a:ext cx="7566025" cy="4114800"/>
          </a:xfrm>
        </p:spPr>
        <p:txBody>
          <a:bodyPr/>
          <a:lstStyle/>
          <a:p>
            <a:pPr>
              <a:lnSpc>
                <a:spcPct val="90000"/>
              </a:lnSpc>
              <a:buFont typeface="Monotype Sorts"/>
              <a:buNone/>
              <a:tabLst>
                <a:tab pos="3028950" algn="ctr"/>
                <a:tab pos="4633913" algn="ctr"/>
              </a:tabLst>
              <a:defRPr/>
            </a:pPr>
            <a:r>
              <a:rPr lang="en-US" sz="1600"/>
              <a:t>		</a:t>
            </a:r>
            <a:r>
              <a:rPr lang="en-US" u="sng"/>
              <a:t>Process</a:t>
            </a:r>
            <a:r>
              <a:rPr lang="en-US"/>
              <a:t>	</a:t>
            </a:r>
            <a:r>
              <a:rPr lang="en-US" u="sng"/>
              <a:t>Burst Time	</a:t>
            </a:r>
            <a:endParaRPr/>
          </a:p>
          <a:p>
            <a:pPr>
              <a:lnSpc>
                <a:spcPct val="90000"/>
              </a:lnSpc>
              <a:buFont typeface="Monotype Sorts"/>
              <a:buNone/>
              <a:tabLst>
                <a:tab pos="3028950" algn="ctr"/>
                <a:tab pos="4633913" algn="ctr"/>
              </a:tabLst>
              <a:defRPr/>
            </a:pPr>
            <a:r>
              <a:rPr lang="en-US"/>
              <a:t>		 </a:t>
            </a:r>
            <a:r>
              <a:rPr lang="en-US" i="1"/>
              <a:t>P</a:t>
            </a:r>
            <a:r>
              <a:rPr lang="en-US" i="1" baseline="-25000"/>
              <a:t>1</a:t>
            </a:r>
            <a:r>
              <a:rPr lang="en-US"/>
              <a:t>	24</a:t>
            </a:r>
            <a:endParaRPr/>
          </a:p>
          <a:p>
            <a:pPr>
              <a:lnSpc>
                <a:spcPct val="90000"/>
              </a:lnSpc>
              <a:buFont typeface="Monotype Sorts"/>
              <a:buNone/>
              <a:tabLst>
                <a:tab pos="3028950" algn="ctr"/>
                <a:tab pos="4633913" algn="ctr"/>
              </a:tabLst>
              <a:defRPr/>
            </a:pPr>
            <a:r>
              <a:rPr lang="en-US"/>
              <a:t>		 </a:t>
            </a:r>
            <a:r>
              <a:rPr lang="en-US" i="1"/>
              <a:t>P</a:t>
            </a:r>
            <a:r>
              <a:rPr lang="en-US" i="1" baseline="-25000"/>
              <a:t>2</a:t>
            </a:r>
            <a:r>
              <a:rPr lang="en-US"/>
              <a:t> 	3</a:t>
            </a:r>
            <a:endParaRPr/>
          </a:p>
          <a:p>
            <a:pPr>
              <a:lnSpc>
                <a:spcPct val="90000"/>
              </a:lnSpc>
              <a:buFont typeface="Monotype Sorts"/>
              <a:buNone/>
              <a:tabLst>
                <a:tab pos="3028950" algn="ctr"/>
                <a:tab pos="4633913" algn="ctr"/>
              </a:tabLst>
              <a:defRPr/>
            </a:pPr>
            <a:r>
              <a:rPr lang="en-US"/>
              <a:t>		 </a:t>
            </a:r>
            <a:r>
              <a:rPr lang="en-US" i="1"/>
              <a:t>P</a:t>
            </a:r>
            <a:r>
              <a:rPr lang="en-US" i="1" baseline="-25000"/>
              <a:t>3	 </a:t>
            </a:r>
            <a:r>
              <a:rPr lang="en-US"/>
              <a:t>3</a:t>
            </a:r>
            <a:r>
              <a:rPr lang="en-US" i="1" baseline="-25000"/>
              <a:t> </a:t>
            </a:r>
            <a:endParaRPr/>
          </a:p>
          <a:p>
            <a:pPr>
              <a:lnSpc>
                <a:spcPct val="90000"/>
              </a:lnSpc>
              <a:tabLst>
                <a:tab pos="3028950" algn="ctr"/>
                <a:tab pos="4633913" algn="ctr"/>
              </a:tabLst>
              <a:defRPr/>
            </a:pPr>
            <a:r>
              <a:rPr lang="en-US"/>
              <a:t>Suppose that the processes arrive in the order: </a:t>
            </a:r>
            <a:r>
              <a:rPr lang="en-US" i="1"/>
              <a:t>P</a:t>
            </a:r>
            <a:r>
              <a:rPr lang="en-US" i="1" baseline="-25000"/>
              <a:t>1</a:t>
            </a:r>
            <a:r>
              <a:rPr lang="en-US"/>
              <a:t> , </a:t>
            </a:r>
            <a:r>
              <a:rPr lang="en-US" i="1"/>
              <a:t>P</a:t>
            </a:r>
            <a:r>
              <a:rPr lang="en-US" i="1" baseline="-25000"/>
              <a:t>2</a:t>
            </a:r>
            <a:r>
              <a:rPr lang="en-US"/>
              <a:t> , </a:t>
            </a:r>
            <a:r>
              <a:rPr lang="en-US" i="1"/>
              <a:t>P</a:t>
            </a:r>
            <a:r>
              <a:rPr lang="en-US" i="1" baseline="-25000"/>
              <a:t>3  </a:t>
            </a:r>
            <a:br>
              <a:rPr lang="en-US" i="1" baseline="-25000"/>
            </a:br>
            <a:r>
              <a:rPr lang="en-US"/>
              <a:t>The Gantt Chart for the schedule is:</a:t>
            </a:r>
            <a:br>
              <a:rPr lang="en-US"/>
            </a:br>
            <a:br>
              <a:rPr lang="en-US" sz="1600"/>
            </a:br>
            <a:br>
              <a:rPr lang="en-US" sz="1600"/>
            </a:br>
            <a:br>
              <a:rPr lang="en-US" sz="1600"/>
            </a:br>
            <a:br>
              <a:rPr lang="en-US" sz="1600"/>
            </a:br>
            <a:endParaRPr lang="en-US" sz="1600"/>
          </a:p>
          <a:p>
            <a:pPr>
              <a:lnSpc>
                <a:spcPct val="90000"/>
              </a:lnSpc>
              <a:buFont typeface="Monotype Sorts"/>
              <a:buNone/>
              <a:tabLst>
                <a:tab pos="3028950" algn="ctr"/>
                <a:tab pos="4633913" algn="ctr"/>
              </a:tabLst>
              <a:defRPr/>
            </a:pPr>
            <a:endParaRPr lang="en-US" sz="1600"/>
          </a:p>
          <a:p>
            <a:pPr>
              <a:lnSpc>
                <a:spcPct val="90000"/>
              </a:lnSpc>
              <a:tabLst>
                <a:tab pos="3028950" algn="ctr"/>
                <a:tab pos="4633913" algn="ctr"/>
              </a:tabLst>
              <a:defRPr/>
            </a:pPr>
            <a:r>
              <a:rPr lang="en-US"/>
              <a:t>Waiting time for </a:t>
            </a:r>
            <a:r>
              <a:rPr lang="en-US" i="1"/>
              <a:t>P</a:t>
            </a:r>
            <a:r>
              <a:rPr lang="en-US" i="1" baseline="-25000"/>
              <a:t>1</a:t>
            </a:r>
            <a:r>
              <a:rPr lang="en-US"/>
              <a:t>  = 0; </a:t>
            </a:r>
            <a:r>
              <a:rPr lang="en-US" i="1"/>
              <a:t>P</a:t>
            </a:r>
            <a:r>
              <a:rPr lang="en-US" i="1" baseline="-25000"/>
              <a:t>2</a:t>
            </a:r>
            <a:r>
              <a:rPr lang="en-US"/>
              <a:t>  = 24; </a:t>
            </a:r>
            <a:r>
              <a:rPr lang="en-US" i="1"/>
              <a:t>P</a:t>
            </a:r>
            <a:r>
              <a:rPr lang="en-US" i="1" baseline="-25000"/>
              <a:t>3 </a:t>
            </a:r>
            <a:r>
              <a:rPr lang="en-US"/>
              <a:t>= 27</a:t>
            </a:r>
            <a:endParaRPr/>
          </a:p>
          <a:p>
            <a:pPr>
              <a:lnSpc>
                <a:spcPct val="90000"/>
              </a:lnSpc>
              <a:tabLst>
                <a:tab pos="3028950" algn="ctr"/>
                <a:tab pos="4633913" algn="ctr"/>
              </a:tabLst>
              <a:defRPr/>
            </a:pPr>
            <a:r>
              <a:rPr lang="en-US"/>
              <a:t>Average waiting time:  (0 + 24 + 27)/3 = 17</a:t>
            </a:r>
            <a:endParaRPr/>
          </a:p>
        </p:txBody>
      </p:sp>
      <p:pic>
        <p:nvPicPr>
          <p:cNvPr id="2080241908" name="Picture 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171575" y="3479800"/>
            <a:ext cx="6954838" cy="80168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6382231" name="Rectangle 2"/>
          <p:cNvSpPr>
            <a:spLocks noChangeArrowheads="1" noGrp="1"/>
          </p:cNvSpPr>
          <p:nvPr>
            <p:ph type="title"/>
          </p:nvPr>
        </p:nvSpPr>
        <p:spPr bwMode="auto">
          <a:xfrm>
            <a:off x="982663" y="231158"/>
            <a:ext cx="7704137" cy="576262"/>
          </a:xfrm>
        </p:spPr>
        <p:txBody>
          <a:bodyPr/>
          <a:lstStyle/>
          <a:p>
            <a:pPr>
              <a:defRPr/>
            </a:pPr>
            <a:r>
              <a:rPr lang="en-US"/>
              <a:t>FCFS Scheduling (Cont.)</a:t>
            </a:r>
            <a:endParaRPr/>
          </a:p>
        </p:txBody>
      </p:sp>
      <p:sp>
        <p:nvSpPr>
          <p:cNvPr id="567025603" name="Rectangle 3"/>
          <p:cNvSpPr>
            <a:spLocks noChangeArrowheads="1" noGrp="1"/>
          </p:cNvSpPr>
          <p:nvPr>
            <p:ph type="body" idx="1"/>
          </p:nvPr>
        </p:nvSpPr>
        <p:spPr bwMode="auto">
          <a:xfrm>
            <a:off x="855663" y="1233488"/>
            <a:ext cx="7704137" cy="4530725"/>
          </a:xfrm>
        </p:spPr>
        <p:txBody>
          <a:bodyPr/>
          <a:lstStyle/>
          <a:p>
            <a:pPr>
              <a:buFont typeface="Monotype Sorts"/>
              <a:buNone/>
              <a:tabLst>
                <a:tab pos="3649345" algn="ctr"/>
              </a:tabLst>
              <a:defRPr/>
            </a:pPr>
            <a:r>
              <a:rPr lang="en-US">
                <a:cs typeface="ＭＳ Ｐゴシック"/>
              </a:rPr>
              <a:t>Suppose that the processes arrive in the order:</a:t>
            </a:r>
            <a:endParaRPr/>
          </a:p>
          <a:p>
            <a:pPr>
              <a:buFont typeface="Monotype Sorts"/>
              <a:buNone/>
              <a:tabLst>
                <a:tab pos="3649345" algn="ctr"/>
              </a:tabLst>
              <a:defRPr/>
            </a:pPr>
            <a:r>
              <a:rPr lang="en-US">
                <a:cs typeface="ＭＳ Ｐゴシック"/>
              </a:rPr>
              <a:t>		 </a:t>
            </a:r>
            <a:r>
              <a:rPr lang="en-US" i="1">
                <a:cs typeface="ＭＳ Ｐゴシック"/>
              </a:rPr>
              <a:t>P</a:t>
            </a:r>
            <a:r>
              <a:rPr lang="en-US" i="1" baseline="-25000">
                <a:cs typeface="ＭＳ Ｐゴシック"/>
              </a:rPr>
              <a:t>2</a:t>
            </a:r>
            <a:r>
              <a:rPr lang="en-US">
                <a:cs typeface="ＭＳ Ｐゴシック"/>
              </a:rPr>
              <a:t> , </a:t>
            </a:r>
            <a:r>
              <a:rPr lang="en-US" i="1">
                <a:cs typeface="ＭＳ Ｐゴシック"/>
              </a:rPr>
              <a:t>P</a:t>
            </a:r>
            <a:r>
              <a:rPr lang="en-US" i="1" baseline="-25000">
                <a:cs typeface="ＭＳ Ｐゴシック"/>
              </a:rPr>
              <a:t>3</a:t>
            </a:r>
            <a:r>
              <a:rPr lang="en-US">
                <a:cs typeface="ＭＳ Ｐゴシック"/>
              </a:rPr>
              <a:t> , </a:t>
            </a:r>
            <a:r>
              <a:rPr lang="en-US" i="1">
                <a:cs typeface="ＭＳ Ｐゴシック"/>
              </a:rPr>
              <a:t>P</a:t>
            </a:r>
            <a:r>
              <a:rPr lang="en-US" i="1" baseline="-25000">
                <a:cs typeface="ＭＳ Ｐゴシック"/>
              </a:rPr>
              <a:t>1</a:t>
            </a:r>
            <a:r>
              <a:rPr lang="en-US">
                <a:cs typeface="ＭＳ Ｐゴシック"/>
              </a:rPr>
              <a:t> </a:t>
            </a:r>
            <a:endParaRPr/>
          </a:p>
          <a:p>
            <a:pPr>
              <a:tabLst>
                <a:tab pos="3649345" algn="ctr"/>
              </a:tabLst>
              <a:defRPr/>
            </a:pPr>
            <a:r>
              <a:rPr lang="en-US">
                <a:cs typeface="ＭＳ Ｐゴシック"/>
              </a:rPr>
              <a:t>The Gantt chart for the schedule is:</a:t>
            </a:r>
            <a:br>
              <a:rPr lang="en-US">
                <a:cs typeface="ＭＳ Ｐゴシック"/>
              </a:rPr>
            </a:br>
            <a:endParaRPr lang="en-US">
              <a:cs typeface="ＭＳ Ｐゴシック"/>
            </a:endParaRPr>
          </a:p>
          <a:p>
            <a:pPr>
              <a:tabLst>
                <a:tab pos="3649345" algn="ctr"/>
              </a:tabLst>
              <a:defRPr/>
            </a:pPr>
            <a:endParaRPr lang="en-US">
              <a:cs typeface="ＭＳ Ｐゴシック"/>
            </a:endParaRPr>
          </a:p>
          <a:p>
            <a:pPr>
              <a:tabLst>
                <a:tab pos="3649345" algn="ctr"/>
              </a:tabLst>
              <a:defRPr/>
            </a:pPr>
            <a:endParaRPr lang="en-US">
              <a:cs typeface="ＭＳ Ｐゴシック"/>
            </a:endParaRPr>
          </a:p>
          <a:p>
            <a:pPr marL="0" indent="0">
              <a:buFont typeface="Monotype Sorts"/>
              <a:buNone/>
              <a:tabLst>
                <a:tab pos="3649345" algn="ctr"/>
              </a:tabLst>
              <a:defRPr/>
            </a:pPr>
            <a:endParaRPr lang="en-US">
              <a:cs typeface="ＭＳ Ｐゴシック"/>
            </a:endParaRPr>
          </a:p>
          <a:p>
            <a:pPr>
              <a:tabLst>
                <a:tab pos="3649345" algn="ctr"/>
              </a:tabLst>
              <a:defRPr/>
            </a:pPr>
            <a:r>
              <a:rPr lang="en-US">
                <a:cs typeface="ＭＳ Ｐゴシック"/>
              </a:rPr>
              <a:t>Waiting time for </a:t>
            </a:r>
            <a:r>
              <a:rPr lang="en-US" i="1">
                <a:cs typeface="ＭＳ Ｐゴシック"/>
              </a:rPr>
              <a:t>P</a:t>
            </a:r>
            <a:r>
              <a:rPr lang="en-US" i="1" baseline="-25000">
                <a:cs typeface="ＭＳ Ｐゴシック"/>
              </a:rPr>
              <a:t>1 </a:t>
            </a:r>
            <a:r>
              <a:rPr lang="en-US" i="1">
                <a:cs typeface="ＭＳ Ｐゴシック"/>
              </a:rPr>
              <a:t>=</a:t>
            </a:r>
            <a:r>
              <a:rPr lang="en-US">
                <a:cs typeface="ＭＳ Ｐゴシック"/>
              </a:rPr>
              <a:t> 6</a:t>
            </a:r>
            <a:r>
              <a:rPr lang="en-US" i="1">
                <a:cs typeface="ＭＳ Ｐゴシック"/>
              </a:rPr>
              <a:t>;</a:t>
            </a:r>
            <a:r>
              <a:rPr lang="en-US" i="1" baseline="-25000">
                <a:cs typeface="ＭＳ Ｐゴシック"/>
              </a:rPr>
              <a:t> </a:t>
            </a:r>
            <a:r>
              <a:rPr lang="en-US" i="1">
                <a:cs typeface="ＭＳ Ｐゴシック"/>
              </a:rPr>
              <a:t>P</a:t>
            </a:r>
            <a:r>
              <a:rPr lang="en-US" i="1" baseline="-25000">
                <a:cs typeface="ＭＳ Ｐゴシック"/>
              </a:rPr>
              <a:t>2</a:t>
            </a:r>
            <a:r>
              <a:rPr lang="en-US">
                <a:cs typeface="ＭＳ Ｐゴシック"/>
              </a:rPr>
              <a:t> = 0</a:t>
            </a:r>
            <a:r>
              <a:rPr lang="en-US" i="1" baseline="-25000">
                <a:cs typeface="ＭＳ Ｐゴシック"/>
              </a:rPr>
              <a:t>; </a:t>
            </a:r>
            <a:r>
              <a:rPr lang="en-US" i="1">
                <a:cs typeface="ＭＳ Ｐゴシック"/>
              </a:rPr>
              <a:t>P</a:t>
            </a:r>
            <a:r>
              <a:rPr lang="en-US" i="1" baseline="-25000">
                <a:cs typeface="ＭＳ Ｐゴシック"/>
              </a:rPr>
              <a:t>3 </a:t>
            </a:r>
            <a:r>
              <a:rPr lang="en-US" i="1">
                <a:cs typeface="ＭＳ Ｐゴシック"/>
              </a:rPr>
              <a:t>= </a:t>
            </a:r>
            <a:r>
              <a:rPr lang="en-US">
                <a:cs typeface="ＭＳ Ｐゴシック"/>
              </a:rPr>
              <a:t>3</a:t>
            </a:r>
            <a:endParaRPr lang="en-US" i="1">
              <a:cs typeface="ＭＳ Ｐゴシック"/>
            </a:endParaRPr>
          </a:p>
          <a:p>
            <a:pPr>
              <a:tabLst>
                <a:tab pos="3649345" algn="ctr"/>
              </a:tabLst>
              <a:defRPr/>
            </a:pPr>
            <a:r>
              <a:rPr lang="en-US">
                <a:cs typeface="ＭＳ Ｐゴシック"/>
              </a:rPr>
              <a:t>Average waiting time:   (6 + 0 + 3)/3 = 3</a:t>
            </a:r>
            <a:endParaRPr/>
          </a:p>
          <a:p>
            <a:pPr>
              <a:tabLst>
                <a:tab pos="3649345" algn="ctr"/>
              </a:tabLst>
              <a:defRPr/>
            </a:pPr>
            <a:r>
              <a:rPr lang="en-US">
                <a:cs typeface="ＭＳ Ｐゴシック"/>
              </a:rPr>
              <a:t>Much better than previous case</a:t>
            </a:r>
            <a:endParaRPr/>
          </a:p>
          <a:p>
            <a:pPr>
              <a:tabLst>
                <a:tab pos="3649345" algn="ctr"/>
              </a:tabLst>
              <a:defRPr/>
            </a:pPr>
            <a:r>
              <a:rPr lang="en-US" b="1">
                <a:solidFill>
                  <a:srgbClr val="006699"/>
                </a:solidFill>
                <a:latin typeface="+mj-lt"/>
              </a:rPr>
              <a:t>Convoy</a:t>
            </a:r>
            <a:r>
              <a:rPr lang="en-US" b="1">
                <a:solidFill>
                  <a:srgbClr val="3366FF"/>
                </a:solidFill>
                <a:cs typeface="ＭＳ Ｐゴシック"/>
              </a:rPr>
              <a:t> </a:t>
            </a:r>
            <a:r>
              <a:rPr lang="en-US" b="1">
                <a:solidFill>
                  <a:srgbClr val="006699"/>
                </a:solidFill>
                <a:latin typeface="+mj-lt"/>
              </a:rPr>
              <a:t>effect</a:t>
            </a:r>
            <a:r>
              <a:rPr lang="en-US" b="1">
                <a:solidFill>
                  <a:srgbClr val="3366FF"/>
                </a:solidFill>
                <a:cs typeface="ＭＳ Ｐゴシック"/>
              </a:rPr>
              <a:t> </a:t>
            </a:r>
            <a:r>
              <a:rPr lang="en-US">
                <a:cs typeface="ＭＳ Ｐゴシック"/>
              </a:rPr>
              <a:t>- short process behind long process</a:t>
            </a:r>
            <a:endParaRPr/>
          </a:p>
          <a:p>
            <a:pPr lvl="1">
              <a:tabLst>
                <a:tab pos="3649345" algn="ctr"/>
              </a:tabLst>
              <a:defRPr/>
            </a:pPr>
            <a:r>
              <a:rPr lang="en-US"/>
              <a:t>Consider one CPU-bound and many I/O-bound processes</a:t>
            </a:r>
            <a:endParaRPr/>
          </a:p>
        </p:txBody>
      </p:sp>
      <p:pic>
        <p:nvPicPr>
          <p:cNvPr id="1185091700" name="Picture 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270000" y="2632075"/>
            <a:ext cx="7123113" cy="80486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8695915" name="Rectangle 2"/>
          <p:cNvSpPr>
            <a:spLocks noChangeArrowheads="1" noGrp="1"/>
          </p:cNvSpPr>
          <p:nvPr>
            <p:ph type="title"/>
          </p:nvPr>
        </p:nvSpPr>
        <p:spPr bwMode="auto">
          <a:xfrm>
            <a:off x="1108909" y="129252"/>
            <a:ext cx="7704137" cy="576262"/>
          </a:xfrm>
        </p:spPr>
        <p:txBody>
          <a:bodyPr/>
          <a:lstStyle/>
          <a:p>
            <a:pPr>
              <a:defRPr/>
            </a:pPr>
            <a:r>
              <a:rPr lang="en-US"/>
              <a:t>Shortest-Job-First (SJF) Scheduling</a:t>
            </a:r>
            <a:endParaRPr/>
          </a:p>
        </p:txBody>
      </p:sp>
      <p:sp>
        <p:nvSpPr>
          <p:cNvPr id="1767968395" name="Rectangle 3"/>
          <p:cNvSpPr>
            <a:spLocks noChangeArrowheads="1" noGrp="1"/>
          </p:cNvSpPr>
          <p:nvPr>
            <p:ph type="body" idx="1"/>
          </p:nvPr>
        </p:nvSpPr>
        <p:spPr bwMode="auto">
          <a:xfrm>
            <a:off x="821093" y="1233488"/>
            <a:ext cx="7632441" cy="4530725"/>
          </a:xfrm>
        </p:spPr>
        <p:txBody>
          <a:bodyPr/>
          <a:lstStyle/>
          <a:p>
            <a:pPr>
              <a:defRPr/>
            </a:pPr>
            <a:r>
              <a:rPr lang="en-US"/>
              <a:t>Associate with each process the length of its next CPU burst</a:t>
            </a:r>
            <a:endParaRPr/>
          </a:p>
          <a:p>
            <a:pPr lvl="1">
              <a:defRPr/>
            </a:pPr>
            <a:r>
              <a:rPr lang="en-US"/>
              <a:t> Use these lengths to schedule the process with the shortest time</a:t>
            </a:r>
            <a:endParaRPr/>
          </a:p>
          <a:p>
            <a:pPr>
              <a:defRPr/>
            </a:pPr>
            <a:r>
              <a:rPr lang="en-US"/>
              <a:t>SJF is optimal – gives minimum average waiting time for a given set of processes</a:t>
            </a:r>
            <a:endParaRPr/>
          </a:p>
          <a:p>
            <a:pPr lvl="1">
              <a:defRPr/>
            </a:pPr>
            <a:r>
              <a:rPr lang="en-US"/>
              <a:t>The difficulty is knowing the length of the next CPU request</a:t>
            </a:r>
            <a:endParaRPr/>
          </a:p>
          <a:p>
            <a:pPr lvl="1">
              <a:defRPr/>
            </a:pPr>
            <a:r>
              <a:rPr lang="en-US"/>
              <a:t>Could ask the user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9928198" name="Rectangle 2"/>
          <p:cNvSpPr>
            <a:spLocks noChangeArrowheads="1" noGrp="1"/>
          </p:cNvSpPr>
          <p:nvPr>
            <p:ph type="title"/>
          </p:nvPr>
        </p:nvSpPr>
        <p:spPr bwMode="auto">
          <a:xfrm>
            <a:off x="1108909" y="129252"/>
            <a:ext cx="7704137" cy="576262"/>
          </a:xfrm>
        </p:spPr>
        <p:txBody>
          <a:bodyPr/>
          <a:lstStyle/>
          <a:p>
            <a:pPr>
              <a:defRPr/>
            </a:pPr>
            <a:r>
              <a:rPr lang="en-US"/>
              <a:t>Shortest-Job-First (SJF) Scheduling</a:t>
            </a:r>
            <a:endParaRPr/>
          </a:p>
        </p:txBody>
      </p:sp>
      <p:sp>
        <p:nvSpPr>
          <p:cNvPr id="1567134324" name="Rectangle 3"/>
          <p:cNvSpPr>
            <a:spLocks noChangeArrowheads="1" noGrp="1"/>
          </p:cNvSpPr>
          <p:nvPr>
            <p:ph type="body" idx="1"/>
          </p:nvPr>
        </p:nvSpPr>
        <p:spPr bwMode="auto">
          <a:xfrm>
            <a:off x="821093" y="1233488"/>
            <a:ext cx="6760325" cy="4345509"/>
          </a:xfrm>
        </p:spPr>
        <p:txBody>
          <a:bodyPr/>
          <a:lstStyle/>
          <a:p>
            <a:pPr>
              <a:defRPr/>
            </a:pPr>
            <a:r>
              <a:rPr lang="en-US"/>
              <a:t>Associate with each process the length of its next CPU burst</a:t>
            </a:r>
            <a:endParaRPr/>
          </a:p>
          <a:p>
            <a:pPr lvl="1">
              <a:defRPr/>
            </a:pPr>
            <a:r>
              <a:rPr lang="en-US"/>
              <a:t>Use these lengths to schedule the process with the shortest time</a:t>
            </a:r>
            <a:endParaRPr/>
          </a:p>
          <a:p>
            <a:pPr>
              <a:defRPr/>
            </a:pPr>
            <a:r>
              <a:rPr lang="en-US"/>
              <a:t>SJF is optimal – gives minimum average waiting time for a given set of processes</a:t>
            </a:r>
            <a:endParaRPr/>
          </a:p>
          <a:p>
            <a:pPr>
              <a:defRPr/>
            </a:pPr>
            <a:r>
              <a:rPr lang="en-US">
                <a:cs typeface="ＭＳ Ｐゴシック"/>
              </a:rPr>
              <a:t>Preemptive version called </a:t>
            </a:r>
            <a:r>
              <a:rPr lang="en-US" b="1">
                <a:solidFill>
                  <a:srgbClr val="006699"/>
                </a:solidFill>
                <a:latin typeface="+mj-lt"/>
              </a:rPr>
              <a:t>shortest-remaining-time-first</a:t>
            </a:r>
            <a:endParaRPr/>
          </a:p>
          <a:p>
            <a:pPr>
              <a:defRPr/>
            </a:pPr>
            <a:r>
              <a:rPr lang="en-US"/>
              <a:t>How do we determine the length of the next CPU burst?</a:t>
            </a:r>
            <a:endParaRPr/>
          </a:p>
          <a:p>
            <a:pPr lvl="1">
              <a:defRPr/>
            </a:pPr>
            <a:r>
              <a:rPr lang="en-US"/>
              <a:t>Could ask the user</a:t>
            </a:r>
            <a:endParaRPr/>
          </a:p>
          <a:p>
            <a:pPr lvl="1">
              <a:defRPr/>
            </a:pPr>
            <a:r>
              <a:rPr lang="en-US"/>
              <a:t>Estimate</a:t>
            </a:r>
            <a:endParaRPr/>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8714241" name="Rectangle 2"/>
          <p:cNvSpPr>
            <a:spLocks noChangeArrowheads="1" noGrp="1"/>
          </p:cNvSpPr>
          <p:nvPr>
            <p:ph type="title"/>
          </p:nvPr>
        </p:nvSpPr>
        <p:spPr bwMode="auto">
          <a:xfrm>
            <a:off x="457200" y="229606"/>
            <a:ext cx="8229600" cy="576262"/>
          </a:xfrm>
        </p:spPr>
        <p:txBody>
          <a:bodyPr/>
          <a:lstStyle/>
          <a:p>
            <a:pPr>
              <a:defRPr/>
            </a:pPr>
            <a:r>
              <a:rPr lang="en-US"/>
              <a:t>Example of SJF</a:t>
            </a:r>
            <a:endParaRPr/>
          </a:p>
        </p:txBody>
      </p:sp>
      <p:sp>
        <p:nvSpPr>
          <p:cNvPr id="2067426778" name="Rectangle 36"/>
          <p:cNvSpPr>
            <a:spLocks noChangeArrowheads="1" noGrp="1"/>
          </p:cNvSpPr>
          <p:nvPr>
            <p:ph type="body" idx="1"/>
          </p:nvPr>
        </p:nvSpPr>
        <p:spPr bwMode="auto">
          <a:prstGeom prst="rect">
            <a:avLst/>
          </a:prstGeom>
          <a:noFill/>
        </p:spPr>
        <p:txBody>
          <a:bodyPr/>
          <a:lstStyle/>
          <a:p>
            <a:pPr>
              <a:buFont typeface="Monotype Sorts"/>
              <a:buNone/>
              <a:tabLst>
                <a:tab pos="1600200" algn="ctr"/>
                <a:tab pos="3251200" algn="ctr"/>
                <a:tab pos="5140325" algn="ctr"/>
              </a:tabLst>
              <a:defRPr/>
            </a:pPr>
            <a:r>
              <a:rPr lang="en-US"/>
              <a:t>	      	                </a:t>
            </a:r>
            <a:r>
              <a:rPr lang="en-US" u="sng"/>
              <a:t>Process</a:t>
            </a:r>
            <a:r>
              <a:rPr lang="en-US" u="sng">
                <a:solidFill>
                  <a:schemeClr val="bg1"/>
                </a:solidFill>
              </a:rPr>
              <a:t>Arriva</a:t>
            </a:r>
            <a:r>
              <a:rPr lang="en-US" u="sng">
                <a:solidFill>
                  <a:schemeClr val="bg1"/>
                </a:solidFill>
              </a:rPr>
              <a:t>	l Time</a:t>
            </a:r>
            <a:r>
              <a:rPr lang="en-US"/>
              <a:t>	</a:t>
            </a:r>
            <a:r>
              <a:rPr lang="en-US" u="sng"/>
              <a:t>Burst Time</a:t>
            </a:r>
            <a:endParaRPr lang="en-US"/>
          </a:p>
          <a:p>
            <a:pPr>
              <a:buFont typeface="Monotype Sorts"/>
              <a:buNone/>
              <a:tabLst>
                <a:tab pos="1600200" algn="ctr"/>
                <a:tab pos="3251200" algn="ctr"/>
                <a:tab pos="5140325" algn="ctr"/>
              </a:tabLst>
              <a:defRPr/>
            </a:pPr>
            <a:r>
              <a:rPr lang="en-US"/>
              <a:t>		             </a:t>
            </a:r>
            <a:r>
              <a:rPr lang="en-US" i="1"/>
              <a:t>P</a:t>
            </a:r>
            <a:r>
              <a:rPr lang="en-US" i="1" baseline="-25000"/>
              <a:t>1</a:t>
            </a:r>
            <a:r>
              <a:rPr lang="en-US"/>
              <a:t>	</a:t>
            </a:r>
            <a:r>
              <a:rPr lang="en-US">
                <a:solidFill>
                  <a:schemeClr val="bg1"/>
                </a:solidFill>
              </a:rPr>
              <a:t>0.0</a:t>
            </a:r>
            <a:r>
              <a:rPr lang="en-US"/>
              <a:t>	6</a:t>
            </a:r>
            <a:endParaRPr/>
          </a:p>
          <a:p>
            <a:pPr>
              <a:buFont typeface="Monotype Sorts"/>
              <a:buNone/>
              <a:tabLst>
                <a:tab pos="1600200" algn="ctr"/>
                <a:tab pos="3251200" algn="ctr"/>
                <a:tab pos="5140325" algn="ctr"/>
              </a:tabLst>
              <a:defRPr/>
            </a:pPr>
            <a:r>
              <a:rPr lang="en-US"/>
              <a:t>		            </a:t>
            </a:r>
            <a:r>
              <a:rPr lang="en-US" i="1"/>
              <a:t>P</a:t>
            </a:r>
            <a:r>
              <a:rPr lang="en-US" i="1" baseline="-25000"/>
              <a:t>2 	</a:t>
            </a:r>
            <a:r>
              <a:rPr lang="en-US">
                <a:solidFill>
                  <a:schemeClr val="bg1"/>
                </a:solidFill>
              </a:rPr>
              <a:t>2.0</a:t>
            </a:r>
            <a:r>
              <a:rPr lang="en-US"/>
              <a:t>	8</a:t>
            </a:r>
            <a:endParaRPr/>
          </a:p>
          <a:p>
            <a:pPr>
              <a:buFont typeface="Monotype Sorts"/>
              <a:buNone/>
              <a:tabLst>
                <a:tab pos="1600200" algn="ctr"/>
                <a:tab pos="3251200" algn="ctr"/>
                <a:tab pos="5140325" algn="ctr"/>
              </a:tabLst>
              <a:defRPr/>
            </a:pPr>
            <a:r>
              <a:rPr lang="en-US"/>
              <a:t>		            </a:t>
            </a:r>
            <a:r>
              <a:rPr lang="en-US" i="1"/>
              <a:t>P</a:t>
            </a:r>
            <a:r>
              <a:rPr lang="en-US" i="1" baseline="-25000"/>
              <a:t>3</a:t>
            </a:r>
            <a:r>
              <a:rPr lang="en-US"/>
              <a:t>	</a:t>
            </a:r>
            <a:r>
              <a:rPr lang="en-US">
                <a:solidFill>
                  <a:schemeClr val="bg1"/>
                </a:solidFill>
              </a:rPr>
              <a:t>4.0</a:t>
            </a:r>
            <a:r>
              <a:rPr lang="en-US"/>
              <a:t>	7</a:t>
            </a:r>
            <a:endParaRPr/>
          </a:p>
          <a:p>
            <a:pPr>
              <a:buFont typeface="Monotype Sorts"/>
              <a:buNone/>
              <a:tabLst>
                <a:tab pos="1600200" algn="ctr"/>
                <a:tab pos="3251200" algn="ctr"/>
                <a:tab pos="5140325" algn="ctr"/>
              </a:tabLst>
              <a:defRPr/>
            </a:pPr>
            <a:r>
              <a:rPr lang="en-US"/>
              <a:t>		            </a:t>
            </a:r>
            <a:r>
              <a:rPr lang="en-US" i="1"/>
              <a:t>P</a:t>
            </a:r>
            <a:r>
              <a:rPr lang="en-US" i="1" baseline="-25000"/>
              <a:t>4</a:t>
            </a:r>
            <a:r>
              <a:rPr lang="en-US"/>
              <a:t>	</a:t>
            </a:r>
            <a:r>
              <a:rPr lang="en-US">
                <a:solidFill>
                  <a:schemeClr val="bg1"/>
                </a:solidFill>
              </a:rPr>
              <a:t>5.0</a:t>
            </a:r>
            <a:r>
              <a:rPr lang="en-US"/>
              <a:t>	3</a:t>
            </a:r>
            <a:endParaRPr/>
          </a:p>
          <a:p>
            <a:pPr>
              <a:buFont typeface="Monotype Sorts"/>
              <a:buNone/>
              <a:tabLst>
                <a:tab pos="1600200" algn="ctr"/>
                <a:tab pos="3251200" algn="ctr"/>
                <a:tab pos="5140325" algn="ctr"/>
              </a:tabLst>
              <a:defRPr/>
            </a:pPr>
            <a:endParaRPr lang="en-US"/>
          </a:p>
          <a:p>
            <a:pPr>
              <a:tabLst>
                <a:tab pos="1600200" algn="ctr"/>
                <a:tab pos="3251200" algn="ctr"/>
                <a:tab pos="5140325" algn="ctr"/>
              </a:tabLst>
              <a:defRPr/>
            </a:pPr>
            <a:r>
              <a:rPr lang="en-US"/>
              <a:t>SJF scheduling chart</a:t>
            </a:r>
            <a:endParaRPr/>
          </a:p>
          <a:p>
            <a:pPr>
              <a:tabLst>
                <a:tab pos="1600200" algn="ctr"/>
                <a:tab pos="3251200" algn="ctr"/>
                <a:tab pos="5140325" algn="ctr"/>
              </a:tabLst>
              <a:defRPr/>
            </a:pPr>
            <a:endParaRPr lang="en-US"/>
          </a:p>
          <a:p>
            <a:pPr>
              <a:tabLst>
                <a:tab pos="1600200" algn="ctr"/>
                <a:tab pos="3251200" algn="ctr"/>
                <a:tab pos="5140325" algn="ctr"/>
              </a:tabLst>
              <a:defRPr/>
            </a:pPr>
            <a:endParaRPr lang="en-US"/>
          </a:p>
          <a:p>
            <a:pPr>
              <a:tabLst>
                <a:tab pos="1600200" algn="ctr"/>
                <a:tab pos="3251200" algn="ctr"/>
                <a:tab pos="5140325" algn="ctr"/>
              </a:tabLst>
              <a:defRPr/>
            </a:pPr>
            <a:endParaRPr lang="en-US"/>
          </a:p>
          <a:p>
            <a:pPr>
              <a:buFont typeface="Monotype Sorts"/>
              <a:buNone/>
              <a:tabLst>
                <a:tab pos="1600200" algn="ctr"/>
                <a:tab pos="3251200" algn="ctr"/>
                <a:tab pos="5140325" algn="ctr"/>
              </a:tabLst>
              <a:defRPr/>
            </a:pPr>
            <a:endParaRPr lang="en-US"/>
          </a:p>
          <a:p>
            <a:pPr>
              <a:tabLst>
                <a:tab pos="1600200" algn="ctr"/>
                <a:tab pos="3251200" algn="ctr"/>
                <a:tab pos="5140325" algn="ctr"/>
              </a:tabLst>
              <a:defRPr/>
            </a:pPr>
            <a:r>
              <a:rPr lang="en-US"/>
              <a:t>Average waiting time = (3 + 16 + 9 + 0) / 4 = 7</a:t>
            </a:r>
            <a:endParaRPr lang="en-US" i="1" baseline="-25000"/>
          </a:p>
        </p:txBody>
      </p:sp>
      <p:pic>
        <p:nvPicPr>
          <p:cNvPr id="1992928753" name="Picture 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287463" y="4076699"/>
            <a:ext cx="6796087" cy="8953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3232380" name="Rectangle 2"/>
          <p:cNvSpPr>
            <a:spLocks noChangeArrowheads="1" noGrp="1"/>
          </p:cNvSpPr>
          <p:nvPr>
            <p:ph type="title"/>
          </p:nvPr>
        </p:nvSpPr>
        <p:spPr bwMode="auto">
          <a:xfrm>
            <a:off x="987629" y="165918"/>
            <a:ext cx="8249492" cy="611187"/>
          </a:xfrm>
        </p:spPr>
        <p:txBody>
          <a:bodyPr/>
          <a:lstStyle/>
          <a:p>
            <a:pPr>
              <a:defRPr/>
            </a:pPr>
            <a:r>
              <a:rPr lang="en-US"/>
              <a:t>Determining Length of Next CPU Burst</a:t>
            </a:r>
            <a:endParaRPr/>
          </a:p>
        </p:txBody>
      </p:sp>
      <p:sp>
        <p:nvSpPr>
          <p:cNvPr id="1728688767" name="Rectangle 3"/>
          <p:cNvSpPr>
            <a:spLocks noChangeArrowheads="1" noGrp="1"/>
          </p:cNvSpPr>
          <p:nvPr>
            <p:ph type="body" idx="1"/>
          </p:nvPr>
        </p:nvSpPr>
        <p:spPr bwMode="auto">
          <a:xfrm>
            <a:off x="802433" y="1233488"/>
            <a:ext cx="7681167" cy="4935537"/>
          </a:xfrm>
        </p:spPr>
        <p:txBody>
          <a:bodyPr/>
          <a:lstStyle/>
          <a:p>
            <a:pPr>
              <a:defRPr/>
            </a:pPr>
            <a:r>
              <a:rPr lang="en-US">
                <a:cs typeface="ＭＳ Ｐゴシック"/>
              </a:rPr>
              <a:t>Can only estimate the length – should be similar to the previous one</a:t>
            </a:r>
            <a:endParaRPr/>
          </a:p>
          <a:p>
            <a:pPr lvl="1">
              <a:defRPr/>
            </a:pPr>
            <a:r>
              <a:rPr lang="en-US"/>
              <a:t>Then pick process with shortest predicted next CPU burst</a:t>
            </a:r>
            <a:endParaRPr lang="en-US">
              <a:cs typeface="ＭＳ Ｐゴシック"/>
            </a:endParaRPr>
          </a:p>
          <a:p>
            <a:pPr>
              <a:defRPr/>
            </a:pPr>
            <a:r>
              <a:rPr lang="en-US">
                <a:cs typeface="ＭＳ Ｐゴシック"/>
              </a:rPr>
              <a:t>Can be done by using the length of previous CPU bursts, using exponential averaging</a:t>
            </a:r>
            <a:endParaRPr/>
          </a:p>
          <a:p>
            <a:pPr>
              <a:defRPr/>
            </a:pPr>
            <a:endParaRPr lang="en-US">
              <a:cs typeface="ＭＳ Ｐゴシック"/>
            </a:endParaRPr>
          </a:p>
          <a:p>
            <a:pPr>
              <a:defRPr/>
            </a:pPr>
            <a:endParaRPr lang="en-US">
              <a:cs typeface="ＭＳ Ｐゴシック"/>
            </a:endParaRPr>
          </a:p>
          <a:p>
            <a:pPr>
              <a:defRPr/>
            </a:pPr>
            <a:endParaRPr lang="en-US">
              <a:cs typeface="ＭＳ Ｐゴシック"/>
            </a:endParaRPr>
          </a:p>
          <a:p>
            <a:pPr marL="0" indent="0">
              <a:buFont typeface="Monotype Sorts"/>
              <a:buNone/>
              <a:defRPr/>
            </a:pPr>
            <a:endParaRPr lang="en-US">
              <a:cs typeface="ＭＳ Ｐゴシック"/>
            </a:endParaRPr>
          </a:p>
          <a:p>
            <a:pPr>
              <a:defRPr/>
            </a:pPr>
            <a:r>
              <a:rPr lang="en-US">
                <a:cs typeface="ＭＳ Ｐゴシック"/>
              </a:rPr>
              <a:t>Commonly, </a:t>
            </a:r>
            <a:r>
              <a:rPr lang="en-US">
                <a:latin typeface="Lucida Grande"/>
                <a:cs typeface="ＭＳ Ｐゴシック"/>
              </a:rPr>
              <a:t>α </a:t>
            </a:r>
            <a:r>
              <a:rPr lang="en-US">
                <a:cs typeface="ＭＳ Ｐゴシック"/>
              </a:rPr>
              <a:t>set to ½</a:t>
            </a:r>
            <a:endParaRPr/>
          </a:p>
        </p:txBody>
      </p:sp>
      <p:graphicFrame>
        <p:nvGraphicFramePr>
          <p:cNvPr id="1666431215" name="Object 2"/>
          <p:cNvGraphicFramePr>
            <a:graphicFrameLocks xmlns:a="http://schemas.openxmlformats.org/drawingml/2006/main" noChangeAspect="1"/>
          </p:cNvGraphicFramePr>
          <p:nvPr/>
        </p:nvGraphicFramePr>
        <p:xfrm>
          <a:off x="2005013" y="2656713"/>
          <a:ext cx="4427537" cy="1254125"/>
        </p:xfrm>
        <a:graphic>
          <a:graphicData uri="http://schemas.openxmlformats.org/presentationml/2006/ole">
            <p:oleObj name="oleObj" r:id="rId4" imgW="6400800" imgH="1778000" progId="Equation.3">
              <p:embed/>
              <p:pic>
                <p:nvPicPr>
                  <p:cNvPr id="1666431215" name="Object 2"/>
                  <p:cNvPicPr/>
                  <p:nvPr/>
                </p:nvPicPr>
                <p:blipFill rotWithShape="1">
                  <a:blip r:embed="rId3"/>
                  <a:stretch/>
                </p:blipFill>
                <p:spPr bwMode="auto">
                  <a:xfrm>
                    <a:off x="2005013" y="2656713"/>
                    <a:ext cx="4427537" cy="1254125"/>
                  </a:xfrm>
                  <a:prstGeom prst="rect">
                    <a:avLst/>
                  </a:prstGeom>
                </p:spPr>
              </p:pic>
            </p:oleObj>
          </a:graphicData>
        </a:graphic>
      </p:graphicFrame>
      <p:pic>
        <p:nvPicPr>
          <p:cNvPr id="39669616" name="Picture 1"/>
          <p:cNvPicPr>
            <a:picLocks noChangeAspect="1"/>
          </p:cNvPicPr>
          <p:nvPr/>
        </p:nvPicPr>
        <p:blipFill rotWithShape="1">
          <a:blip r:embed="rId5"/>
          <a:stretch/>
        </p:blipFill>
        <p:spPr bwMode="auto">
          <a:xfrm>
            <a:off x="2994025" y="3976688"/>
            <a:ext cx="2451100" cy="5588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6001775" name="Rectangle 2"/>
          <p:cNvSpPr>
            <a:spLocks noChangeArrowheads="1" noGrp="1"/>
          </p:cNvSpPr>
          <p:nvPr>
            <p:ph type="title"/>
          </p:nvPr>
        </p:nvSpPr>
        <p:spPr bwMode="auto">
          <a:xfrm>
            <a:off x="810949" y="131828"/>
            <a:ext cx="8223250" cy="677863"/>
          </a:xfrm>
        </p:spPr>
        <p:txBody>
          <a:bodyPr/>
          <a:lstStyle/>
          <a:p>
            <a:pPr>
              <a:defRPr/>
            </a:pPr>
            <a:r>
              <a:rPr lang="en-US" sz="2600"/>
              <a:t>Prediction of the Length of the Next CPU Burst</a:t>
            </a:r>
            <a:endParaRPr/>
          </a:p>
        </p:txBody>
      </p:sp>
      <p:pic>
        <p:nvPicPr>
          <p:cNvPr id="1307783352" name="Picture 2"/>
          <p:cNvPicPr>
            <a:picLocks noChangeAspect="1"/>
          </p:cNvPicPr>
          <p:nvPr/>
        </p:nvPicPr>
        <p:blipFill rotWithShape="1">
          <a:blip r:embed="rId3"/>
          <a:stretch/>
        </p:blipFill>
        <p:spPr bwMode="auto">
          <a:xfrm>
            <a:off x="1968500" y="1598613"/>
            <a:ext cx="5470525" cy="39655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836752" name="Rectangle 2"/>
          <p:cNvSpPr>
            <a:spLocks noChangeArrowheads="1" noGrp="1"/>
          </p:cNvSpPr>
          <p:nvPr>
            <p:ph type="title"/>
          </p:nvPr>
        </p:nvSpPr>
        <p:spPr bwMode="auto">
          <a:xfrm>
            <a:off x="1175460" y="229606"/>
            <a:ext cx="7451725" cy="576262"/>
          </a:xfrm>
        </p:spPr>
        <p:txBody>
          <a:bodyPr/>
          <a:lstStyle/>
          <a:p>
            <a:pPr>
              <a:defRPr/>
            </a:pPr>
            <a:r>
              <a:rPr lang="en-US"/>
              <a:t>Examples of Exponential Averaging</a:t>
            </a:r>
            <a:endParaRPr/>
          </a:p>
        </p:txBody>
      </p:sp>
      <p:sp>
        <p:nvSpPr>
          <p:cNvPr id="882917826" name="Rectangle 3"/>
          <p:cNvSpPr>
            <a:spLocks noChangeArrowheads="1" noGrp="1"/>
          </p:cNvSpPr>
          <p:nvPr>
            <p:ph type="body" idx="1"/>
          </p:nvPr>
        </p:nvSpPr>
        <p:spPr bwMode="auto">
          <a:xfrm>
            <a:off x="793101" y="1233488"/>
            <a:ext cx="7834083" cy="4530725"/>
          </a:xfrm>
        </p:spPr>
        <p:txBody>
          <a:bodyPr/>
          <a:lstStyle/>
          <a:p>
            <a:pPr>
              <a:lnSpc>
                <a:spcPct val="90000"/>
              </a:lnSpc>
              <a:defRPr/>
            </a:pPr>
            <a:r>
              <a:rPr lang="en-US"/>
              <a:t> =0</a:t>
            </a:r>
            <a:endParaRPr/>
          </a:p>
          <a:p>
            <a:pPr lvl="1">
              <a:lnSpc>
                <a:spcPct val="90000"/>
              </a:lnSpc>
              <a:defRPr/>
            </a:pPr>
            <a:r>
              <a:rPr lang="en-US"/>
              <a:t></a:t>
            </a:r>
            <a:r>
              <a:rPr lang="en-US" baseline="-25000"/>
              <a:t>n+1</a:t>
            </a:r>
            <a:r>
              <a:rPr lang="en-US"/>
              <a:t> = </a:t>
            </a:r>
            <a:r>
              <a:rPr lang="en-US" baseline="-25000"/>
              <a:t>n</a:t>
            </a:r>
            <a:endParaRPr/>
          </a:p>
          <a:p>
            <a:pPr lvl="1">
              <a:lnSpc>
                <a:spcPct val="90000"/>
              </a:lnSpc>
              <a:defRPr/>
            </a:pPr>
            <a:r>
              <a:rPr lang="en-US"/>
              <a:t>Recent history does not count</a:t>
            </a:r>
            <a:endParaRPr/>
          </a:p>
          <a:p>
            <a:pPr>
              <a:lnSpc>
                <a:spcPct val="90000"/>
              </a:lnSpc>
              <a:defRPr/>
            </a:pPr>
            <a:r>
              <a:rPr lang="en-US"/>
              <a:t> =1</a:t>
            </a:r>
            <a:endParaRPr/>
          </a:p>
          <a:p>
            <a:pPr lvl="1">
              <a:lnSpc>
                <a:spcPct val="90000"/>
              </a:lnSpc>
              <a:defRPr/>
            </a:pPr>
            <a:r>
              <a:rPr lang="en-US"/>
              <a:t> </a:t>
            </a:r>
            <a:r>
              <a:rPr lang="en-US" baseline="-25000"/>
              <a:t>n+1</a:t>
            </a:r>
            <a:r>
              <a:rPr lang="en-US"/>
              <a:t> =  </a:t>
            </a:r>
            <a:r>
              <a:rPr lang="en-US" i="1"/>
              <a:t>t</a:t>
            </a:r>
            <a:r>
              <a:rPr lang="en-US" baseline="-25000"/>
              <a:t>n</a:t>
            </a:r>
            <a:endParaRPr lang="en-US" baseline="-25000"/>
          </a:p>
          <a:p>
            <a:pPr lvl="1">
              <a:lnSpc>
                <a:spcPct val="90000"/>
              </a:lnSpc>
              <a:defRPr/>
            </a:pPr>
            <a:r>
              <a:rPr lang="en-US"/>
              <a:t>Only the actual last CPU burst counts</a:t>
            </a:r>
            <a:endParaRPr/>
          </a:p>
          <a:p>
            <a:pPr>
              <a:lnSpc>
                <a:spcPct val="90000"/>
              </a:lnSpc>
              <a:defRPr/>
            </a:pPr>
            <a:r>
              <a:rPr lang="en-US"/>
              <a:t>If we expand the formula, we get:</a:t>
            </a:r>
            <a:endParaRPr/>
          </a:p>
          <a:p>
            <a:pPr lvl="2">
              <a:lnSpc>
                <a:spcPct val="90000"/>
              </a:lnSpc>
              <a:buFont typeface="Webdings"/>
              <a:buNone/>
              <a:defRPr/>
            </a:pPr>
            <a:r>
              <a:rPr lang="en-US"/>
              <a:t></a:t>
            </a:r>
            <a:r>
              <a:rPr lang="en-US" i="1" baseline="-25000"/>
              <a:t>n</a:t>
            </a:r>
            <a:r>
              <a:rPr lang="en-US" baseline="-25000"/>
              <a:t>+1</a:t>
            </a:r>
            <a:r>
              <a:rPr lang="en-US"/>
              <a:t> =  </a:t>
            </a:r>
            <a:r>
              <a:rPr lang="en-US"/>
              <a:t>t</a:t>
            </a:r>
            <a:r>
              <a:rPr lang="en-US" i="1" baseline="-25000"/>
              <a:t>n</a:t>
            </a:r>
            <a:r>
              <a:rPr lang="en-US"/>
              <a:t>+(1</a:t>
            </a:r>
            <a:r>
              <a:rPr lang="en-US" i="1"/>
              <a:t> - </a:t>
            </a:r>
            <a:r>
              <a:rPr lang="en-US"/>
              <a:t></a:t>
            </a:r>
            <a:r>
              <a:rPr lang="en-US" i="1"/>
              <a:t>)</a:t>
            </a:r>
            <a:r>
              <a:rPr lang="en-US"/>
              <a:t> </a:t>
            </a:r>
            <a:r>
              <a:rPr lang="en-US" i="1"/>
              <a:t>t</a:t>
            </a:r>
            <a:r>
              <a:rPr lang="en-US" i="1" baseline="-25000"/>
              <a:t>n</a:t>
            </a:r>
            <a:r>
              <a:rPr lang="en-US" i="1"/>
              <a:t> </a:t>
            </a:r>
            <a:r>
              <a:rPr lang="en-US" baseline="-25000"/>
              <a:t>-1</a:t>
            </a:r>
            <a:r>
              <a:rPr lang="en-US" i="1" baseline="-25000"/>
              <a:t> </a:t>
            </a:r>
            <a:r>
              <a:rPr lang="en-US"/>
              <a:t>+ …</a:t>
            </a:r>
            <a:endParaRPr/>
          </a:p>
          <a:p>
            <a:pPr lvl="2">
              <a:lnSpc>
                <a:spcPct val="90000"/>
              </a:lnSpc>
              <a:buFont typeface="Webdings"/>
              <a:buNone/>
              <a:defRPr/>
            </a:pPr>
            <a:r>
              <a:rPr lang="en-US"/>
              <a:t>            </a:t>
            </a:r>
            <a:r>
              <a:rPr lang="en-US" i="1"/>
              <a:t>+(</a:t>
            </a:r>
            <a:r>
              <a:rPr lang="en-US"/>
              <a:t>1 -  </a:t>
            </a:r>
            <a:r>
              <a:rPr lang="en-US" i="1"/>
              <a:t>)</a:t>
            </a:r>
            <a:r>
              <a:rPr lang="en-US" i="1" baseline="30000"/>
              <a:t>j</a:t>
            </a:r>
            <a:r>
              <a:rPr lang="en-US" baseline="30000"/>
              <a:t> </a:t>
            </a:r>
            <a:r>
              <a:rPr lang="en-US"/>
              <a:t> </a:t>
            </a:r>
            <a:r>
              <a:rPr lang="en-US" i="1"/>
              <a:t>t</a:t>
            </a:r>
            <a:r>
              <a:rPr lang="en-US" i="1" baseline="-25000"/>
              <a:t>n</a:t>
            </a:r>
            <a:r>
              <a:rPr lang="en-US"/>
              <a:t> </a:t>
            </a:r>
            <a:r>
              <a:rPr lang="en-US" baseline="-25000"/>
              <a:t>-</a:t>
            </a:r>
            <a:r>
              <a:rPr lang="en-US" i="1" baseline="-25000"/>
              <a:t>j</a:t>
            </a:r>
            <a:r>
              <a:rPr lang="en-US" i="1"/>
              <a:t> </a:t>
            </a:r>
            <a:r>
              <a:rPr lang="en-US"/>
              <a:t>+ …</a:t>
            </a:r>
            <a:endParaRPr/>
          </a:p>
          <a:p>
            <a:pPr lvl="2">
              <a:lnSpc>
                <a:spcPct val="90000"/>
              </a:lnSpc>
              <a:buFont typeface="Webdings"/>
              <a:buNone/>
              <a:defRPr/>
            </a:pPr>
            <a:r>
              <a:rPr lang="en-US"/>
              <a:t>            </a:t>
            </a:r>
            <a:r>
              <a:rPr lang="en-US" i="1"/>
              <a:t>+(</a:t>
            </a:r>
            <a:r>
              <a:rPr lang="en-US"/>
              <a:t>1 -  </a:t>
            </a:r>
            <a:r>
              <a:rPr lang="en-US" i="1"/>
              <a:t>)</a:t>
            </a:r>
            <a:r>
              <a:rPr lang="en-US" i="1" baseline="30000"/>
              <a:t>n</a:t>
            </a:r>
            <a:r>
              <a:rPr lang="en-US" baseline="30000"/>
              <a:t> +1 </a:t>
            </a:r>
            <a:r>
              <a:rPr lang="en-US"/>
              <a:t></a:t>
            </a:r>
            <a:r>
              <a:rPr lang="en-US" baseline="-25000"/>
              <a:t>0</a:t>
            </a:r>
            <a:br>
              <a:rPr lang="en-US" baseline="-25000"/>
            </a:br>
            <a:endParaRPr lang="en-US" baseline="-25000"/>
          </a:p>
          <a:p>
            <a:pPr>
              <a:lnSpc>
                <a:spcPct val="90000"/>
              </a:lnSpc>
              <a:defRPr/>
            </a:pPr>
            <a:r>
              <a:rPr lang="en-US"/>
              <a:t>Since both  and (1 - ) are less than or equal to 1, each successive term has less weight than its predecessor</a:t>
            </a:r>
            <a:endParaRPr/>
          </a:p>
          <a:p>
            <a:pPr>
              <a:lnSpc>
                <a:spcPct val="90000"/>
              </a:lnSpc>
              <a:buFont typeface="Monotype Sort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4569960" name="Rectangle 2"/>
          <p:cNvSpPr>
            <a:spLocks noChangeArrowheads="1" noGrp="1"/>
          </p:cNvSpPr>
          <p:nvPr>
            <p:ph type="title"/>
          </p:nvPr>
        </p:nvSpPr>
        <p:spPr bwMode="auto">
          <a:xfrm>
            <a:off x="1358420" y="163952"/>
            <a:ext cx="7594600" cy="576262"/>
          </a:xfrm>
        </p:spPr>
        <p:txBody>
          <a:bodyPr/>
          <a:lstStyle/>
          <a:p>
            <a:pPr>
              <a:defRPr/>
            </a:pPr>
            <a:r>
              <a:rPr lang="en-US" sz="3000"/>
              <a:t>Example of Shortest-remaining-time-first</a:t>
            </a:r>
            <a:endParaRPr/>
          </a:p>
        </p:txBody>
      </p:sp>
      <p:sp>
        <p:nvSpPr>
          <p:cNvPr id="717067494" name="Rectangle 36"/>
          <p:cNvSpPr>
            <a:spLocks noChangeArrowheads="1" noGrp="1"/>
          </p:cNvSpPr>
          <p:nvPr>
            <p:ph type="body" idx="1"/>
          </p:nvPr>
        </p:nvSpPr>
        <p:spPr bwMode="auto">
          <a:xfrm>
            <a:off x="802433" y="1233488"/>
            <a:ext cx="7707085" cy="4530725"/>
          </a:xfrm>
        </p:spPr>
        <p:txBody>
          <a:bodyPr/>
          <a:lstStyle/>
          <a:p>
            <a:pPr>
              <a:tabLst>
                <a:tab pos="1601312" algn="ctr"/>
                <a:tab pos="3252629" algn="ctr"/>
                <a:tab pos="5141754" algn="ctr"/>
              </a:tabLst>
              <a:defRPr/>
            </a:pPr>
            <a:r>
              <a:rPr lang="en-US">
                <a:cs typeface="ＭＳ Ｐゴシック"/>
              </a:rPr>
              <a:t>Now we add the concepts of varying arrival times and preemption to the analysis</a:t>
            </a:r>
            <a:endParaRPr/>
          </a:p>
          <a:p>
            <a:pPr>
              <a:buFont typeface="Monotype Sorts"/>
              <a:buNone/>
              <a:tabLst>
                <a:tab pos="1601312" algn="ctr"/>
                <a:tab pos="3252629" algn="ctr"/>
                <a:tab pos="5141754" algn="ctr"/>
              </a:tabLst>
              <a:defRPr/>
            </a:pPr>
            <a:r>
              <a:rPr lang="en-US">
                <a:cs typeface="ＭＳ Ｐゴシック"/>
              </a:rPr>
              <a:t>		         </a:t>
            </a:r>
            <a:r>
              <a:rPr lang="en-US" u="sng">
                <a:cs typeface="ＭＳ Ｐゴシック"/>
              </a:rPr>
              <a:t>Process</a:t>
            </a:r>
            <a:r>
              <a:rPr lang="en-US" u="sng">
                <a:solidFill>
                  <a:schemeClr val="bg1"/>
                </a:solidFill>
                <a:cs typeface="ＭＳ Ｐゴシック"/>
              </a:rPr>
              <a:t>A</a:t>
            </a:r>
            <a:r>
              <a:rPr lang="en-US" u="sng">
                <a:solidFill>
                  <a:schemeClr val="bg1"/>
                </a:solidFill>
                <a:cs typeface="ＭＳ Ｐゴシック"/>
              </a:rPr>
              <a:t>	</a:t>
            </a:r>
            <a:r>
              <a:rPr lang="en-US" u="sng">
                <a:solidFill>
                  <a:schemeClr val="bg1"/>
                </a:solidFill>
                <a:cs typeface="ＭＳ Ｐゴシック"/>
              </a:rPr>
              <a:t>arri</a:t>
            </a:r>
            <a:r>
              <a:rPr lang="en-US" u="sng">
                <a:solidFill>
                  <a:schemeClr val="bg1"/>
                </a:solidFill>
                <a:cs typeface="ＭＳ Ｐゴシック"/>
              </a:rPr>
              <a:t> </a:t>
            </a:r>
            <a:r>
              <a:rPr lang="en-US" i="1" u="sng">
                <a:cs typeface="ＭＳ Ｐゴシック"/>
              </a:rPr>
              <a:t>Arrival </a:t>
            </a:r>
            <a:r>
              <a:rPr lang="en-US" u="sng">
                <a:cs typeface="ＭＳ Ｐゴシック"/>
              </a:rPr>
              <a:t>Time</a:t>
            </a:r>
            <a:r>
              <a:rPr lang="en-US" u="sng">
                <a:solidFill>
                  <a:schemeClr val="bg1"/>
                </a:solidFill>
                <a:cs typeface="ＭＳ Ｐゴシック"/>
              </a:rPr>
              <a:t>T</a:t>
            </a:r>
            <a:r>
              <a:rPr lang="en-US">
                <a:cs typeface="ＭＳ Ｐゴシック"/>
              </a:rPr>
              <a:t>	</a:t>
            </a:r>
            <a:r>
              <a:rPr lang="en-US" u="sng">
                <a:cs typeface="ＭＳ Ｐゴシック"/>
              </a:rPr>
              <a:t>Burst Time</a:t>
            </a:r>
            <a:endParaRPr lang="en-US">
              <a:cs typeface="ＭＳ Ｐゴシック"/>
            </a:endParaRPr>
          </a:p>
          <a:p>
            <a:pPr>
              <a:buFont typeface="Monotype Sorts"/>
              <a:buNone/>
              <a:tabLst>
                <a:tab pos="1601312" algn="ctr"/>
                <a:tab pos="3252629" algn="ctr"/>
                <a:tab pos="5141754" algn="ctr"/>
              </a:tabLst>
              <a:defRPr/>
            </a:pPr>
            <a:r>
              <a:rPr lang="en-US">
                <a:cs typeface="ＭＳ Ｐゴシック"/>
              </a:rPr>
              <a:t>		 </a:t>
            </a:r>
            <a:r>
              <a:rPr lang="en-US" i="1">
                <a:cs typeface="ＭＳ Ｐゴシック"/>
              </a:rPr>
              <a:t>P</a:t>
            </a:r>
            <a:r>
              <a:rPr lang="en-US" i="1" baseline="-25000">
                <a:cs typeface="ＭＳ Ｐゴシック"/>
              </a:rPr>
              <a:t>1</a:t>
            </a:r>
            <a:r>
              <a:rPr lang="en-US">
                <a:cs typeface="ＭＳ Ｐゴシック"/>
              </a:rPr>
              <a:t>	</a:t>
            </a:r>
            <a:r>
              <a:rPr lang="en-US">
                <a:solidFill>
                  <a:srgbClr val="000000"/>
                </a:solidFill>
                <a:cs typeface="ＭＳ Ｐゴシック"/>
              </a:rPr>
              <a:t>0</a:t>
            </a:r>
            <a:r>
              <a:rPr lang="en-US">
                <a:cs typeface="ＭＳ Ｐゴシック"/>
              </a:rPr>
              <a:t>	8</a:t>
            </a:r>
            <a:endParaRPr/>
          </a:p>
          <a:p>
            <a:pPr>
              <a:buFont typeface="Monotype Sorts"/>
              <a:buNone/>
              <a:tabLst>
                <a:tab pos="1601312" algn="ctr"/>
                <a:tab pos="3252629" algn="ctr"/>
                <a:tab pos="5141754" algn="ctr"/>
              </a:tabLst>
              <a:defRPr/>
            </a:pPr>
            <a:r>
              <a:rPr lang="en-US">
                <a:cs typeface="ＭＳ Ｐゴシック"/>
              </a:rPr>
              <a:t>		 </a:t>
            </a:r>
            <a:r>
              <a:rPr lang="en-US" i="1">
                <a:cs typeface="ＭＳ Ｐゴシック"/>
              </a:rPr>
              <a:t>P</a:t>
            </a:r>
            <a:r>
              <a:rPr lang="en-US" i="1" baseline="-25000">
                <a:cs typeface="ＭＳ Ｐゴシック"/>
              </a:rPr>
              <a:t>2 	</a:t>
            </a:r>
            <a:r>
              <a:rPr lang="en-US">
                <a:solidFill>
                  <a:srgbClr val="000000"/>
                </a:solidFill>
                <a:cs typeface="ＭＳ Ｐゴシック"/>
              </a:rPr>
              <a:t>1</a:t>
            </a:r>
            <a:r>
              <a:rPr lang="en-US">
                <a:cs typeface="ＭＳ Ｐゴシック"/>
              </a:rPr>
              <a:t>	4</a:t>
            </a:r>
            <a:endParaRPr/>
          </a:p>
          <a:p>
            <a:pPr>
              <a:buFont typeface="Monotype Sorts"/>
              <a:buNone/>
              <a:tabLst>
                <a:tab pos="1601312" algn="ctr"/>
                <a:tab pos="3252629" algn="ctr"/>
                <a:tab pos="5141754" algn="ctr"/>
              </a:tabLst>
              <a:defRPr/>
            </a:pPr>
            <a:r>
              <a:rPr lang="en-US">
                <a:cs typeface="ＭＳ Ｐゴシック"/>
              </a:rPr>
              <a:t>		 </a:t>
            </a:r>
            <a:r>
              <a:rPr lang="en-US" i="1">
                <a:cs typeface="ＭＳ Ｐゴシック"/>
              </a:rPr>
              <a:t>P</a:t>
            </a:r>
            <a:r>
              <a:rPr lang="en-US" i="1" baseline="-25000">
                <a:cs typeface="ＭＳ Ｐゴシック"/>
              </a:rPr>
              <a:t>3</a:t>
            </a:r>
            <a:r>
              <a:rPr lang="en-US">
                <a:cs typeface="ＭＳ Ｐゴシック"/>
              </a:rPr>
              <a:t>	</a:t>
            </a:r>
            <a:r>
              <a:rPr lang="en-US">
                <a:solidFill>
                  <a:srgbClr val="000000"/>
                </a:solidFill>
                <a:cs typeface="ＭＳ Ｐゴシック"/>
              </a:rPr>
              <a:t>2</a:t>
            </a:r>
            <a:r>
              <a:rPr lang="en-US">
                <a:cs typeface="ＭＳ Ｐゴシック"/>
              </a:rPr>
              <a:t>	9</a:t>
            </a:r>
            <a:endParaRPr/>
          </a:p>
          <a:p>
            <a:pPr>
              <a:buFont typeface="Monotype Sorts"/>
              <a:buNone/>
              <a:tabLst>
                <a:tab pos="1601312" algn="ctr"/>
                <a:tab pos="3252629" algn="ctr"/>
                <a:tab pos="5141754" algn="ctr"/>
              </a:tabLst>
              <a:defRPr/>
            </a:pPr>
            <a:r>
              <a:rPr lang="en-US">
                <a:cs typeface="ＭＳ Ｐゴシック"/>
              </a:rPr>
              <a:t>		 </a:t>
            </a:r>
            <a:r>
              <a:rPr lang="en-US" i="1">
                <a:cs typeface="ＭＳ Ｐゴシック"/>
              </a:rPr>
              <a:t>P</a:t>
            </a:r>
            <a:r>
              <a:rPr lang="en-US" i="1" baseline="-25000">
                <a:cs typeface="ＭＳ Ｐゴシック"/>
              </a:rPr>
              <a:t>4</a:t>
            </a:r>
            <a:r>
              <a:rPr lang="en-US">
                <a:cs typeface="ＭＳ Ｐゴシック"/>
              </a:rPr>
              <a:t>	</a:t>
            </a:r>
            <a:r>
              <a:rPr lang="en-US">
                <a:solidFill>
                  <a:srgbClr val="000000"/>
                </a:solidFill>
                <a:cs typeface="ＭＳ Ｐゴシック"/>
              </a:rPr>
              <a:t>3</a:t>
            </a:r>
            <a:r>
              <a:rPr lang="en-US">
                <a:cs typeface="ＭＳ Ｐゴシック"/>
              </a:rPr>
              <a:t>	5</a:t>
            </a:r>
            <a:endParaRPr/>
          </a:p>
          <a:p>
            <a:pPr>
              <a:tabLst>
                <a:tab pos="1601312" algn="ctr"/>
                <a:tab pos="3252629" algn="ctr"/>
                <a:tab pos="5141754" algn="ctr"/>
              </a:tabLst>
              <a:defRPr/>
            </a:pPr>
            <a:r>
              <a:rPr lang="en-US" i="1">
                <a:cs typeface="ＭＳ Ｐゴシック"/>
              </a:rPr>
              <a:t>Preemptive </a:t>
            </a:r>
            <a:r>
              <a:rPr lang="en-US">
                <a:cs typeface="ＭＳ Ｐゴシック"/>
              </a:rPr>
              <a:t>SJF Gantt Chart</a:t>
            </a:r>
            <a:endParaRPr/>
          </a:p>
          <a:p>
            <a:pPr>
              <a:tabLst>
                <a:tab pos="1601312" algn="ctr"/>
                <a:tab pos="3252629" algn="ctr"/>
                <a:tab pos="5141754" algn="ctr"/>
              </a:tabLst>
              <a:defRPr/>
            </a:pPr>
            <a:endParaRPr lang="en-US">
              <a:cs typeface="ＭＳ Ｐゴシック"/>
            </a:endParaRPr>
          </a:p>
          <a:p>
            <a:pPr>
              <a:tabLst>
                <a:tab pos="1601312" algn="ctr"/>
                <a:tab pos="3252629" algn="ctr"/>
                <a:tab pos="5141754" algn="ctr"/>
              </a:tabLst>
              <a:defRPr/>
            </a:pPr>
            <a:endParaRPr lang="en-US">
              <a:cs typeface="ＭＳ Ｐゴシック"/>
            </a:endParaRPr>
          </a:p>
          <a:p>
            <a:pPr marL="0" indent="0">
              <a:buFont typeface="Monotype Sorts"/>
              <a:buNone/>
              <a:tabLst>
                <a:tab pos="1601312" algn="ctr"/>
                <a:tab pos="3252629" algn="ctr"/>
                <a:tab pos="5141754" algn="ctr"/>
              </a:tabLst>
              <a:defRPr/>
            </a:pPr>
            <a:endParaRPr lang="en-US">
              <a:cs typeface="ＭＳ Ｐゴシック"/>
            </a:endParaRPr>
          </a:p>
          <a:p>
            <a:pPr>
              <a:tabLst>
                <a:tab pos="1601312" algn="ctr"/>
                <a:tab pos="3252629" algn="ctr"/>
                <a:tab pos="5141754" algn="ctr"/>
              </a:tabLst>
              <a:defRPr/>
            </a:pPr>
            <a:r>
              <a:rPr lang="en-US">
                <a:cs typeface="ＭＳ Ｐゴシック"/>
              </a:rPr>
              <a:t>Average waiting time = [(10-1)+(1-1)+(17-2)+(5-3)]/4 = 26/4 = 6.5</a:t>
            </a:r>
            <a:endParaRPr/>
          </a:p>
          <a:p>
            <a:pPr>
              <a:tabLst>
                <a:tab pos="1601312" algn="ctr"/>
                <a:tab pos="3252629" algn="ctr"/>
                <a:tab pos="5141754" algn="ctr"/>
              </a:tabLst>
              <a:defRPr/>
            </a:pPr>
            <a:endParaRPr lang="en-US" i="1" baseline="-25000">
              <a:cs typeface="ＭＳ Ｐゴシック"/>
            </a:endParaRPr>
          </a:p>
          <a:p>
            <a:pPr>
              <a:buFont typeface="Monotype Sorts"/>
              <a:buNone/>
              <a:tabLst>
                <a:tab pos="1601312" algn="ctr"/>
                <a:tab pos="3252629" algn="ctr"/>
                <a:tab pos="5141754" algn="ctr"/>
              </a:tabLst>
              <a:defRPr/>
            </a:pPr>
            <a:endParaRPr lang="en-US" i="1" baseline="-25000">
              <a:cs typeface="ＭＳ Ｐゴシック"/>
            </a:endParaRPr>
          </a:p>
        </p:txBody>
      </p:sp>
      <p:pic>
        <p:nvPicPr>
          <p:cNvPr id="995949892" name="Picture 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446213" y="4284663"/>
            <a:ext cx="6535737" cy="8001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1161375" name="Rectangle 2"/>
          <p:cNvSpPr>
            <a:spLocks noChangeArrowheads="1" noGrp="1"/>
          </p:cNvSpPr>
          <p:nvPr>
            <p:ph type="title"/>
          </p:nvPr>
        </p:nvSpPr>
        <p:spPr bwMode="auto">
          <a:xfrm>
            <a:off x="457200" y="153418"/>
            <a:ext cx="8229600" cy="576262"/>
          </a:xfrm>
        </p:spPr>
        <p:txBody>
          <a:bodyPr/>
          <a:lstStyle/>
          <a:p>
            <a:pPr>
              <a:defRPr/>
            </a:pPr>
            <a:r>
              <a:rPr lang="en-US"/>
              <a:t>Round Robin (RR)</a:t>
            </a:r>
            <a:endParaRPr/>
          </a:p>
        </p:txBody>
      </p:sp>
      <p:sp>
        <p:nvSpPr>
          <p:cNvPr id="1163085133" name="Rectangle 3"/>
          <p:cNvSpPr>
            <a:spLocks noChangeArrowheads="1" noGrp="1"/>
          </p:cNvSpPr>
          <p:nvPr>
            <p:ph type="body" idx="1"/>
          </p:nvPr>
        </p:nvSpPr>
        <p:spPr bwMode="auto">
          <a:xfrm>
            <a:off x="811763" y="1058277"/>
            <a:ext cx="7244217" cy="4381822"/>
          </a:xfrm>
        </p:spPr>
        <p:txBody>
          <a:bodyPr/>
          <a:lstStyle/>
          <a:p>
            <a:pPr>
              <a:defRPr/>
            </a:pPr>
            <a:r>
              <a:rPr lang="en-US"/>
              <a:t>Each process gets a small unit of CPU time (</a:t>
            </a:r>
            <a:r>
              <a:rPr lang="en-US" b="1">
                <a:solidFill>
                  <a:srgbClr val="006699"/>
                </a:solidFill>
                <a:latin typeface="+mj-lt"/>
              </a:rPr>
              <a:t>time quantum </a:t>
            </a:r>
            <a:r>
              <a:rPr lang="en-US" i="1"/>
              <a:t>q</a:t>
            </a:r>
            <a:r>
              <a:rPr lang="en-US"/>
              <a:t>), usually 10-100 milliseconds.  After this time has elapsed, the process is preempted and added to the end of the ready queue.</a:t>
            </a:r>
            <a:endParaRPr/>
          </a:p>
          <a:p>
            <a:pPr>
              <a:defRPr/>
            </a:pPr>
            <a:r>
              <a:rPr lang="en-US"/>
              <a:t>If there are </a:t>
            </a:r>
            <a:r>
              <a:rPr lang="en-US" i="1"/>
              <a:t>n</a:t>
            </a:r>
            <a:r>
              <a:rPr lang="en-US"/>
              <a:t> processes in the ready queue and the time quantum is </a:t>
            </a:r>
            <a:r>
              <a:rPr lang="en-US" i="1"/>
              <a:t>q</a:t>
            </a:r>
            <a:r>
              <a:rPr lang="en-US"/>
              <a:t>, then each process gets 1/</a:t>
            </a:r>
            <a:r>
              <a:rPr lang="en-US" i="1"/>
              <a:t>n</a:t>
            </a:r>
            <a:r>
              <a:rPr lang="en-US"/>
              <a:t> of the CPU time in chunks of at most </a:t>
            </a:r>
            <a:r>
              <a:rPr lang="en-US" i="1"/>
              <a:t>q</a:t>
            </a:r>
            <a:r>
              <a:rPr lang="en-US"/>
              <a:t> time units at once.  No process waits more than (</a:t>
            </a:r>
            <a:r>
              <a:rPr lang="en-US" i="1"/>
              <a:t>n</a:t>
            </a:r>
            <a:r>
              <a:rPr lang="en-US"/>
              <a:t>-1)</a:t>
            </a:r>
            <a:r>
              <a:rPr lang="en-US" i="1"/>
              <a:t>q </a:t>
            </a:r>
            <a:r>
              <a:rPr lang="en-US"/>
              <a:t>time units.</a:t>
            </a:r>
            <a:endParaRPr/>
          </a:p>
          <a:p>
            <a:pPr>
              <a:defRPr/>
            </a:pPr>
            <a:r>
              <a:rPr lang="en-US"/>
              <a:t>Timer interrupts every quantum to schedule next process</a:t>
            </a:r>
            <a:endParaRPr/>
          </a:p>
          <a:p>
            <a:pPr>
              <a:defRPr/>
            </a:pPr>
            <a:r>
              <a:rPr lang="en-US"/>
              <a:t>Performance</a:t>
            </a:r>
            <a:endParaRPr/>
          </a:p>
          <a:p>
            <a:pPr lvl="1">
              <a:defRPr/>
            </a:pPr>
            <a:r>
              <a:rPr lang="en-US" i="1"/>
              <a:t>q</a:t>
            </a:r>
            <a:r>
              <a:rPr lang="en-US"/>
              <a:t> large </a:t>
            </a:r>
            <a:r>
              <a:rPr lang="en-US"/>
              <a:t> FIFO</a:t>
            </a:r>
            <a:endParaRPr/>
          </a:p>
          <a:p>
            <a:pPr lvl="1">
              <a:defRPr/>
            </a:pPr>
            <a:r>
              <a:rPr lang="en-US" i="1"/>
              <a:t>q </a:t>
            </a:r>
            <a:r>
              <a:rPr lang="en-US"/>
              <a:t>small  </a:t>
            </a:r>
            <a:r>
              <a:rPr lang="en-US" i="1"/>
              <a:t>q </a:t>
            </a:r>
            <a:r>
              <a:rPr lang="en-US"/>
              <a:t>must be large with respect to context switch, otherwise overhead is too high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2619311" name="Rectangle 2"/>
          <p:cNvSpPr>
            <a:spLocks noChangeArrowheads="1" noGrp="1"/>
          </p:cNvSpPr>
          <p:nvPr>
            <p:ph type="title"/>
          </p:nvPr>
        </p:nvSpPr>
        <p:spPr bwMode="auto">
          <a:xfrm>
            <a:off x="979833" y="86668"/>
            <a:ext cx="8418610" cy="647700"/>
          </a:xfrm>
        </p:spPr>
        <p:txBody>
          <a:bodyPr/>
          <a:lstStyle/>
          <a:p>
            <a:pPr>
              <a:defRPr/>
            </a:pPr>
            <a:r>
              <a:rPr lang="en-US"/>
              <a:t>Example of RR with Time Quantum = 4</a:t>
            </a:r>
            <a:endParaRPr/>
          </a:p>
        </p:txBody>
      </p:sp>
      <p:sp>
        <p:nvSpPr>
          <p:cNvPr id="1307856999" name="Rectangle 3"/>
          <p:cNvSpPr>
            <a:spLocks noChangeArrowheads="1" noGrp="1"/>
          </p:cNvSpPr>
          <p:nvPr>
            <p:ph type="body" idx="1"/>
          </p:nvPr>
        </p:nvSpPr>
        <p:spPr bwMode="auto">
          <a:xfrm>
            <a:off x="954087" y="1193799"/>
            <a:ext cx="7460707" cy="4639841"/>
          </a:xfrm>
        </p:spPr>
        <p:txBody>
          <a:bodyPr/>
          <a:lstStyle/>
          <a:p>
            <a:pPr>
              <a:lnSpc>
                <a:spcPct val="90000"/>
              </a:lnSpc>
              <a:buFont typeface="Monotype Sorts"/>
              <a:buNone/>
              <a:tabLst>
                <a:tab pos="2219325" algn="ctr"/>
                <a:tab pos="3994150" algn="ctr"/>
              </a:tabLst>
              <a:defRPr/>
            </a:pPr>
            <a:r>
              <a:rPr lang="en-US"/>
              <a:t>		</a:t>
            </a:r>
            <a:r>
              <a:rPr lang="en-US" u="sng"/>
              <a:t>Process</a:t>
            </a:r>
            <a:r>
              <a:rPr lang="en-US"/>
              <a:t>	</a:t>
            </a:r>
            <a:r>
              <a:rPr lang="en-US" u="sng"/>
              <a:t>Burst Time</a:t>
            </a:r>
            <a:endParaRPr/>
          </a:p>
          <a:p>
            <a:pPr>
              <a:lnSpc>
                <a:spcPct val="90000"/>
              </a:lnSpc>
              <a:buFont typeface="Monotype Sorts"/>
              <a:buNone/>
              <a:tabLst>
                <a:tab pos="2219325" algn="ctr"/>
                <a:tab pos="3994150" algn="ctr"/>
              </a:tabLst>
              <a:defRPr/>
            </a:pPr>
            <a:r>
              <a:rPr lang="en-US" i="1"/>
              <a:t>		P</a:t>
            </a:r>
            <a:r>
              <a:rPr lang="en-US" i="1" baseline="-25000"/>
              <a:t>1	</a:t>
            </a:r>
            <a:r>
              <a:rPr lang="en-US"/>
              <a:t>24</a:t>
            </a:r>
            <a:endParaRPr/>
          </a:p>
          <a:p>
            <a:pPr>
              <a:lnSpc>
                <a:spcPct val="90000"/>
              </a:lnSpc>
              <a:buFont typeface="Monotype Sorts"/>
              <a:buNone/>
              <a:tabLst>
                <a:tab pos="2219325" algn="ctr"/>
                <a:tab pos="3994150" algn="ctr"/>
              </a:tabLst>
              <a:defRPr/>
            </a:pPr>
            <a:r>
              <a:rPr lang="en-US"/>
              <a:t>		 </a:t>
            </a:r>
            <a:r>
              <a:rPr lang="en-US" i="1"/>
              <a:t>P</a:t>
            </a:r>
            <a:r>
              <a:rPr lang="en-US" i="1" baseline="-25000"/>
              <a:t>2	 </a:t>
            </a:r>
            <a:r>
              <a:rPr lang="en-US"/>
              <a:t>3</a:t>
            </a:r>
            <a:endParaRPr/>
          </a:p>
          <a:p>
            <a:pPr>
              <a:lnSpc>
                <a:spcPct val="90000"/>
              </a:lnSpc>
              <a:buFont typeface="Monotype Sorts"/>
              <a:buNone/>
              <a:tabLst>
                <a:tab pos="2219325" algn="ctr"/>
                <a:tab pos="3994150" algn="ctr"/>
              </a:tabLst>
              <a:defRPr/>
            </a:pPr>
            <a:r>
              <a:rPr lang="en-US"/>
              <a:t>		 </a:t>
            </a:r>
            <a:r>
              <a:rPr lang="en-US" i="1"/>
              <a:t>P</a:t>
            </a:r>
            <a:r>
              <a:rPr lang="en-US" i="1" baseline="-25000"/>
              <a:t>3	</a:t>
            </a:r>
            <a:r>
              <a:rPr lang="en-US"/>
              <a:t>3	</a:t>
            </a:r>
            <a:endParaRPr/>
          </a:p>
          <a:p>
            <a:pPr>
              <a:lnSpc>
                <a:spcPct val="90000"/>
              </a:lnSpc>
              <a:tabLst>
                <a:tab pos="2219325" algn="ctr"/>
                <a:tab pos="3994150" algn="ctr"/>
              </a:tabLst>
              <a:defRPr/>
            </a:pPr>
            <a:r>
              <a:rPr lang="en-US"/>
              <a:t>The Gantt chart is: </a:t>
            </a:r>
            <a:br>
              <a:rPr lang="en-US"/>
            </a:br>
            <a:br>
              <a:rPr lang="en-US"/>
            </a:br>
            <a:br>
              <a:rPr lang="en-US"/>
            </a:br>
            <a:br>
              <a:rPr lang="en-US"/>
            </a:br>
            <a:endParaRPr lang="en-US"/>
          </a:p>
          <a:p>
            <a:pPr>
              <a:lnSpc>
                <a:spcPct val="90000"/>
              </a:lnSpc>
              <a:tabLst>
                <a:tab pos="2219325" algn="ctr"/>
                <a:tab pos="3994150" algn="ctr"/>
              </a:tabLst>
              <a:defRPr/>
            </a:pPr>
            <a:r>
              <a:rPr lang="en-US"/>
              <a:t>Typically, higher average turnaround than SJF, but better </a:t>
            </a:r>
            <a:r>
              <a:rPr lang="en-US" b="1" i="1"/>
              <a:t>response</a:t>
            </a:r>
            <a:endParaRPr/>
          </a:p>
          <a:p>
            <a:pPr>
              <a:lnSpc>
                <a:spcPct val="90000"/>
              </a:lnSpc>
              <a:tabLst>
                <a:tab pos="2219325" algn="ctr"/>
                <a:tab pos="3994150" algn="ctr"/>
              </a:tabLst>
              <a:defRPr/>
            </a:pPr>
            <a:r>
              <a:rPr lang="en-US"/>
              <a:t>q should be large compared to context switch time</a:t>
            </a:r>
            <a:endParaRPr/>
          </a:p>
          <a:p>
            <a:pPr lvl="1">
              <a:lnSpc>
                <a:spcPct val="90000"/>
              </a:lnSpc>
              <a:tabLst>
                <a:tab pos="2219325" algn="ctr"/>
                <a:tab pos="3994150" algn="ctr"/>
              </a:tabLst>
              <a:defRPr/>
            </a:pPr>
            <a:r>
              <a:rPr lang="en-US"/>
              <a:t>q usually 10 milliseconds  to 100 milliseconds, </a:t>
            </a:r>
            <a:endParaRPr/>
          </a:p>
          <a:p>
            <a:pPr lvl="1">
              <a:lnSpc>
                <a:spcPct val="90000"/>
              </a:lnSpc>
              <a:tabLst>
                <a:tab pos="2219325" algn="ctr"/>
                <a:tab pos="3994150" algn="ctr"/>
              </a:tabLst>
              <a:defRPr/>
            </a:pPr>
            <a:r>
              <a:rPr lang="en-US"/>
              <a:t>Context switch &lt; 10 microseconds</a:t>
            </a:r>
            <a:endParaRPr/>
          </a:p>
        </p:txBody>
      </p:sp>
      <p:pic>
        <p:nvPicPr>
          <p:cNvPr id="950013114" name="Picture 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191266" y="4237491"/>
            <a:ext cx="6770687" cy="78898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5287420" name="Rectangle 2"/>
          <p:cNvSpPr>
            <a:spLocks noChangeArrowheads="1" noGrp="1"/>
          </p:cNvSpPr>
          <p:nvPr>
            <p:ph type="title"/>
          </p:nvPr>
        </p:nvSpPr>
        <p:spPr bwMode="auto">
          <a:xfrm>
            <a:off x="1285078" y="183273"/>
            <a:ext cx="7829550" cy="525462"/>
          </a:xfrm>
        </p:spPr>
        <p:txBody>
          <a:bodyPr/>
          <a:lstStyle/>
          <a:p>
            <a:pPr>
              <a:defRPr/>
            </a:pPr>
            <a:r>
              <a:rPr lang="en-US" sz="3000"/>
              <a:t>Time Quantum and Context Switch Time</a:t>
            </a:r>
            <a:endParaRPr/>
          </a:p>
        </p:txBody>
      </p:sp>
      <p:pic>
        <p:nvPicPr>
          <p:cNvPr id="1963002983" name="Picture 1"/>
          <p:cNvPicPr>
            <a:picLocks noChangeAspect="1"/>
          </p:cNvPicPr>
          <p:nvPr/>
        </p:nvPicPr>
        <p:blipFill rotWithShape="1">
          <a:blip r:embed="rId3"/>
          <a:stretch/>
        </p:blipFill>
        <p:spPr bwMode="auto">
          <a:xfrm>
            <a:off x="1568450" y="1890713"/>
            <a:ext cx="6630988" cy="277018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5632177" name="Rectangle 2"/>
          <p:cNvSpPr>
            <a:spLocks noChangeArrowheads="1" noGrp="1"/>
          </p:cNvSpPr>
          <p:nvPr>
            <p:ph type="title"/>
          </p:nvPr>
        </p:nvSpPr>
        <p:spPr bwMode="auto">
          <a:xfrm>
            <a:off x="782711" y="260322"/>
            <a:ext cx="8722438" cy="457200"/>
          </a:xfrm>
        </p:spPr>
        <p:txBody>
          <a:bodyPr/>
          <a:lstStyle/>
          <a:p>
            <a:pPr>
              <a:defRPr/>
            </a:pPr>
            <a:r>
              <a:rPr lang="en-US" sz="2600"/>
              <a:t>Turnaround Time Varies With The Time Quantum</a:t>
            </a:r>
            <a:endParaRPr/>
          </a:p>
        </p:txBody>
      </p:sp>
      <p:sp>
        <p:nvSpPr>
          <p:cNvPr id="895296526" name="TextBox 3"/>
          <p:cNvSpPr txBox="1">
            <a:spLocks noChangeArrowheads="1"/>
          </p:cNvSpPr>
          <p:nvPr/>
        </p:nvSpPr>
        <p:spPr bwMode="auto">
          <a:xfrm>
            <a:off x="6167438" y="3354388"/>
            <a:ext cx="2312987" cy="492125"/>
          </a:xfrm>
          <a:prstGeom prst="rect">
            <a:avLst/>
          </a:prstGeom>
          <a:noFill/>
          <a:ln>
            <a:noFill/>
          </a:ln>
        </p:spPr>
        <p:txBody>
          <a:bodyPr lIns="91417" tIns="45709" rIns="91417" bIns="45709">
            <a:spAutoFit/>
          </a:bodyPr>
          <a:lstStyle>
            <a:lvl1pPr>
              <a:spcBef>
                <a:spcPts val="0"/>
              </a:spcBef>
              <a:buClr>
                <a:srgbClr val="993300"/>
              </a:buClr>
              <a:buSzPct val="90000"/>
              <a:buFont typeface="Monotype Sorts"/>
              <a:buChar char="n"/>
              <a:defRPr>
                <a:solidFill>
                  <a:schemeClr val="tx1"/>
                </a:solidFill>
                <a:latin typeface="Helvetica"/>
                <a:ea typeface="MS PGothic"/>
                <a:cs typeface="MS PGothic"/>
              </a:defRPr>
            </a:lvl1pPr>
            <a:lvl2pPr marL="742950" indent="-285750">
              <a:spcBef>
                <a:spcPts val="0"/>
              </a:spcBef>
              <a:buClr>
                <a:srgbClr val="CC6600"/>
              </a:buClr>
              <a:buSzPct val="80000"/>
              <a:buFont typeface="Monotype Sorts"/>
              <a:buChar char="l"/>
              <a:defRPr>
                <a:solidFill>
                  <a:schemeClr val="tx1"/>
                </a:solidFill>
                <a:latin typeface="Helvetica"/>
                <a:ea typeface="MS PGothic"/>
              </a:defRPr>
            </a:lvl2pPr>
            <a:lvl3pPr marL="1143000" indent="-228600">
              <a:spcBef>
                <a:spcPts val="0"/>
              </a:spcBef>
              <a:buClr>
                <a:srgbClr val="009900"/>
              </a:buClr>
              <a:buSzPct val="75000"/>
              <a:buFont typeface="Webdings"/>
              <a:buChar char="4"/>
              <a:defRPr>
                <a:solidFill>
                  <a:schemeClr val="tx1"/>
                </a:solidFill>
                <a:latin typeface="Helvetica"/>
                <a:ea typeface="MS PGothic"/>
              </a:defRPr>
            </a:lvl3pPr>
            <a:lvl4pPr marL="1600200" indent="-228600">
              <a:spcBef>
                <a:spcPts val="0"/>
              </a:spcBef>
              <a:buClr>
                <a:schemeClr val="hlink"/>
              </a:buClr>
              <a:buSzPct val="75000"/>
              <a:buChar char="–"/>
              <a:defRPr>
                <a:solidFill>
                  <a:schemeClr val="tx1"/>
                </a:solidFill>
                <a:latin typeface="Helvetica"/>
                <a:ea typeface="MS PGothic"/>
              </a:defRPr>
            </a:lvl4pPr>
            <a:lvl5pPr marL="2057400" indent="-228600">
              <a:spcBef>
                <a:spcPts val="0"/>
              </a:spcBef>
              <a:buClr>
                <a:srgbClr val="FF0066"/>
              </a:buClr>
              <a:buSzPct val="75000"/>
              <a:buChar char="»"/>
              <a:defRPr>
                <a:solidFill>
                  <a:schemeClr val="tx1"/>
                </a:solidFill>
                <a:latin typeface="Helvetica"/>
                <a:ea typeface="MS PGothic"/>
              </a:defRPr>
            </a:lvl5pPr>
            <a:lvl6pPr marL="2514600" indent="-228600">
              <a:spcBef>
                <a:spcPts val="0"/>
              </a:spcBef>
              <a:spcAft>
                <a:spcPts val="0"/>
              </a:spcAft>
              <a:buClr>
                <a:srgbClr val="FF0066"/>
              </a:buClr>
              <a:buSzPct val="75000"/>
              <a:buChar char="»"/>
              <a:defRPr>
                <a:solidFill>
                  <a:schemeClr val="tx1"/>
                </a:solidFill>
                <a:latin typeface="Helvetica"/>
                <a:ea typeface="MS PGothic"/>
              </a:defRPr>
            </a:lvl6pPr>
            <a:lvl7pPr marL="2971800" indent="-228600">
              <a:spcBef>
                <a:spcPts val="0"/>
              </a:spcBef>
              <a:spcAft>
                <a:spcPts val="0"/>
              </a:spcAft>
              <a:buClr>
                <a:srgbClr val="FF0066"/>
              </a:buClr>
              <a:buSzPct val="75000"/>
              <a:buChar char="»"/>
              <a:defRPr>
                <a:solidFill>
                  <a:schemeClr val="tx1"/>
                </a:solidFill>
                <a:latin typeface="Helvetica"/>
                <a:ea typeface="MS PGothic"/>
              </a:defRPr>
            </a:lvl7pPr>
            <a:lvl8pPr marL="3429000" indent="-228600">
              <a:spcBef>
                <a:spcPts val="0"/>
              </a:spcBef>
              <a:spcAft>
                <a:spcPts val="0"/>
              </a:spcAft>
              <a:buClr>
                <a:srgbClr val="FF0066"/>
              </a:buClr>
              <a:buSzPct val="75000"/>
              <a:buChar char="»"/>
              <a:defRPr>
                <a:solidFill>
                  <a:schemeClr val="tx1"/>
                </a:solidFill>
                <a:latin typeface="Helvetica"/>
                <a:ea typeface="MS PGothic"/>
              </a:defRPr>
            </a:lvl8pPr>
            <a:lvl9pPr marL="3886200" indent="-228600">
              <a:spcBef>
                <a:spcPts val="0"/>
              </a:spcBef>
              <a:spcAft>
                <a:spcPts val="0"/>
              </a:spcAft>
              <a:buClr>
                <a:srgbClr val="FF0066"/>
              </a:buClr>
              <a:buSzPct val="75000"/>
              <a:buChar char="»"/>
              <a:defRPr>
                <a:solidFill>
                  <a:schemeClr val="tx1"/>
                </a:solidFill>
                <a:latin typeface="Helvetica"/>
                <a:ea typeface="MS PGothic"/>
              </a:defRPr>
            </a:lvl9pPr>
          </a:lstStyle>
          <a:p>
            <a:pPr>
              <a:spcBef>
                <a:spcPts val="0"/>
              </a:spcBef>
              <a:buClrTx/>
              <a:buSzTx/>
              <a:buFontTx/>
              <a:buNone/>
              <a:defRPr/>
            </a:pPr>
            <a:r>
              <a:rPr lang="en-US" sz="1300">
                <a:latin typeface="Verdana"/>
              </a:rPr>
              <a:t>80% of CPU bursts should be shorter than q</a:t>
            </a:r>
            <a:endParaRPr/>
          </a:p>
        </p:txBody>
      </p:sp>
      <p:pic>
        <p:nvPicPr>
          <p:cNvPr id="448133553" name="Picture 1"/>
          <p:cNvPicPr>
            <a:picLocks noChangeAspect="1"/>
          </p:cNvPicPr>
          <p:nvPr/>
        </p:nvPicPr>
        <p:blipFill rotWithShape="1">
          <a:blip r:embed="rId3"/>
          <a:stretch/>
        </p:blipFill>
        <p:spPr bwMode="auto">
          <a:xfrm>
            <a:off x="1144588" y="1557337"/>
            <a:ext cx="4684712" cy="389413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8989931" name="Rectangle 2"/>
          <p:cNvSpPr>
            <a:spLocks noChangeArrowheads="1" noGrp="1"/>
          </p:cNvSpPr>
          <p:nvPr>
            <p:ph type="title"/>
          </p:nvPr>
        </p:nvSpPr>
        <p:spPr bwMode="auto">
          <a:xfrm>
            <a:off x="963613" y="229606"/>
            <a:ext cx="7723187" cy="576262"/>
          </a:xfrm>
        </p:spPr>
        <p:txBody>
          <a:bodyPr/>
          <a:lstStyle/>
          <a:p>
            <a:pPr>
              <a:defRPr/>
            </a:pPr>
            <a:r>
              <a:rPr lang="en-US"/>
              <a:t>Priority Scheduling</a:t>
            </a:r>
            <a:endParaRPr/>
          </a:p>
        </p:txBody>
      </p:sp>
      <p:sp>
        <p:nvSpPr>
          <p:cNvPr id="709457380" name="Rectangle 3"/>
          <p:cNvSpPr>
            <a:spLocks noChangeArrowheads="1" noGrp="1"/>
          </p:cNvSpPr>
          <p:nvPr>
            <p:ph type="body" idx="1"/>
          </p:nvPr>
        </p:nvSpPr>
        <p:spPr bwMode="auto">
          <a:xfrm>
            <a:off x="821093" y="1233488"/>
            <a:ext cx="7723186" cy="4530725"/>
          </a:xfrm>
        </p:spPr>
        <p:txBody>
          <a:bodyPr/>
          <a:lstStyle/>
          <a:p>
            <a:pPr>
              <a:defRPr/>
            </a:pPr>
            <a:r>
              <a:rPr lang="en-US"/>
              <a:t>A priority number (integer) is associated with each process</a:t>
            </a:r>
            <a:endParaRPr/>
          </a:p>
          <a:p>
            <a:pPr>
              <a:defRPr/>
            </a:pPr>
            <a:endParaRPr lang="en-US" sz="800"/>
          </a:p>
          <a:p>
            <a:pPr>
              <a:defRPr/>
            </a:pPr>
            <a:r>
              <a:rPr lang="en-US"/>
              <a:t>The CPU is allocated to the process with the highest priority (smallest integer </a:t>
            </a:r>
            <a:r>
              <a:rPr lang="en-US"/>
              <a:t> highest priority)</a:t>
            </a:r>
            <a:endParaRPr/>
          </a:p>
          <a:p>
            <a:pPr lvl="1">
              <a:defRPr/>
            </a:pPr>
            <a:r>
              <a:rPr lang="en-US"/>
              <a:t>Preemptive</a:t>
            </a:r>
            <a:endParaRPr/>
          </a:p>
          <a:p>
            <a:pPr lvl="1">
              <a:defRPr/>
            </a:pPr>
            <a:r>
              <a:rPr lang="en-US"/>
              <a:t>Nonpreemptive</a:t>
            </a:r>
            <a:endParaRPr/>
          </a:p>
          <a:p>
            <a:pPr lvl="1">
              <a:defRPr/>
            </a:pPr>
            <a:endParaRPr lang="en-US" sz="800"/>
          </a:p>
          <a:p>
            <a:pPr>
              <a:defRPr/>
            </a:pPr>
            <a:r>
              <a:rPr lang="en-US"/>
              <a:t>SJF is priority scheduling where priority is the inverse of predicted next CPU burst time</a:t>
            </a:r>
            <a:endParaRPr/>
          </a:p>
          <a:p>
            <a:pPr>
              <a:defRPr/>
            </a:pPr>
            <a:endParaRPr lang="en-US" sz="800"/>
          </a:p>
          <a:p>
            <a:pPr>
              <a:defRPr/>
            </a:pPr>
            <a:r>
              <a:rPr lang="en-US"/>
              <a:t>Problem </a:t>
            </a:r>
            <a:r>
              <a:rPr lang="en-US"/>
              <a:t> </a:t>
            </a:r>
            <a:r>
              <a:rPr lang="en-US" b="1">
                <a:solidFill>
                  <a:srgbClr val="006699"/>
                </a:solidFill>
                <a:latin typeface="+mj-lt"/>
              </a:rPr>
              <a:t>Starvation</a:t>
            </a:r>
            <a:r>
              <a:rPr lang="en-US" b="1"/>
              <a:t> </a:t>
            </a:r>
            <a:r>
              <a:rPr lang="en-US"/>
              <a:t>– low priority processes may never execute</a:t>
            </a:r>
            <a:endParaRPr/>
          </a:p>
          <a:p>
            <a:pPr>
              <a:defRPr/>
            </a:pPr>
            <a:endParaRPr lang="en-US" sz="800"/>
          </a:p>
          <a:p>
            <a:pPr>
              <a:defRPr/>
            </a:pPr>
            <a:r>
              <a:rPr lang="en-US"/>
              <a:t>Solution  </a:t>
            </a:r>
            <a:r>
              <a:rPr lang="en-US" b="1">
                <a:solidFill>
                  <a:srgbClr val="006699"/>
                </a:solidFill>
                <a:latin typeface="+mj-lt"/>
              </a:rPr>
              <a:t>Aging</a:t>
            </a:r>
            <a:r>
              <a:rPr lang="en-US" b="1"/>
              <a:t> </a:t>
            </a:r>
            <a:r>
              <a:rPr lang="en-US"/>
              <a:t>– as time progresses increase the priority of the process</a:t>
            </a:r>
            <a:endParaRPr/>
          </a:p>
          <a:p>
            <a:pPr>
              <a:buFont typeface="Monotype Sorts"/>
              <a:buNone/>
              <a:defRPr/>
            </a:pPr>
            <a:endParaRPr lang="en-US" b="1">
              <a:solidFill>
                <a:srgbClr val="3366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6967162" name="Rectangle 2"/>
          <p:cNvSpPr>
            <a:spLocks noChangeArrowheads="1" noGrp="1"/>
          </p:cNvSpPr>
          <p:nvPr>
            <p:ph type="title"/>
          </p:nvPr>
        </p:nvSpPr>
        <p:spPr bwMode="auto">
          <a:xfrm>
            <a:off x="1406525" y="229606"/>
            <a:ext cx="7280275" cy="576262"/>
          </a:xfrm>
        </p:spPr>
        <p:txBody>
          <a:bodyPr/>
          <a:lstStyle/>
          <a:p>
            <a:pPr>
              <a:defRPr/>
            </a:pPr>
            <a:r>
              <a:rPr lang="en-US"/>
              <a:t>Example of Priority Scheduling</a:t>
            </a:r>
            <a:endParaRPr/>
          </a:p>
        </p:txBody>
      </p:sp>
      <p:sp>
        <p:nvSpPr>
          <p:cNvPr id="1463520323" name="Rectangle 36"/>
          <p:cNvSpPr>
            <a:spLocks noChangeArrowheads="1" noGrp="1"/>
          </p:cNvSpPr>
          <p:nvPr>
            <p:ph type="body" idx="1"/>
          </p:nvPr>
        </p:nvSpPr>
        <p:spPr bwMode="auto">
          <a:xfrm>
            <a:off x="806450" y="1233488"/>
            <a:ext cx="8337549" cy="4887912"/>
          </a:xfrm>
          <a:prstGeom prst="rect">
            <a:avLst/>
          </a:prstGeom>
          <a:noFill/>
        </p:spPr>
        <p:txBody>
          <a:bodyPr/>
          <a:lstStyle/>
          <a:p>
            <a:pPr>
              <a:buFont typeface="Monotype Sorts"/>
              <a:buNone/>
              <a:tabLst>
                <a:tab pos="1600200" algn="ctr"/>
                <a:tab pos="3251200" algn="ctr"/>
                <a:tab pos="5140325" algn="ctr"/>
              </a:tabLst>
              <a:defRPr/>
            </a:pPr>
            <a:r>
              <a:rPr lang="en-US"/>
              <a:t>		         </a:t>
            </a:r>
            <a:r>
              <a:rPr lang="en-US" u="sng"/>
              <a:t>Process</a:t>
            </a:r>
            <a:r>
              <a:rPr lang="en-US" u="sng">
                <a:solidFill>
                  <a:schemeClr val="bg1"/>
                </a:solidFill>
              </a:rPr>
              <a:t>A</a:t>
            </a:r>
            <a:r>
              <a:rPr lang="en-US" u="sng">
                <a:solidFill>
                  <a:schemeClr val="bg1"/>
                </a:solidFill>
              </a:rPr>
              <a:t>	</a:t>
            </a:r>
            <a:r>
              <a:rPr lang="en-US" u="sng">
                <a:solidFill>
                  <a:schemeClr val="bg1"/>
                </a:solidFill>
              </a:rPr>
              <a:t>arri</a:t>
            </a:r>
            <a:r>
              <a:rPr lang="en-US" u="sng">
                <a:solidFill>
                  <a:schemeClr val="bg1"/>
                </a:solidFill>
              </a:rPr>
              <a:t> </a:t>
            </a:r>
            <a:r>
              <a:rPr lang="en-US" u="sng"/>
              <a:t>Burst </a:t>
            </a:r>
            <a:r>
              <a:rPr lang="en-US" u="sng"/>
              <a:t>Time</a:t>
            </a:r>
            <a:r>
              <a:rPr lang="en-US" u="sng">
                <a:solidFill>
                  <a:schemeClr val="bg1"/>
                </a:solidFill>
              </a:rPr>
              <a:t>T</a:t>
            </a:r>
            <a:r>
              <a:rPr lang="en-US"/>
              <a:t>	</a:t>
            </a:r>
            <a:r>
              <a:rPr lang="en-US" u="sng"/>
              <a:t>Priority</a:t>
            </a:r>
            <a:endParaRPr lang="en-US"/>
          </a:p>
          <a:p>
            <a:pPr>
              <a:buFont typeface="Monotype Sorts"/>
              <a:buNone/>
              <a:tabLst>
                <a:tab pos="1600200" algn="ctr"/>
                <a:tab pos="3251200" algn="ctr"/>
                <a:tab pos="5140325" algn="ctr"/>
              </a:tabLst>
              <a:defRPr/>
            </a:pPr>
            <a:r>
              <a:rPr lang="en-US"/>
              <a:t>		 </a:t>
            </a:r>
            <a:r>
              <a:rPr lang="en-US" i="1"/>
              <a:t>P</a:t>
            </a:r>
            <a:r>
              <a:rPr lang="en-US" i="1" baseline="-25000"/>
              <a:t>1</a:t>
            </a:r>
            <a:r>
              <a:rPr lang="en-US"/>
              <a:t>	1</a:t>
            </a:r>
            <a:r>
              <a:rPr lang="en-US">
                <a:solidFill>
                  <a:srgbClr val="000000"/>
                </a:solidFill>
              </a:rPr>
              <a:t>0</a:t>
            </a:r>
            <a:r>
              <a:rPr lang="en-US"/>
              <a:t>	3</a:t>
            </a:r>
            <a:endParaRPr/>
          </a:p>
          <a:p>
            <a:pPr>
              <a:buFont typeface="Monotype Sorts"/>
              <a:buNone/>
              <a:tabLst>
                <a:tab pos="1600200" algn="ctr"/>
                <a:tab pos="3251200" algn="ctr"/>
                <a:tab pos="5140325" algn="ctr"/>
              </a:tabLst>
              <a:defRPr/>
            </a:pPr>
            <a:r>
              <a:rPr lang="en-US"/>
              <a:t>		 </a:t>
            </a:r>
            <a:r>
              <a:rPr lang="en-US" i="1"/>
              <a:t>P</a:t>
            </a:r>
            <a:r>
              <a:rPr lang="en-US" i="1" baseline="-25000"/>
              <a:t>2 	</a:t>
            </a:r>
            <a:r>
              <a:rPr lang="en-US">
                <a:solidFill>
                  <a:srgbClr val="000000"/>
                </a:solidFill>
              </a:rPr>
              <a:t>1</a:t>
            </a:r>
            <a:r>
              <a:rPr lang="en-US"/>
              <a:t>	1</a:t>
            </a:r>
            <a:endParaRPr/>
          </a:p>
          <a:p>
            <a:pPr>
              <a:buFont typeface="Monotype Sorts"/>
              <a:buNone/>
              <a:tabLst>
                <a:tab pos="1600200" algn="ctr"/>
                <a:tab pos="3251200" algn="ctr"/>
                <a:tab pos="5140325" algn="ctr"/>
              </a:tabLst>
              <a:defRPr/>
            </a:pPr>
            <a:r>
              <a:rPr lang="en-US"/>
              <a:t>		 </a:t>
            </a:r>
            <a:r>
              <a:rPr lang="en-US" i="1"/>
              <a:t>P</a:t>
            </a:r>
            <a:r>
              <a:rPr lang="en-US" i="1" baseline="-25000"/>
              <a:t>3</a:t>
            </a:r>
            <a:r>
              <a:rPr lang="en-US"/>
              <a:t>	</a:t>
            </a:r>
            <a:r>
              <a:rPr lang="en-US">
                <a:solidFill>
                  <a:srgbClr val="000000"/>
                </a:solidFill>
              </a:rPr>
              <a:t>2</a:t>
            </a:r>
            <a:r>
              <a:rPr lang="en-US"/>
              <a:t>	4</a:t>
            </a:r>
            <a:endParaRPr/>
          </a:p>
          <a:p>
            <a:pPr>
              <a:buFont typeface="Monotype Sorts"/>
              <a:buNone/>
              <a:tabLst>
                <a:tab pos="1600200" algn="ctr"/>
                <a:tab pos="3251200" algn="ctr"/>
                <a:tab pos="5140325" algn="ctr"/>
              </a:tabLst>
              <a:defRPr/>
            </a:pPr>
            <a:r>
              <a:rPr lang="en-US"/>
              <a:t>		 </a:t>
            </a:r>
            <a:r>
              <a:rPr lang="en-US" i="1"/>
              <a:t>P</a:t>
            </a:r>
            <a:r>
              <a:rPr lang="en-US" i="1" baseline="-25000"/>
              <a:t>4</a:t>
            </a:r>
            <a:r>
              <a:rPr lang="en-US"/>
              <a:t>	</a:t>
            </a:r>
            <a:r>
              <a:rPr lang="en-US">
                <a:solidFill>
                  <a:srgbClr val="000000"/>
                </a:solidFill>
              </a:rPr>
              <a:t>1</a:t>
            </a:r>
            <a:r>
              <a:rPr lang="en-US"/>
              <a:t>	5</a:t>
            </a:r>
            <a:endParaRPr/>
          </a:p>
          <a:p>
            <a:pPr>
              <a:buFont typeface="Monotype Sorts"/>
              <a:buNone/>
              <a:tabLst>
                <a:tab pos="1600200" algn="ctr"/>
                <a:tab pos="3251200" algn="ctr"/>
                <a:tab pos="5140325" algn="ctr"/>
              </a:tabLst>
              <a:defRPr/>
            </a:pPr>
            <a:r>
              <a:rPr lang="en-US"/>
              <a:t>		</a:t>
            </a:r>
            <a:r>
              <a:rPr lang="en-US" i="1"/>
              <a:t>P</a:t>
            </a:r>
            <a:r>
              <a:rPr lang="en-US" i="1" baseline="-25000"/>
              <a:t>5	</a:t>
            </a:r>
            <a:r>
              <a:rPr lang="en-US"/>
              <a:t>5	2</a:t>
            </a:r>
            <a:endParaRPr/>
          </a:p>
          <a:p>
            <a:pPr>
              <a:buFont typeface="Monotype Sorts"/>
              <a:buNone/>
              <a:tabLst>
                <a:tab pos="1600200" algn="ctr"/>
                <a:tab pos="3251200" algn="ctr"/>
                <a:tab pos="5140325" algn="ctr"/>
              </a:tabLst>
              <a:defRPr/>
            </a:pPr>
            <a:endParaRPr lang="en-US" baseline="-25000"/>
          </a:p>
          <a:p>
            <a:pPr>
              <a:tabLst>
                <a:tab pos="1600200" algn="ctr"/>
                <a:tab pos="3251200" algn="ctr"/>
                <a:tab pos="5140325" algn="ctr"/>
              </a:tabLst>
              <a:defRPr/>
            </a:pPr>
            <a:r>
              <a:rPr lang="en-US"/>
              <a:t>Priority scheduling Gantt Chart</a:t>
            </a:r>
            <a:endParaRPr/>
          </a:p>
          <a:p>
            <a:pPr>
              <a:tabLst>
                <a:tab pos="1600200" algn="ctr"/>
                <a:tab pos="3251200" algn="ctr"/>
                <a:tab pos="5140325" algn="ctr"/>
              </a:tabLst>
              <a:defRPr/>
            </a:pPr>
            <a:endParaRPr lang="en-US"/>
          </a:p>
          <a:p>
            <a:pPr>
              <a:tabLst>
                <a:tab pos="1600200" algn="ctr"/>
                <a:tab pos="3251200" algn="ctr"/>
                <a:tab pos="5140325" algn="ctr"/>
              </a:tabLst>
              <a:defRPr/>
            </a:pPr>
            <a:endParaRPr lang="en-US"/>
          </a:p>
          <a:p>
            <a:pPr>
              <a:tabLst>
                <a:tab pos="1600200" algn="ctr"/>
                <a:tab pos="3251200" algn="ctr"/>
                <a:tab pos="5140325" algn="ctr"/>
              </a:tabLst>
              <a:defRPr/>
            </a:pPr>
            <a:endParaRPr lang="en-US"/>
          </a:p>
          <a:p>
            <a:pPr>
              <a:buFont typeface="Monotype Sorts"/>
              <a:buNone/>
              <a:tabLst>
                <a:tab pos="1600200" algn="ctr"/>
                <a:tab pos="3251200" algn="ctr"/>
                <a:tab pos="5140325" algn="ctr"/>
              </a:tabLst>
              <a:defRPr/>
            </a:pPr>
            <a:endParaRPr lang="en-US"/>
          </a:p>
          <a:p>
            <a:pPr>
              <a:tabLst>
                <a:tab pos="1600200" algn="ctr"/>
                <a:tab pos="3251200" algn="ctr"/>
                <a:tab pos="5140325" algn="ctr"/>
              </a:tabLst>
              <a:defRPr/>
            </a:pPr>
            <a:r>
              <a:rPr lang="en-US"/>
              <a:t>Average waiting time = 8.2</a:t>
            </a:r>
            <a:endParaRPr lang="en-US" i="1" baseline="-25000"/>
          </a:p>
        </p:txBody>
      </p:sp>
      <p:pic>
        <p:nvPicPr>
          <p:cNvPr id="88536119" name="Picture 1"/>
          <p:cNvPicPr>
            <a:picLocks noChangeAspect="1"/>
          </p:cNvPicPr>
          <p:nvPr/>
        </p:nvPicPr>
        <p:blipFill rotWithShape="1">
          <a:blip r:embed="rId3"/>
          <a:stretch/>
        </p:blipFill>
        <p:spPr bwMode="auto">
          <a:xfrm>
            <a:off x="1797050" y="4400550"/>
            <a:ext cx="6467475" cy="7524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7439253" name="Rectangle 2"/>
          <p:cNvSpPr>
            <a:spLocks noChangeArrowheads="1" noGrp="1"/>
          </p:cNvSpPr>
          <p:nvPr>
            <p:ph type="title"/>
          </p:nvPr>
        </p:nvSpPr>
        <p:spPr bwMode="auto">
          <a:xfrm>
            <a:off x="1452825" y="137006"/>
            <a:ext cx="7280275" cy="576262"/>
          </a:xfrm>
        </p:spPr>
        <p:txBody>
          <a:bodyPr/>
          <a:lstStyle/>
          <a:p>
            <a:pPr>
              <a:defRPr/>
            </a:pPr>
            <a:r>
              <a:rPr lang="en-US"/>
              <a:t>Priority Scheduling w/ Round-Robin</a:t>
            </a:r>
            <a:endParaRPr/>
          </a:p>
        </p:txBody>
      </p:sp>
      <p:sp>
        <p:nvSpPr>
          <p:cNvPr id="333414586" name="Rectangle 36"/>
          <p:cNvSpPr>
            <a:spLocks noChangeArrowheads="1" noGrp="1"/>
          </p:cNvSpPr>
          <p:nvPr>
            <p:ph type="body" idx="1"/>
          </p:nvPr>
        </p:nvSpPr>
        <p:spPr bwMode="auto">
          <a:xfrm>
            <a:off x="806450" y="877888"/>
            <a:ext cx="7675077" cy="4887912"/>
          </a:xfrm>
          <a:prstGeom prst="rect">
            <a:avLst/>
          </a:prstGeom>
          <a:noFill/>
        </p:spPr>
        <p:txBody>
          <a:bodyPr/>
          <a:lstStyle/>
          <a:p>
            <a:pPr>
              <a:buFont typeface="Monotype Sorts"/>
              <a:buNone/>
              <a:tabLst>
                <a:tab pos="1600200" algn="ctr"/>
                <a:tab pos="3251200" algn="ctr"/>
                <a:tab pos="5140325" algn="ctr"/>
              </a:tabLst>
              <a:defRPr/>
            </a:pPr>
            <a:r>
              <a:rPr lang="en-US"/>
              <a:t>		         </a:t>
            </a:r>
            <a:r>
              <a:rPr lang="en-US" u="sng"/>
              <a:t>Process</a:t>
            </a:r>
            <a:r>
              <a:rPr lang="en-US" u="sng">
                <a:solidFill>
                  <a:schemeClr val="bg1"/>
                </a:solidFill>
              </a:rPr>
              <a:t>A</a:t>
            </a:r>
            <a:r>
              <a:rPr lang="en-US" u="sng">
                <a:solidFill>
                  <a:schemeClr val="bg1"/>
                </a:solidFill>
              </a:rPr>
              <a:t>	</a:t>
            </a:r>
            <a:r>
              <a:rPr lang="en-US" u="sng">
                <a:solidFill>
                  <a:schemeClr val="bg1"/>
                </a:solidFill>
              </a:rPr>
              <a:t>arri</a:t>
            </a:r>
            <a:r>
              <a:rPr lang="en-US" u="sng">
                <a:solidFill>
                  <a:schemeClr val="bg1"/>
                </a:solidFill>
              </a:rPr>
              <a:t> </a:t>
            </a:r>
            <a:r>
              <a:rPr lang="en-US" u="sng"/>
              <a:t>Burst </a:t>
            </a:r>
            <a:r>
              <a:rPr lang="en-US" u="sng"/>
              <a:t>Time</a:t>
            </a:r>
            <a:r>
              <a:rPr lang="en-US" u="sng">
                <a:solidFill>
                  <a:schemeClr val="bg1"/>
                </a:solidFill>
              </a:rPr>
              <a:t>T</a:t>
            </a:r>
            <a:r>
              <a:rPr lang="en-US"/>
              <a:t>	</a:t>
            </a:r>
            <a:r>
              <a:rPr lang="en-US" u="sng"/>
              <a:t>Priority</a:t>
            </a:r>
            <a:endParaRPr lang="en-US"/>
          </a:p>
          <a:p>
            <a:pPr>
              <a:buFont typeface="Monotype Sorts"/>
              <a:buNone/>
              <a:tabLst>
                <a:tab pos="1600200" algn="ctr"/>
                <a:tab pos="3251200" algn="ctr"/>
                <a:tab pos="5140325" algn="ctr"/>
              </a:tabLst>
              <a:defRPr/>
            </a:pPr>
            <a:r>
              <a:rPr lang="en-US"/>
              <a:t>		 </a:t>
            </a:r>
            <a:r>
              <a:rPr lang="en-US" i="1"/>
              <a:t>P</a:t>
            </a:r>
            <a:r>
              <a:rPr lang="en-US" i="1" baseline="-25000"/>
              <a:t>1</a:t>
            </a:r>
            <a:r>
              <a:rPr lang="en-US"/>
              <a:t>	4	3</a:t>
            </a:r>
            <a:endParaRPr/>
          </a:p>
          <a:p>
            <a:pPr>
              <a:buFont typeface="Monotype Sorts"/>
              <a:buNone/>
              <a:tabLst>
                <a:tab pos="1600200" algn="ctr"/>
                <a:tab pos="3251200" algn="ctr"/>
                <a:tab pos="5140325" algn="ctr"/>
              </a:tabLst>
              <a:defRPr/>
            </a:pPr>
            <a:r>
              <a:rPr lang="en-US"/>
              <a:t>		 </a:t>
            </a:r>
            <a:r>
              <a:rPr lang="en-US" i="1"/>
              <a:t>P</a:t>
            </a:r>
            <a:r>
              <a:rPr lang="en-US" i="1" baseline="-25000"/>
              <a:t>2 	</a:t>
            </a:r>
            <a:r>
              <a:rPr lang="en-US">
                <a:solidFill>
                  <a:srgbClr val="000000"/>
                </a:solidFill>
              </a:rPr>
              <a:t>5</a:t>
            </a:r>
            <a:r>
              <a:rPr lang="en-US"/>
              <a:t>	2</a:t>
            </a:r>
            <a:endParaRPr/>
          </a:p>
          <a:p>
            <a:pPr>
              <a:buFont typeface="Monotype Sorts"/>
              <a:buNone/>
              <a:tabLst>
                <a:tab pos="1600200" algn="ctr"/>
                <a:tab pos="3251200" algn="ctr"/>
                <a:tab pos="5140325" algn="ctr"/>
              </a:tabLst>
              <a:defRPr/>
            </a:pPr>
            <a:r>
              <a:rPr lang="en-US"/>
              <a:t>		 </a:t>
            </a:r>
            <a:r>
              <a:rPr lang="en-US" i="1"/>
              <a:t>P</a:t>
            </a:r>
            <a:r>
              <a:rPr lang="en-US" i="1" baseline="-25000"/>
              <a:t>3</a:t>
            </a:r>
            <a:r>
              <a:rPr lang="en-US"/>
              <a:t>	</a:t>
            </a:r>
            <a:r>
              <a:rPr lang="en-US">
                <a:solidFill>
                  <a:srgbClr val="000000"/>
                </a:solidFill>
              </a:rPr>
              <a:t>8</a:t>
            </a:r>
            <a:r>
              <a:rPr lang="en-US"/>
              <a:t>	2</a:t>
            </a:r>
            <a:endParaRPr/>
          </a:p>
          <a:p>
            <a:pPr>
              <a:buFont typeface="Monotype Sorts"/>
              <a:buNone/>
              <a:tabLst>
                <a:tab pos="1600200" algn="ctr"/>
                <a:tab pos="3251200" algn="ctr"/>
                <a:tab pos="5140325" algn="ctr"/>
              </a:tabLst>
              <a:defRPr/>
            </a:pPr>
            <a:r>
              <a:rPr lang="en-US"/>
              <a:t>		 </a:t>
            </a:r>
            <a:r>
              <a:rPr lang="en-US" i="1"/>
              <a:t>P</a:t>
            </a:r>
            <a:r>
              <a:rPr lang="en-US" i="1" baseline="-25000"/>
              <a:t>4</a:t>
            </a:r>
            <a:r>
              <a:rPr lang="en-US"/>
              <a:t>	</a:t>
            </a:r>
            <a:r>
              <a:rPr lang="en-US">
                <a:solidFill>
                  <a:srgbClr val="000000"/>
                </a:solidFill>
              </a:rPr>
              <a:t>7</a:t>
            </a:r>
            <a:r>
              <a:rPr lang="en-US"/>
              <a:t>	1</a:t>
            </a:r>
            <a:endParaRPr/>
          </a:p>
          <a:p>
            <a:pPr>
              <a:buFont typeface="Monotype Sorts"/>
              <a:buNone/>
              <a:tabLst>
                <a:tab pos="1600200" algn="ctr"/>
                <a:tab pos="3251200" algn="ctr"/>
                <a:tab pos="5140325" algn="ctr"/>
              </a:tabLst>
              <a:defRPr/>
            </a:pPr>
            <a:r>
              <a:rPr lang="en-US"/>
              <a:t>		</a:t>
            </a:r>
            <a:r>
              <a:rPr lang="en-US" i="1"/>
              <a:t>P</a:t>
            </a:r>
            <a:r>
              <a:rPr lang="en-US" i="1" baseline="-25000"/>
              <a:t>5	</a:t>
            </a:r>
            <a:r>
              <a:rPr lang="en-US"/>
              <a:t>3	3</a:t>
            </a:r>
            <a:endParaRPr/>
          </a:p>
          <a:p>
            <a:pPr>
              <a:tabLst>
                <a:tab pos="1600200" algn="ctr"/>
                <a:tab pos="3251200" algn="ctr"/>
                <a:tab pos="5140325" algn="ctr"/>
              </a:tabLst>
              <a:defRPr/>
            </a:pPr>
            <a:r>
              <a:rPr lang="en-US"/>
              <a:t>Run the process with the highest priority. Processes with the same priority run round-robin</a:t>
            </a:r>
            <a:endParaRPr/>
          </a:p>
          <a:p>
            <a:pPr>
              <a:buFont typeface="Monotype Sorts"/>
              <a:buNone/>
              <a:tabLst>
                <a:tab pos="1600200" algn="ctr"/>
                <a:tab pos="3251200" algn="ctr"/>
                <a:tab pos="5140325" algn="ctr"/>
              </a:tabLst>
              <a:defRPr/>
            </a:pPr>
            <a:endParaRPr lang="en-US" baseline="-25000"/>
          </a:p>
          <a:p>
            <a:pPr>
              <a:tabLst>
                <a:tab pos="1600200" algn="ctr"/>
                <a:tab pos="3251200" algn="ctr"/>
                <a:tab pos="5140325" algn="ctr"/>
              </a:tabLst>
              <a:defRPr/>
            </a:pPr>
            <a:r>
              <a:rPr lang="en-US"/>
              <a:t>Gantt Chart with time quantum = 2</a:t>
            </a:r>
            <a:endParaRPr/>
          </a:p>
          <a:p>
            <a:pPr>
              <a:tabLst>
                <a:tab pos="1600200" algn="ctr"/>
                <a:tab pos="3251200" algn="ctr"/>
                <a:tab pos="5140325" algn="ctr"/>
              </a:tabLst>
              <a:defRPr/>
            </a:pPr>
            <a:endParaRPr lang="en-US"/>
          </a:p>
          <a:p>
            <a:pPr>
              <a:tabLst>
                <a:tab pos="1600200" algn="ctr"/>
                <a:tab pos="3251200" algn="ctr"/>
                <a:tab pos="5140325" algn="ctr"/>
              </a:tabLst>
              <a:defRPr/>
            </a:pPr>
            <a:endParaRPr lang="en-US"/>
          </a:p>
          <a:p>
            <a:pPr>
              <a:tabLst>
                <a:tab pos="1600200" algn="ctr"/>
                <a:tab pos="3251200" algn="ctr"/>
                <a:tab pos="5140325" algn="ctr"/>
              </a:tabLst>
              <a:defRPr/>
            </a:pPr>
            <a:endParaRPr lang="en-US"/>
          </a:p>
          <a:p>
            <a:pPr>
              <a:buFont typeface="Monotype Sorts"/>
              <a:buNone/>
              <a:tabLst>
                <a:tab pos="1600200" algn="ctr"/>
                <a:tab pos="3251200" algn="ctr"/>
                <a:tab pos="5140325" algn="ctr"/>
              </a:tabLst>
              <a:defRPr/>
            </a:pPr>
            <a:endParaRPr lang="en-US"/>
          </a:p>
        </p:txBody>
      </p:sp>
      <p:pic>
        <p:nvPicPr>
          <p:cNvPr id="1242617080" name="Picture 2"/>
          <p:cNvPicPr>
            <a:picLocks noChangeAspect="1"/>
          </p:cNvPicPr>
          <p:nvPr/>
        </p:nvPicPr>
        <p:blipFill rotWithShape="1">
          <a:blip r:embed="rId3"/>
          <a:stretch/>
        </p:blipFill>
        <p:spPr bwMode="auto">
          <a:xfrm>
            <a:off x="1298776" y="4618294"/>
            <a:ext cx="7056069" cy="80026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0500861" name="Rectangle 2"/>
          <p:cNvSpPr>
            <a:spLocks noChangeArrowheads="1" noGrp="1"/>
          </p:cNvSpPr>
          <p:nvPr>
            <p:ph type="title"/>
          </p:nvPr>
        </p:nvSpPr>
        <p:spPr bwMode="auto">
          <a:xfrm>
            <a:off x="973138" y="219305"/>
            <a:ext cx="7713662" cy="576262"/>
          </a:xfrm>
        </p:spPr>
        <p:txBody>
          <a:bodyPr/>
          <a:lstStyle/>
          <a:p>
            <a:pPr>
              <a:defRPr/>
            </a:pPr>
            <a:r>
              <a:rPr lang="en-US"/>
              <a:t>Multilevel Queue</a:t>
            </a:r>
            <a:endParaRPr/>
          </a:p>
        </p:txBody>
      </p:sp>
      <p:sp>
        <p:nvSpPr>
          <p:cNvPr id="1662345388" name="Rectangle 3"/>
          <p:cNvSpPr>
            <a:spLocks noChangeArrowheads="1" noGrp="1"/>
          </p:cNvSpPr>
          <p:nvPr>
            <p:ph type="body" idx="1"/>
          </p:nvPr>
        </p:nvSpPr>
        <p:spPr bwMode="auto">
          <a:xfrm>
            <a:off x="811763" y="1068388"/>
            <a:ext cx="7570237" cy="5221287"/>
          </a:xfrm>
        </p:spPr>
        <p:txBody>
          <a:bodyPr/>
          <a:lstStyle/>
          <a:p>
            <a:pPr>
              <a:defRPr/>
            </a:pPr>
            <a:r>
              <a:rPr lang="en-US"/>
              <a:t>With priority scheduling, have separate queues for each priority.</a:t>
            </a:r>
            <a:endParaRPr/>
          </a:p>
          <a:p>
            <a:pPr>
              <a:defRPr/>
            </a:pPr>
            <a:r>
              <a:rPr lang="en-US"/>
              <a:t>Schedule the process in the highest-priority queue!</a:t>
            </a:r>
            <a:endParaRPr/>
          </a:p>
        </p:txBody>
      </p:sp>
      <p:pic>
        <p:nvPicPr>
          <p:cNvPr id="121935146" name="Picture 1"/>
          <p:cNvPicPr>
            <a:picLocks noChangeAspect="1"/>
          </p:cNvPicPr>
          <p:nvPr/>
        </p:nvPicPr>
        <p:blipFill rotWithShape="1">
          <a:blip r:embed="rId3"/>
          <a:stretch/>
        </p:blipFill>
        <p:spPr bwMode="auto">
          <a:xfrm>
            <a:off x="3076574" y="2108200"/>
            <a:ext cx="3073400" cy="33972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1855865" name="Title 1"/>
          <p:cNvSpPr>
            <a:spLocks noGrp="1"/>
          </p:cNvSpPr>
          <p:nvPr>
            <p:ph type="title"/>
          </p:nvPr>
        </p:nvSpPr>
        <p:spPr bwMode="auto">
          <a:xfrm>
            <a:off x="890429" y="215191"/>
            <a:ext cx="7880350" cy="576262"/>
          </a:xfrm>
        </p:spPr>
        <p:txBody>
          <a:bodyPr/>
          <a:lstStyle/>
          <a:p>
            <a:pPr>
              <a:defRPr/>
            </a:pPr>
            <a:r>
              <a:rPr lang="en-US"/>
              <a:t>Multilevel Queue</a:t>
            </a:r>
            <a:endParaRPr/>
          </a:p>
        </p:txBody>
      </p:sp>
      <p:sp>
        <p:nvSpPr>
          <p:cNvPr id="514383183" name="Content Placeholder 2"/>
          <p:cNvSpPr>
            <a:spLocks noGrp="1"/>
          </p:cNvSpPr>
          <p:nvPr>
            <p:ph idx="1"/>
          </p:nvPr>
        </p:nvSpPr>
        <p:spPr bwMode="auto"/>
        <p:txBody>
          <a:bodyPr/>
          <a:lstStyle/>
          <a:p>
            <a:pPr>
              <a:defRPr/>
            </a:pPr>
            <a:r>
              <a:rPr lang="en-US"/>
              <a:t>Prioritization based upon process type</a:t>
            </a:r>
            <a:endParaRPr/>
          </a:p>
        </p:txBody>
      </p:sp>
      <p:pic>
        <p:nvPicPr>
          <p:cNvPr id="1297447487" name="Picture 3"/>
          <p:cNvPicPr>
            <a:picLocks noChangeAspect="1"/>
          </p:cNvPicPr>
          <p:nvPr/>
        </p:nvPicPr>
        <p:blipFill rotWithShape="1">
          <a:blip r:embed="rId3"/>
          <a:stretch/>
        </p:blipFill>
        <p:spPr bwMode="auto">
          <a:xfrm>
            <a:off x="2057400" y="2135188"/>
            <a:ext cx="5583238" cy="297021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3701688" name="Rectangle 2"/>
          <p:cNvSpPr>
            <a:spLocks noChangeArrowheads="1" noGrp="1"/>
          </p:cNvSpPr>
          <p:nvPr>
            <p:ph type="title"/>
          </p:nvPr>
        </p:nvSpPr>
        <p:spPr bwMode="auto">
          <a:xfrm>
            <a:off x="660400" y="181838"/>
            <a:ext cx="8026400" cy="576262"/>
          </a:xfrm>
        </p:spPr>
        <p:txBody>
          <a:bodyPr/>
          <a:lstStyle/>
          <a:p>
            <a:pPr>
              <a:defRPr/>
            </a:pPr>
            <a:r>
              <a:rPr lang="en-US"/>
              <a:t>Multilevel Feedback Queue</a:t>
            </a:r>
            <a:endParaRPr/>
          </a:p>
        </p:txBody>
      </p:sp>
      <p:sp>
        <p:nvSpPr>
          <p:cNvPr id="695911837" name="Rectangle 3"/>
          <p:cNvSpPr>
            <a:spLocks noChangeArrowheads="1" noGrp="1"/>
          </p:cNvSpPr>
          <p:nvPr>
            <p:ph type="body" idx="1"/>
          </p:nvPr>
        </p:nvSpPr>
        <p:spPr bwMode="auto">
          <a:xfrm>
            <a:off x="830424" y="1144346"/>
            <a:ext cx="7341303" cy="4399927"/>
          </a:xfrm>
        </p:spPr>
        <p:txBody>
          <a:bodyPr/>
          <a:lstStyle/>
          <a:p>
            <a:pPr>
              <a:defRPr/>
            </a:pPr>
            <a:r>
              <a:rPr lang="en-US"/>
              <a:t>A process can move between the various queues.</a:t>
            </a:r>
            <a:endParaRPr/>
          </a:p>
          <a:p>
            <a:pPr>
              <a:defRPr/>
            </a:pPr>
            <a:r>
              <a:rPr lang="en-US"/>
              <a:t>Multilevel-feedback-queue scheduler defined by the following parameters:</a:t>
            </a:r>
            <a:endParaRPr/>
          </a:p>
          <a:p>
            <a:pPr lvl="1">
              <a:defRPr/>
            </a:pPr>
            <a:r>
              <a:rPr lang="en-US"/>
              <a:t>Number of queues</a:t>
            </a:r>
            <a:endParaRPr/>
          </a:p>
          <a:p>
            <a:pPr lvl="1">
              <a:defRPr/>
            </a:pPr>
            <a:r>
              <a:rPr lang="en-US"/>
              <a:t>Scheduling algorithms for each queue</a:t>
            </a:r>
            <a:endParaRPr/>
          </a:p>
          <a:p>
            <a:pPr lvl="1">
              <a:defRPr/>
            </a:pPr>
            <a:r>
              <a:rPr lang="en-US"/>
              <a:t>Method used to determine when to upgrade a process</a:t>
            </a:r>
            <a:endParaRPr/>
          </a:p>
          <a:p>
            <a:pPr lvl="1">
              <a:defRPr/>
            </a:pPr>
            <a:r>
              <a:rPr lang="en-US"/>
              <a:t>Method used to determine when to demote a process</a:t>
            </a:r>
            <a:endParaRPr/>
          </a:p>
          <a:p>
            <a:pPr lvl="1">
              <a:defRPr/>
            </a:pPr>
            <a:r>
              <a:rPr lang="en-US"/>
              <a:t>Method used to determine which queue a process will enter when that process needs service</a:t>
            </a:r>
            <a:endParaRPr/>
          </a:p>
          <a:p>
            <a:pPr>
              <a:defRPr/>
            </a:pPr>
            <a:r>
              <a:rPr lang="en-US"/>
              <a:t>Aging can be implemented using multilevel feedback queue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0661111" name="Rectangle 2"/>
          <p:cNvSpPr>
            <a:spLocks noChangeArrowheads="1" noGrp="1"/>
          </p:cNvSpPr>
          <p:nvPr>
            <p:ph type="title"/>
          </p:nvPr>
        </p:nvSpPr>
        <p:spPr bwMode="auto">
          <a:xfrm>
            <a:off x="1238137" y="42179"/>
            <a:ext cx="8186349" cy="679450"/>
          </a:xfrm>
        </p:spPr>
        <p:txBody>
          <a:bodyPr/>
          <a:lstStyle/>
          <a:p>
            <a:pPr>
              <a:defRPr/>
            </a:pPr>
            <a:r>
              <a:rPr lang="en-US"/>
              <a:t>Example of Multilevel Feedback Queue</a:t>
            </a:r>
            <a:endParaRPr/>
          </a:p>
        </p:txBody>
      </p:sp>
      <p:sp>
        <p:nvSpPr>
          <p:cNvPr id="1499192998" name="Rectangle 3"/>
          <p:cNvSpPr>
            <a:spLocks noChangeArrowheads="1" noGrp="1"/>
          </p:cNvSpPr>
          <p:nvPr>
            <p:ph type="body" idx="1"/>
          </p:nvPr>
        </p:nvSpPr>
        <p:spPr bwMode="auto">
          <a:xfrm>
            <a:off x="806449" y="1101013"/>
            <a:ext cx="4742319" cy="4663180"/>
          </a:xfrm>
        </p:spPr>
        <p:txBody>
          <a:bodyPr/>
          <a:lstStyle/>
          <a:p>
            <a:pPr>
              <a:defRPr/>
            </a:pPr>
            <a:r>
              <a:rPr lang="en-US"/>
              <a:t>Three queues: </a:t>
            </a:r>
            <a:endParaRPr/>
          </a:p>
          <a:p>
            <a:pPr lvl="1">
              <a:defRPr/>
            </a:pPr>
            <a:r>
              <a:rPr lang="en-US" sz="1600" i="1"/>
              <a:t>Q</a:t>
            </a:r>
            <a:r>
              <a:rPr lang="en-US" sz="1600" baseline="-25000"/>
              <a:t>0</a:t>
            </a:r>
            <a:r>
              <a:rPr lang="en-US" sz="1600"/>
              <a:t> – RR with time quantum 8 milliseconds</a:t>
            </a:r>
            <a:endParaRPr/>
          </a:p>
          <a:p>
            <a:pPr lvl="1">
              <a:defRPr/>
            </a:pPr>
            <a:r>
              <a:rPr lang="en-US" sz="1600" i="1"/>
              <a:t>Q</a:t>
            </a:r>
            <a:r>
              <a:rPr lang="en-US" sz="1600" baseline="-25000"/>
              <a:t>1</a:t>
            </a:r>
            <a:r>
              <a:rPr lang="en-US" sz="1600"/>
              <a:t> – RR time quantum 16 milliseconds</a:t>
            </a:r>
            <a:endParaRPr/>
          </a:p>
          <a:p>
            <a:pPr lvl="1">
              <a:defRPr/>
            </a:pPr>
            <a:r>
              <a:rPr lang="en-US" sz="1600" i="1"/>
              <a:t>Q</a:t>
            </a:r>
            <a:r>
              <a:rPr lang="en-US" sz="1600" baseline="-25000"/>
              <a:t>2</a:t>
            </a:r>
            <a:r>
              <a:rPr lang="en-US" sz="1600"/>
              <a:t> – FCFS</a:t>
            </a:r>
            <a:endParaRPr lang="en-US" sz="1400"/>
          </a:p>
          <a:p>
            <a:pPr>
              <a:defRPr/>
            </a:pPr>
            <a:r>
              <a:rPr lang="en-US"/>
              <a:t>Scheduling</a:t>
            </a:r>
            <a:endParaRPr/>
          </a:p>
          <a:p>
            <a:pPr lvl="1">
              <a:defRPr/>
            </a:pPr>
            <a:r>
              <a:rPr lang="en-US" sz="1600"/>
              <a:t>A new process enters queue </a:t>
            </a:r>
            <a:r>
              <a:rPr lang="en-US" sz="1600" i="1"/>
              <a:t>Q</a:t>
            </a:r>
            <a:r>
              <a:rPr lang="en-US" sz="1600" i="1" baseline="-25000"/>
              <a:t>0</a:t>
            </a:r>
            <a:r>
              <a:rPr lang="en-US" sz="1600" i="1"/>
              <a:t> </a:t>
            </a:r>
            <a:r>
              <a:rPr lang="en-US" sz="1600"/>
              <a:t>which is served</a:t>
            </a:r>
            <a:r>
              <a:rPr lang="en-US" sz="1600" i="1"/>
              <a:t> </a:t>
            </a:r>
            <a:r>
              <a:rPr lang="en-US" sz="1600"/>
              <a:t>in</a:t>
            </a:r>
            <a:r>
              <a:rPr lang="en-US" sz="1600" i="1"/>
              <a:t> </a:t>
            </a:r>
            <a:r>
              <a:rPr lang="en-US" sz="1600"/>
              <a:t>RR</a:t>
            </a:r>
            <a:endParaRPr/>
          </a:p>
          <a:p>
            <a:pPr lvl="2">
              <a:defRPr/>
            </a:pPr>
            <a:r>
              <a:rPr lang="en-US" sz="1400"/>
              <a:t>When it gains CPU, the process receives 8 milliseconds</a:t>
            </a:r>
            <a:endParaRPr/>
          </a:p>
          <a:p>
            <a:pPr lvl="2">
              <a:defRPr/>
            </a:pPr>
            <a:r>
              <a:rPr lang="en-US" sz="1400"/>
              <a:t>If it does not finish in 8 milliseconds, the process  is moved to queue </a:t>
            </a:r>
            <a:r>
              <a:rPr lang="en-US" sz="1400" i="1"/>
              <a:t>Q</a:t>
            </a:r>
            <a:r>
              <a:rPr lang="en-US" sz="1400" baseline="-25000"/>
              <a:t>1</a:t>
            </a:r>
            <a:endParaRPr lang="en-US" sz="1400"/>
          </a:p>
          <a:p>
            <a:pPr lvl="1">
              <a:defRPr/>
            </a:pPr>
            <a:r>
              <a:rPr lang="en-US" sz="1600"/>
              <a:t>At </a:t>
            </a:r>
            <a:r>
              <a:rPr lang="en-US" sz="1600" i="1"/>
              <a:t>Q</a:t>
            </a:r>
            <a:r>
              <a:rPr lang="en-US" sz="1600" baseline="-25000"/>
              <a:t>1</a:t>
            </a:r>
            <a:r>
              <a:rPr lang="en-US" sz="1600"/>
              <a:t> job is again served in RR and receives 16 additional milliseconds</a:t>
            </a:r>
            <a:endParaRPr/>
          </a:p>
          <a:p>
            <a:pPr lvl="2">
              <a:defRPr/>
            </a:pPr>
            <a:r>
              <a:rPr lang="en-US" sz="1400"/>
              <a:t>If it still does not complete, it is preempted and moved to queue </a:t>
            </a:r>
            <a:r>
              <a:rPr lang="en-US" sz="1400" i="1"/>
              <a:t>Q</a:t>
            </a:r>
            <a:r>
              <a:rPr lang="en-US" sz="1400" baseline="-25000"/>
              <a:t>2</a:t>
            </a:r>
            <a:endParaRPr lang="en-US" sz="1400"/>
          </a:p>
        </p:txBody>
      </p:sp>
      <p:pic>
        <p:nvPicPr>
          <p:cNvPr id="1048121669" name="Picture 1"/>
          <p:cNvPicPr>
            <a:picLocks noChangeAspect="1"/>
          </p:cNvPicPr>
          <p:nvPr/>
        </p:nvPicPr>
        <p:blipFill rotWithShape="1">
          <a:blip r:embed="rId3"/>
          <a:stretch/>
        </p:blipFill>
        <p:spPr bwMode="auto">
          <a:xfrm>
            <a:off x="5548769" y="2673752"/>
            <a:ext cx="3344406" cy="203159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7447031" name="Rectangle 2"/>
          <p:cNvSpPr>
            <a:spLocks noChangeArrowheads="1" noGrp="1"/>
          </p:cNvSpPr>
          <p:nvPr>
            <p:ph type="title"/>
          </p:nvPr>
        </p:nvSpPr>
        <p:spPr bwMode="auto">
          <a:xfrm>
            <a:off x="457200" y="111760"/>
            <a:ext cx="8229600" cy="622988"/>
          </a:xfrm>
        </p:spPr>
        <p:txBody>
          <a:bodyPr/>
          <a:lstStyle/>
          <a:p>
            <a:pPr>
              <a:defRPr/>
            </a:pPr>
            <a:r>
              <a:rPr lang="en-US"/>
              <a:t>Thread Scheduling</a:t>
            </a:r>
            <a:endParaRPr/>
          </a:p>
        </p:txBody>
      </p:sp>
      <p:sp>
        <p:nvSpPr>
          <p:cNvPr id="126026058" name="Rectangle 3"/>
          <p:cNvSpPr>
            <a:spLocks noChangeArrowheads="1" noGrp="1"/>
          </p:cNvSpPr>
          <p:nvPr>
            <p:ph type="body" idx="1"/>
          </p:nvPr>
        </p:nvSpPr>
        <p:spPr bwMode="auto">
          <a:xfrm>
            <a:off x="844550" y="1087121"/>
            <a:ext cx="7661275" cy="3569970"/>
          </a:xfrm>
        </p:spPr>
        <p:txBody>
          <a:bodyPr/>
          <a:lstStyle/>
          <a:p>
            <a:pPr>
              <a:defRPr/>
            </a:pPr>
            <a:r>
              <a:rPr lang="en-US"/>
              <a:t>Distinction between user-level and kernel-level threads</a:t>
            </a:r>
            <a:endParaRPr/>
          </a:p>
          <a:p>
            <a:pPr>
              <a:defRPr/>
            </a:pPr>
            <a:r>
              <a:rPr lang="en-US"/>
              <a:t>When threads supported, threads scheduled, not processes</a:t>
            </a:r>
            <a:endParaRPr/>
          </a:p>
          <a:p>
            <a:pPr>
              <a:defRPr/>
            </a:pPr>
            <a:r>
              <a:rPr lang="en-US"/>
              <a:t>Many-to-one and many-to-many models, thread library schedules user-level threads to run on LWP</a:t>
            </a:r>
            <a:endParaRPr/>
          </a:p>
          <a:p>
            <a:pPr lvl="1">
              <a:defRPr/>
            </a:pPr>
            <a:r>
              <a:rPr lang="en-US"/>
              <a:t>Known as </a:t>
            </a:r>
            <a:r>
              <a:rPr lang="en-US" b="1">
                <a:solidFill>
                  <a:srgbClr val="006699"/>
                </a:solidFill>
                <a:latin typeface="+mj-lt"/>
              </a:rPr>
              <a:t>process-contention</a:t>
            </a:r>
            <a:r>
              <a:rPr lang="en-US" b="1">
                <a:solidFill>
                  <a:srgbClr val="3366FF"/>
                </a:solidFill>
              </a:rPr>
              <a:t> </a:t>
            </a:r>
            <a:r>
              <a:rPr lang="en-US" b="1">
                <a:solidFill>
                  <a:srgbClr val="006699"/>
                </a:solidFill>
                <a:latin typeface="+mj-lt"/>
              </a:rPr>
              <a:t>scope</a:t>
            </a:r>
            <a:r>
              <a:rPr lang="en-US" b="1">
                <a:solidFill>
                  <a:srgbClr val="3366FF"/>
                </a:solidFill>
              </a:rPr>
              <a:t> </a:t>
            </a:r>
            <a:r>
              <a:rPr lang="en-US"/>
              <a:t>(</a:t>
            </a:r>
            <a:r>
              <a:rPr lang="en-US" b="1">
                <a:solidFill>
                  <a:srgbClr val="006699"/>
                </a:solidFill>
                <a:latin typeface="+mj-lt"/>
              </a:rPr>
              <a:t>PCS</a:t>
            </a:r>
            <a:r>
              <a:rPr lang="en-US"/>
              <a:t>)</a:t>
            </a:r>
            <a:r>
              <a:rPr lang="en-US" b="1"/>
              <a:t> </a:t>
            </a:r>
            <a:r>
              <a:rPr lang="en-US"/>
              <a:t>since scheduling competition is within the process</a:t>
            </a:r>
            <a:endParaRPr/>
          </a:p>
          <a:p>
            <a:pPr lvl="1">
              <a:defRPr/>
            </a:pPr>
            <a:r>
              <a:rPr lang="en-US"/>
              <a:t>Typically done via priority set by programmer</a:t>
            </a:r>
            <a:endParaRPr/>
          </a:p>
          <a:p>
            <a:pPr>
              <a:defRPr/>
            </a:pPr>
            <a:r>
              <a:rPr lang="en-US"/>
              <a:t>Kernel thread scheduled onto available CPU is </a:t>
            </a:r>
            <a:r>
              <a:rPr lang="en-US" b="1">
                <a:solidFill>
                  <a:srgbClr val="006699"/>
                </a:solidFill>
                <a:latin typeface="+mj-lt"/>
              </a:rPr>
              <a:t>system-contention</a:t>
            </a:r>
            <a:r>
              <a:rPr lang="en-US" b="1">
                <a:solidFill>
                  <a:srgbClr val="3366FF"/>
                </a:solidFill>
              </a:rPr>
              <a:t> </a:t>
            </a:r>
            <a:r>
              <a:rPr lang="en-US" b="1">
                <a:solidFill>
                  <a:srgbClr val="006699"/>
                </a:solidFill>
                <a:latin typeface="+mj-lt"/>
              </a:rPr>
              <a:t>scope</a:t>
            </a:r>
            <a:r>
              <a:rPr lang="en-US" b="1"/>
              <a:t> </a:t>
            </a:r>
            <a:r>
              <a:rPr lang="en-US"/>
              <a:t>(</a:t>
            </a:r>
            <a:r>
              <a:rPr lang="en-US" b="1">
                <a:solidFill>
                  <a:srgbClr val="006699"/>
                </a:solidFill>
                <a:latin typeface="+mj-lt"/>
              </a:rPr>
              <a:t>SCS</a:t>
            </a:r>
            <a:r>
              <a:rPr lang="en-US"/>
              <a:t>) – competition among all threads in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932087" name="Rectangle 2"/>
          <p:cNvSpPr>
            <a:spLocks noChangeArrowheads="1" noGrp="1"/>
          </p:cNvSpPr>
          <p:nvPr>
            <p:ph type="title"/>
          </p:nvPr>
        </p:nvSpPr>
        <p:spPr bwMode="auto">
          <a:xfrm>
            <a:off x="709613" y="175437"/>
            <a:ext cx="7977187" cy="576262"/>
          </a:xfrm>
        </p:spPr>
        <p:txBody>
          <a:bodyPr/>
          <a:lstStyle/>
          <a:p>
            <a:pPr>
              <a:defRPr/>
            </a:pPr>
            <a:r>
              <a:rPr lang="en-US"/>
              <a:t>Pthread Scheduling</a:t>
            </a:r>
            <a:endParaRPr/>
          </a:p>
        </p:txBody>
      </p:sp>
      <p:sp>
        <p:nvSpPr>
          <p:cNvPr id="492892471" name="Rectangle 3"/>
          <p:cNvSpPr>
            <a:spLocks noChangeArrowheads="1" noGrp="1"/>
          </p:cNvSpPr>
          <p:nvPr>
            <p:ph type="body" idx="1"/>
          </p:nvPr>
        </p:nvSpPr>
        <p:spPr bwMode="auto">
          <a:xfrm>
            <a:off x="849085" y="1137920"/>
            <a:ext cx="7623109" cy="3521709"/>
          </a:xfrm>
        </p:spPr>
        <p:txBody>
          <a:bodyPr/>
          <a:lstStyle/>
          <a:p>
            <a:pPr>
              <a:defRPr/>
            </a:pPr>
            <a:r>
              <a:rPr lang="en-US"/>
              <a:t>API allows specifying either PCS or SCS during thread creation</a:t>
            </a:r>
            <a:endParaRPr/>
          </a:p>
          <a:p>
            <a:pPr lvl="1">
              <a:defRPr/>
            </a:pPr>
            <a:r>
              <a:rPr lang="en-US"/>
              <a:t>PTHREAD_SCOPE_PROCESS schedules threads using PCS scheduling</a:t>
            </a:r>
            <a:endParaRPr/>
          </a:p>
          <a:p>
            <a:pPr lvl="1">
              <a:defRPr/>
            </a:pPr>
            <a:r>
              <a:rPr lang="en-US"/>
              <a:t>PTHREAD_SCOPE_SYSTEM schedules threads using SCS scheduling</a:t>
            </a:r>
            <a:endParaRPr/>
          </a:p>
          <a:p>
            <a:pPr>
              <a:defRPr/>
            </a:pPr>
            <a:r>
              <a:rPr lang="en-US"/>
              <a:t>Can be limited by OS – Linux and macOS only allow PTHREAD_SCOPE_SYSTEM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2329463" name="Rectangle 2"/>
          <p:cNvSpPr>
            <a:spLocks noChangeArrowheads="1" noGrp="1"/>
          </p:cNvSpPr>
          <p:nvPr>
            <p:ph type="title"/>
          </p:nvPr>
        </p:nvSpPr>
        <p:spPr bwMode="auto">
          <a:xfrm>
            <a:off x="783770" y="112762"/>
            <a:ext cx="7903029" cy="576262"/>
          </a:xfrm>
        </p:spPr>
        <p:txBody>
          <a:bodyPr/>
          <a:lstStyle/>
          <a:p>
            <a:pPr>
              <a:defRPr/>
            </a:pPr>
            <a:r>
              <a:rPr lang="en-US"/>
              <a:t>Pthread Scheduling API</a:t>
            </a:r>
            <a:endParaRPr/>
          </a:p>
        </p:txBody>
      </p:sp>
      <p:sp>
        <p:nvSpPr>
          <p:cNvPr id="97728559" name="Rectangle 3"/>
          <p:cNvSpPr>
            <a:spLocks noChangeArrowheads="1" noGrp="1"/>
          </p:cNvSpPr>
          <p:nvPr>
            <p:ph type="body" idx="1"/>
          </p:nvPr>
        </p:nvSpPr>
        <p:spPr bwMode="auto">
          <a:xfrm>
            <a:off x="1538288" y="942975"/>
            <a:ext cx="6818312" cy="4919663"/>
          </a:xfrm>
        </p:spPr>
        <p:txBody>
          <a:bodyPr/>
          <a:lstStyle/>
          <a:p>
            <a:pPr marL="0" indent="0">
              <a:buFont typeface="Monotype Sorts"/>
              <a:buNone/>
              <a:defRPr/>
            </a:pPr>
            <a:r>
              <a:rPr lang="en-US" sz="1400">
                <a:latin typeface="Courier New"/>
              </a:rPr>
              <a:t>#include &lt;</a:t>
            </a:r>
            <a:r>
              <a:rPr lang="en-US" sz="1400">
                <a:latin typeface="Courier New"/>
              </a:rPr>
              <a:t>pthread.h</a:t>
            </a:r>
            <a:r>
              <a:rPr lang="en-US" sz="1400">
                <a:latin typeface="Courier New"/>
              </a:rPr>
              <a:t>&gt; </a:t>
            </a:r>
            <a:endParaRPr/>
          </a:p>
          <a:p>
            <a:pPr marL="0" indent="0">
              <a:buFont typeface="Monotype Sorts"/>
              <a:buNone/>
              <a:defRPr/>
            </a:pPr>
            <a:r>
              <a:rPr lang="en-US" sz="1400">
                <a:latin typeface="Courier New"/>
              </a:rPr>
              <a:t>#include &lt;</a:t>
            </a:r>
            <a:r>
              <a:rPr lang="en-US" sz="1400">
                <a:latin typeface="Courier New"/>
              </a:rPr>
              <a:t>stdio.h</a:t>
            </a:r>
            <a:r>
              <a:rPr lang="en-US" sz="1400">
                <a:latin typeface="Courier New"/>
              </a:rPr>
              <a:t>&gt; </a:t>
            </a:r>
            <a:endParaRPr/>
          </a:p>
          <a:p>
            <a:pPr marL="0" indent="0">
              <a:buFont typeface="Monotype Sorts"/>
              <a:buNone/>
              <a:defRPr/>
            </a:pPr>
            <a:r>
              <a:rPr lang="en-US" sz="1400">
                <a:latin typeface="Courier New"/>
              </a:rPr>
              <a:t>#define NUM_THREADS 5 </a:t>
            </a:r>
            <a:endParaRPr/>
          </a:p>
          <a:p>
            <a:pPr marL="0" indent="0">
              <a:buFont typeface="Monotype Sorts"/>
              <a:buNone/>
              <a:defRPr/>
            </a:pPr>
            <a:r>
              <a:rPr lang="en-US" sz="1400">
                <a:latin typeface="Courier New"/>
              </a:rPr>
              <a:t>int main(int </a:t>
            </a:r>
            <a:r>
              <a:rPr lang="en-US" sz="1400">
                <a:latin typeface="Courier New"/>
              </a:rPr>
              <a:t>argc</a:t>
            </a:r>
            <a:r>
              <a:rPr lang="en-US" sz="1400">
                <a:latin typeface="Courier New"/>
              </a:rPr>
              <a:t>, char *</a:t>
            </a:r>
            <a:r>
              <a:rPr lang="en-US" sz="1400">
                <a:latin typeface="Courier New"/>
              </a:rPr>
              <a:t>argv</a:t>
            </a:r>
            <a:r>
              <a:rPr lang="en-US" sz="1400">
                <a:latin typeface="Courier New"/>
              </a:rPr>
              <a:t>[]) { </a:t>
            </a:r>
            <a:endParaRPr/>
          </a:p>
          <a:p>
            <a:pPr marL="0" indent="0">
              <a:buFont typeface="Monotype Sorts"/>
              <a:buNone/>
              <a:defRPr/>
            </a:pPr>
            <a:r>
              <a:rPr lang="en-US" sz="1400">
                <a:latin typeface="Courier New"/>
              </a:rPr>
              <a:t>   int </a:t>
            </a:r>
            <a:r>
              <a:rPr lang="en-US" sz="1400">
                <a:latin typeface="Courier New"/>
              </a:rPr>
              <a:t>i</a:t>
            </a:r>
            <a:r>
              <a:rPr lang="en-US" sz="1400">
                <a:latin typeface="Courier New"/>
              </a:rPr>
              <a:t>, scope;</a:t>
            </a:r>
            <a:br>
              <a:rPr lang="en-US" sz="1400">
                <a:latin typeface="Courier New"/>
              </a:rPr>
            </a:br>
            <a:r>
              <a:rPr lang="en-US" sz="1400">
                <a:latin typeface="Courier New"/>
              </a:rPr>
              <a:t>   </a:t>
            </a:r>
            <a:r>
              <a:rPr lang="en-US" sz="1400">
                <a:latin typeface="Courier New"/>
              </a:rPr>
              <a:t>pthread_t</a:t>
            </a:r>
            <a:r>
              <a:rPr lang="en-US" sz="1400">
                <a:latin typeface="Courier New"/>
              </a:rPr>
              <a:t> </a:t>
            </a:r>
            <a:r>
              <a:rPr lang="en-US" sz="1400">
                <a:latin typeface="Courier New"/>
              </a:rPr>
              <a:t>tid</a:t>
            </a:r>
            <a:r>
              <a:rPr lang="en-US" sz="1400">
                <a:latin typeface="Courier New"/>
              </a:rPr>
              <a:t>[NUM THREADS]; </a:t>
            </a:r>
            <a:endParaRPr/>
          </a:p>
          <a:p>
            <a:pPr marL="0" indent="0">
              <a:buFont typeface="Monotype Sorts"/>
              <a:buNone/>
              <a:defRPr/>
            </a:pPr>
            <a:r>
              <a:rPr lang="en-US" sz="1400">
                <a:latin typeface="Courier New"/>
              </a:rPr>
              <a:t>   </a:t>
            </a:r>
            <a:r>
              <a:rPr lang="en-US" sz="1400">
                <a:latin typeface="Courier New"/>
              </a:rPr>
              <a:t>pthread_attr_t</a:t>
            </a:r>
            <a:r>
              <a:rPr lang="en-US" sz="1400">
                <a:latin typeface="Courier New"/>
              </a:rPr>
              <a:t> </a:t>
            </a:r>
            <a:r>
              <a:rPr lang="en-US" sz="1400">
                <a:latin typeface="Courier New"/>
              </a:rPr>
              <a:t>attr</a:t>
            </a:r>
            <a:r>
              <a:rPr lang="en-US" sz="1400">
                <a:latin typeface="Courier New"/>
              </a:rPr>
              <a:t>; </a:t>
            </a:r>
            <a:endParaRPr/>
          </a:p>
          <a:p>
            <a:pPr marL="0" indent="0">
              <a:buFont typeface="Monotype Sorts"/>
              <a:buNone/>
              <a:defRPr/>
            </a:pPr>
            <a:r>
              <a:rPr lang="en-US" sz="1400">
                <a:latin typeface="Courier New"/>
              </a:rPr>
              <a:t>   /* get the default attributes */ </a:t>
            </a:r>
            <a:endParaRPr/>
          </a:p>
          <a:p>
            <a:pPr marL="0" indent="0">
              <a:buFont typeface="Monotype Sorts"/>
              <a:buNone/>
              <a:defRPr/>
            </a:pPr>
            <a:r>
              <a:rPr lang="en-US" sz="1400">
                <a:latin typeface="Courier New"/>
              </a:rPr>
              <a:t>   </a:t>
            </a:r>
            <a:r>
              <a:rPr lang="en-US" sz="1400">
                <a:latin typeface="Courier New"/>
              </a:rPr>
              <a:t>pthread_attr_init</a:t>
            </a:r>
            <a:r>
              <a:rPr lang="en-US" sz="1400">
                <a:latin typeface="Courier New"/>
              </a:rPr>
              <a:t>(&amp;</a:t>
            </a:r>
            <a:r>
              <a:rPr lang="en-US" sz="1400">
                <a:latin typeface="Courier New"/>
              </a:rPr>
              <a:t>attr</a:t>
            </a:r>
            <a:r>
              <a:rPr lang="en-US" sz="1400">
                <a:latin typeface="Courier New"/>
              </a:rPr>
              <a:t>); </a:t>
            </a:r>
            <a:endParaRPr/>
          </a:p>
          <a:p>
            <a:pPr marL="0" indent="0">
              <a:buFont typeface="Monotype Sorts"/>
              <a:buNone/>
              <a:defRPr/>
            </a:pPr>
            <a:r>
              <a:rPr lang="en-US" sz="1400">
                <a:latin typeface="Courier New"/>
              </a:rPr>
              <a:t>   /* first inquire on the current scope */</a:t>
            </a:r>
            <a:br>
              <a:rPr lang="en-US" sz="1400">
                <a:latin typeface="Courier New"/>
              </a:rPr>
            </a:br>
            <a:r>
              <a:rPr lang="en-US" sz="1400">
                <a:latin typeface="Courier New"/>
              </a:rPr>
              <a:t>   if (</a:t>
            </a:r>
            <a:r>
              <a:rPr lang="en-US" sz="1400">
                <a:latin typeface="Courier New"/>
              </a:rPr>
              <a:t>pthread_attr_getscope</a:t>
            </a:r>
            <a:r>
              <a:rPr lang="en-US" sz="1400">
                <a:latin typeface="Courier New"/>
              </a:rPr>
              <a:t>(&amp;</a:t>
            </a:r>
            <a:r>
              <a:rPr lang="en-US" sz="1400">
                <a:latin typeface="Courier New"/>
              </a:rPr>
              <a:t>attr</a:t>
            </a:r>
            <a:r>
              <a:rPr lang="en-US" sz="1400">
                <a:latin typeface="Courier New"/>
              </a:rPr>
              <a:t>, &amp;scope) != 0) </a:t>
            </a:r>
            <a:endParaRPr/>
          </a:p>
          <a:p>
            <a:pPr marL="0" indent="0">
              <a:buFont typeface="Monotype Sorts"/>
              <a:buNone/>
              <a:defRPr/>
            </a:pPr>
            <a:r>
              <a:rPr lang="en-US" sz="1400">
                <a:latin typeface="Courier New"/>
              </a:rPr>
              <a:t>      </a:t>
            </a:r>
            <a:r>
              <a:rPr lang="en-US" sz="1400">
                <a:latin typeface="Courier New"/>
              </a:rPr>
              <a:t>fprintf</a:t>
            </a:r>
            <a:r>
              <a:rPr lang="en-US" sz="1400">
                <a:latin typeface="Courier New"/>
              </a:rPr>
              <a:t>(stderr, "Unable to get scheduling scope\n"); </a:t>
            </a:r>
            <a:endParaRPr/>
          </a:p>
          <a:p>
            <a:pPr marL="0" indent="0">
              <a:buFont typeface="Monotype Sorts"/>
              <a:buNone/>
              <a:defRPr/>
            </a:pPr>
            <a:r>
              <a:rPr lang="en-US" sz="1400">
                <a:latin typeface="Courier New"/>
              </a:rPr>
              <a:t>   else { </a:t>
            </a:r>
            <a:endParaRPr/>
          </a:p>
          <a:p>
            <a:pPr marL="0" indent="0">
              <a:buFont typeface="Monotype Sorts"/>
              <a:buNone/>
              <a:defRPr/>
            </a:pPr>
            <a:r>
              <a:rPr lang="en-US" sz="1400">
                <a:latin typeface="Courier New"/>
              </a:rPr>
              <a:t>      if (scope == PTHREAD_SCOPE_PROCESS) </a:t>
            </a:r>
            <a:endParaRPr/>
          </a:p>
          <a:p>
            <a:pPr marL="0" indent="0">
              <a:buFont typeface="Monotype Sorts"/>
              <a:buNone/>
              <a:defRPr/>
            </a:pPr>
            <a:r>
              <a:rPr lang="en-US" sz="1400">
                <a:latin typeface="Courier New"/>
              </a:rPr>
              <a:t>         </a:t>
            </a:r>
            <a:r>
              <a:rPr lang="en-US" sz="1400">
                <a:latin typeface="Courier New"/>
              </a:rPr>
              <a:t>printf</a:t>
            </a:r>
            <a:r>
              <a:rPr lang="en-US" sz="1400">
                <a:latin typeface="Courier New"/>
              </a:rPr>
              <a:t>("PTHREAD_SCOPE_PROCESS"); </a:t>
            </a:r>
            <a:endParaRPr/>
          </a:p>
          <a:p>
            <a:pPr marL="0" indent="0">
              <a:buFont typeface="Monotype Sorts"/>
              <a:buNone/>
              <a:defRPr/>
            </a:pPr>
            <a:r>
              <a:rPr lang="en-US" sz="1400">
                <a:latin typeface="Courier New"/>
              </a:rPr>
              <a:t>      else if (scope == PTHREAD_SCOPE_SYSTEM) </a:t>
            </a:r>
            <a:endParaRPr/>
          </a:p>
          <a:p>
            <a:pPr marL="0" indent="0">
              <a:buFont typeface="Monotype Sorts"/>
              <a:buNone/>
              <a:defRPr/>
            </a:pPr>
            <a:r>
              <a:rPr lang="en-US" sz="1400">
                <a:latin typeface="Courier New"/>
              </a:rPr>
              <a:t>         </a:t>
            </a:r>
            <a:r>
              <a:rPr lang="en-US" sz="1400">
                <a:latin typeface="Courier New"/>
              </a:rPr>
              <a:t>printf</a:t>
            </a:r>
            <a:r>
              <a:rPr lang="en-US" sz="1400">
                <a:latin typeface="Courier New"/>
              </a:rPr>
              <a:t>("PTHREAD_SCOPE_SYSTEM"); </a:t>
            </a:r>
            <a:endParaRPr/>
          </a:p>
          <a:p>
            <a:pPr marL="0" indent="0">
              <a:buFont typeface="Monotype Sorts"/>
              <a:buNone/>
              <a:defRPr/>
            </a:pPr>
            <a:r>
              <a:rPr lang="en-US" sz="1400">
                <a:latin typeface="Courier New"/>
              </a:rPr>
              <a:t>      else</a:t>
            </a:r>
            <a:br>
              <a:rPr lang="en-US" sz="1400">
                <a:latin typeface="Courier New"/>
              </a:rPr>
            </a:br>
            <a:r>
              <a:rPr lang="en-US" sz="1400">
                <a:latin typeface="Courier New"/>
              </a:rPr>
              <a:t>         </a:t>
            </a:r>
            <a:r>
              <a:rPr lang="en-US" sz="1400">
                <a:latin typeface="Courier New"/>
              </a:rPr>
              <a:t>fprintf</a:t>
            </a:r>
            <a:r>
              <a:rPr lang="en-US" sz="1400">
                <a:latin typeface="Courier New"/>
              </a:rPr>
              <a:t>(stderr, "Illegal scope value.\n"); </a:t>
            </a:r>
            <a:endParaRPr/>
          </a:p>
          <a:p>
            <a:pPr marL="0" indent="0">
              <a:buFont typeface="Monotype Sorts"/>
              <a:buNone/>
              <a:defRPr/>
            </a:pPr>
            <a:r>
              <a:rPr lang="en-US" sz="1400">
                <a:latin typeface="Courier New"/>
              </a:rPr>
              <a:t>   }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2450694" name="Rectangle 2"/>
          <p:cNvSpPr>
            <a:spLocks noChangeArrowheads="1" noGrp="1"/>
          </p:cNvSpPr>
          <p:nvPr>
            <p:ph type="title"/>
          </p:nvPr>
        </p:nvSpPr>
        <p:spPr bwMode="auto">
          <a:xfrm>
            <a:off x="821093" y="139718"/>
            <a:ext cx="7837714" cy="576262"/>
          </a:xfrm>
        </p:spPr>
        <p:txBody>
          <a:bodyPr/>
          <a:lstStyle/>
          <a:p>
            <a:pPr>
              <a:defRPr/>
            </a:pPr>
            <a:r>
              <a:rPr lang="en-US"/>
              <a:t>Pthread Scheduling API</a:t>
            </a:r>
            <a:endParaRPr/>
          </a:p>
        </p:txBody>
      </p:sp>
      <p:sp>
        <p:nvSpPr>
          <p:cNvPr id="817111545" name="Rectangle 3"/>
          <p:cNvSpPr>
            <a:spLocks noChangeArrowheads="1" noGrp="1"/>
          </p:cNvSpPr>
          <p:nvPr>
            <p:ph type="body" idx="1"/>
          </p:nvPr>
        </p:nvSpPr>
        <p:spPr bwMode="auto">
          <a:xfrm>
            <a:off x="973138" y="1193800"/>
            <a:ext cx="7321550" cy="4765674"/>
          </a:xfrm>
        </p:spPr>
        <p:txBody>
          <a:bodyPr/>
          <a:lstStyle/>
          <a:p>
            <a:pPr marL="0" indent="0">
              <a:buFont typeface="Monotype Sorts"/>
              <a:buNone/>
              <a:defRPr/>
            </a:pPr>
            <a:r>
              <a:rPr lang="en-US" sz="1700">
                <a:latin typeface="Courier New"/>
              </a:rPr>
              <a:t>   /* set the scheduling algorithm to PCS or SCS */ </a:t>
            </a:r>
            <a:endParaRPr/>
          </a:p>
          <a:p>
            <a:pPr marL="0" indent="0">
              <a:buFont typeface="Monotype Sorts"/>
              <a:buNone/>
              <a:defRPr/>
            </a:pPr>
            <a:r>
              <a:rPr lang="en-US" sz="1700">
                <a:latin typeface="Courier New"/>
              </a:rPr>
              <a:t>   </a:t>
            </a:r>
            <a:r>
              <a:rPr lang="en-US" sz="1700">
                <a:latin typeface="Courier New"/>
              </a:rPr>
              <a:t>pthread_attr_setscope</a:t>
            </a:r>
            <a:r>
              <a:rPr lang="en-US" sz="1700">
                <a:latin typeface="Courier New"/>
              </a:rPr>
              <a:t>(&amp;</a:t>
            </a:r>
            <a:r>
              <a:rPr lang="en-US" sz="1700">
                <a:latin typeface="Courier New"/>
              </a:rPr>
              <a:t>attr</a:t>
            </a:r>
            <a:r>
              <a:rPr lang="en-US" sz="1700">
                <a:latin typeface="Courier New"/>
              </a:rPr>
              <a:t>, PTHREAD_SCOPE_SYSTEM); </a:t>
            </a:r>
            <a:endParaRPr/>
          </a:p>
          <a:p>
            <a:pPr marL="0" indent="0">
              <a:buFont typeface="Monotype Sorts"/>
              <a:buNone/>
              <a:defRPr/>
            </a:pPr>
            <a:r>
              <a:rPr lang="en-US" sz="1700">
                <a:latin typeface="Courier New"/>
              </a:rPr>
              <a:t>   /* create the threads */</a:t>
            </a:r>
            <a:br>
              <a:rPr lang="en-US" sz="1700">
                <a:latin typeface="Courier New"/>
              </a:rPr>
            </a:br>
            <a:r>
              <a:rPr lang="en-US" sz="1700">
                <a:latin typeface="Courier New"/>
              </a:rPr>
              <a:t>   for (</a:t>
            </a:r>
            <a:r>
              <a:rPr lang="en-US" sz="1700">
                <a:latin typeface="Courier New"/>
              </a:rPr>
              <a:t>i</a:t>
            </a:r>
            <a:r>
              <a:rPr lang="en-US" sz="1700">
                <a:latin typeface="Courier New"/>
              </a:rPr>
              <a:t> = 0; </a:t>
            </a:r>
            <a:r>
              <a:rPr lang="en-US" sz="1700">
                <a:latin typeface="Courier New"/>
              </a:rPr>
              <a:t>i</a:t>
            </a:r>
            <a:r>
              <a:rPr lang="en-US" sz="1700">
                <a:latin typeface="Courier New"/>
              </a:rPr>
              <a:t> &lt; NUM_THREADS; </a:t>
            </a:r>
            <a:r>
              <a:rPr lang="en-US" sz="1700">
                <a:latin typeface="Courier New"/>
              </a:rPr>
              <a:t>i</a:t>
            </a:r>
            <a:r>
              <a:rPr lang="en-US" sz="1700">
                <a:latin typeface="Courier New"/>
              </a:rPr>
              <a:t>++) </a:t>
            </a:r>
            <a:endParaRPr/>
          </a:p>
          <a:p>
            <a:pPr marL="0" indent="0">
              <a:buFont typeface="Monotype Sorts"/>
              <a:buNone/>
              <a:defRPr/>
            </a:pPr>
            <a:r>
              <a:rPr lang="en-US" sz="1700">
                <a:latin typeface="Courier New"/>
              </a:rPr>
              <a:t>      </a:t>
            </a:r>
            <a:r>
              <a:rPr lang="en-US" sz="1700">
                <a:latin typeface="Courier New"/>
              </a:rPr>
              <a:t>pthread_create</a:t>
            </a:r>
            <a:r>
              <a:rPr lang="en-US" sz="1700">
                <a:latin typeface="Courier New"/>
              </a:rPr>
              <a:t>(&amp;</a:t>
            </a:r>
            <a:r>
              <a:rPr lang="en-US" sz="1700">
                <a:latin typeface="Courier New"/>
              </a:rPr>
              <a:t>tid</a:t>
            </a:r>
            <a:r>
              <a:rPr lang="en-US" sz="1700">
                <a:latin typeface="Courier New"/>
              </a:rPr>
              <a:t>[</a:t>
            </a:r>
            <a:r>
              <a:rPr lang="en-US" sz="1700">
                <a:latin typeface="Courier New"/>
              </a:rPr>
              <a:t>i</a:t>
            </a:r>
            <a:r>
              <a:rPr lang="en-US" sz="1700">
                <a:latin typeface="Courier New"/>
              </a:rPr>
              <a:t>],&amp;</a:t>
            </a:r>
            <a:r>
              <a:rPr lang="en-US" sz="1700">
                <a:latin typeface="Courier New"/>
              </a:rPr>
              <a:t>attr,runner,NULL</a:t>
            </a:r>
            <a:r>
              <a:rPr lang="en-US" sz="1700">
                <a:latin typeface="Courier New"/>
              </a:rPr>
              <a:t>); </a:t>
            </a:r>
            <a:endParaRPr/>
          </a:p>
          <a:p>
            <a:pPr marL="0" indent="0">
              <a:buFont typeface="Monotype Sorts"/>
              <a:buNone/>
              <a:defRPr/>
            </a:pPr>
            <a:r>
              <a:rPr lang="en-US" sz="1700">
                <a:latin typeface="Courier New"/>
              </a:rPr>
              <a:t>   /* now join on each thread */</a:t>
            </a:r>
            <a:br>
              <a:rPr lang="en-US" sz="1700">
                <a:latin typeface="Courier New"/>
              </a:rPr>
            </a:br>
            <a:r>
              <a:rPr lang="en-US" sz="1700">
                <a:latin typeface="Courier New"/>
              </a:rPr>
              <a:t>   for (</a:t>
            </a:r>
            <a:r>
              <a:rPr lang="en-US" sz="1700">
                <a:latin typeface="Courier New"/>
              </a:rPr>
              <a:t>i</a:t>
            </a:r>
            <a:r>
              <a:rPr lang="en-US" sz="1700">
                <a:latin typeface="Courier New"/>
              </a:rPr>
              <a:t> = 0; </a:t>
            </a:r>
            <a:r>
              <a:rPr lang="en-US" sz="1700">
                <a:latin typeface="Courier New"/>
              </a:rPr>
              <a:t>i</a:t>
            </a:r>
            <a:r>
              <a:rPr lang="en-US" sz="1700">
                <a:latin typeface="Courier New"/>
              </a:rPr>
              <a:t> &lt; NUM_THREADS; </a:t>
            </a:r>
            <a:r>
              <a:rPr lang="en-US" sz="1700">
                <a:latin typeface="Courier New"/>
              </a:rPr>
              <a:t>i</a:t>
            </a:r>
            <a:r>
              <a:rPr lang="en-US" sz="1700">
                <a:latin typeface="Courier New"/>
              </a:rPr>
              <a:t>++) </a:t>
            </a:r>
            <a:endParaRPr/>
          </a:p>
          <a:p>
            <a:pPr marL="0" indent="0">
              <a:buFont typeface="Monotype Sorts"/>
              <a:buNone/>
              <a:defRPr/>
            </a:pPr>
            <a:r>
              <a:rPr lang="en-US" sz="1700">
                <a:latin typeface="Courier New"/>
              </a:rPr>
              <a:t>      </a:t>
            </a:r>
            <a:r>
              <a:rPr lang="en-US" sz="1700">
                <a:latin typeface="Courier New"/>
              </a:rPr>
              <a:t>pthread_join</a:t>
            </a:r>
            <a:r>
              <a:rPr lang="en-US" sz="1700">
                <a:latin typeface="Courier New"/>
              </a:rPr>
              <a:t>(</a:t>
            </a:r>
            <a:r>
              <a:rPr lang="en-US" sz="1700">
                <a:latin typeface="Courier New"/>
              </a:rPr>
              <a:t>tid</a:t>
            </a:r>
            <a:r>
              <a:rPr lang="en-US" sz="1700">
                <a:latin typeface="Courier New"/>
              </a:rPr>
              <a:t>[</a:t>
            </a:r>
            <a:r>
              <a:rPr lang="en-US" sz="1700">
                <a:latin typeface="Courier New"/>
              </a:rPr>
              <a:t>i</a:t>
            </a:r>
            <a:r>
              <a:rPr lang="en-US" sz="1700">
                <a:latin typeface="Courier New"/>
              </a:rPr>
              <a:t>], NULL); </a:t>
            </a:r>
            <a:endParaRPr/>
          </a:p>
          <a:p>
            <a:pPr marL="0" indent="0">
              <a:buFont typeface="Monotype Sorts"/>
              <a:buNone/>
              <a:defRPr/>
            </a:pPr>
            <a:r>
              <a:rPr lang="en-US" sz="1700">
                <a:latin typeface="Courier New"/>
              </a:rPr>
              <a:t>} </a:t>
            </a:r>
            <a:endParaRPr/>
          </a:p>
          <a:p>
            <a:pPr marL="0" indent="0">
              <a:buFont typeface="Monotype Sorts"/>
              <a:buNone/>
              <a:defRPr/>
            </a:pPr>
            <a:r>
              <a:rPr lang="en-US" sz="1700">
                <a:latin typeface="Courier New"/>
              </a:rPr>
              <a:t>/* Each thread will begin control in this function */ </a:t>
            </a:r>
            <a:endParaRPr/>
          </a:p>
          <a:p>
            <a:pPr marL="0" indent="0">
              <a:buFont typeface="Monotype Sorts"/>
              <a:buNone/>
              <a:defRPr/>
            </a:pPr>
            <a:r>
              <a:rPr lang="en-US" sz="1700">
                <a:latin typeface="Courier New"/>
              </a:rPr>
              <a:t>void *runner(void *param)</a:t>
            </a:r>
            <a:br>
              <a:rPr lang="en-US" sz="1700">
                <a:latin typeface="Courier New"/>
              </a:rPr>
            </a:br>
            <a:r>
              <a:rPr lang="en-US" sz="1700">
                <a:latin typeface="Courier New"/>
              </a:rPr>
              <a:t>{ </a:t>
            </a:r>
            <a:endParaRPr/>
          </a:p>
          <a:p>
            <a:pPr marL="0" indent="0">
              <a:buFont typeface="Monotype Sorts"/>
              <a:buNone/>
              <a:defRPr/>
            </a:pPr>
            <a:r>
              <a:rPr lang="en-US" sz="1700">
                <a:latin typeface="Courier New"/>
              </a:rPr>
              <a:t>   /* do some work ... */ </a:t>
            </a:r>
            <a:endParaRPr/>
          </a:p>
          <a:p>
            <a:pPr marL="0" indent="0">
              <a:buFont typeface="Monotype Sorts"/>
              <a:buNone/>
              <a:defRPr/>
            </a:pPr>
            <a:r>
              <a:rPr lang="en-US" sz="1700">
                <a:latin typeface="Courier New"/>
              </a:rPr>
              <a:t>   </a:t>
            </a:r>
            <a:r>
              <a:rPr lang="en-US" sz="1700">
                <a:latin typeface="Courier New"/>
              </a:rPr>
              <a:t>pthread_exit</a:t>
            </a:r>
            <a:r>
              <a:rPr lang="en-US" sz="1700">
                <a:latin typeface="Courier New"/>
              </a:rPr>
              <a:t>(0); </a:t>
            </a:r>
            <a:endParaRPr/>
          </a:p>
          <a:p>
            <a:pPr marL="0" indent="0">
              <a:buFont typeface="Monotype Sorts"/>
              <a:buNone/>
              <a:defRPr/>
            </a:pPr>
            <a:r>
              <a:rPr lang="en-US" sz="1700">
                <a:latin typeface="Courier New"/>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3863935" name="Rectangle 2"/>
          <p:cNvSpPr>
            <a:spLocks noChangeArrowheads="1" noGrp="1"/>
          </p:cNvSpPr>
          <p:nvPr>
            <p:ph type="title"/>
          </p:nvPr>
        </p:nvSpPr>
        <p:spPr bwMode="auto">
          <a:xfrm>
            <a:off x="963613" y="121920"/>
            <a:ext cx="7723187" cy="601892"/>
          </a:xfrm>
        </p:spPr>
        <p:txBody>
          <a:bodyPr/>
          <a:lstStyle/>
          <a:p>
            <a:pPr>
              <a:defRPr/>
            </a:pPr>
            <a:r>
              <a:rPr lang="en-US"/>
              <a:t>Multiple-Processor Scheduling</a:t>
            </a:r>
            <a:endParaRPr/>
          </a:p>
        </p:txBody>
      </p:sp>
      <p:sp>
        <p:nvSpPr>
          <p:cNvPr id="1531013427" name="Rectangle 3"/>
          <p:cNvSpPr>
            <a:spLocks noChangeArrowheads="1" noGrp="1"/>
          </p:cNvSpPr>
          <p:nvPr>
            <p:ph type="body" idx="1"/>
          </p:nvPr>
        </p:nvSpPr>
        <p:spPr bwMode="auto">
          <a:xfrm>
            <a:off x="774441" y="1122363"/>
            <a:ext cx="7788501" cy="4808537"/>
          </a:xfrm>
        </p:spPr>
        <p:txBody>
          <a:bodyPr/>
          <a:lstStyle/>
          <a:p>
            <a:pPr>
              <a:defRPr/>
            </a:pPr>
            <a:r>
              <a:rPr lang="en-US"/>
              <a:t>CPU scheduling more complex when multiple CPUs are available</a:t>
            </a:r>
            <a:endParaRPr/>
          </a:p>
          <a:p>
            <a:pPr>
              <a:defRPr/>
            </a:pPr>
            <a:r>
              <a:rPr lang="en-US"/>
              <a:t>Multiprocess</a:t>
            </a:r>
            <a:r>
              <a:rPr lang="en-US"/>
              <a:t> may be any one of the following architectures:</a:t>
            </a:r>
            <a:endParaRPr lang="en-US" sz="800"/>
          </a:p>
          <a:p>
            <a:pPr lvl="1">
              <a:defRPr/>
            </a:pPr>
            <a:r>
              <a:rPr lang="en-US"/>
              <a:t>Multicore CPUs</a:t>
            </a:r>
            <a:endParaRPr/>
          </a:p>
          <a:p>
            <a:pPr lvl="1">
              <a:defRPr/>
            </a:pPr>
            <a:r>
              <a:rPr lang="en-US"/>
              <a:t>Multithreaded cores</a:t>
            </a:r>
            <a:endParaRPr/>
          </a:p>
          <a:p>
            <a:pPr lvl="1">
              <a:defRPr/>
            </a:pPr>
            <a:r>
              <a:rPr lang="en-US"/>
              <a:t>NUMA systems</a:t>
            </a:r>
            <a:endParaRPr/>
          </a:p>
          <a:p>
            <a:pPr lvl="1">
              <a:defRPr/>
            </a:pPr>
            <a:r>
              <a:rPr lang="en-US"/>
              <a:t>Heterogeneous multiprocessing</a:t>
            </a:r>
            <a:endParaRPr/>
          </a:p>
          <a:p>
            <a:pPr lvl="1">
              <a:defRPr/>
            </a:pPr>
            <a:endParaRPr lang="en-US" b="1">
              <a:solidFill>
                <a:srgbClr val="3366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3868620" name="Title 1"/>
          <p:cNvSpPr>
            <a:spLocks noGrp="1"/>
          </p:cNvSpPr>
          <p:nvPr>
            <p:ph type="title"/>
          </p:nvPr>
        </p:nvSpPr>
        <p:spPr bwMode="auto">
          <a:xfrm>
            <a:off x="894080" y="173722"/>
            <a:ext cx="8229600" cy="576262"/>
          </a:xfrm>
        </p:spPr>
        <p:txBody>
          <a:bodyPr/>
          <a:lstStyle/>
          <a:p>
            <a:pPr>
              <a:defRPr/>
            </a:pPr>
            <a:r>
              <a:rPr lang="en-US"/>
              <a:t>Multiple-Processor Scheduling</a:t>
            </a:r>
            <a:endParaRPr/>
          </a:p>
        </p:txBody>
      </p:sp>
      <p:sp>
        <p:nvSpPr>
          <p:cNvPr id="1501122699" name="Content Placeholder 2"/>
          <p:cNvSpPr>
            <a:spLocks noGrp="1"/>
          </p:cNvSpPr>
          <p:nvPr>
            <p:ph idx="1"/>
          </p:nvPr>
        </p:nvSpPr>
        <p:spPr bwMode="auto"/>
        <p:txBody>
          <a:bodyPr/>
          <a:lstStyle/>
          <a:p>
            <a:pPr>
              <a:defRPr/>
            </a:pPr>
            <a:r>
              <a:rPr lang="en-US"/>
              <a:t>Symmetric multiprocessing (SMP) is where each processor is self scheduling.</a:t>
            </a:r>
            <a:endParaRPr/>
          </a:p>
          <a:p>
            <a:pPr>
              <a:defRPr/>
            </a:pPr>
            <a:r>
              <a:rPr lang="en-US"/>
              <a:t>All threads may be in a common ready queue (a)</a:t>
            </a:r>
            <a:endParaRPr/>
          </a:p>
          <a:p>
            <a:pPr>
              <a:defRPr/>
            </a:pPr>
            <a:r>
              <a:rPr lang="en-US"/>
              <a:t>Each processor may have its own private queue of threads (b)</a:t>
            </a:r>
            <a:endParaRPr/>
          </a:p>
        </p:txBody>
      </p:sp>
      <p:pic>
        <p:nvPicPr>
          <p:cNvPr id="1034181803" name="Picture 3"/>
          <p:cNvPicPr>
            <a:picLocks noChangeAspect="1"/>
          </p:cNvPicPr>
          <p:nvPr/>
        </p:nvPicPr>
        <p:blipFill rotWithShape="1">
          <a:blip r:embed="rId3"/>
          <a:stretch/>
        </p:blipFill>
        <p:spPr bwMode="auto">
          <a:xfrm>
            <a:off x="1882775" y="2901950"/>
            <a:ext cx="5381625" cy="27844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4812370" name="Title 1"/>
          <p:cNvSpPr>
            <a:spLocks noGrp="1"/>
          </p:cNvSpPr>
          <p:nvPr>
            <p:ph type="title"/>
          </p:nvPr>
        </p:nvSpPr>
        <p:spPr bwMode="auto">
          <a:xfrm>
            <a:off x="865188" y="121920"/>
            <a:ext cx="7821612" cy="575610"/>
          </a:xfrm>
        </p:spPr>
        <p:txBody>
          <a:bodyPr/>
          <a:lstStyle/>
          <a:p>
            <a:pPr>
              <a:defRPr/>
            </a:pPr>
            <a:r>
              <a:rPr lang="en-US"/>
              <a:t>Multicore Processors</a:t>
            </a:r>
            <a:endParaRPr/>
          </a:p>
        </p:txBody>
      </p:sp>
      <p:sp>
        <p:nvSpPr>
          <p:cNvPr id="794748837" name="Content Placeholder 2"/>
          <p:cNvSpPr>
            <a:spLocks noGrp="1"/>
          </p:cNvSpPr>
          <p:nvPr>
            <p:ph idx="1"/>
          </p:nvPr>
        </p:nvSpPr>
        <p:spPr bwMode="auto">
          <a:xfrm>
            <a:off x="802434" y="1020128"/>
            <a:ext cx="7669761" cy="4530725"/>
          </a:xfrm>
        </p:spPr>
        <p:txBody>
          <a:bodyPr/>
          <a:lstStyle/>
          <a:p>
            <a:pPr>
              <a:defRPr/>
            </a:pPr>
            <a:r>
              <a:rPr lang="en-US"/>
              <a:t>Recent trend to place multiple processor cores on same physical chip</a:t>
            </a:r>
            <a:endParaRPr/>
          </a:p>
          <a:p>
            <a:pPr>
              <a:defRPr/>
            </a:pPr>
            <a:r>
              <a:rPr lang="en-US"/>
              <a:t>Faster and consumes less power</a:t>
            </a:r>
            <a:endParaRPr/>
          </a:p>
          <a:p>
            <a:pPr>
              <a:defRPr/>
            </a:pPr>
            <a:r>
              <a:rPr lang="en-US"/>
              <a:t>Multiple threads per core also growing</a:t>
            </a:r>
            <a:endParaRPr/>
          </a:p>
          <a:p>
            <a:pPr lvl="1">
              <a:defRPr/>
            </a:pPr>
            <a:r>
              <a:rPr lang="en-US"/>
              <a:t>Takes advantage of memory stall to make progress on another thread while memory retrieve happens</a:t>
            </a:r>
            <a:endParaRPr/>
          </a:p>
          <a:p>
            <a:pPr>
              <a:defRPr/>
            </a:pPr>
            <a:r>
              <a:rPr lang="en-US"/>
              <a:t>Figure</a:t>
            </a:r>
            <a:endParaRPr/>
          </a:p>
          <a:p>
            <a:pPr lvl="1">
              <a:defRPr/>
            </a:pPr>
            <a:endParaRPr lang="en-US"/>
          </a:p>
          <a:p>
            <a:pPr lvl="1">
              <a:buFont typeface="Monotype Sorts"/>
              <a:buNone/>
              <a:defRPr/>
            </a:pPr>
            <a:r>
              <a:rPr lang="en-US"/>
              <a:t> </a:t>
            </a:r>
            <a:endParaRPr/>
          </a:p>
        </p:txBody>
      </p:sp>
      <p:pic>
        <p:nvPicPr>
          <p:cNvPr id="893212185" name="Picture 1"/>
          <p:cNvPicPr>
            <a:picLocks noChangeAspect="1"/>
          </p:cNvPicPr>
          <p:nvPr/>
        </p:nvPicPr>
        <p:blipFill rotWithShape="1">
          <a:blip r:embed="rId3"/>
          <a:stretch/>
        </p:blipFill>
        <p:spPr bwMode="auto">
          <a:xfrm>
            <a:off x="1674737" y="3286759"/>
            <a:ext cx="5733565" cy="140803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9393766" name="Rectangle 2"/>
          <p:cNvSpPr>
            <a:spLocks noChangeArrowheads="1" noGrp="1"/>
          </p:cNvSpPr>
          <p:nvPr>
            <p:ph type="title"/>
          </p:nvPr>
        </p:nvSpPr>
        <p:spPr bwMode="auto">
          <a:xfrm>
            <a:off x="963613" y="121920"/>
            <a:ext cx="7723187" cy="601892"/>
          </a:xfrm>
        </p:spPr>
        <p:txBody>
          <a:bodyPr/>
          <a:lstStyle/>
          <a:p>
            <a:pPr>
              <a:defRPr/>
            </a:pPr>
            <a:r>
              <a:rPr lang="en-US"/>
              <a:t>Multithreaded Multicore System</a:t>
            </a:r>
            <a:endParaRPr/>
          </a:p>
        </p:txBody>
      </p:sp>
      <p:sp>
        <p:nvSpPr>
          <p:cNvPr id="1571494367" name="Rectangle 3"/>
          <p:cNvSpPr>
            <a:spLocks noChangeArrowheads="1" noGrp="1"/>
          </p:cNvSpPr>
          <p:nvPr>
            <p:ph type="body" idx="1"/>
          </p:nvPr>
        </p:nvSpPr>
        <p:spPr bwMode="auto">
          <a:xfrm>
            <a:off x="774441" y="1122363"/>
            <a:ext cx="7788501" cy="4808537"/>
          </a:xfrm>
        </p:spPr>
        <p:txBody>
          <a:bodyPr/>
          <a:lstStyle/>
          <a:p>
            <a:pPr>
              <a:defRPr/>
            </a:pPr>
            <a:r>
              <a:rPr lang="en-US"/>
              <a:t>Each core has &gt; 1 hardware threads. </a:t>
            </a:r>
            <a:endParaRPr/>
          </a:p>
          <a:p>
            <a:pPr>
              <a:defRPr/>
            </a:pPr>
            <a:r>
              <a:rPr lang="en-US"/>
              <a:t>If one thread has a memory stall, switch to another thread!</a:t>
            </a:r>
            <a:endParaRPr/>
          </a:p>
          <a:p>
            <a:pPr>
              <a:defRPr/>
            </a:pPr>
            <a:r>
              <a:rPr lang="en-US"/>
              <a:t>Figure</a:t>
            </a:r>
            <a:endParaRPr/>
          </a:p>
          <a:p>
            <a:pPr>
              <a:defRPr/>
            </a:pPr>
            <a:endParaRPr lang="en-US"/>
          </a:p>
          <a:p>
            <a:pPr>
              <a:defRPr/>
            </a:pPr>
            <a:endParaRPr lang="en-US"/>
          </a:p>
          <a:p>
            <a:pPr>
              <a:spcBef>
                <a:spcPts val="0"/>
              </a:spcBef>
              <a:buClrTx/>
              <a:buSzTx/>
              <a:buFontTx/>
              <a:buNone/>
              <a:defRPr/>
            </a:pPr>
            <a:endParaRPr lang="en-US"/>
          </a:p>
          <a:p>
            <a:pPr>
              <a:defRPr/>
            </a:pPr>
            <a:endParaRPr lang="en-US"/>
          </a:p>
        </p:txBody>
      </p:sp>
      <p:pic>
        <p:nvPicPr>
          <p:cNvPr id="1309536513" name="Picture 2"/>
          <p:cNvPicPr>
            <a:picLocks noChangeAspect="1"/>
          </p:cNvPicPr>
          <p:nvPr/>
        </p:nvPicPr>
        <p:blipFill rotWithShape="1">
          <a:blip r:embed="rId3"/>
          <a:stretch/>
        </p:blipFill>
        <p:spPr bwMode="auto">
          <a:xfrm>
            <a:off x="1402080" y="2408059"/>
            <a:ext cx="5927090" cy="144734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1618480" name="Content Placeholder 2"/>
          <p:cNvSpPr>
            <a:spLocks noGrp="1"/>
          </p:cNvSpPr>
          <p:nvPr>
            <p:ph idx="1"/>
          </p:nvPr>
        </p:nvSpPr>
        <p:spPr bwMode="auto">
          <a:xfrm>
            <a:off x="806450" y="1046480"/>
            <a:ext cx="3775075" cy="4524693"/>
          </a:xfrm>
        </p:spPr>
        <p:txBody>
          <a:bodyPr/>
          <a:lstStyle/>
          <a:p>
            <a:pPr>
              <a:defRPr/>
            </a:pPr>
            <a:r>
              <a:rPr lang="en-US" b="1"/>
              <a:t>Chip-multithreading</a:t>
            </a:r>
            <a:r>
              <a:rPr lang="en-US"/>
              <a:t> (CMT) assigns each core multiple hardware threads. (Intel refers to this as </a:t>
            </a:r>
            <a:r>
              <a:rPr lang="en-US" b="1"/>
              <a:t>hyperthreading</a:t>
            </a:r>
            <a:r>
              <a:rPr lang="en-US"/>
              <a:t>.)</a:t>
            </a:r>
            <a:br>
              <a:rPr lang="en-US"/>
            </a:br>
            <a:br>
              <a:rPr lang="en-US"/>
            </a:br>
            <a:br>
              <a:rPr lang="en-US"/>
            </a:br>
            <a:br>
              <a:rPr lang="en-US"/>
            </a:br>
            <a:endParaRPr lang="en-US"/>
          </a:p>
          <a:p>
            <a:pPr>
              <a:defRPr/>
            </a:pPr>
            <a:r>
              <a:rPr lang="en-US"/>
              <a:t>On a quad-core system with 2 hardware threads per core, the operating system sees 8 logical processors.</a:t>
            </a:r>
            <a:endParaRPr/>
          </a:p>
          <a:p>
            <a:pPr>
              <a:defRPr/>
            </a:pPr>
            <a:endParaRPr lang="en-US"/>
          </a:p>
        </p:txBody>
      </p:sp>
      <p:pic>
        <p:nvPicPr>
          <p:cNvPr id="423536409" name="Picture 3"/>
          <p:cNvPicPr>
            <a:picLocks noChangeAspect="1"/>
          </p:cNvPicPr>
          <p:nvPr/>
        </p:nvPicPr>
        <p:blipFill rotWithShape="1">
          <a:blip r:embed="rId3"/>
          <a:stretch/>
        </p:blipFill>
        <p:spPr bwMode="auto">
          <a:xfrm>
            <a:off x="5122863" y="1229360"/>
            <a:ext cx="3284537" cy="4753928"/>
          </a:xfrm>
          <a:prstGeom prst="rect">
            <a:avLst/>
          </a:prstGeom>
          <a:noFill/>
          <a:ln>
            <a:noFill/>
          </a:ln>
        </p:spPr>
      </p:pic>
      <p:sp>
        <p:nvSpPr>
          <p:cNvPr id="333334247" name="Title 1"/>
          <p:cNvSpPr>
            <a:spLocks noGrp="1"/>
          </p:cNvSpPr>
          <p:nvPr>
            <p:ph type="title"/>
          </p:nvPr>
        </p:nvSpPr>
        <p:spPr bwMode="auto">
          <a:xfrm>
            <a:off x="1166328" y="123751"/>
            <a:ext cx="7557796" cy="576262"/>
          </a:xfrm>
        </p:spPr>
        <p:txBody>
          <a:bodyPr/>
          <a:lstStyle/>
          <a:p>
            <a:pPr>
              <a:defRPr/>
            </a:pPr>
            <a:r>
              <a:rPr lang="en-US"/>
              <a:t>Multithreaded Multicore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090208" name="Title 1"/>
          <p:cNvSpPr>
            <a:spLocks noGrp="1"/>
          </p:cNvSpPr>
          <p:nvPr>
            <p:ph type="title"/>
          </p:nvPr>
        </p:nvSpPr>
        <p:spPr bwMode="auto">
          <a:xfrm>
            <a:off x="1045032" y="123751"/>
            <a:ext cx="7809722" cy="576262"/>
          </a:xfrm>
        </p:spPr>
        <p:txBody>
          <a:bodyPr/>
          <a:lstStyle/>
          <a:p>
            <a:pPr>
              <a:defRPr/>
            </a:pPr>
            <a:r>
              <a:rPr lang="en-US"/>
              <a:t>Multithreaded Multicore System</a:t>
            </a:r>
            <a:endParaRPr/>
          </a:p>
        </p:txBody>
      </p:sp>
      <p:sp>
        <p:nvSpPr>
          <p:cNvPr id="378200556" name="Content Placeholder 2"/>
          <p:cNvSpPr>
            <a:spLocks noGrp="1"/>
          </p:cNvSpPr>
          <p:nvPr>
            <p:ph idx="1"/>
          </p:nvPr>
        </p:nvSpPr>
        <p:spPr bwMode="auto">
          <a:xfrm>
            <a:off x="774442" y="1260475"/>
            <a:ext cx="3173672" cy="4530725"/>
          </a:xfrm>
        </p:spPr>
        <p:txBody>
          <a:bodyPr/>
          <a:lstStyle/>
          <a:p>
            <a:pPr>
              <a:defRPr/>
            </a:pPr>
            <a:r>
              <a:rPr lang="en-US"/>
              <a:t>Two levels of scheduling:</a:t>
            </a:r>
            <a:br>
              <a:rPr lang="en-US"/>
            </a:br>
            <a:endParaRPr lang="en-US"/>
          </a:p>
          <a:p>
            <a:pPr lvl="1">
              <a:buFont typeface="Arial"/>
              <a:buAutoNum type="arabicPeriod"/>
              <a:defRPr/>
            </a:pPr>
            <a:r>
              <a:rPr lang="en-US"/>
              <a:t>The operating system deciding which software thread to run on a logical CPU</a:t>
            </a:r>
            <a:br>
              <a:rPr lang="en-US"/>
            </a:br>
            <a:br>
              <a:rPr lang="en-US"/>
            </a:br>
            <a:endParaRPr lang="en-US"/>
          </a:p>
          <a:p>
            <a:pPr lvl="1">
              <a:buFont typeface="Arial"/>
              <a:buAutoNum type="arabicPeriod"/>
              <a:defRPr/>
            </a:pPr>
            <a:r>
              <a:rPr lang="en-US"/>
              <a:t>How each core decides which hardware thread to run on the physical core.</a:t>
            </a:r>
            <a:br>
              <a:rPr lang="en-US"/>
            </a:br>
            <a:br>
              <a:rPr lang="en-US"/>
            </a:br>
            <a:br>
              <a:rPr lang="en-US"/>
            </a:br>
            <a:endParaRPr lang="en-US"/>
          </a:p>
        </p:txBody>
      </p:sp>
      <p:pic>
        <p:nvPicPr>
          <p:cNvPr id="848877791" name="Picture 4"/>
          <p:cNvPicPr>
            <a:picLocks noChangeAspect="1"/>
          </p:cNvPicPr>
          <p:nvPr/>
        </p:nvPicPr>
        <p:blipFill rotWithShape="1">
          <a:blip r:embed="rId3"/>
          <a:stretch/>
        </p:blipFill>
        <p:spPr bwMode="auto">
          <a:xfrm>
            <a:off x="3948113" y="1190625"/>
            <a:ext cx="5087937" cy="39528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154153" name="Rectangle 2"/>
          <p:cNvSpPr>
            <a:spLocks noChangeArrowheads="1" noGrp="1"/>
          </p:cNvSpPr>
          <p:nvPr>
            <p:ph type="title"/>
          </p:nvPr>
        </p:nvSpPr>
        <p:spPr bwMode="auto">
          <a:xfrm>
            <a:off x="1075512" y="121920"/>
            <a:ext cx="7917024" cy="566312"/>
          </a:xfrm>
        </p:spPr>
        <p:txBody>
          <a:bodyPr/>
          <a:lstStyle/>
          <a:p>
            <a:pPr>
              <a:defRPr/>
            </a:pPr>
            <a:r>
              <a:rPr lang="en-US" sz="2400"/>
              <a:t>Multiple-Processor Scheduling – Load Balancing</a:t>
            </a:r>
            <a:endParaRPr/>
          </a:p>
        </p:txBody>
      </p:sp>
      <p:sp>
        <p:nvSpPr>
          <p:cNvPr id="1134344112" name="Rectangle 3"/>
          <p:cNvSpPr>
            <a:spLocks noChangeArrowheads="1" noGrp="1"/>
          </p:cNvSpPr>
          <p:nvPr>
            <p:ph type="body" idx="1"/>
          </p:nvPr>
        </p:nvSpPr>
        <p:spPr bwMode="auto">
          <a:xfrm>
            <a:off x="765109" y="1030289"/>
            <a:ext cx="7200331" cy="4699952"/>
          </a:xfrm>
        </p:spPr>
        <p:txBody>
          <a:bodyPr/>
          <a:lstStyle/>
          <a:p>
            <a:pPr>
              <a:defRPr/>
            </a:pPr>
            <a:r>
              <a:rPr lang="en-US"/>
              <a:t>If SMP, need to keep all CPUs loaded for efficiency</a:t>
            </a:r>
            <a:endParaRPr/>
          </a:p>
          <a:p>
            <a:pPr>
              <a:defRPr/>
            </a:pPr>
            <a:r>
              <a:rPr lang="en-US" b="1">
                <a:solidFill>
                  <a:srgbClr val="006699"/>
                </a:solidFill>
                <a:latin typeface="+mj-lt"/>
              </a:rPr>
              <a:t>Load</a:t>
            </a:r>
            <a:r>
              <a:rPr lang="en-US" b="1">
                <a:solidFill>
                  <a:srgbClr val="3366FF"/>
                </a:solidFill>
              </a:rPr>
              <a:t> </a:t>
            </a:r>
            <a:r>
              <a:rPr lang="en-US" b="1">
                <a:solidFill>
                  <a:srgbClr val="006699"/>
                </a:solidFill>
                <a:latin typeface="+mj-lt"/>
              </a:rPr>
              <a:t>balancing</a:t>
            </a:r>
            <a:r>
              <a:rPr lang="en-US" b="1">
                <a:solidFill>
                  <a:srgbClr val="3366FF"/>
                </a:solidFill>
              </a:rPr>
              <a:t> </a:t>
            </a:r>
            <a:r>
              <a:rPr lang="en-US"/>
              <a:t>attempts to keep workload evenly distributed</a:t>
            </a:r>
            <a:endParaRPr/>
          </a:p>
          <a:p>
            <a:pPr>
              <a:defRPr/>
            </a:pPr>
            <a:r>
              <a:rPr lang="en-US" b="1">
                <a:solidFill>
                  <a:srgbClr val="006699"/>
                </a:solidFill>
                <a:latin typeface="+mj-lt"/>
              </a:rPr>
              <a:t>Push</a:t>
            </a:r>
            <a:r>
              <a:rPr lang="en-US" b="1">
                <a:solidFill>
                  <a:srgbClr val="3366FF"/>
                </a:solidFill>
              </a:rPr>
              <a:t> </a:t>
            </a:r>
            <a:r>
              <a:rPr lang="en-US" b="1">
                <a:solidFill>
                  <a:srgbClr val="006699"/>
                </a:solidFill>
                <a:latin typeface="+mj-lt"/>
              </a:rPr>
              <a:t>migration</a:t>
            </a:r>
            <a:r>
              <a:rPr lang="en-US" b="1">
                <a:solidFill>
                  <a:srgbClr val="3366FF"/>
                </a:solidFill>
              </a:rPr>
              <a:t> </a:t>
            </a:r>
            <a:r>
              <a:rPr lang="en-US"/>
              <a:t>– periodic task checks load on each processor, and if found pushes task from overloaded CPU to other CPUs</a:t>
            </a:r>
            <a:endParaRPr lang="en-US" b="1">
              <a:solidFill>
                <a:srgbClr val="3366FF"/>
              </a:solidFill>
            </a:endParaRPr>
          </a:p>
          <a:p>
            <a:pPr>
              <a:defRPr/>
            </a:pPr>
            <a:r>
              <a:rPr lang="en-US" b="1">
                <a:solidFill>
                  <a:srgbClr val="006699"/>
                </a:solidFill>
                <a:latin typeface="+mj-lt"/>
              </a:rPr>
              <a:t>Pull</a:t>
            </a:r>
            <a:r>
              <a:rPr lang="en-US" b="1">
                <a:solidFill>
                  <a:srgbClr val="3366FF"/>
                </a:solidFill>
              </a:rPr>
              <a:t> </a:t>
            </a:r>
            <a:r>
              <a:rPr lang="en-US" b="1">
                <a:solidFill>
                  <a:srgbClr val="006699"/>
                </a:solidFill>
                <a:latin typeface="+mj-lt"/>
              </a:rPr>
              <a:t>migration</a:t>
            </a:r>
            <a:r>
              <a:rPr lang="en-US" b="1">
                <a:solidFill>
                  <a:srgbClr val="3366FF"/>
                </a:solidFill>
              </a:rPr>
              <a:t> </a:t>
            </a:r>
            <a:r>
              <a:rPr lang="en-US"/>
              <a:t>– idle processors pulls waiting task from busy processor</a:t>
            </a:r>
            <a:endParaRPr/>
          </a:p>
          <a:p>
            <a:pPr>
              <a:defRPr/>
            </a:pPr>
            <a:endParaRPr lang="en-US" sz="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2907091" name="Rectangle 2"/>
          <p:cNvSpPr>
            <a:spLocks noChangeArrowheads="1" noGrp="1"/>
          </p:cNvSpPr>
          <p:nvPr>
            <p:ph type="title"/>
          </p:nvPr>
        </p:nvSpPr>
        <p:spPr bwMode="auto">
          <a:xfrm>
            <a:off x="982028" y="142240"/>
            <a:ext cx="8253411" cy="535832"/>
          </a:xfrm>
        </p:spPr>
        <p:txBody>
          <a:bodyPr/>
          <a:lstStyle/>
          <a:p>
            <a:pPr>
              <a:defRPr/>
            </a:pPr>
            <a:r>
              <a:rPr lang="en-US" sz="2400"/>
              <a:t>Multiple-Processor Scheduling – Processor Affinity</a:t>
            </a:r>
            <a:endParaRPr/>
          </a:p>
        </p:txBody>
      </p:sp>
      <p:sp>
        <p:nvSpPr>
          <p:cNvPr id="686857139" name="Rectangle 3"/>
          <p:cNvSpPr>
            <a:spLocks noChangeArrowheads="1" noGrp="1"/>
          </p:cNvSpPr>
          <p:nvPr>
            <p:ph type="body" idx="1"/>
          </p:nvPr>
        </p:nvSpPr>
        <p:spPr bwMode="auto">
          <a:xfrm>
            <a:off x="774441" y="1070928"/>
            <a:ext cx="7763069" cy="4808537"/>
          </a:xfrm>
        </p:spPr>
        <p:txBody>
          <a:bodyPr/>
          <a:lstStyle/>
          <a:p>
            <a:pPr>
              <a:defRPr/>
            </a:pPr>
            <a:r>
              <a:rPr lang="en-US"/>
              <a:t>When a thread has been running on one processor, the cache contents of that processor stores the memory accesses by that thread.</a:t>
            </a:r>
            <a:endParaRPr/>
          </a:p>
          <a:p>
            <a:pPr>
              <a:defRPr/>
            </a:pPr>
            <a:r>
              <a:rPr lang="en-US"/>
              <a:t>We refer to this as a thread having affinity for a processor (i.e., “processor affinity”)</a:t>
            </a:r>
            <a:endParaRPr/>
          </a:p>
          <a:p>
            <a:pPr>
              <a:defRPr/>
            </a:pPr>
            <a:r>
              <a:rPr lang="en-US"/>
              <a:t>Load balancing may affect processor affinity as a thread may be moved from one processor to another to balance loads, yet that thread loses the contents of what it had in the cache of the processor it was moved off of.</a:t>
            </a:r>
            <a:endParaRPr/>
          </a:p>
          <a:p>
            <a:pPr>
              <a:defRPr/>
            </a:pPr>
            <a:r>
              <a:rPr lang="en-US" b="1"/>
              <a:t>Soft affinity </a:t>
            </a:r>
            <a:r>
              <a:rPr lang="en-US"/>
              <a:t>– the operating system attempts to keep a thread running on the same processor, but no guarantees.</a:t>
            </a:r>
            <a:endParaRPr/>
          </a:p>
          <a:p>
            <a:pPr>
              <a:defRPr/>
            </a:pPr>
            <a:r>
              <a:rPr lang="en-US" b="1"/>
              <a:t>Hard affinity </a:t>
            </a:r>
            <a:r>
              <a:rPr lang="en-US"/>
              <a:t>– allows a process to specify a set of processors it may run on.</a:t>
            </a:r>
            <a:endParaRPr/>
          </a:p>
          <a:p>
            <a:pPr>
              <a:defRPr/>
            </a:pPr>
            <a:endParaRPr lang="en-US" sz="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0212567" name="Title 1"/>
          <p:cNvSpPr>
            <a:spLocks noGrp="1"/>
          </p:cNvSpPr>
          <p:nvPr>
            <p:ph type="title"/>
          </p:nvPr>
        </p:nvSpPr>
        <p:spPr bwMode="auto">
          <a:xfrm>
            <a:off x="1119188" y="91440"/>
            <a:ext cx="7567612" cy="653468"/>
          </a:xfrm>
        </p:spPr>
        <p:txBody>
          <a:bodyPr/>
          <a:lstStyle/>
          <a:p>
            <a:pPr>
              <a:defRPr/>
            </a:pPr>
            <a:r>
              <a:rPr lang="en-US"/>
              <a:t>NUMA and CPU Scheduling</a:t>
            </a:r>
            <a:endParaRPr/>
          </a:p>
        </p:txBody>
      </p:sp>
      <p:pic>
        <p:nvPicPr>
          <p:cNvPr id="2047566691" name="Picture 1" descr="6_09.pdf"/>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818012" y="1869440"/>
            <a:ext cx="6021062" cy="3666490"/>
          </a:xfrm>
          <a:prstGeom prst="rect">
            <a:avLst/>
          </a:prstGeom>
          <a:noFill/>
          <a:ln>
            <a:noFill/>
          </a:ln>
        </p:spPr>
      </p:pic>
      <p:sp>
        <p:nvSpPr>
          <p:cNvPr id="23194443" name="TextBox 1"/>
          <p:cNvSpPr txBox="1">
            <a:spLocks noChangeArrowheads="1"/>
          </p:cNvSpPr>
          <p:nvPr/>
        </p:nvSpPr>
        <p:spPr bwMode="auto">
          <a:xfrm>
            <a:off x="1119187" y="1049973"/>
            <a:ext cx="7278363" cy="646331"/>
          </a:xfrm>
          <a:prstGeom prst="rect">
            <a:avLst/>
          </a:prstGeom>
          <a:noFill/>
          <a:ln>
            <a:noFill/>
          </a:ln>
        </p:spPr>
        <p:txBody>
          <a:bodyPr wrap="square">
            <a:spAutoFit/>
          </a:bodyPr>
          <a:lstStyle>
            <a:lvl1pPr>
              <a:spcBef>
                <a:spcPts val="0"/>
              </a:spcBef>
              <a:buClr>
                <a:srgbClr val="993300"/>
              </a:buClr>
              <a:buSzPct val="90000"/>
              <a:buFont typeface="Monotype Sorts"/>
              <a:buChar char="n"/>
              <a:defRPr>
                <a:solidFill>
                  <a:schemeClr val="tx1"/>
                </a:solidFill>
                <a:latin typeface="Helvetica"/>
                <a:ea typeface="MS PGothic"/>
                <a:cs typeface="MS PGothic"/>
              </a:defRPr>
            </a:lvl1pPr>
            <a:lvl2pPr marL="742950" indent="-285750">
              <a:spcBef>
                <a:spcPts val="0"/>
              </a:spcBef>
              <a:buClr>
                <a:srgbClr val="CC6600"/>
              </a:buClr>
              <a:buSzPct val="80000"/>
              <a:buFont typeface="Monotype Sorts"/>
              <a:buChar char="l"/>
              <a:defRPr>
                <a:solidFill>
                  <a:schemeClr val="tx1"/>
                </a:solidFill>
                <a:latin typeface="Helvetica"/>
                <a:ea typeface="MS PGothic"/>
              </a:defRPr>
            </a:lvl2pPr>
            <a:lvl3pPr marL="1143000" indent="-228600">
              <a:spcBef>
                <a:spcPts val="0"/>
              </a:spcBef>
              <a:buClr>
                <a:srgbClr val="009900"/>
              </a:buClr>
              <a:buSzPct val="75000"/>
              <a:buFont typeface="Webdings"/>
              <a:buChar char="4"/>
              <a:defRPr>
                <a:solidFill>
                  <a:schemeClr val="tx1"/>
                </a:solidFill>
                <a:latin typeface="Helvetica"/>
                <a:ea typeface="MS PGothic"/>
              </a:defRPr>
            </a:lvl3pPr>
            <a:lvl4pPr marL="1600200" indent="-228600">
              <a:spcBef>
                <a:spcPts val="0"/>
              </a:spcBef>
              <a:buClr>
                <a:schemeClr val="hlink"/>
              </a:buClr>
              <a:buSzPct val="75000"/>
              <a:buChar char="–"/>
              <a:defRPr>
                <a:solidFill>
                  <a:schemeClr val="tx1"/>
                </a:solidFill>
                <a:latin typeface="Helvetica"/>
                <a:ea typeface="MS PGothic"/>
              </a:defRPr>
            </a:lvl4pPr>
            <a:lvl5pPr marL="2057400" indent="-228600">
              <a:spcBef>
                <a:spcPts val="0"/>
              </a:spcBef>
              <a:buClr>
                <a:srgbClr val="FF0066"/>
              </a:buClr>
              <a:buSzPct val="75000"/>
              <a:buChar char="»"/>
              <a:defRPr>
                <a:solidFill>
                  <a:schemeClr val="tx1"/>
                </a:solidFill>
                <a:latin typeface="Helvetica"/>
                <a:ea typeface="MS PGothic"/>
              </a:defRPr>
            </a:lvl5pPr>
            <a:lvl6pPr marL="2514600" indent="-228600">
              <a:spcBef>
                <a:spcPts val="0"/>
              </a:spcBef>
              <a:spcAft>
                <a:spcPts val="0"/>
              </a:spcAft>
              <a:buClr>
                <a:srgbClr val="FF0066"/>
              </a:buClr>
              <a:buSzPct val="75000"/>
              <a:buChar char="»"/>
              <a:defRPr>
                <a:solidFill>
                  <a:schemeClr val="tx1"/>
                </a:solidFill>
                <a:latin typeface="Helvetica"/>
                <a:ea typeface="MS PGothic"/>
              </a:defRPr>
            </a:lvl6pPr>
            <a:lvl7pPr marL="2971800" indent="-228600">
              <a:spcBef>
                <a:spcPts val="0"/>
              </a:spcBef>
              <a:spcAft>
                <a:spcPts val="0"/>
              </a:spcAft>
              <a:buClr>
                <a:srgbClr val="FF0066"/>
              </a:buClr>
              <a:buSzPct val="75000"/>
              <a:buChar char="»"/>
              <a:defRPr>
                <a:solidFill>
                  <a:schemeClr val="tx1"/>
                </a:solidFill>
                <a:latin typeface="Helvetica"/>
                <a:ea typeface="MS PGothic"/>
              </a:defRPr>
            </a:lvl7pPr>
            <a:lvl8pPr marL="3429000" indent="-228600">
              <a:spcBef>
                <a:spcPts val="0"/>
              </a:spcBef>
              <a:spcAft>
                <a:spcPts val="0"/>
              </a:spcAft>
              <a:buClr>
                <a:srgbClr val="FF0066"/>
              </a:buClr>
              <a:buSzPct val="75000"/>
              <a:buChar char="»"/>
              <a:defRPr>
                <a:solidFill>
                  <a:schemeClr val="tx1"/>
                </a:solidFill>
                <a:latin typeface="Helvetica"/>
                <a:ea typeface="MS PGothic"/>
              </a:defRPr>
            </a:lvl8pPr>
            <a:lvl9pPr marL="3886200" indent="-228600">
              <a:spcBef>
                <a:spcPts val="0"/>
              </a:spcBef>
              <a:spcAft>
                <a:spcPts val="0"/>
              </a:spcAft>
              <a:buClr>
                <a:srgbClr val="FF0066"/>
              </a:buClr>
              <a:buSzPct val="75000"/>
              <a:buChar char="»"/>
              <a:defRPr>
                <a:solidFill>
                  <a:schemeClr val="tx1"/>
                </a:solidFill>
                <a:latin typeface="Helvetica"/>
                <a:ea typeface="MS PGothic"/>
              </a:defRPr>
            </a:lvl9pPr>
          </a:lstStyle>
          <a:p>
            <a:pPr>
              <a:spcBef>
                <a:spcPts val="0"/>
              </a:spcBef>
              <a:buClrTx/>
              <a:buSzTx/>
              <a:buFontTx/>
              <a:buNone/>
              <a:defRPr/>
            </a:pPr>
            <a:r>
              <a:rPr lang="en-US">
                <a:latin typeface="+mn-lt"/>
              </a:rPr>
              <a:t>If the operating system is </a:t>
            </a:r>
            <a:r>
              <a:rPr lang="en-US" b="1">
                <a:latin typeface="+mn-lt"/>
              </a:rPr>
              <a:t>NUMA-aware</a:t>
            </a:r>
            <a:r>
              <a:rPr lang="en-US">
                <a:latin typeface="+mn-lt"/>
              </a:rPr>
              <a:t>, it will assign memory closes to the CPU the thread is running on.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1275281" name="Title 1"/>
          <p:cNvSpPr>
            <a:spLocks noGrp="1"/>
          </p:cNvSpPr>
          <p:nvPr>
            <p:ph type="title"/>
          </p:nvPr>
        </p:nvSpPr>
        <p:spPr bwMode="auto">
          <a:xfrm>
            <a:off x="865188" y="140547"/>
            <a:ext cx="7821612" cy="576262"/>
          </a:xfrm>
        </p:spPr>
        <p:txBody>
          <a:bodyPr/>
          <a:lstStyle/>
          <a:p>
            <a:pPr>
              <a:defRPr/>
            </a:pPr>
            <a:r>
              <a:rPr lang="en-US"/>
              <a:t>Real-Time CPU Scheduling</a:t>
            </a:r>
            <a:endParaRPr/>
          </a:p>
        </p:txBody>
      </p:sp>
      <p:sp>
        <p:nvSpPr>
          <p:cNvPr id="247259617" name="Content Placeholder 2"/>
          <p:cNvSpPr>
            <a:spLocks noGrp="1"/>
          </p:cNvSpPr>
          <p:nvPr>
            <p:ph idx="1"/>
          </p:nvPr>
        </p:nvSpPr>
        <p:spPr bwMode="auto">
          <a:xfrm>
            <a:off x="806450" y="1005840"/>
            <a:ext cx="7740390" cy="4575493"/>
          </a:xfrm>
        </p:spPr>
        <p:txBody>
          <a:bodyPr/>
          <a:lstStyle/>
          <a:p>
            <a:pPr>
              <a:defRPr/>
            </a:pPr>
            <a:r>
              <a:rPr lang="en-US"/>
              <a:t>Can present obvious challenges</a:t>
            </a:r>
            <a:endParaRPr/>
          </a:p>
          <a:p>
            <a:pPr>
              <a:defRPr/>
            </a:pPr>
            <a:r>
              <a:rPr lang="en-US" b="1">
                <a:solidFill>
                  <a:srgbClr val="006699"/>
                </a:solidFill>
                <a:latin typeface="+mj-lt"/>
              </a:rPr>
              <a:t>Soft real-time systems </a:t>
            </a:r>
            <a:r>
              <a:rPr lang="en-US"/>
              <a:t>– Critical real-time tasks have the highest priority, but no guarantee as to when tasks will be scheduled</a:t>
            </a:r>
            <a:endParaRPr/>
          </a:p>
          <a:p>
            <a:pPr>
              <a:defRPr/>
            </a:pPr>
            <a:r>
              <a:rPr lang="en-US" b="1">
                <a:solidFill>
                  <a:srgbClr val="006699"/>
                </a:solidFill>
                <a:latin typeface="+mj-lt"/>
              </a:rPr>
              <a:t>Hard real-time systems – task must be serviced by its deadline</a:t>
            </a:r>
            <a:endParaRPr/>
          </a:p>
          <a:p>
            <a:pPr lvl="1">
              <a:buFont typeface="Monotype Sorts"/>
              <a:buNone/>
              <a:defRPr/>
            </a:pPr>
            <a:r>
              <a:rPr lang="en-US" b="1">
                <a:solidFill>
                  <a:srgbClr val="006699"/>
                </a:solidFill>
                <a:latin typeface="+mj-lt"/>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3612364" name="Title 1"/>
          <p:cNvSpPr>
            <a:spLocks noGrp="1"/>
          </p:cNvSpPr>
          <p:nvPr>
            <p:ph type="title"/>
          </p:nvPr>
        </p:nvSpPr>
        <p:spPr bwMode="auto">
          <a:xfrm>
            <a:off x="865188" y="120227"/>
            <a:ext cx="7821612" cy="576262"/>
          </a:xfrm>
        </p:spPr>
        <p:txBody>
          <a:bodyPr/>
          <a:lstStyle/>
          <a:p>
            <a:pPr>
              <a:defRPr/>
            </a:pPr>
            <a:r>
              <a:rPr lang="en-US"/>
              <a:t>Real-Time CPU Scheduling</a:t>
            </a:r>
            <a:endParaRPr/>
          </a:p>
        </p:txBody>
      </p:sp>
      <p:sp>
        <p:nvSpPr>
          <p:cNvPr id="1410940324" name="Content Placeholder 2"/>
          <p:cNvSpPr>
            <a:spLocks noGrp="1"/>
          </p:cNvSpPr>
          <p:nvPr>
            <p:ph idx="1"/>
          </p:nvPr>
        </p:nvSpPr>
        <p:spPr bwMode="auto">
          <a:xfrm>
            <a:off x="806450" y="1097280"/>
            <a:ext cx="3552825" cy="4585653"/>
          </a:xfrm>
        </p:spPr>
        <p:txBody>
          <a:bodyPr/>
          <a:lstStyle/>
          <a:p>
            <a:pPr>
              <a:defRPr/>
            </a:pPr>
            <a:r>
              <a:rPr lang="en-US"/>
              <a:t>Event latency – the amount of time that elapses from when an event occurs to when it is serviced.</a:t>
            </a:r>
            <a:endParaRPr/>
          </a:p>
          <a:p>
            <a:pPr>
              <a:defRPr/>
            </a:pPr>
            <a:r>
              <a:rPr lang="en-US"/>
              <a:t>Two types of latencies affect performance</a:t>
            </a:r>
            <a:endParaRPr/>
          </a:p>
          <a:p>
            <a:pPr lvl="1">
              <a:buFont typeface="Arial"/>
              <a:buAutoNum type="arabicPeriod"/>
              <a:defRPr/>
            </a:pPr>
            <a:r>
              <a:rPr lang="en-US"/>
              <a:t> </a:t>
            </a:r>
            <a:r>
              <a:rPr lang="en-US" b="1"/>
              <a:t>Interrupt latency </a:t>
            </a:r>
            <a:r>
              <a:rPr lang="en-US"/>
              <a:t>– time from arrival of interrupt to start of routine that services interrupt</a:t>
            </a:r>
            <a:endParaRPr/>
          </a:p>
          <a:p>
            <a:pPr lvl="1">
              <a:buFont typeface="Arial"/>
              <a:buAutoNum type="arabicPeriod"/>
              <a:defRPr/>
            </a:pPr>
            <a:r>
              <a:rPr lang="en-US"/>
              <a:t> </a:t>
            </a:r>
            <a:r>
              <a:rPr lang="en-US" b="1"/>
              <a:t>Dispatch latency </a:t>
            </a:r>
            <a:r>
              <a:rPr lang="en-US"/>
              <a:t>– time for schedule to take current process off CPU and switch to another</a:t>
            </a:r>
            <a:endParaRPr/>
          </a:p>
          <a:p>
            <a:pPr>
              <a:defRPr/>
            </a:pPr>
            <a:endParaRPr lang="en-US"/>
          </a:p>
          <a:p>
            <a:pPr lvl="1">
              <a:buFont typeface="Monotype Sorts"/>
              <a:buNone/>
              <a:defRPr/>
            </a:pPr>
            <a:r>
              <a:rPr lang="en-US"/>
              <a:t> </a:t>
            </a:r>
            <a:endParaRPr/>
          </a:p>
        </p:txBody>
      </p:sp>
      <p:pic>
        <p:nvPicPr>
          <p:cNvPr id="515773924" name="Picture 1"/>
          <p:cNvPicPr>
            <a:picLocks noChangeAspect="1"/>
          </p:cNvPicPr>
          <p:nvPr/>
        </p:nvPicPr>
        <p:blipFill rotWithShape="1">
          <a:blip r:embed="rId3"/>
          <a:stretch/>
        </p:blipFill>
        <p:spPr bwMode="auto">
          <a:xfrm>
            <a:off x="4991100" y="2084705"/>
            <a:ext cx="3581400" cy="238601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4638027" name="Title 1"/>
          <p:cNvSpPr>
            <a:spLocks noGrp="1"/>
          </p:cNvSpPr>
          <p:nvPr>
            <p:ph type="title"/>
          </p:nvPr>
        </p:nvSpPr>
        <p:spPr bwMode="auto">
          <a:xfrm>
            <a:off x="412750" y="147991"/>
            <a:ext cx="8229600" cy="576262"/>
          </a:xfrm>
        </p:spPr>
        <p:txBody>
          <a:bodyPr/>
          <a:lstStyle/>
          <a:p>
            <a:pPr>
              <a:defRPr/>
            </a:pPr>
            <a:br>
              <a:rPr lang="en-US"/>
            </a:br>
            <a:r>
              <a:rPr lang="en-US"/>
              <a:t>Interrupt Latency</a:t>
            </a:r>
            <a:endParaRPr/>
          </a:p>
        </p:txBody>
      </p:sp>
      <p:pic>
        <p:nvPicPr>
          <p:cNvPr id="538346394" name="Picture 2"/>
          <p:cNvPicPr>
            <a:picLocks noChangeAspect="1"/>
          </p:cNvPicPr>
          <p:nvPr/>
        </p:nvPicPr>
        <p:blipFill rotWithShape="1">
          <a:blip r:embed="rId3"/>
          <a:stretch/>
        </p:blipFill>
        <p:spPr bwMode="auto">
          <a:xfrm>
            <a:off x="2946400" y="1452880"/>
            <a:ext cx="3800475" cy="358806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9090698" name="Title 1"/>
          <p:cNvSpPr>
            <a:spLocks noGrp="1"/>
          </p:cNvSpPr>
          <p:nvPr>
            <p:ph type="title"/>
          </p:nvPr>
        </p:nvSpPr>
        <p:spPr bwMode="auto">
          <a:xfrm>
            <a:off x="806450" y="104987"/>
            <a:ext cx="7821613" cy="576263"/>
          </a:xfrm>
        </p:spPr>
        <p:txBody>
          <a:bodyPr/>
          <a:lstStyle/>
          <a:p>
            <a:pPr>
              <a:defRPr/>
            </a:pPr>
            <a:br>
              <a:rPr lang="en-US"/>
            </a:br>
            <a:r>
              <a:rPr lang="en-US"/>
              <a:t>Dispatch Latency</a:t>
            </a:r>
            <a:endParaRPr/>
          </a:p>
        </p:txBody>
      </p:sp>
      <p:sp>
        <p:nvSpPr>
          <p:cNvPr id="1955830400" name="Content Placeholder 2"/>
          <p:cNvSpPr>
            <a:spLocks noGrp="1"/>
          </p:cNvSpPr>
          <p:nvPr>
            <p:ph idx="1"/>
          </p:nvPr>
        </p:nvSpPr>
        <p:spPr bwMode="auto">
          <a:xfrm>
            <a:off x="806450" y="1097280"/>
            <a:ext cx="2633663" cy="4523105"/>
          </a:xfrm>
        </p:spPr>
        <p:txBody>
          <a:bodyPr/>
          <a:lstStyle/>
          <a:p>
            <a:pPr>
              <a:defRPr/>
            </a:pPr>
            <a:r>
              <a:rPr lang="en-US"/>
              <a:t>Conflict phase of dispatch latency:</a:t>
            </a:r>
            <a:endParaRPr/>
          </a:p>
          <a:p>
            <a:pPr lvl="1">
              <a:buFont typeface="Arial"/>
              <a:buAutoNum type="arabicPeriod"/>
              <a:defRPr/>
            </a:pPr>
            <a:r>
              <a:rPr lang="en-US"/>
              <a:t>Preemption of any process running in kernel mode</a:t>
            </a:r>
            <a:endParaRPr/>
          </a:p>
          <a:p>
            <a:pPr lvl="1">
              <a:buFont typeface="Arial"/>
              <a:buAutoNum type="arabicPeriod"/>
              <a:defRPr/>
            </a:pPr>
            <a:r>
              <a:rPr lang="en-US"/>
              <a:t>Release by low-priority process of resources needed by high-priority processes</a:t>
            </a:r>
            <a:endParaRPr/>
          </a:p>
          <a:p>
            <a:pPr>
              <a:defRPr/>
            </a:pPr>
            <a:endParaRPr lang="en-US"/>
          </a:p>
          <a:p>
            <a:pPr lvl="1">
              <a:buFont typeface="Monotype Sorts"/>
              <a:buNone/>
              <a:defRPr/>
            </a:pPr>
            <a:r>
              <a:rPr lang="en-US"/>
              <a:t> </a:t>
            </a:r>
            <a:endParaRPr/>
          </a:p>
        </p:txBody>
      </p:sp>
      <p:pic>
        <p:nvPicPr>
          <p:cNvPr id="619975886" name="Picture 1"/>
          <p:cNvPicPr>
            <a:picLocks noChangeAspect="1"/>
          </p:cNvPicPr>
          <p:nvPr/>
        </p:nvPicPr>
        <p:blipFill rotWithShape="1">
          <a:blip r:embed="rId3"/>
          <a:stretch/>
        </p:blipFill>
        <p:spPr bwMode="auto">
          <a:xfrm>
            <a:off x="3944938" y="1746250"/>
            <a:ext cx="4462462" cy="327818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3506549" name="Title 1"/>
          <p:cNvSpPr>
            <a:spLocks noGrp="1"/>
          </p:cNvSpPr>
          <p:nvPr>
            <p:ph type="title"/>
          </p:nvPr>
        </p:nvSpPr>
        <p:spPr bwMode="auto">
          <a:xfrm>
            <a:off x="865188" y="221827"/>
            <a:ext cx="7821612" cy="576262"/>
          </a:xfrm>
        </p:spPr>
        <p:txBody>
          <a:bodyPr/>
          <a:lstStyle/>
          <a:p>
            <a:pPr>
              <a:defRPr/>
            </a:pPr>
            <a:r>
              <a:rPr lang="en-US"/>
              <a:t>Priority-based Scheduling</a:t>
            </a:r>
            <a:endParaRPr/>
          </a:p>
        </p:txBody>
      </p:sp>
      <p:sp>
        <p:nvSpPr>
          <p:cNvPr id="1917757004" name="Content Placeholder 2"/>
          <p:cNvSpPr>
            <a:spLocks noGrp="1"/>
          </p:cNvSpPr>
          <p:nvPr>
            <p:ph idx="1"/>
          </p:nvPr>
        </p:nvSpPr>
        <p:spPr bwMode="auto">
          <a:xfrm>
            <a:off x="865188" y="1195388"/>
            <a:ext cx="7727950" cy="4530725"/>
          </a:xfrm>
        </p:spPr>
        <p:txBody>
          <a:bodyPr/>
          <a:lstStyle/>
          <a:p>
            <a:pPr>
              <a:defRPr/>
            </a:pPr>
            <a:r>
              <a:rPr lang="en-US"/>
              <a:t>For real-time scheduling, scheduler must support preemptive, priority-based scheduling</a:t>
            </a:r>
            <a:endParaRPr/>
          </a:p>
          <a:p>
            <a:pPr lvl="1">
              <a:defRPr/>
            </a:pPr>
            <a:r>
              <a:rPr lang="en-US"/>
              <a:t>But only guarantees soft real-time</a:t>
            </a:r>
            <a:endParaRPr/>
          </a:p>
          <a:p>
            <a:pPr>
              <a:defRPr/>
            </a:pPr>
            <a:r>
              <a:rPr lang="en-US"/>
              <a:t>For hard real-time must also provide ability to meet deadlines</a:t>
            </a:r>
            <a:endParaRPr/>
          </a:p>
          <a:p>
            <a:pPr>
              <a:defRPr/>
            </a:pPr>
            <a:r>
              <a:rPr lang="en-US"/>
              <a:t>Processes have new characteristics: </a:t>
            </a:r>
            <a:r>
              <a:rPr lang="en-US" b="1">
                <a:solidFill>
                  <a:srgbClr val="006699"/>
                </a:solidFill>
                <a:latin typeface="+mj-lt"/>
              </a:rPr>
              <a:t>periodic</a:t>
            </a:r>
            <a:r>
              <a:rPr lang="en-US"/>
              <a:t> ones require CPU at constant intervals</a:t>
            </a:r>
            <a:endParaRPr/>
          </a:p>
          <a:p>
            <a:pPr lvl="1">
              <a:defRPr/>
            </a:pPr>
            <a:r>
              <a:rPr lang="en-US"/>
              <a:t>Has processing time </a:t>
            </a:r>
            <a:r>
              <a:rPr lang="en-US" i="1"/>
              <a:t>t</a:t>
            </a:r>
            <a:r>
              <a:rPr lang="en-US"/>
              <a:t>, deadline </a:t>
            </a:r>
            <a:r>
              <a:rPr lang="en-US" i="1"/>
              <a:t>d, </a:t>
            </a:r>
            <a:r>
              <a:rPr lang="en-US"/>
              <a:t>period </a:t>
            </a:r>
            <a:r>
              <a:rPr lang="en-US" i="1"/>
              <a:t>p</a:t>
            </a:r>
            <a:endParaRPr/>
          </a:p>
          <a:p>
            <a:pPr lvl="1">
              <a:defRPr/>
            </a:pPr>
            <a:r>
              <a:rPr lang="en-US"/>
              <a:t>0 ≤ </a:t>
            </a:r>
            <a:r>
              <a:rPr lang="en-US" i="1"/>
              <a:t>t</a:t>
            </a:r>
            <a:r>
              <a:rPr lang="en-US"/>
              <a:t> ≤ </a:t>
            </a:r>
            <a:r>
              <a:rPr lang="en-US" i="1"/>
              <a:t>d</a:t>
            </a:r>
            <a:r>
              <a:rPr lang="en-US"/>
              <a:t> ≤ </a:t>
            </a:r>
            <a:r>
              <a:rPr lang="en-US" i="1"/>
              <a:t>p</a:t>
            </a:r>
            <a:endParaRPr/>
          </a:p>
          <a:p>
            <a:pPr lvl="1">
              <a:defRPr/>
            </a:pPr>
            <a:r>
              <a:rPr lang="en-US" b="1">
                <a:solidFill>
                  <a:srgbClr val="006699"/>
                </a:solidFill>
                <a:latin typeface="+mj-lt"/>
              </a:rPr>
              <a:t>Rate</a:t>
            </a:r>
            <a:r>
              <a:rPr lang="en-US"/>
              <a:t> of periodic task is 1/</a:t>
            </a:r>
            <a:r>
              <a:rPr lang="en-US" i="1"/>
              <a:t>p</a:t>
            </a:r>
            <a:endParaRPr lang="en-US"/>
          </a:p>
          <a:p>
            <a:pPr>
              <a:defRPr/>
            </a:pPr>
            <a:endParaRPr lang="en-US"/>
          </a:p>
          <a:p>
            <a:pPr lvl="1">
              <a:buFont typeface="Monotype Sorts"/>
              <a:buNone/>
              <a:defRPr/>
            </a:pPr>
            <a:r>
              <a:rPr lang="en-US"/>
              <a:t> </a:t>
            </a:r>
            <a:endParaRPr/>
          </a:p>
        </p:txBody>
      </p:sp>
      <p:pic>
        <p:nvPicPr>
          <p:cNvPr id="749632356" name="Picture 1"/>
          <p:cNvPicPr>
            <a:picLocks noChangeAspect="1"/>
          </p:cNvPicPr>
          <p:nvPr/>
        </p:nvPicPr>
        <p:blipFill rotWithShape="1">
          <a:blip r:embed="rId3"/>
          <a:stretch/>
        </p:blipFill>
        <p:spPr bwMode="auto">
          <a:xfrm>
            <a:off x="2116137" y="4463597"/>
            <a:ext cx="5319713" cy="158908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5261662" name="Rectangle 2"/>
          <p:cNvSpPr>
            <a:spLocks noChangeArrowheads="1" noGrp="1"/>
          </p:cNvSpPr>
          <p:nvPr>
            <p:ph type="title"/>
          </p:nvPr>
        </p:nvSpPr>
        <p:spPr bwMode="auto">
          <a:xfrm>
            <a:off x="876299" y="139718"/>
            <a:ext cx="7810500" cy="576262"/>
          </a:xfrm>
        </p:spPr>
        <p:txBody>
          <a:bodyPr/>
          <a:lstStyle/>
          <a:p>
            <a:pPr>
              <a:defRPr/>
            </a:pPr>
            <a:r>
              <a:rPr lang="en-US"/>
              <a:t>Rate Monotonic Scheduling</a:t>
            </a:r>
            <a:endParaRPr/>
          </a:p>
        </p:txBody>
      </p:sp>
      <p:sp>
        <p:nvSpPr>
          <p:cNvPr id="449112550" name="Rectangle 4"/>
          <p:cNvSpPr>
            <a:spLocks noChangeArrowheads="1" noGrp="1"/>
          </p:cNvSpPr>
          <p:nvPr>
            <p:ph type="body" idx="1"/>
          </p:nvPr>
        </p:nvSpPr>
        <p:spPr bwMode="auto">
          <a:xfrm>
            <a:off x="806450" y="1064895"/>
            <a:ext cx="7351713" cy="4483100"/>
          </a:xfrm>
        </p:spPr>
        <p:txBody>
          <a:bodyPr/>
          <a:lstStyle/>
          <a:p>
            <a:pPr>
              <a:defRPr/>
            </a:pPr>
            <a:r>
              <a:rPr lang="en-US"/>
              <a:t>A priority is assigned based on the inverse of its period</a:t>
            </a:r>
            <a:endParaRPr lang="en-US" sz="800"/>
          </a:p>
          <a:p>
            <a:pPr>
              <a:defRPr/>
            </a:pPr>
            <a:r>
              <a:rPr lang="en-US"/>
              <a:t>Shorter periods = higher priority;</a:t>
            </a:r>
            <a:endParaRPr lang="en-US" sz="800"/>
          </a:p>
          <a:p>
            <a:pPr>
              <a:defRPr/>
            </a:pPr>
            <a:r>
              <a:rPr lang="en-US"/>
              <a:t>Longer periods = lower priority</a:t>
            </a:r>
            <a:endParaRPr lang="en-US" sz="800"/>
          </a:p>
          <a:p>
            <a:pPr>
              <a:defRPr/>
            </a:pPr>
            <a:r>
              <a:rPr lang="en-US"/>
              <a:t>P</a:t>
            </a:r>
            <a:r>
              <a:rPr lang="en-US" baseline="-25000"/>
              <a:t>1</a:t>
            </a:r>
            <a:r>
              <a:rPr lang="en-US"/>
              <a:t> is assigned a higher priority than P</a:t>
            </a:r>
            <a:r>
              <a:rPr lang="en-US" baseline="-25000"/>
              <a:t>2</a:t>
            </a:r>
            <a:r>
              <a:rPr lang="en-US"/>
              <a:t>.</a:t>
            </a:r>
            <a:br>
              <a:rPr lang="en-US"/>
            </a:br>
            <a:endParaRPr lang="en-US"/>
          </a:p>
        </p:txBody>
      </p:sp>
      <p:pic>
        <p:nvPicPr>
          <p:cNvPr id="994260595" name="Picture 1"/>
          <p:cNvPicPr>
            <a:picLocks noChangeAspect="1"/>
          </p:cNvPicPr>
          <p:nvPr/>
        </p:nvPicPr>
        <p:blipFill rotWithShape="1">
          <a:blip r:embed="rId3"/>
          <a:stretch/>
        </p:blipFill>
        <p:spPr bwMode="auto">
          <a:xfrm>
            <a:off x="1188720" y="2794253"/>
            <a:ext cx="6791325" cy="102495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2582411" name="Rectangle 2"/>
          <p:cNvSpPr>
            <a:spLocks noChangeArrowheads="1" noGrp="1"/>
          </p:cNvSpPr>
          <p:nvPr>
            <p:ph type="title"/>
          </p:nvPr>
        </p:nvSpPr>
        <p:spPr bwMode="auto">
          <a:xfrm>
            <a:off x="1272540" y="99078"/>
            <a:ext cx="7810500" cy="576262"/>
          </a:xfrm>
        </p:spPr>
        <p:txBody>
          <a:bodyPr/>
          <a:lstStyle/>
          <a:p>
            <a:pPr>
              <a:defRPr/>
            </a:pPr>
            <a:r>
              <a:rPr lang="en-US" sz="2400"/>
              <a:t>Missed Deadlines with Rate Monotonic Scheduling</a:t>
            </a:r>
            <a:endParaRPr/>
          </a:p>
        </p:txBody>
      </p:sp>
      <p:sp>
        <p:nvSpPr>
          <p:cNvPr id="1194575575" name="Rectangle 4"/>
          <p:cNvSpPr>
            <a:spLocks noChangeArrowheads="1" noGrp="1"/>
          </p:cNvSpPr>
          <p:nvPr>
            <p:ph type="body" idx="1"/>
          </p:nvPr>
        </p:nvSpPr>
        <p:spPr bwMode="auto">
          <a:xfrm>
            <a:off x="806450" y="1064895"/>
            <a:ext cx="7351713" cy="4483100"/>
          </a:xfrm>
        </p:spPr>
        <p:txBody>
          <a:bodyPr/>
          <a:lstStyle/>
          <a:p>
            <a:pPr>
              <a:defRPr/>
            </a:pPr>
            <a:r>
              <a:rPr lang="en-US"/>
              <a:t>Process </a:t>
            </a:r>
            <a:r>
              <a:rPr lang="en-US"/>
              <a:t>P</a:t>
            </a:r>
            <a:r>
              <a:rPr lang="en-US" baseline="-25000"/>
              <a:t>2</a:t>
            </a:r>
            <a:r>
              <a:rPr lang="en-US"/>
              <a:t> misses finishing its deadline at time 80</a:t>
            </a:r>
            <a:endParaRPr/>
          </a:p>
          <a:p>
            <a:pPr>
              <a:defRPr/>
            </a:pPr>
            <a:r>
              <a:rPr lang="en-US"/>
              <a:t>Figure</a:t>
            </a:r>
            <a:br>
              <a:rPr lang="en-US"/>
            </a:br>
            <a:endParaRPr lang="en-US"/>
          </a:p>
        </p:txBody>
      </p:sp>
      <p:pic>
        <p:nvPicPr>
          <p:cNvPr id="58053055" name="Picture 1"/>
          <p:cNvPicPr>
            <a:picLocks noChangeAspect="1"/>
          </p:cNvPicPr>
          <p:nvPr/>
        </p:nvPicPr>
        <p:blipFill rotWithShape="1">
          <a:blip r:embed="rId3"/>
          <a:stretch/>
        </p:blipFill>
        <p:spPr bwMode="auto">
          <a:xfrm>
            <a:off x="1402079" y="1984431"/>
            <a:ext cx="6997383" cy="107055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0822440" name="Rectangle 2"/>
          <p:cNvSpPr>
            <a:spLocks noChangeArrowheads="1" noGrp="1"/>
          </p:cNvSpPr>
          <p:nvPr>
            <p:ph type="title"/>
          </p:nvPr>
        </p:nvSpPr>
        <p:spPr bwMode="auto">
          <a:xfrm>
            <a:off x="1391920" y="121920"/>
            <a:ext cx="7729220" cy="571412"/>
          </a:xfrm>
        </p:spPr>
        <p:txBody>
          <a:bodyPr/>
          <a:lstStyle/>
          <a:p>
            <a:pPr>
              <a:defRPr/>
            </a:pPr>
            <a:r>
              <a:rPr lang="en-US" sz="2800"/>
              <a:t>Earliest Deadline First Scheduling (EDF)</a:t>
            </a:r>
            <a:endParaRPr/>
          </a:p>
        </p:txBody>
      </p:sp>
      <p:sp>
        <p:nvSpPr>
          <p:cNvPr id="1855026380" name="Rectangle 3"/>
          <p:cNvSpPr>
            <a:spLocks noChangeArrowheads="1" noGrp="1"/>
          </p:cNvSpPr>
          <p:nvPr>
            <p:ph type="body" idx="1"/>
          </p:nvPr>
        </p:nvSpPr>
        <p:spPr bwMode="auto">
          <a:xfrm>
            <a:off x="811763" y="1257300"/>
            <a:ext cx="7432125" cy="4483100"/>
          </a:xfrm>
        </p:spPr>
        <p:txBody>
          <a:bodyPr/>
          <a:lstStyle/>
          <a:p>
            <a:pPr>
              <a:defRPr/>
            </a:pPr>
            <a:r>
              <a:rPr lang="en-US"/>
              <a:t>Priorities are assigned according to deadlines:</a:t>
            </a:r>
            <a:endParaRPr/>
          </a:p>
          <a:p>
            <a:pPr lvl="1">
              <a:defRPr/>
            </a:pPr>
            <a:r>
              <a:rPr lang="en-US"/>
              <a:t>The earlier the deadline, the higher the priority</a:t>
            </a:r>
            <a:endParaRPr/>
          </a:p>
          <a:p>
            <a:pPr lvl="1">
              <a:defRPr/>
            </a:pPr>
            <a:r>
              <a:rPr lang="en-US"/>
              <a:t>The later the deadline, the lower the priority</a:t>
            </a:r>
            <a:endParaRPr/>
          </a:p>
          <a:p>
            <a:pPr>
              <a:defRPr/>
            </a:pPr>
            <a:r>
              <a:rPr lang="en-US"/>
              <a:t>Figure</a:t>
            </a:r>
            <a:endParaRPr/>
          </a:p>
        </p:txBody>
      </p:sp>
      <p:pic>
        <p:nvPicPr>
          <p:cNvPr id="555813897" name="Picture 2"/>
          <p:cNvPicPr>
            <a:picLocks noChangeAspect="1"/>
          </p:cNvPicPr>
          <p:nvPr/>
        </p:nvPicPr>
        <p:blipFill rotWithShape="1">
          <a:blip r:embed="rId3"/>
          <a:stretch/>
        </p:blipFill>
        <p:spPr bwMode="auto">
          <a:xfrm>
            <a:off x="1371600" y="2926080"/>
            <a:ext cx="6499543" cy="101092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0443683" name="Rectangle 2"/>
          <p:cNvSpPr>
            <a:spLocks noChangeArrowheads="1" noGrp="1"/>
          </p:cNvSpPr>
          <p:nvPr>
            <p:ph type="title"/>
          </p:nvPr>
        </p:nvSpPr>
        <p:spPr bwMode="auto">
          <a:xfrm>
            <a:off x="935038" y="128006"/>
            <a:ext cx="7751762" cy="576262"/>
          </a:xfrm>
        </p:spPr>
        <p:txBody>
          <a:bodyPr/>
          <a:lstStyle/>
          <a:p>
            <a:pPr>
              <a:defRPr/>
            </a:pPr>
            <a:r>
              <a:rPr lang="en-US"/>
              <a:t>Proportional Share Scheduling</a:t>
            </a:r>
            <a:endParaRPr/>
          </a:p>
        </p:txBody>
      </p:sp>
      <p:sp>
        <p:nvSpPr>
          <p:cNvPr id="903018890" name="Rectangle 3"/>
          <p:cNvSpPr>
            <a:spLocks noChangeArrowheads="1" noGrp="1"/>
          </p:cNvSpPr>
          <p:nvPr>
            <p:ph type="body" idx="1"/>
          </p:nvPr>
        </p:nvSpPr>
        <p:spPr bwMode="auto">
          <a:xfrm>
            <a:off x="811763" y="1125855"/>
            <a:ext cx="7133357" cy="4441825"/>
          </a:xfrm>
        </p:spPr>
        <p:txBody>
          <a:bodyPr/>
          <a:lstStyle/>
          <a:p>
            <a:pPr>
              <a:defRPr/>
            </a:pPr>
            <a:r>
              <a:rPr lang="en-US" i="1"/>
              <a:t>T</a:t>
            </a:r>
            <a:r>
              <a:rPr lang="en-US"/>
              <a:t> shares are allocated among all processes in the system</a:t>
            </a:r>
            <a:endParaRPr/>
          </a:p>
          <a:p>
            <a:pPr>
              <a:defRPr/>
            </a:pPr>
            <a:r>
              <a:rPr lang="en-US"/>
              <a:t>An application receives </a:t>
            </a:r>
            <a:r>
              <a:rPr lang="en-US" i="1"/>
              <a:t>N</a:t>
            </a:r>
            <a:r>
              <a:rPr lang="en-US"/>
              <a:t> shares where </a:t>
            </a:r>
            <a:r>
              <a:rPr lang="en-US" i="1"/>
              <a:t>N &lt; T</a:t>
            </a:r>
            <a:endParaRPr lang="en-US"/>
          </a:p>
          <a:p>
            <a:pPr>
              <a:defRPr/>
            </a:pPr>
            <a:r>
              <a:rPr lang="en-US"/>
              <a:t>This ensures each application will receive </a:t>
            </a:r>
            <a:r>
              <a:rPr lang="en-US" b="1" i="1"/>
              <a:t>N</a:t>
            </a:r>
            <a:r>
              <a:rPr lang="en-US" i="1"/>
              <a:t> / T</a:t>
            </a:r>
            <a:r>
              <a:rPr lang="en-US"/>
              <a:t> of the total processor 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9823763" name="Rectangle 2"/>
          <p:cNvSpPr>
            <a:spLocks noChangeArrowheads="1" noGrp="1"/>
          </p:cNvSpPr>
          <p:nvPr>
            <p:ph type="title"/>
          </p:nvPr>
        </p:nvSpPr>
        <p:spPr bwMode="auto">
          <a:xfrm>
            <a:off x="533400" y="71120"/>
            <a:ext cx="8229600" cy="661035"/>
          </a:xfrm>
        </p:spPr>
        <p:txBody>
          <a:bodyPr/>
          <a:lstStyle/>
          <a:p>
            <a:pPr>
              <a:defRPr/>
            </a:pPr>
            <a:r>
              <a:rPr lang="en-US"/>
              <a:t>POSIX Real-Time Scheduling</a:t>
            </a:r>
            <a:endParaRPr/>
          </a:p>
        </p:txBody>
      </p:sp>
      <p:sp>
        <p:nvSpPr>
          <p:cNvPr id="173230405" name="Rectangle 3"/>
          <p:cNvSpPr>
            <a:spLocks noChangeArrowheads="1" noGrp="1"/>
          </p:cNvSpPr>
          <p:nvPr>
            <p:ph type="body" idx="1"/>
          </p:nvPr>
        </p:nvSpPr>
        <p:spPr bwMode="auto">
          <a:xfrm>
            <a:off x="774441" y="1001395"/>
            <a:ext cx="7753739" cy="4483100"/>
          </a:xfrm>
        </p:spPr>
        <p:txBody>
          <a:bodyPr/>
          <a:lstStyle/>
          <a:p>
            <a:pPr marL="344488" indent="-344488">
              <a:defRPr/>
            </a:pPr>
            <a:r>
              <a:rPr lang="en-US"/>
              <a:t>The POSIX.1b standard</a:t>
            </a:r>
            <a:endParaRPr/>
          </a:p>
          <a:p>
            <a:pPr marL="344488" indent="-344488">
              <a:defRPr/>
            </a:pPr>
            <a:r>
              <a:rPr lang="en-US"/>
              <a:t>API provides functions for managing real-time threads</a:t>
            </a:r>
            <a:endParaRPr/>
          </a:p>
          <a:p>
            <a:pPr marL="344488" indent="-344488">
              <a:defRPr/>
            </a:pPr>
            <a:r>
              <a:rPr lang="en-US"/>
              <a:t>Defines two scheduling classes for real-time threads:</a:t>
            </a:r>
            <a:endParaRPr lang="en-US" sz="1000"/>
          </a:p>
          <a:p>
            <a:pPr marL="744538" lvl="1" indent="-344488">
              <a:buFont typeface="Arial"/>
              <a:buAutoNum type="arabicPeriod"/>
              <a:defRPr/>
            </a:pPr>
            <a:r>
              <a:rPr lang="en-US"/>
              <a:t>SCHED_FIFO - threads are scheduled using a FCFS strategy with a FIFO queue. There is no time-slicing for threads of equal priority</a:t>
            </a:r>
            <a:endParaRPr/>
          </a:p>
          <a:p>
            <a:pPr marL="744538" lvl="1" indent="-344488">
              <a:buFont typeface="Arial"/>
              <a:buAutoNum type="arabicPeriod"/>
              <a:defRPr/>
            </a:pPr>
            <a:r>
              <a:rPr lang="en-US"/>
              <a:t>SCHED_RR - similar to SCHED_FIFO except time-slicing occurs for threads of equal priority</a:t>
            </a:r>
            <a:endParaRPr/>
          </a:p>
          <a:p>
            <a:pPr marL="344488" indent="-344488">
              <a:defRPr/>
            </a:pPr>
            <a:r>
              <a:rPr lang="en-US"/>
              <a:t>Defines two functions for getting and setting scheduling policy:</a:t>
            </a:r>
            <a:endParaRPr/>
          </a:p>
          <a:p>
            <a:pPr marL="744538" lvl="1" indent="-344488">
              <a:buFont typeface="Arial"/>
              <a:buAutoNum type="arabicPeriod"/>
              <a:defRPr/>
            </a:pPr>
            <a:r>
              <a:rPr lang="en-US">
                <a:cs typeface="Courier New"/>
              </a:rPr>
              <a:t> </a:t>
            </a:r>
            <a:r>
              <a:rPr lang="en-US" b="1">
                <a:latin typeface="Courier New"/>
                <a:cs typeface="Courier New"/>
              </a:rPr>
              <a:t>pthread_attr_getsched_policy</a:t>
            </a:r>
            <a:r>
              <a:rPr lang="en-US" b="1">
                <a:latin typeface="Courier New"/>
                <a:cs typeface="Courier New"/>
              </a:rPr>
              <a:t>(</a:t>
            </a:r>
            <a:r>
              <a:rPr lang="en-US" b="1">
                <a:latin typeface="Courier New"/>
                <a:cs typeface="Courier New"/>
              </a:rPr>
              <a:t>pthread_attr_t</a:t>
            </a:r>
            <a:r>
              <a:rPr lang="en-US" b="1">
                <a:latin typeface="Courier New"/>
                <a:cs typeface="Courier New"/>
              </a:rPr>
              <a:t> *</a:t>
            </a:r>
            <a:r>
              <a:rPr lang="en-US" b="1">
                <a:latin typeface="Courier New"/>
                <a:cs typeface="Courier New"/>
              </a:rPr>
              <a:t>attr</a:t>
            </a:r>
            <a:r>
              <a:rPr lang="en-US" b="1">
                <a:latin typeface="Courier New"/>
                <a:cs typeface="Courier New"/>
              </a:rPr>
              <a:t>, int *policy) </a:t>
            </a:r>
            <a:endParaRPr/>
          </a:p>
          <a:p>
            <a:pPr marL="744538" lvl="1" indent="-344488">
              <a:buFont typeface="Arial"/>
              <a:buAutoNum type="arabicPeriod"/>
              <a:defRPr/>
            </a:pPr>
            <a:r>
              <a:rPr lang="en-US">
                <a:cs typeface="Courier New"/>
              </a:rPr>
              <a:t> </a:t>
            </a:r>
            <a:r>
              <a:rPr lang="en-US" b="1">
                <a:latin typeface="Courier New"/>
                <a:cs typeface="Courier New"/>
              </a:rPr>
              <a:t>pthread_attr_setsched_policy</a:t>
            </a:r>
            <a:r>
              <a:rPr lang="en-US" b="1">
                <a:latin typeface="Courier New"/>
                <a:cs typeface="Courier New"/>
              </a:rPr>
              <a:t>(</a:t>
            </a:r>
            <a:r>
              <a:rPr lang="en-US" b="1">
                <a:latin typeface="Courier New"/>
                <a:cs typeface="Courier New"/>
              </a:rPr>
              <a:t>pthread_attr_t</a:t>
            </a:r>
            <a:r>
              <a:rPr lang="en-US" b="1">
                <a:latin typeface="Courier New"/>
                <a:cs typeface="Courier New"/>
              </a:rPr>
              <a:t> *</a:t>
            </a:r>
            <a:r>
              <a:rPr lang="en-US" b="1">
                <a:latin typeface="Courier New"/>
                <a:cs typeface="Courier New"/>
              </a:rPr>
              <a:t>attr</a:t>
            </a:r>
            <a:r>
              <a:rPr lang="en-US" b="1">
                <a:latin typeface="Courier New"/>
                <a:cs typeface="Courier New"/>
              </a:rPr>
              <a:t>, int policy)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0108533" name="Rectangle 2"/>
          <p:cNvSpPr>
            <a:spLocks noChangeArrowheads="1" noGrp="1"/>
          </p:cNvSpPr>
          <p:nvPr>
            <p:ph type="title"/>
          </p:nvPr>
        </p:nvSpPr>
        <p:spPr bwMode="auto">
          <a:xfrm>
            <a:off x="941388" y="171027"/>
            <a:ext cx="7745412" cy="576262"/>
          </a:xfrm>
        </p:spPr>
        <p:txBody>
          <a:bodyPr/>
          <a:lstStyle/>
          <a:p>
            <a:pPr>
              <a:defRPr/>
            </a:pPr>
            <a:r>
              <a:rPr lang="en-US"/>
              <a:t>POSIX Real-Time Scheduling API</a:t>
            </a:r>
            <a:endParaRPr/>
          </a:p>
        </p:txBody>
      </p:sp>
      <p:sp>
        <p:nvSpPr>
          <p:cNvPr id="1400338734" name="Rectangle 3"/>
          <p:cNvSpPr>
            <a:spLocks noChangeArrowheads="1" noGrp="1"/>
          </p:cNvSpPr>
          <p:nvPr>
            <p:ph type="body" idx="1"/>
          </p:nvPr>
        </p:nvSpPr>
        <p:spPr bwMode="auto">
          <a:xfrm>
            <a:off x="806450" y="1066800"/>
            <a:ext cx="7702550" cy="4483100"/>
          </a:xfrm>
        </p:spPr>
        <p:txBody>
          <a:bodyPr/>
          <a:lstStyle/>
          <a:p>
            <a:pPr marL="0" indent="0">
              <a:buFont typeface="Monotype Sorts"/>
              <a:buNone/>
              <a:defRPr/>
            </a:pPr>
            <a:r>
              <a:rPr lang="en-US" sz="1500">
                <a:latin typeface="Courier New"/>
              </a:rPr>
              <a:t>#include &lt;</a:t>
            </a:r>
            <a:r>
              <a:rPr lang="en-US" sz="1500">
                <a:latin typeface="Courier New"/>
              </a:rPr>
              <a:t>pthread.h</a:t>
            </a:r>
            <a:r>
              <a:rPr lang="en-US" sz="1500">
                <a:latin typeface="Courier New"/>
              </a:rPr>
              <a:t>&gt; </a:t>
            </a:r>
            <a:endParaRPr/>
          </a:p>
          <a:p>
            <a:pPr marL="0" indent="0">
              <a:buFont typeface="Monotype Sorts"/>
              <a:buNone/>
              <a:defRPr/>
            </a:pPr>
            <a:r>
              <a:rPr lang="en-US" sz="1500">
                <a:latin typeface="Courier New"/>
              </a:rPr>
              <a:t>#include &lt;</a:t>
            </a:r>
            <a:r>
              <a:rPr lang="en-US" sz="1500">
                <a:latin typeface="Courier New"/>
              </a:rPr>
              <a:t>stdio.h</a:t>
            </a:r>
            <a:r>
              <a:rPr lang="en-US" sz="1500">
                <a:latin typeface="Courier New"/>
              </a:rPr>
              <a:t>&gt; </a:t>
            </a:r>
            <a:endParaRPr/>
          </a:p>
          <a:p>
            <a:pPr marL="0" indent="0">
              <a:buFont typeface="Monotype Sorts"/>
              <a:buNone/>
              <a:defRPr/>
            </a:pPr>
            <a:r>
              <a:rPr lang="en-US" sz="1500">
                <a:latin typeface="Courier New"/>
              </a:rPr>
              <a:t>#define NUM_THREADS 5 </a:t>
            </a:r>
            <a:endParaRPr/>
          </a:p>
          <a:p>
            <a:pPr marL="0" indent="0">
              <a:buFont typeface="Monotype Sorts"/>
              <a:buNone/>
              <a:defRPr/>
            </a:pPr>
            <a:r>
              <a:rPr lang="en-US" sz="1500">
                <a:latin typeface="Courier New"/>
              </a:rPr>
              <a:t>int main(int </a:t>
            </a:r>
            <a:r>
              <a:rPr lang="en-US" sz="1500">
                <a:latin typeface="Courier New"/>
              </a:rPr>
              <a:t>argc</a:t>
            </a:r>
            <a:r>
              <a:rPr lang="en-US" sz="1500">
                <a:latin typeface="Courier New"/>
              </a:rPr>
              <a:t>, char *</a:t>
            </a:r>
            <a:r>
              <a:rPr lang="en-US" sz="1500">
                <a:latin typeface="Courier New"/>
              </a:rPr>
              <a:t>argv</a:t>
            </a:r>
            <a:r>
              <a:rPr lang="en-US" sz="1500">
                <a:latin typeface="Courier New"/>
              </a:rPr>
              <a:t>[]) </a:t>
            </a:r>
            <a:endParaRPr/>
          </a:p>
          <a:p>
            <a:pPr marL="0" indent="0">
              <a:buFont typeface="Monotype Sorts"/>
              <a:buNone/>
              <a:defRPr/>
            </a:pPr>
            <a:r>
              <a:rPr lang="en-US" sz="1500">
                <a:latin typeface="Courier New"/>
              </a:rPr>
              <a:t>{ </a:t>
            </a:r>
            <a:endParaRPr/>
          </a:p>
          <a:p>
            <a:pPr marL="0" indent="0">
              <a:buFont typeface="Monotype Sorts"/>
              <a:buNone/>
              <a:defRPr/>
            </a:pPr>
            <a:r>
              <a:rPr lang="en-US" sz="1500">
                <a:latin typeface="Courier New"/>
              </a:rPr>
              <a:t>   int </a:t>
            </a:r>
            <a:r>
              <a:rPr lang="en-US" sz="1500">
                <a:latin typeface="Courier New"/>
              </a:rPr>
              <a:t>i</a:t>
            </a:r>
            <a:r>
              <a:rPr lang="en-US" sz="1500">
                <a:latin typeface="Courier New"/>
              </a:rPr>
              <a:t>, policy;</a:t>
            </a:r>
            <a:br>
              <a:rPr lang="en-US" sz="1500">
                <a:latin typeface="Courier New"/>
              </a:rPr>
            </a:br>
            <a:r>
              <a:rPr lang="en-US" sz="1500">
                <a:latin typeface="Courier New"/>
              </a:rPr>
              <a:t>   </a:t>
            </a:r>
            <a:r>
              <a:rPr lang="en-US" sz="1500">
                <a:latin typeface="Courier New"/>
              </a:rPr>
              <a:t>pthread_t_tid</a:t>
            </a:r>
            <a:r>
              <a:rPr lang="en-US" sz="1500">
                <a:latin typeface="Courier New"/>
              </a:rPr>
              <a:t>[NUM_THREADS]; </a:t>
            </a:r>
            <a:endParaRPr/>
          </a:p>
          <a:p>
            <a:pPr marL="0" indent="0">
              <a:buFont typeface="Monotype Sorts"/>
              <a:buNone/>
              <a:defRPr/>
            </a:pPr>
            <a:r>
              <a:rPr lang="en-US" sz="1500">
                <a:latin typeface="Courier New"/>
              </a:rPr>
              <a:t>   </a:t>
            </a:r>
            <a:r>
              <a:rPr lang="en-US" sz="1500">
                <a:latin typeface="Courier New"/>
              </a:rPr>
              <a:t>pthread_attr_t</a:t>
            </a:r>
            <a:r>
              <a:rPr lang="en-US" sz="1500">
                <a:latin typeface="Courier New"/>
              </a:rPr>
              <a:t> </a:t>
            </a:r>
            <a:r>
              <a:rPr lang="en-US" sz="1500">
                <a:latin typeface="Courier New"/>
              </a:rPr>
              <a:t>attr</a:t>
            </a:r>
            <a:r>
              <a:rPr lang="en-US" sz="1500">
                <a:latin typeface="Courier New"/>
              </a:rPr>
              <a:t>; </a:t>
            </a:r>
            <a:endParaRPr/>
          </a:p>
          <a:p>
            <a:pPr marL="0" indent="0">
              <a:buFont typeface="Monotype Sorts"/>
              <a:buNone/>
              <a:defRPr/>
            </a:pPr>
            <a:r>
              <a:rPr lang="en-US" sz="1500">
                <a:latin typeface="Courier New"/>
              </a:rPr>
              <a:t>   /* get the default attributes */ </a:t>
            </a:r>
            <a:endParaRPr/>
          </a:p>
          <a:p>
            <a:pPr marL="0" indent="0">
              <a:buFont typeface="Monotype Sorts"/>
              <a:buNone/>
              <a:defRPr/>
            </a:pPr>
            <a:r>
              <a:rPr lang="en-US" sz="1500">
                <a:latin typeface="Courier New"/>
              </a:rPr>
              <a:t>   </a:t>
            </a:r>
            <a:r>
              <a:rPr lang="en-US" sz="1500">
                <a:latin typeface="Courier New"/>
              </a:rPr>
              <a:t>pthread_attr_init</a:t>
            </a:r>
            <a:r>
              <a:rPr lang="en-US" sz="1500">
                <a:latin typeface="Courier New"/>
              </a:rPr>
              <a:t>(&amp;</a:t>
            </a:r>
            <a:r>
              <a:rPr lang="en-US" sz="1500">
                <a:latin typeface="Courier New"/>
              </a:rPr>
              <a:t>attr</a:t>
            </a:r>
            <a:r>
              <a:rPr lang="en-US" sz="1500">
                <a:latin typeface="Courier New"/>
              </a:rPr>
              <a:t>); </a:t>
            </a:r>
            <a:endParaRPr/>
          </a:p>
          <a:p>
            <a:pPr marL="0" indent="0">
              <a:buFont typeface="Monotype Sorts"/>
              <a:buNone/>
              <a:defRPr/>
            </a:pPr>
            <a:r>
              <a:rPr lang="en-US" sz="1500">
                <a:latin typeface="Courier New"/>
              </a:rPr>
              <a:t>   /* get the current scheduling policy */</a:t>
            </a:r>
            <a:br>
              <a:rPr lang="en-US" sz="1500">
                <a:latin typeface="Courier New"/>
              </a:rPr>
            </a:br>
            <a:r>
              <a:rPr lang="en-US" sz="1500">
                <a:latin typeface="Courier New"/>
              </a:rPr>
              <a:t>   if (</a:t>
            </a:r>
            <a:r>
              <a:rPr lang="en-US" sz="1500">
                <a:latin typeface="Courier New"/>
              </a:rPr>
              <a:t>pthread_attr_getschedpolicy</a:t>
            </a:r>
            <a:r>
              <a:rPr lang="en-US" sz="1500">
                <a:latin typeface="Courier New"/>
              </a:rPr>
              <a:t>(&amp;</a:t>
            </a:r>
            <a:r>
              <a:rPr lang="en-US" sz="1500">
                <a:latin typeface="Courier New"/>
              </a:rPr>
              <a:t>attr</a:t>
            </a:r>
            <a:r>
              <a:rPr lang="en-US" sz="1500">
                <a:latin typeface="Courier New"/>
              </a:rPr>
              <a:t>, &amp;policy) != 0) </a:t>
            </a:r>
            <a:endParaRPr/>
          </a:p>
          <a:p>
            <a:pPr marL="0" indent="0">
              <a:buFont typeface="Monotype Sorts"/>
              <a:buNone/>
              <a:defRPr/>
            </a:pPr>
            <a:r>
              <a:rPr lang="en-US" sz="1500">
                <a:latin typeface="Courier New"/>
              </a:rPr>
              <a:t>      </a:t>
            </a:r>
            <a:r>
              <a:rPr lang="en-US" sz="1500">
                <a:latin typeface="Courier New"/>
              </a:rPr>
              <a:t>fprintf</a:t>
            </a:r>
            <a:r>
              <a:rPr lang="en-US" sz="1500">
                <a:latin typeface="Courier New"/>
              </a:rPr>
              <a:t>(stderr, "Unable to get policy.\n"); </a:t>
            </a:r>
            <a:endParaRPr/>
          </a:p>
          <a:p>
            <a:pPr marL="0" indent="0">
              <a:buFont typeface="Monotype Sorts"/>
              <a:buNone/>
              <a:defRPr/>
            </a:pPr>
            <a:r>
              <a:rPr lang="en-US" sz="1500">
                <a:latin typeface="Courier New"/>
              </a:rPr>
              <a:t>   else { </a:t>
            </a:r>
            <a:endParaRPr/>
          </a:p>
          <a:p>
            <a:pPr marL="0" indent="0">
              <a:buFont typeface="Monotype Sorts"/>
              <a:buNone/>
              <a:defRPr/>
            </a:pPr>
            <a:r>
              <a:rPr lang="en-US" sz="1500">
                <a:latin typeface="Courier New"/>
              </a:rPr>
              <a:t>      if (policy == SCHED_OTHER) </a:t>
            </a:r>
            <a:r>
              <a:rPr lang="en-US" sz="1500">
                <a:latin typeface="Courier New"/>
              </a:rPr>
              <a:t>printf</a:t>
            </a:r>
            <a:r>
              <a:rPr lang="en-US" sz="1500">
                <a:latin typeface="Courier New"/>
              </a:rPr>
              <a:t>("SCHED_OTHER\n"); </a:t>
            </a:r>
            <a:endParaRPr/>
          </a:p>
          <a:p>
            <a:pPr marL="0" indent="0">
              <a:buFont typeface="Monotype Sorts"/>
              <a:buNone/>
              <a:defRPr/>
            </a:pPr>
            <a:r>
              <a:rPr lang="en-US" sz="1500">
                <a:latin typeface="Courier New"/>
              </a:rPr>
              <a:t>      else if (policy == SCHED_RR) </a:t>
            </a:r>
            <a:r>
              <a:rPr lang="en-US" sz="1500">
                <a:latin typeface="Courier New"/>
              </a:rPr>
              <a:t>printf</a:t>
            </a:r>
            <a:r>
              <a:rPr lang="en-US" sz="1500">
                <a:latin typeface="Courier New"/>
              </a:rPr>
              <a:t>("SCHED_RR\n"); </a:t>
            </a:r>
            <a:endParaRPr/>
          </a:p>
          <a:p>
            <a:pPr marL="0" indent="0">
              <a:buFont typeface="Monotype Sorts"/>
              <a:buNone/>
              <a:defRPr/>
            </a:pPr>
            <a:r>
              <a:rPr lang="en-US" sz="1500">
                <a:latin typeface="Courier New"/>
              </a:rPr>
              <a:t>      else if (policy == SCHED_FIFO) </a:t>
            </a:r>
            <a:r>
              <a:rPr lang="en-US" sz="1500">
                <a:latin typeface="Courier New"/>
              </a:rPr>
              <a:t>printf</a:t>
            </a:r>
            <a:r>
              <a:rPr lang="en-US" sz="1500">
                <a:latin typeface="Courier New"/>
              </a:rPr>
              <a:t>("SCHED_FIFO\n"); </a:t>
            </a:r>
            <a:endParaRPr/>
          </a:p>
          <a:p>
            <a:pPr marL="0" indent="0">
              <a:buFont typeface="Monotype Sorts"/>
              <a:buNone/>
              <a:defRPr/>
            </a:pPr>
            <a:r>
              <a:rPr lang="en-US" sz="1500">
                <a:latin typeface="Courier New"/>
              </a:rPr>
              <a:t>   }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8053938" name="Rectangle 3"/>
          <p:cNvSpPr>
            <a:spLocks noChangeArrowheads="1" noGrp="1"/>
          </p:cNvSpPr>
          <p:nvPr>
            <p:ph type="body" idx="1"/>
          </p:nvPr>
        </p:nvSpPr>
        <p:spPr bwMode="auto">
          <a:xfrm>
            <a:off x="806450" y="1298574"/>
            <a:ext cx="7702550" cy="4483100"/>
          </a:xfrm>
        </p:spPr>
        <p:txBody>
          <a:bodyPr/>
          <a:lstStyle/>
          <a:p>
            <a:pPr marL="0" indent="0">
              <a:buFont typeface="Monotype Sorts"/>
              <a:buNone/>
              <a:defRPr/>
            </a:pPr>
            <a:r>
              <a:rPr lang="en-US" sz="1500">
                <a:latin typeface="Courier New"/>
              </a:rPr>
              <a:t>   /* set the scheduling policy - FIFO, RR, or OTHER */ </a:t>
            </a:r>
            <a:br>
              <a:rPr lang="en-US" sz="1500">
                <a:latin typeface="Courier New"/>
              </a:rPr>
            </a:br>
            <a:r>
              <a:rPr lang="en-US" sz="1500">
                <a:latin typeface="Courier New"/>
              </a:rPr>
              <a:t>   if (</a:t>
            </a:r>
            <a:r>
              <a:rPr lang="en-US" sz="1500">
                <a:latin typeface="Courier New"/>
              </a:rPr>
              <a:t>pthread_attr_setschedpolicy</a:t>
            </a:r>
            <a:r>
              <a:rPr lang="en-US" sz="1500">
                <a:latin typeface="Courier New"/>
              </a:rPr>
              <a:t>(&amp;</a:t>
            </a:r>
            <a:r>
              <a:rPr lang="en-US" sz="1500">
                <a:latin typeface="Courier New"/>
              </a:rPr>
              <a:t>attr</a:t>
            </a:r>
            <a:r>
              <a:rPr lang="en-US" sz="1500">
                <a:latin typeface="Courier New"/>
              </a:rPr>
              <a:t>, SCHED_FIFO) != 0) </a:t>
            </a:r>
            <a:endParaRPr/>
          </a:p>
          <a:p>
            <a:pPr marL="0" indent="0">
              <a:buFont typeface="Monotype Sorts"/>
              <a:buNone/>
              <a:defRPr/>
            </a:pPr>
            <a:r>
              <a:rPr lang="en-US" sz="1500">
                <a:latin typeface="Courier New"/>
              </a:rPr>
              <a:t>      </a:t>
            </a:r>
            <a:r>
              <a:rPr lang="en-US" sz="1500">
                <a:latin typeface="Courier New"/>
              </a:rPr>
              <a:t>fprintf</a:t>
            </a:r>
            <a:r>
              <a:rPr lang="en-US" sz="1500">
                <a:latin typeface="Courier New"/>
              </a:rPr>
              <a:t>(stderr, "Unable to set policy.\n"); </a:t>
            </a:r>
            <a:endParaRPr/>
          </a:p>
          <a:p>
            <a:pPr marL="0" indent="0">
              <a:buFont typeface="Monotype Sorts"/>
              <a:buNone/>
              <a:defRPr/>
            </a:pPr>
            <a:r>
              <a:rPr lang="en-US" sz="1500">
                <a:latin typeface="Courier New"/>
              </a:rPr>
              <a:t>   /* create the threads */</a:t>
            </a:r>
            <a:br>
              <a:rPr lang="en-US" sz="1500">
                <a:latin typeface="Courier New"/>
              </a:rPr>
            </a:br>
            <a:r>
              <a:rPr lang="en-US" sz="1500">
                <a:latin typeface="Courier New"/>
              </a:rPr>
              <a:t>   for (</a:t>
            </a:r>
            <a:r>
              <a:rPr lang="en-US" sz="1500">
                <a:latin typeface="Courier New"/>
              </a:rPr>
              <a:t>i</a:t>
            </a:r>
            <a:r>
              <a:rPr lang="en-US" sz="1500">
                <a:latin typeface="Courier New"/>
              </a:rPr>
              <a:t> = 0; </a:t>
            </a:r>
            <a:r>
              <a:rPr lang="en-US" sz="1500">
                <a:latin typeface="Courier New"/>
              </a:rPr>
              <a:t>i</a:t>
            </a:r>
            <a:r>
              <a:rPr lang="en-US" sz="1500">
                <a:latin typeface="Courier New"/>
              </a:rPr>
              <a:t> &lt; NUM_THREADS; </a:t>
            </a:r>
            <a:r>
              <a:rPr lang="en-US" sz="1500">
                <a:latin typeface="Courier New"/>
              </a:rPr>
              <a:t>i</a:t>
            </a:r>
            <a:r>
              <a:rPr lang="en-US" sz="1500">
                <a:latin typeface="Courier New"/>
              </a:rPr>
              <a:t>++) </a:t>
            </a:r>
            <a:endParaRPr/>
          </a:p>
          <a:p>
            <a:pPr marL="0" indent="0">
              <a:buFont typeface="Monotype Sorts"/>
              <a:buNone/>
              <a:defRPr/>
            </a:pPr>
            <a:r>
              <a:rPr lang="en-US" sz="1500">
                <a:latin typeface="Courier New"/>
              </a:rPr>
              <a:t>      </a:t>
            </a:r>
            <a:r>
              <a:rPr lang="en-US" sz="1500">
                <a:latin typeface="Courier New"/>
              </a:rPr>
              <a:t>pthread_create</a:t>
            </a:r>
            <a:r>
              <a:rPr lang="en-US" sz="1500">
                <a:latin typeface="Courier New"/>
              </a:rPr>
              <a:t>(&amp;</a:t>
            </a:r>
            <a:r>
              <a:rPr lang="en-US" sz="1500">
                <a:latin typeface="Courier New"/>
              </a:rPr>
              <a:t>tid</a:t>
            </a:r>
            <a:r>
              <a:rPr lang="en-US" sz="1500">
                <a:latin typeface="Courier New"/>
              </a:rPr>
              <a:t>[</a:t>
            </a:r>
            <a:r>
              <a:rPr lang="en-US" sz="1500">
                <a:latin typeface="Courier New"/>
              </a:rPr>
              <a:t>i</a:t>
            </a:r>
            <a:r>
              <a:rPr lang="en-US" sz="1500">
                <a:latin typeface="Courier New"/>
              </a:rPr>
              <a:t>],&amp;</a:t>
            </a:r>
            <a:r>
              <a:rPr lang="en-US" sz="1500">
                <a:latin typeface="Courier New"/>
              </a:rPr>
              <a:t>attr,runner,NULL</a:t>
            </a:r>
            <a:r>
              <a:rPr lang="en-US" sz="1500">
                <a:latin typeface="Courier New"/>
              </a:rPr>
              <a:t>); </a:t>
            </a:r>
            <a:endParaRPr/>
          </a:p>
          <a:p>
            <a:pPr marL="0" indent="0">
              <a:buFont typeface="Monotype Sorts"/>
              <a:buNone/>
              <a:defRPr/>
            </a:pPr>
            <a:r>
              <a:rPr lang="en-US" sz="1500">
                <a:latin typeface="Courier New"/>
              </a:rPr>
              <a:t>   /* now join on each thread */</a:t>
            </a:r>
            <a:br>
              <a:rPr lang="en-US" sz="1500">
                <a:latin typeface="Courier New"/>
              </a:rPr>
            </a:br>
            <a:r>
              <a:rPr lang="en-US" sz="1500">
                <a:latin typeface="Courier New"/>
              </a:rPr>
              <a:t>   for (</a:t>
            </a:r>
            <a:r>
              <a:rPr lang="en-US" sz="1500">
                <a:latin typeface="Courier New"/>
              </a:rPr>
              <a:t>i</a:t>
            </a:r>
            <a:r>
              <a:rPr lang="en-US" sz="1500">
                <a:latin typeface="Courier New"/>
              </a:rPr>
              <a:t> = 0; </a:t>
            </a:r>
            <a:r>
              <a:rPr lang="en-US" sz="1500">
                <a:latin typeface="Courier New"/>
              </a:rPr>
              <a:t>i</a:t>
            </a:r>
            <a:r>
              <a:rPr lang="en-US" sz="1500">
                <a:latin typeface="Courier New"/>
              </a:rPr>
              <a:t> &lt; NUM_THREADS; </a:t>
            </a:r>
            <a:r>
              <a:rPr lang="en-US" sz="1500">
                <a:latin typeface="Courier New"/>
              </a:rPr>
              <a:t>i</a:t>
            </a:r>
            <a:r>
              <a:rPr lang="en-US" sz="1500">
                <a:latin typeface="Courier New"/>
              </a:rPr>
              <a:t>++) </a:t>
            </a:r>
            <a:endParaRPr/>
          </a:p>
          <a:p>
            <a:pPr marL="0" indent="0">
              <a:buFont typeface="Monotype Sorts"/>
              <a:buNone/>
              <a:defRPr/>
            </a:pPr>
            <a:r>
              <a:rPr lang="en-US" sz="1500">
                <a:latin typeface="Courier New"/>
              </a:rPr>
              <a:t>      </a:t>
            </a:r>
            <a:r>
              <a:rPr lang="en-US" sz="1500">
                <a:latin typeface="Courier New"/>
              </a:rPr>
              <a:t>pthread_join</a:t>
            </a:r>
            <a:r>
              <a:rPr lang="en-US" sz="1500">
                <a:latin typeface="Courier New"/>
              </a:rPr>
              <a:t>(</a:t>
            </a:r>
            <a:r>
              <a:rPr lang="en-US" sz="1500">
                <a:latin typeface="Courier New"/>
              </a:rPr>
              <a:t>tid</a:t>
            </a:r>
            <a:r>
              <a:rPr lang="en-US" sz="1500">
                <a:latin typeface="Courier New"/>
              </a:rPr>
              <a:t>[</a:t>
            </a:r>
            <a:r>
              <a:rPr lang="en-US" sz="1500">
                <a:latin typeface="Courier New"/>
              </a:rPr>
              <a:t>i</a:t>
            </a:r>
            <a:r>
              <a:rPr lang="en-US" sz="1500">
                <a:latin typeface="Courier New"/>
              </a:rPr>
              <a:t>], NULL); </a:t>
            </a:r>
            <a:endParaRPr/>
          </a:p>
          <a:p>
            <a:pPr marL="0" indent="0">
              <a:buFont typeface="Monotype Sorts"/>
              <a:buNone/>
              <a:defRPr/>
            </a:pPr>
            <a:r>
              <a:rPr lang="en-US" sz="1500">
                <a:latin typeface="Courier New"/>
              </a:rPr>
              <a:t>}</a:t>
            </a:r>
            <a:endParaRPr/>
          </a:p>
          <a:p>
            <a:pPr marL="0" indent="0">
              <a:buFont typeface="Monotype Sorts"/>
              <a:buNone/>
              <a:defRPr/>
            </a:pPr>
            <a:r>
              <a:rPr lang="en-US" sz="1500">
                <a:latin typeface="Courier New"/>
              </a:rPr>
              <a:t> </a:t>
            </a:r>
            <a:endParaRPr/>
          </a:p>
          <a:p>
            <a:pPr marL="0" indent="0">
              <a:buFont typeface="Monotype Sorts"/>
              <a:buNone/>
              <a:defRPr/>
            </a:pPr>
            <a:r>
              <a:rPr lang="en-US" sz="1500">
                <a:latin typeface="Courier New"/>
              </a:rPr>
              <a:t>/* Each thread will begin control in this function */ </a:t>
            </a:r>
            <a:endParaRPr/>
          </a:p>
          <a:p>
            <a:pPr marL="0" indent="0">
              <a:buFont typeface="Monotype Sorts"/>
              <a:buNone/>
              <a:defRPr/>
            </a:pPr>
            <a:r>
              <a:rPr lang="en-US" sz="1500">
                <a:latin typeface="Courier New"/>
              </a:rPr>
              <a:t>void *runner(void *param)</a:t>
            </a:r>
            <a:br>
              <a:rPr lang="en-US" sz="1500">
                <a:latin typeface="Courier New"/>
              </a:rPr>
            </a:br>
            <a:r>
              <a:rPr lang="en-US" sz="1500">
                <a:latin typeface="Courier New"/>
              </a:rPr>
              <a:t>{ </a:t>
            </a:r>
            <a:endParaRPr/>
          </a:p>
          <a:p>
            <a:pPr marL="0" indent="0">
              <a:buFont typeface="Monotype Sorts"/>
              <a:buNone/>
              <a:defRPr/>
            </a:pPr>
            <a:r>
              <a:rPr lang="en-US" sz="1500">
                <a:latin typeface="Courier New"/>
              </a:rPr>
              <a:t>   /* do some work ... */ </a:t>
            </a:r>
            <a:endParaRPr/>
          </a:p>
          <a:p>
            <a:pPr marL="0" indent="0">
              <a:buFont typeface="Monotype Sorts"/>
              <a:buNone/>
              <a:defRPr/>
            </a:pPr>
            <a:r>
              <a:rPr lang="en-US" sz="1500">
                <a:latin typeface="Courier New"/>
              </a:rPr>
              <a:t>   </a:t>
            </a:r>
            <a:r>
              <a:rPr lang="en-US" sz="1500">
                <a:latin typeface="Courier New"/>
              </a:rPr>
              <a:t>pthread_exit</a:t>
            </a:r>
            <a:r>
              <a:rPr lang="en-US" sz="1500">
                <a:latin typeface="Courier New"/>
              </a:rPr>
              <a:t>(0); </a:t>
            </a:r>
            <a:endParaRPr/>
          </a:p>
          <a:p>
            <a:pPr marL="0" indent="0">
              <a:buFont typeface="Monotype Sorts"/>
              <a:buNone/>
              <a:defRPr/>
            </a:pPr>
            <a:r>
              <a:rPr lang="en-US" sz="1500">
                <a:latin typeface="Courier New"/>
              </a:rPr>
              <a:t>} </a:t>
            </a:r>
            <a:endParaRPr/>
          </a:p>
        </p:txBody>
      </p:sp>
      <p:sp>
        <p:nvSpPr>
          <p:cNvPr id="845536031" name="Rectangle 2"/>
          <p:cNvSpPr>
            <a:spLocks noChangeArrowheads="1" noGrp="1"/>
          </p:cNvSpPr>
          <p:nvPr>
            <p:ph type="title"/>
          </p:nvPr>
        </p:nvSpPr>
        <p:spPr bwMode="auto">
          <a:xfrm>
            <a:off x="1048969" y="122093"/>
            <a:ext cx="7996335" cy="576262"/>
          </a:xfrm>
        </p:spPr>
        <p:txBody>
          <a:bodyPr/>
          <a:lstStyle/>
          <a:p>
            <a:pPr>
              <a:defRPr/>
            </a:pPr>
            <a:r>
              <a:rPr lang="en-US" sz="2800"/>
              <a:t>POSIX Real-Time Scheduling API (Cont.)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5609014" name="Rectangle 2"/>
          <p:cNvSpPr>
            <a:spLocks noChangeArrowheads="1" noGrp="1"/>
          </p:cNvSpPr>
          <p:nvPr>
            <p:ph type="title"/>
          </p:nvPr>
        </p:nvSpPr>
        <p:spPr bwMode="auto">
          <a:xfrm>
            <a:off x="1138238" y="142417"/>
            <a:ext cx="7548562" cy="576262"/>
          </a:xfrm>
        </p:spPr>
        <p:txBody>
          <a:bodyPr/>
          <a:lstStyle/>
          <a:p>
            <a:pPr>
              <a:defRPr/>
            </a:pPr>
            <a:r>
              <a:rPr lang="en-US"/>
              <a:t>Operating System Examples</a:t>
            </a:r>
            <a:endParaRPr/>
          </a:p>
        </p:txBody>
      </p:sp>
      <p:sp>
        <p:nvSpPr>
          <p:cNvPr id="2094817575" name="Rectangle 3"/>
          <p:cNvSpPr>
            <a:spLocks noChangeArrowheads="1" noGrp="1"/>
          </p:cNvSpPr>
          <p:nvPr>
            <p:ph type="body" idx="1"/>
          </p:nvPr>
        </p:nvSpPr>
        <p:spPr bwMode="auto">
          <a:xfrm>
            <a:off x="849086" y="1109663"/>
            <a:ext cx="6750277" cy="3508375"/>
          </a:xfrm>
        </p:spPr>
        <p:txBody>
          <a:bodyPr/>
          <a:lstStyle/>
          <a:p>
            <a:pPr>
              <a:defRPr/>
            </a:pPr>
            <a:r>
              <a:rPr lang="en-US"/>
              <a:t>Linux scheduling</a:t>
            </a:r>
            <a:endParaRPr/>
          </a:p>
          <a:p>
            <a:pPr>
              <a:defRPr/>
            </a:pPr>
            <a:r>
              <a:rPr lang="en-US"/>
              <a:t>Windows scheduling</a:t>
            </a:r>
            <a:endParaRPr/>
          </a:p>
          <a:p>
            <a:pPr>
              <a:defRPr/>
            </a:pPr>
            <a:r>
              <a:rPr lang="en-US"/>
              <a:t>Solaris scheduling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1057742" name="Rectangle 2"/>
          <p:cNvSpPr>
            <a:spLocks noChangeArrowheads="1" noGrp="1"/>
          </p:cNvSpPr>
          <p:nvPr>
            <p:ph type="title"/>
          </p:nvPr>
        </p:nvSpPr>
        <p:spPr bwMode="auto">
          <a:xfrm>
            <a:off x="1011283" y="129823"/>
            <a:ext cx="7848600" cy="576262"/>
          </a:xfrm>
        </p:spPr>
        <p:txBody>
          <a:bodyPr/>
          <a:lstStyle/>
          <a:p>
            <a:pPr>
              <a:defRPr/>
            </a:pPr>
            <a:r>
              <a:rPr lang="en-US" sz="2800"/>
              <a:t>Linux Scheduling Through Version 2.5</a:t>
            </a:r>
            <a:endParaRPr/>
          </a:p>
        </p:txBody>
      </p:sp>
      <p:sp>
        <p:nvSpPr>
          <p:cNvPr id="1962530043" name="Rectangle 3"/>
          <p:cNvSpPr>
            <a:spLocks noChangeArrowheads="1" noGrp="1"/>
          </p:cNvSpPr>
          <p:nvPr>
            <p:ph type="body" idx="1"/>
          </p:nvPr>
        </p:nvSpPr>
        <p:spPr bwMode="auto">
          <a:xfrm>
            <a:off x="802433" y="1057262"/>
            <a:ext cx="7650687" cy="4733938"/>
          </a:xfrm>
        </p:spPr>
        <p:txBody>
          <a:bodyPr/>
          <a:lstStyle/>
          <a:p>
            <a:pPr>
              <a:lnSpc>
                <a:spcPct val="90000"/>
              </a:lnSpc>
              <a:defRPr/>
            </a:pPr>
            <a:r>
              <a:rPr lang="en-US" sz="1600"/>
              <a:t>Prior to kernel version 2.5, ran variation of standard UNIX scheduling algorithm</a:t>
            </a:r>
            <a:endParaRPr/>
          </a:p>
          <a:p>
            <a:pPr>
              <a:lnSpc>
                <a:spcPct val="90000"/>
              </a:lnSpc>
              <a:defRPr/>
            </a:pPr>
            <a:r>
              <a:rPr lang="en-US" sz="1600"/>
              <a:t>Version 2.5 moved to constant order </a:t>
            </a:r>
            <a:r>
              <a:rPr lang="en-US" sz="1600" i="1"/>
              <a:t>O</a:t>
            </a:r>
            <a:r>
              <a:rPr lang="en-US" sz="1600"/>
              <a:t>(1) scheduling time</a:t>
            </a:r>
            <a:endParaRPr/>
          </a:p>
          <a:p>
            <a:pPr lvl="1">
              <a:lnSpc>
                <a:spcPct val="90000"/>
              </a:lnSpc>
              <a:defRPr/>
            </a:pPr>
            <a:r>
              <a:rPr lang="en-US" sz="1600"/>
              <a:t>Preemptive, priority based</a:t>
            </a:r>
            <a:endParaRPr/>
          </a:p>
          <a:p>
            <a:pPr lvl="1">
              <a:lnSpc>
                <a:spcPct val="90000"/>
              </a:lnSpc>
              <a:defRPr/>
            </a:pPr>
            <a:r>
              <a:rPr lang="en-US" sz="1600"/>
              <a:t>Two priority ranges: time-sharing and real-time</a:t>
            </a:r>
            <a:endParaRPr/>
          </a:p>
          <a:p>
            <a:pPr lvl="1">
              <a:lnSpc>
                <a:spcPct val="90000"/>
              </a:lnSpc>
              <a:defRPr/>
            </a:pPr>
            <a:r>
              <a:rPr lang="en-US" sz="1600" b="1"/>
              <a:t>Real-time </a:t>
            </a:r>
            <a:r>
              <a:rPr lang="en-US" sz="1600"/>
              <a:t>range from 0 to 99 and </a:t>
            </a:r>
            <a:r>
              <a:rPr lang="en-US" sz="1600" b="1"/>
              <a:t>nice </a:t>
            </a:r>
            <a:r>
              <a:rPr lang="en-US" sz="1600"/>
              <a:t>value from 100 to 140</a:t>
            </a:r>
            <a:endParaRPr/>
          </a:p>
          <a:p>
            <a:pPr lvl="1">
              <a:lnSpc>
                <a:spcPct val="90000"/>
              </a:lnSpc>
              <a:defRPr/>
            </a:pPr>
            <a:r>
              <a:rPr lang="en-US" sz="1600"/>
              <a:t>Map into  global priority with numerically lower values indicating higher priority</a:t>
            </a:r>
            <a:endParaRPr/>
          </a:p>
          <a:p>
            <a:pPr lvl="1">
              <a:lnSpc>
                <a:spcPct val="90000"/>
              </a:lnSpc>
              <a:defRPr/>
            </a:pPr>
            <a:r>
              <a:rPr lang="en-US" sz="1600"/>
              <a:t>Higher priority gets larger q</a:t>
            </a:r>
            <a:endParaRPr/>
          </a:p>
          <a:p>
            <a:pPr lvl="1">
              <a:lnSpc>
                <a:spcPct val="90000"/>
              </a:lnSpc>
              <a:defRPr/>
            </a:pPr>
            <a:r>
              <a:rPr lang="en-US" sz="1600"/>
              <a:t>Task run-able as long as time left in time slice (</a:t>
            </a:r>
            <a:r>
              <a:rPr lang="en-US" sz="1700" b="1">
                <a:solidFill>
                  <a:srgbClr val="006699"/>
                </a:solidFill>
                <a:latin typeface="+mj-lt"/>
              </a:rPr>
              <a:t>active</a:t>
            </a:r>
            <a:r>
              <a:rPr lang="en-US" sz="1600"/>
              <a:t>)</a:t>
            </a:r>
            <a:endParaRPr/>
          </a:p>
          <a:p>
            <a:pPr lvl="1">
              <a:lnSpc>
                <a:spcPct val="90000"/>
              </a:lnSpc>
              <a:defRPr/>
            </a:pPr>
            <a:r>
              <a:rPr lang="en-US" sz="1600"/>
              <a:t>If no time left (</a:t>
            </a:r>
            <a:r>
              <a:rPr lang="en-US" sz="1700" b="1">
                <a:solidFill>
                  <a:srgbClr val="006699"/>
                </a:solidFill>
                <a:latin typeface="+mj-lt"/>
              </a:rPr>
              <a:t>expired</a:t>
            </a:r>
            <a:r>
              <a:rPr lang="en-US" sz="1600"/>
              <a:t>), not run-able until all other tasks use their slices</a:t>
            </a:r>
            <a:endParaRPr/>
          </a:p>
          <a:p>
            <a:pPr lvl="1">
              <a:lnSpc>
                <a:spcPct val="90000"/>
              </a:lnSpc>
              <a:defRPr/>
            </a:pPr>
            <a:r>
              <a:rPr lang="en-US" sz="1600"/>
              <a:t>All run-able tasks tracked in per-CPU </a:t>
            </a:r>
            <a:r>
              <a:rPr lang="en-US" sz="1700" b="1">
                <a:solidFill>
                  <a:srgbClr val="006699"/>
                </a:solidFill>
                <a:latin typeface="+mj-lt"/>
              </a:rPr>
              <a:t>runqueue</a:t>
            </a:r>
            <a:r>
              <a:rPr lang="en-US" sz="1600" b="1">
                <a:solidFill>
                  <a:srgbClr val="3366FF"/>
                </a:solidFill>
              </a:rPr>
              <a:t> </a:t>
            </a:r>
            <a:r>
              <a:rPr lang="en-US" sz="1600"/>
              <a:t>data structure</a:t>
            </a:r>
            <a:endParaRPr/>
          </a:p>
          <a:p>
            <a:pPr lvl="2">
              <a:lnSpc>
                <a:spcPct val="90000"/>
              </a:lnSpc>
              <a:defRPr/>
            </a:pPr>
            <a:r>
              <a:rPr lang="en-US" sz="1600"/>
              <a:t>Two priority arrays (active, expired)</a:t>
            </a:r>
            <a:endParaRPr/>
          </a:p>
          <a:p>
            <a:pPr lvl="2">
              <a:lnSpc>
                <a:spcPct val="90000"/>
              </a:lnSpc>
              <a:defRPr/>
            </a:pPr>
            <a:r>
              <a:rPr lang="en-US" sz="1600"/>
              <a:t>Tasks indexed by priority</a:t>
            </a:r>
            <a:endParaRPr/>
          </a:p>
          <a:p>
            <a:pPr lvl="2">
              <a:lnSpc>
                <a:spcPct val="90000"/>
              </a:lnSpc>
              <a:defRPr/>
            </a:pPr>
            <a:r>
              <a:rPr lang="en-US" sz="1600"/>
              <a:t>When no more active, arrays are exchanged</a:t>
            </a:r>
            <a:endParaRPr/>
          </a:p>
          <a:p>
            <a:pPr lvl="1">
              <a:lnSpc>
                <a:spcPct val="90000"/>
              </a:lnSpc>
              <a:defRPr/>
            </a:pPr>
            <a:r>
              <a:rPr lang="en-US" sz="1600"/>
              <a:t>Worked well, but poor response times for interactive processes</a:t>
            </a:r>
            <a:endParaRPr/>
          </a:p>
          <a:p>
            <a:pPr>
              <a:lnSpc>
                <a:spcPct val="90000"/>
              </a:lnSpc>
              <a:buFont typeface="Monotype Sort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2407908" name="Rectangle 2"/>
          <p:cNvSpPr>
            <a:spLocks noChangeArrowheads="1" noGrp="1"/>
          </p:cNvSpPr>
          <p:nvPr>
            <p:ph type="title"/>
          </p:nvPr>
        </p:nvSpPr>
        <p:spPr bwMode="auto">
          <a:xfrm>
            <a:off x="1423952" y="161908"/>
            <a:ext cx="7594600" cy="576262"/>
          </a:xfrm>
        </p:spPr>
        <p:txBody>
          <a:bodyPr/>
          <a:lstStyle/>
          <a:p>
            <a:pPr>
              <a:defRPr/>
            </a:pPr>
            <a:r>
              <a:rPr lang="en-US"/>
              <a:t>Linux Scheduling in Version 2.6.23 +</a:t>
            </a:r>
            <a:endParaRPr/>
          </a:p>
        </p:txBody>
      </p:sp>
      <p:sp>
        <p:nvSpPr>
          <p:cNvPr id="689899437" name="Rectangle 3"/>
          <p:cNvSpPr>
            <a:spLocks noChangeArrowheads="1" noGrp="1"/>
          </p:cNvSpPr>
          <p:nvPr>
            <p:ph type="body" idx="1"/>
          </p:nvPr>
        </p:nvSpPr>
        <p:spPr bwMode="auto">
          <a:xfrm>
            <a:off x="783773" y="1063481"/>
            <a:ext cx="7865703" cy="5071253"/>
          </a:xfrm>
        </p:spPr>
        <p:txBody>
          <a:bodyPr/>
          <a:lstStyle/>
          <a:p>
            <a:pPr>
              <a:lnSpc>
                <a:spcPct val="90000"/>
              </a:lnSpc>
              <a:defRPr/>
            </a:pPr>
            <a:r>
              <a:rPr lang="en-US" b="1">
                <a:solidFill>
                  <a:srgbClr val="006699"/>
                </a:solidFill>
                <a:latin typeface="+mj-lt"/>
              </a:rPr>
              <a:t>Completely Fair Scheduler (CFS)</a:t>
            </a:r>
            <a:endParaRPr/>
          </a:p>
          <a:p>
            <a:pPr>
              <a:lnSpc>
                <a:spcPct val="90000"/>
              </a:lnSpc>
              <a:defRPr/>
            </a:pPr>
            <a:r>
              <a:rPr lang="en-US" b="1">
                <a:latin typeface="+mj-lt"/>
              </a:rPr>
              <a:t>Scheduling classes</a:t>
            </a:r>
            <a:endParaRPr/>
          </a:p>
          <a:p>
            <a:pPr lvl="1">
              <a:lnSpc>
                <a:spcPct val="90000"/>
              </a:lnSpc>
              <a:defRPr/>
            </a:pPr>
            <a:r>
              <a:rPr lang="en-US"/>
              <a:t>Each has specific priority</a:t>
            </a:r>
            <a:endParaRPr/>
          </a:p>
          <a:p>
            <a:pPr lvl="1">
              <a:lnSpc>
                <a:spcPct val="90000"/>
              </a:lnSpc>
              <a:defRPr/>
            </a:pPr>
            <a:r>
              <a:rPr lang="en-US"/>
              <a:t>Scheduler picks highest priority task in highest scheduling class</a:t>
            </a:r>
            <a:endParaRPr/>
          </a:p>
          <a:p>
            <a:pPr lvl="1">
              <a:lnSpc>
                <a:spcPct val="90000"/>
              </a:lnSpc>
              <a:defRPr/>
            </a:pPr>
            <a:r>
              <a:rPr lang="en-US"/>
              <a:t>Rather than quantum based on fixed time allotments, based on proportion of CPU time</a:t>
            </a:r>
            <a:endParaRPr/>
          </a:p>
          <a:p>
            <a:pPr lvl="1">
              <a:lnSpc>
                <a:spcPct val="90000"/>
              </a:lnSpc>
              <a:defRPr/>
            </a:pPr>
            <a:r>
              <a:rPr lang="en-US"/>
              <a:t>Two scheduling classes included, others can be added</a:t>
            </a:r>
            <a:endParaRPr/>
          </a:p>
          <a:p>
            <a:pPr marL="1095375" lvl="2" indent="-239713">
              <a:lnSpc>
                <a:spcPct val="90000"/>
              </a:lnSpc>
              <a:buFont typeface="Arial"/>
              <a:buAutoNum type="arabicPeriod"/>
              <a:defRPr/>
            </a:pPr>
            <a:r>
              <a:rPr lang="en-US"/>
              <a:t>default</a:t>
            </a:r>
            <a:endParaRPr/>
          </a:p>
          <a:p>
            <a:pPr marL="1095375" lvl="2" indent="-239713">
              <a:lnSpc>
                <a:spcPct val="90000"/>
              </a:lnSpc>
              <a:buFont typeface="Arial"/>
              <a:buAutoNum type="arabicPeriod"/>
              <a:defRPr/>
            </a:pPr>
            <a:r>
              <a:rPr lang="en-US"/>
              <a:t>real-time</a:t>
            </a:r>
            <a:endParaRPr/>
          </a:p>
          <a:p>
            <a:pPr marL="457200" lvl="1" indent="0">
              <a:lnSpc>
                <a:spcPct val="90000"/>
              </a:lnSpc>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8673936" name="Rectangle 2"/>
          <p:cNvSpPr>
            <a:spLocks noChangeArrowheads="1" noGrp="1"/>
          </p:cNvSpPr>
          <p:nvPr>
            <p:ph type="title"/>
          </p:nvPr>
        </p:nvSpPr>
        <p:spPr bwMode="auto">
          <a:xfrm>
            <a:off x="1332512" y="69396"/>
            <a:ext cx="7594600" cy="576262"/>
          </a:xfrm>
        </p:spPr>
        <p:txBody>
          <a:bodyPr/>
          <a:lstStyle/>
          <a:p>
            <a:pPr>
              <a:defRPr/>
            </a:pPr>
            <a:r>
              <a:rPr lang="en-US" sz="2400"/>
              <a:t>Linux Scheduling in Version 2.6.23 + (Cont.)</a:t>
            </a:r>
            <a:endParaRPr/>
          </a:p>
        </p:txBody>
      </p:sp>
      <p:sp>
        <p:nvSpPr>
          <p:cNvPr id="334334022" name="Rectangle 3"/>
          <p:cNvSpPr>
            <a:spLocks noChangeArrowheads="1" noGrp="1"/>
          </p:cNvSpPr>
          <p:nvPr>
            <p:ph type="body" idx="1"/>
          </p:nvPr>
        </p:nvSpPr>
        <p:spPr bwMode="auto">
          <a:xfrm>
            <a:off x="783773" y="951721"/>
            <a:ext cx="7205195" cy="4943753"/>
          </a:xfrm>
        </p:spPr>
        <p:txBody>
          <a:bodyPr/>
          <a:lstStyle/>
          <a:p>
            <a:pPr>
              <a:lnSpc>
                <a:spcPct val="90000"/>
              </a:lnSpc>
              <a:defRPr/>
            </a:pPr>
            <a:r>
              <a:rPr lang="en-US"/>
              <a:t>Quantum calculated based on </a:t>
            </a:r>
            <a:r>
              <a:rPr lang="en-US" b="1">
                <a:solidFill>
                  <a:srgbClr val="006699"/>
                </a:solidFill>
                <a:latin typeface="+mj-lt"/>
              </a:rPr>
              <a:t>nice value </a:t>
            </a:r>
            <a:r>
              <a:rPr lang="en-US"/>
              <a:t>from -20 to +19</a:t>
            </a:r>
            <a:endParaRPr/>
          </a:p>
          <a:p>
            <a:pPr lvl="1">
              <a:lnSpc>
                <a:spcPct val="90000"/>
              </a:lnSpc>
              <a:defRPr/>
            </a:pPr>
            <a:r>
              <a:rPr lang="en-US"/>
              <a:t>Lower value is higher priority</a:t>
            </a:r>
            <a:endParaRPr/>
          </a:p>
          <a:p>
            <a:pPr lvl="1">
              <a:lnSpc>
                <a:spcPct val="90000"/>
              </a:lnSpc>
              <a:defRPr/>
            </a:pPr>
            <a:r>
              <a:rPr lang="en-US"/>
              <a:t>Calculates </a:t>
            </a:r>
            <a:r>
              <a:rPr lang="en-US" b="1">
                <a:solidFill>
                  <a:srgbClr val="006699"/>
                </a:solidFill>
                <a:latin typeface="+mj-lt"/>
              </a:rPr>
              <a:t>target latency </a:t>
            </a:r>
            <a:r>
              <a:rPr lang="en-US"/>
              <a:t>– interval of time during which task should run at least once</a:t>
            </a:r>
            <a:endParaRPr/>
          </a:p>
          <a:p>
            <a:pPr lvl="1">
              <a:lnSpc>
                <a:spcPct val="90000"/>
              </a:lnSpc>
              <a:defRPr/>
            </a:pPr>
            <a:r>
              <a:rPr lang="en-US"/>
              <a:t>Target latency can increase if say number of active tasks increases</a:t>
            </a:r>
            <a:endParaRPr/>
          </a:p>
          <a:p>
            <a:pPr>
              <a:lnSpc>
                <a:spcPct val="90000"/>
              </a:lnSpc>
              <a:defRPr/>
            </a:pPr>
            <a:r>
              <a:rPr lang="en-US"/>
              <a:t>CFS scheduler maintains per task </a:t>
            </a:r>
            <a:r>
              <a:rPr lang="en-US" b="1">
                <a:solidFill>
                  <a:srgbClr val="006699"/>
                </a:solidFill>
                <a:latin typeface="+mj-lt"/>
              </a:rPr>
              <a:t>virtual run time </a:t>
            </a:r>
            <a:r>
              <a:rPr lang="en-US"/>
              <a:t>in variable </a:t>
            </a:r>
            <a:r>
              <a:rPr lang="en-US" b="1">
                <a:latin typeface="Courier New"/>
              </a:rPr>
              <a:t>vruntime</a:t>
            </a:r>
            <a:endParaRPr lang="en-US" b="1">
              <a:latin typeface="Courier New"/>
            </a:endParaRPr>
          </a:p>
          <a:p>
            <a:pPr lvl="1">
              <a:lnSpc>
                <a:spcPct val="90000"/>
              </a:lnSpc>
              <a:defRPr/>
            </a:pPr>
            <a:r>
              <a:rPr lang="en-US"/>
              <a:t>Associated with decay factor based on priority of task – lower priority is higher decay rate</a:t>
            </a:r>
            <a:endParaRPr/>
          </a:p>
          <a:p>
            <a:pPr lvl="1">
              <a:lnSpc>
                <a:spcPct val="90000"/>
              </a:lnSpc>
              <a:defRPr/>
            </a:pPr>
            <a:r>
              <a:rPr lang="en-US"/>
              <a:t>Normal default priority yields virtual run time = actual run time</a:t>
            </a:r>
            <a:endParaRPr/>
          </a:p>
          <a:p>
            <a:pPr>
              <a:lnSpc>
                <a:spcPct val="90000"/>
              </a:lnSpc>
              <a:defRPr/>
            </a:pPr>
            <a:r>
              <a:rPr lang="en-US"/>
              <a:t>To decide next task to run, scheduler picks task with lowest virtual run time</a:t>
            </a:r>
            <a:endParaRPr/>
          </a:p>
          <a:p>
            <a:pPr lvl="1">
              <a:lnSpc>
                <a:spcPct val="90000"/>
              </a:lnSpc>
              <a:defRPr/>
            </a:pPr>
            <a:endParaRPr lang="en-US"/>
          </a:p>
          <a:p>
            <a:pPr marL="1095375" lvl="2" indent="-239713">
              <a:lnSpc>
                <a:spcPct val="90000"/>
              </a:lnSpc>
              <a:defRPr/>
            </a:pPr>
            <a:endParaRPr lang="en-US" sz="1600"/>
          </a:p>
          <a:p>
            <a:pPr lvl="1">
              <a:lnSpc>
                <a:spcPct val="90000"/>
              </a:lnSpc>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2313896" name="Rectangle 2"/>
          <p:cNvSpPr>
            <a:spLocks noChangeArrowheads="1" noGrp="1"/>
          </p:cNvSpPr>
          <p:nvPr>
            <p:ph type="title"/>
          </p:nvPr>
        </p:nvSpPr>
        <p:spPr bwMode="auto">
          <a:xfrm>
            <a:off x="827088" y="130652"/>
            <a:ext cx="7859712" cy="576262"/>
          </a:xfrm>
        </p:spPr>
        <p:txBody>
          <a:bodyPr/>
          <a:lstStyle/>
          <a:p>
            <a:pPr>
              <a:defRPr/>
            </a:pPr>
            <a:r>
              <a:rPr lang="en-US"/>
              <a:t>CFS Performance</a:t>
            </a:r>
            <a:endParaRPr/>
          </a:p>
        </p:txBody>
      </p:sp>
      <p:pic>
        <p:nvPicPr>
          <p:cNvPr id="690355523" name="Picture 4" descr="Screen Shot 2012-12-17 at 9.25.06 PM.png"/>
          <p:cNvPicPr>
            <a:picLocks noChangeAspect="1"/>
          </p:cNvPicPr>
          <p:nvPr/>
        </p:nvPicPr>
        <p:blipFill rotWithShape="1">
          <a:blip r:embed="rId3"/>
          <a:stretch/>
        </p:blipFill>
        <p:spPr bwMode="auto">
          <a:xfrm>
            <a:off x="2576513" y="1077913"/>
            <a:ext cx="4389437" cy="53721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5555524" name="Title 1"/>
          <p:cNvSpPr>
            <a:spLocks noGrp="1"/>
          </p:cNvSpPr>
          <p:nvPr>
            <p:ph type="title"/>
          </p:nvPr>
        </p:nvSpPr>
        <p:spPr bwMode="auto">
          <a:xfrm>
            <a:off x="457200" y="137390"/>
            <a:ext cx="8229600" cy="576262"/>
          </a:xfrm>
        </p:spPr>
        <p:txBody>
          <a:bodyPr/>
          <a:lstStyle/>
          <a:p>
            <a:pPr>
              <a:defRPr/>
            </a:pPr>
            <a:r>
              <a:rPr lang="en-US"/>
              <a:t>Linux Scheduling (Cont.)</a:t>
            </a:r>
            <a:endParaRPr/>
          </a:p>
        </p:txBody>
      </p:sp>
      <p:sp>
        <p:nvSpPr>
          <p:cNvPr id="849876138" name="Content Placeholder 2"/>
          <p:cNvSpPr>
            <a:spLocks noGrp="1"/>
          </p:cNvSpPr>
          <p:nvPr>
            <p:ph idx="1"/>
          </p:nvPr>
        </p:nvSpPr>
        <p:spPr bwMode="auto">
          <a:xfrm>
            <a:off x="882650" y="1022668"/>
            <a:ext cx="7791450" cy="4530725"/>
          </a:xfrm>
        </p:spPr>
        <p:txBody>
          <a:bodyPr/>
          <a:lstStyle/>
          <a:p>
            <a:pPr>
              <a:defRPr/>
            </a:pPr>
            <a:r>
              <a:rPr lang="en-US"/>
              <a:t>Real-time scheduling according to POSIX.1b</a:t>
            </a:r>
            <a:endParaRPr/>
          </a:p>
          <a:p>
            <a:pPr lvl="1">
              <a:defRPr/>
            </a:pPr>
            <a:r>
              <a:rPr lang="en-US"/>
              <a:t>Real-time tasks have static priorities</a:t>
            </a:r>
            <a:endParaRPr/>
          </a:p>
          <a:p>
            <a:pPr>
              <a:defRPr/>
            </a:pPr>
            <a:r>
              <a:rPr lang="en-US"/>
              <a:t>Real-time plus normal map into global priority scheme</a:t>
            </a:r>
            <a:endParaRPr/>
          </a:p>
          <a:p>
            <a:pPr>
              <a:defRPr/>
            </a:pPr>
            <a:r>
              <a:rPr lang="en-US"/>
              <a:t>Nice value of -20 maps to global priority 100</a:t>
            </a:r>
            <a:endParaRPr/>
          </a:p>
          <a:p>
            <a:pPr>
              <a:defRPr/>
            </a:pPr>
            <a:r>
              <a:rPr lang="en-US"/>
              <a:t>Nice value of +19 maps to priority 139</a:t>
            </a:r>
            <a:endParaRPr/>
          </a:p>
          <a:p>
            <a:pPr>
              <a:defRPr/>
            </a:pPr>
            <a:endParaRPr lang="en-US"/>
          </a:p>
        </p:txBody>
      </p:sp>
      <p:pic>
        <p:nvPicPr>
          <p:cNvPr id="1274691027" name="Picture 1" descr="Screen Shot 2012-12-17 at 9.28.34 PM.png"/>
          <p:cNvPicPr>
            <a:picLocks noChangeAspect="1"/>
          </p:cNvPicPr>
          <p:nvPr/>
        </p:nvPicPr>
        <p:blipFill rotWithShape="1">
          <a:blip r:embed="rId3"/>
          <a:stretch/>
        </p:blipFill>
        <p:spPr bwMode="auto">
          <a:xfrm>
            <a:off x="1666240" y="3081004"/>
            <a:ext cx="5522913" cy="154687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3535731" name="Title 1"/>
          <p:cNvSpPr>
            <a:spLocks noGrp="1"/>
          </p:cNvSpPr>
          <p:nvPr>
            <p:ph type="title"/>
          </p:nvPr>
        </p:nvSpPr>
        <p:spPr bwMode="auto">
          <a:xfrm>
            <a:off x="457200" y="228830"/>
            <a:ext cx="8229600" cy="576262"/>
          </a:xfrm>
        </p:spPr>
        <p:txBody>
          <a:bodyPr/>
          <a:lstStyle/>
          <a:p>
            <a:pPr>
              <a:defRPr/>
            </a:pPr>
            <a:r>
              <a:rPr lang="en-US"/>
              <a:t>Linux Scheduling (Cont.)</a:t>
            </a:r>
            <a:endParaRPr/>
          </a:p>
        </p:txBody>
      </p:sp>
      <p:sp>
        <p:nvSpPr>
          <p:cNvPr id="1167816313" name="Content Placeholder 2"/>
          <p:cNvSpPr>
            <a:spLocks noGrp="1"/>
          </p:cNvSpPr>
          <p:nvPr>
            <p:ph idx="1"/>
          </p:nvPr>
        </p:nvSpPr>
        <p:spPr bwMode="auto">
          <a:xfrm>
            <a:off x="882650" y="1144588"/>
            <a:ext cx="7791450" cy="4530725"/>
          </a:xfrm>
        </p:spPr>
        <p:txBody>
          <a:bodyPr/>
          <a:lstStyle/>
          <a:p>
            <a:pPr>
              <a:defRPr/>
            </a:pPr>
            <a:r>
              <a:rPr lang="en-US"/>
              <a:t>Linux supports load balancing, but is also NUMA-aware.</a:t>
            </a:r>
            <a:endParaRPr/>
          </a:p>
          <a:p>
            <a:pPr>
              <a:defRPr/>
            </a:pPr>
            <a:r>
              <a:rPr lang="en-US" b="1"/>
              <a:t>Scheduling domain </a:t>
            </a:r>
            <a:r>
              <a:rPr lang="en-US"/>
              <a:t>is a set of CPU cores that can be balanced against one another. </a:t>
            </a:r>
            <a:endParaRPr/>
          </a:p>
          <a:p>
            <a:pPr>
              <a:defRPr/>
            </a:pPr>
            <a:r>
              <a:rPr lang="en-US"/>
              <a:t>Domains are organized by what they share (i.e., cache memory.) Goal is to keep threads from migrating between domains.</a:t>
            </a:r>
            <a:endParaRPr/>
          </a:p>
        </p:txBody>
      </p:sp>
      <p:pic>
        <p:nvPicPr>
          <p:cNvPr id="1853299143" name="Picture 1"/>
          <p:cNvPicPr>
            <a:picLocks noChangeAspect="1"/>
          </p:cNvPicPr>
          <p:nvPr/>
        </p:nvPicPr>
        <p:blipFill rotWithShape="1">
          <a:blip r:embed="rId3"/>
          <a:stretch/>
        </p:blipFill>
        <p:spPr bwMode="auto">
          <a:xfrm>
            <a:off x="2711450" y="3271838"/>
            <a:ext cx="3981450" cy="26257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445258" name="Title 1"/>
          <p:cNvSpPr>
            <a:spLocks noGrp="1"/>
          </p:cNvSpPr>
          <p:nvPr>
            <p:ph type="title"/>
          </p:nvPr>
        </p:nvSpPr>
        <p:spPr bwMode="auto">
          <a:xfrm>
            <a:off x="457200" y="114477"/>
            <a:ext cx="8229600" cy="576262"/>
          </a:xfrm>
        </p:spPr>
        <p:txBody>
          <a:bodyPr/>
          <a:lstStyle/>
          <a:p>
            <a:pPr>
              <a:defRPr/>
            </a:pPr>
            <a:r>
              <a:rPr lang="en-US"/>
              <a:t>Windows Scheduling</a:t>
            </a:r>
            <a:endParaRPr/>
          </a:p>
        </p:txBody>
      </p:sp>
      <p:sp>
        <p:nvSpPr>
          <p:cNvPr id="988539949" name="Content Placeholder 2"/>
          <p:cNvSpPr>
            <a:spLocks noGrp="1"/>
          </p:cNvSpPr>
          <p:nvPr>
            <p:ph idx="1"/>
          </p:nvPr>
        </p:nvSpPr>
        <p:spPr bwMode="auto">
          <a:xfrm>
            <a:off x="913905" y="1024414"/>
            <a:ext cx="6371617" cy="4341812"/>
          </a:xfrm>
        </p:spPr>
        <p:txBody>
          <a:bodyPr/>
          <a:lstStyle/>
          <a:p>
            <a:pPr>
              <a:defRPr/>
            </a:pPr>
            <a:r>
              <a:rPr lang="en-US"/>
              <a:t>Windows uses priority-based preemptive scheduling</a:t>
            </a:r>
            <a:endParaRPr/>
          </a:p>
          <a:p>
            <a:pPr>
              <a:defRPr/>
            </a:pPr>
            <a:r>
              <a:rPr lang="en-US"/>
              <a:t>Highest-priority thread runs next</a:t>
            </a:r>
            <a:endParaRPr/>
          </a:p>
          <a:p>
            <a:pPr>
              <a:defRPr/>
            </a:pPr>
            <a:r>
              <a:rPr lang="en-US" b="1">
                <a:solidFill>
                  <a:srgbClr val="006699"/>
                </a:solidFill>
                <a:latin typeface="+mj-lt"/>
              </a:rPr>
              <a:t>Dispatcher</a:t>
            </a:r>
            <a:r>
              <a:rPr lang="en-US" i="1"/>
              <a:t> </a:t>
            </a:r>
            <a:r>
              <a:rPr lang="en-US"/>
              <a:t>is scheduler</a:t>
            </a:r>
            <a:endParaRPr/>
          </a:p>
          <a:p>
            <a:pPr>
              <a:defRPr/>
            </a:pPr>
            <a:r>
              <a:rPr lang="en-US"/>
              <a:t>Thread runs until (1) blocks, (2) uses time slice, (3) preempted by higher-priority thread</a:t>
            </a:r>
            <a:endParaRPr/>
          </a:p>
          <a:p>
            <a:pPr>
              <a:defRPr/>
            </a:pPr>
            <a:r>
              <a:rPr lang="en-US"/>
              <a:t>Real-time threads can preempt non-real-time</a:t>
            </a:r>
            <a:endParaRPr/>
          </a:p>
          <a:p>
            <a:pPr>
              <a:defRPr/>
            </a:pPr>
            <a:r>
              <a:rPr lang="en-US"/>
              <a:t>32-level priority scheme</a:t>
            </a:r>
            <a:endParaRPr/>
          </a:p>
          <a:p>
            <a:pPr>
              <a:defRPr/>
            </a:pPr>
            <a:r>
              <a:rPr lang="en-US" b="1">
                <a:solidFill>
                  <a:srgbClr val="006699"/>
                </a:solidFill>
                <a:latin typeface="+mj-lt"/>
              </a:rPr>
              <a:t>Variable</a:t>
            </a:r>
            <a:r>
              <a:rPr lang="en-US" b="1">
                <a:solidFill>
                  <a:srgbClr val="3366FF"/>
                </a:solidFill>
              </a:rPr>
              <a:t> </a:t>
            </a:r>
            <a:r>
              <a:rPr lang="en-US" b="1">
                <a:solidFill>
                  <a:srgbClr val="006699"/>
                </a:solidFill>
                <a:latin typeface="+mj-lt"/>
              </a:rPr>
              <a:t>class</a:t>
            </a:r>
            <a:r>
              <a:rPr lang="en-US" b="1">
                <a:solidFill>
                  <a:srgbClr val="3366FF"/>
                </a:solidFill>
              </a:rPr>
              <a:t> </a:t>
            </a:r>
            <a:r>
              <a:rPr lang="en-US"/>
              <a:t>is 1-15, </a:t>
            </a:r>
            <a:r>
              <a:rPr lang="en-US" b="1">
                <a:solidFill>
                  <a:srgbClr val="006699"/>
                </a:solidFill>
                <a:latin typeface="+mj-lt"/>
              </a:rPr>
              <a:t>real-time</a:t>
            </a:r>
            <a:r>
              <a:rPr lang="en-US" b="1">
                <a:solidFill>
                  <a:srgbClr val="3366FF"/>
                </a:solidFill>
              </a:rPr>
              <a:t> </a:t>
            </a:r>
            <a:r>
              <a:rPr lang="en-US" b="1">
                <a:solidFill>
                  <a:srgbClr val="006699"/>
                </a:solidFill>
                <a:latin typeface="+mj-lt"/>
              </a:rPr>
              <a:t>class</a:t>
            </a:r>
            <a:r>
              <a:rPr lang="en-US" b="1">
                <a:solidFill>
                  <a:srgbClr val="3366FF"/>
                </a:solidFill>
              </a:rPr>
              <a:t> </a:t>
            </a:r>
            <a:r>
              <a:rPr lang="en-US"/>
              <a:t>is</a:t>
            </a:r>
            <a:r>
              <a:rPr lang="en-US" b="1">
                <a:solidFill>
                  <a:srgbClr val="3366FF"/>
                </a:solidFill>
              </a:rPr>
              <a:t> </a:t>
            </a:r>
            <a:r>
              <a:rPr lang="en-US"/>
              <a:t>16-31</a:t>
            </a:r>
            <a:endParaRPr/>
          </a:p>
          <a:p>
            <a:pPr>
              <a:defRPr/>
            </a:pPr>
            <a:r>
              <a:rPr lang="en-US"/>
              <a:t>Priority 0 is memory-management thread</a:t>
            </a:r>
            <a:endParaRPr/>
          </a:p>
          <a:p>
            <a:pPr>
              <a:defRPr/>
            </a:pPr>
            <a:r>
              <a:rPr lang="en-US"/>
              <a:t>Queue for each priority</a:t>
            </a:r>
            <a:endParaRPr/>
          </a:p>
          <a:p>
            <a:pPr>
              <a:defRPr/>
            </a:pPr>
            <a:r>
              <a:rPr lang="en-US"/>
              <a:t>If no run-able thread, runs </a:t>
            </a:r>
            <a:r>
              <a:rPr lang="en-US" b="1">
                <a:solidFill>
                  <a:srgbClr val="006699"/>
                </a:solidFill>
                <a:latin typeface="+mj-lt"/>
              </a:rPr>
              <a:t>idle</a:t>
            </a:r>
            <a:r>
              <a:rPr lang="en-US" b="1">
                <a:solidFill>
                  <a:srgbClr val="3366FF"/>
                </a:solidFill>
              </a:rPr>
              <a:t> </a:t>
            </a:r>
            <a:r>
              <a:rPr lang="en-US" b="1">
                <a:solidFill>
                  <a:srgbClr val="006699"/>
                </a:solidFill>
                <a:latin typeface="+mj-lt"/>
              </a:rPr>
              <a:t>thread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967116" name="Title 1"/>
          <p:cNvSpPr>
            <a:spLocks noGrp="1"/>
          </p:cNvSpPr>
          <p:nvPr>
            <p:ph type="title"/>
          </p:nvPr>
        </p:nvSpPr>
        <p:spPr bwMode="auto">
          <a:xfrm>
            <a:off x="457200" y="173673"/>
            <a:ext cx="8229600" cy="576262"/>
          </a:xfrm>
        </p:spPr>
        <p:txBody>
          <a:bodyPr/>
          <a:lstStyle/>
          <a:p>
            <a:pPr>
              <a:defRPr/>
            </a:pPr>
            <a:r>
              <a:rPr lang="en-US"/>
              <a:t>Windows Priority Classes</a:t>
            </a:r>
            <a:endParaRPr/>
          </a:p>
        </p:txBody>
      </p:sp>
      <p:sp>
        <p:nvSpPr>
          <p:cNvPr id="587476882" name="Content Placeholder 2"/>
          <p:cNvSpPr>
            <a:spLocks noGrp="1"/>
          </p:cNvSpPr>
          <p:nvPr>
            <p:ph idx="1"/>
          </p:nvPr>
        </p:nvSpPr>
        <p:spPr bwMode="auto">
          <a:xfrm>
            <a:off x="890429" y="1060768"/>
            <a:ext cx="7651750" cy="4530725"/>
          </a:xfrm>
        </p:spPr>
        <p:txBody>
          <a:bodyPr/>
          <a:lstStyle/>
          <a:p>
            <a:pPr>
              <a:defRPr/>
            </a:pPr>
            <a:r>
              <a:rPr lang="en-US"/>
              <a:t>Win32 API identifies several priority classes to which a process can belong</a:t>
            </a:r>
            <a:endParaRPr/>
          </a:p>
          <a:p>
            <a:pPr lvl="1">
              <a:defRPr/>
            </a:pPr>
            <a:r>
              <a:rPr lang="en-US"/>
              <a:t>REALTIME_PRIORITY_CLASS, HIGH_PRIORITY_CLASS, ABOVE_NORMAL_PRIORITY_CLASS,NORMAL_PRIORITY_CLASS, BELOW_NORMAL_PRIORITY_CLASS, IDLE_PRIORITY_CLASS</a:t>
            </a:r>
            <a:endParaRPr lang="en-US" b="1">
              <a:solidFill>
                <a:srgbClr val="3366FF"/>
              </a:solidFill>
            </a:endParaRPr>
          </a:p>
          <a:p>
            <a:pPr lvl="1">
              <a:defRPr/>
            </a:pPr>
            <a:r>
              <a:rPr lang="en-US"/>
              <a:t>All are variable except REALTIME</a:t>
            </a:r>
            <a:endParaRPr/>
          </a:p>
          <a:p>
            <a:pPr>
              <a:defRPr/>
            </a:pPr>
            <a:r>
              <a:rPr lang="en-US"/>
              <a:t>A thread within a given priority class has a relative priority</a:t>
            </a:r>
            <a:endParaRPr/>
          </a:p>
          <a:p>
            <a:pPr lvl="1">
              <a:defRPr/>
            </a:pPr>
            <a:r>
              <a:rPr lang="en-US"/>
              <a:t>TIME_CRITICAL, HIGHEST, ABOVE_NORMAL, NORMAL, BELOW_NORMAL, LOWEST, IDLE</a:t>
            </a:r>
            <a:endParaRPr/>
          </a:p>
          <a:p>
            <a:pPr>
              <a:defRPr/>
            </a:pPr>
            <a:r>
              <a:rPr lang="en-US"/>
              <a:t>Priority class and relative priority combine to give numeric priority</a:t>
            </a:r>
            <a:endParaRPr/>
          </a:p>
          <a:p>
            <a:pPr>
              <a:defRPr/>
            </a:pPr>
            <a:r>
              <a:rPr lang="en-US"/>
              <a:t>Base priority is NORMAL within the class</a:t>
            </a:r>
            <a:endParaRPr/>
          </a:p>
          <a:p>
            <a:pPr>
              <a:defRPr/>
            </a:pPr>
            <a:r>
              <a:rPr lang="en-US"/>
              <a:t>If quantum expires, priority lowered, but never below base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9831730" name="Title 1"/>
          <p:cNvSpPr>
            <a:spLocks noGrp="1"/>
          </p:cNvSpPr>
          <p:nvPr>
            <p:ph type="title"/>
          </p:nvPr>
        </p:nvSpPr>
        <p:spPr bwMode="auto">
          <a:xfrm>
            <a:off x="881694" y="101600"/>
            <a:ext cx="8229600" cy="618842"/>
          </a:xfrm>
        </p:spPr>
        <p:txBody>
          <a:bodyPr/>
          <a:lstStyle/>
          <a:p>
            <a:pPr>
              <a:defRPr/>
            </a:pPr>
            <a:r>
              <a:rPr lang="en-US"/>
              <a:t>Windows Priority Classes (Cont.)</a:t>
            </a:r>
            <a:endParaRPr/>
          </a:p>
        </p:txBody>
      </p:sp>
      <p:sp>
        <p:nvSpPr>
          <p:cNvPr id="1606101264" name="Content Placeholder 2"/>
          <p:cNvSpPr>
            <a:spLocks noGrp="1"/>
          </p:cNvSpPr>
          <p:nvPr>
            <p:ph idx="1"/>
          </p:nvPr>
        </p:nvSpPr>
        <p:spPr bwMode="auto">
          <a:xfrm>
            <a:off x="890429" y="1114108"/>
            <a:ext cx="7818438" cy="4530725"/>
          </a:xfrm>
        </p:spPr>
        <p:txBody>
          <a:bodyPr/>
          <a:lstStyle/>
          <a:p>
            <a:pPr>
              <a:defRPr/>
            </a:pPr>
            <a:r>
              <a:rPr lang="en-US"/>
              <a:t>If wait occurs, priority boosted depending on what was waited for</a:t>
            </a:r>
            <a:endParaRPr/>
          </a:p>
          <a:p>
            <a:pPr>
              <a:defRPr/>
            </a:pPr>
            <a:r>
              <a:rPr lang="en-US"/>
              <a:t>Foreground window given 3x priority boost</a:t>
            </a:r>
            <a:endParaRPr/>
          </a:p>
          <a:p>
            <a:pPr>
              <a:defRPr/>
            </a:pPr>
            <a:r>
              <a:rPr lang="en-US"/>
              <a:t>Windows 7 added </a:t>
            </a:r>
            <a:r>
              <a:rPr lang="en-US" b="1">
                <a:solidFill>
                  <a:srgbClr val="006699"/>
                </a:solidFill>
                <a:latin typeface="+mj-lt"/>
              </a:rPr>
              <a:t>user-mode</a:t>
            </a:r>
            <a:r>
              <a:rPr lang="en-US" b="1">
                <a:solidFill>
                  <a:srgbClr val="3366FF"/>
                </a:solidFill>
              </a:rPr>
              <a:t> </a:t>
            </a:r>
            <a:r>
              <a:rPr lang="en-US" b="1">
                <a:solidFill>
                  <a:srgbClr val="006699"/>
                </a:solidFill>
                <a:latin typeface="+mj-lt"/>
              </a:rPr>
              <a:t>scheduling</a:t>
            </a:r>
            <a:r>
              <a:rPr lang="en-US" b="1">
                <a:solidFill>
                  <a:srgbClr val="3366FF"/>
                </a:solidFill>
              </a:rPr>
              <a:t> </a:t>
            </a:r>
            <a:r>
              <a:rPr lang="en-US"/>
              <a:t>(</a:t>
            </a:r>
            <a:r>
              <a:rPr lang="en-US" b="1">
                <a:solidFill>
                  <a:srgbClr val="006699"/>
                </a:solidFill>
                <a:latin typeface="+mj-lt"/>
              </a:rPr>
              <a:t>UMS</a:t>
            </a:r>
            <a:r>
              <a:rPr lang="en-US"/>
              <a:t>) </a:t>
            </a:r>
            <a:endParaRPr/>
          </a:p>
          <a:p>
            <a:pPr lvl="1">
              <a:defRPr/>
            </a:pPr>
            <a:r>
              <a:rPr lang="en-US"/>
              <a:t>Applications create and manage threads independent of kernel</a:t>
            </a:r>
            <a:endParaRPr/>
          </a:p>
          <a:p>
            <a:pPr lvl="1">
              <a:defRPr/>
            </a:pPr>
            <a:r>
              <a:rPr lang="en-US"/>
              <a:t>For large number of threads, much more efficient</a:t>
            </a:r>
            <a:endParaRPr/>
          </a:p>
          <a:p>
            <a:pPr lvl="1">
              <a:defRPr/>
            </a:pPr>
            <a:r>
              <a:rPr lang="en-US"/>
              <a:t>UMS schedulers come from programming language libraries like                                         C++ </a:t>
            </a:r>
            <a:r>
              <a:rPr lang="en-US" b="1">
                <a:solidFill>
                  <a:srgbClr val="006699"/>
                </a:solidFill>
                <a:latin typeface="+mj-lt"/>
              </a:rPr>
              <a:t>Concurrent Runtime </a:t>
            </a:r>
            <a:r>
              <a:rPr lang="en-US"/>
              <a:t>(</a:t>
            </a:r>
            <a:r>
              <a:rPr lang="en-US"/>
              <a:t>ConcRT</a:t>
            </a:r>
            <a:r>
              <a:rPr lang="en-US"/>
              <a:t>) framework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8435626" name="Rectangle 2"/>
          <p:cNvSpPr>
            <a:spLocks noChangeArrowheads="1" noGrp="1"/>
          </p:cNvSpPr>
          <p:nvPr>
            <p:ph type="title"/>
          </p:nvPr>
        </p:nvSpPr>
        <p:spPr bwMode="auto">
          <a:xfrm>
            <a:off x="885825" y="111108"/>
            <a:ext cx="7800975" cy="576262"/>
          </a:xfrm>
        </p:spPr>
        <p:txBody>
          <a:bodyPr/>
          <a:lstStyle/>
          <a:p>
            <a:pPr>
              <a:defRPr/>
            </a:pPr>
            <a:r>
              <a:rPr lang="en-US"/>
              <a:t>Windows Priorities</a:t>
            </a:r>
            <a:endParaRPr/>
          </a:p>
        </p:txBody>
      </p:sp>
      <p:pic>
        <p:nvPicPr>
          <p:cNvPr id="1848297727" name="Picture 1"/>
          <p:cNvPicPr>
            <a:picLocks noChangeAspect="1"/>
          </p:cNvPicPr>
          <p:nvPr/>
        </p:nvPicPr>
        <p:blipFill rotWithShape="1">
          <a:blip r:embed="rId3"/>
          <a:stretch/>
        </p:blipFill>
        <p:spPr bwMode="auto">
          <a:xfrm>
            <a:off x="1554480" y="1211678"/>
            <a:ext cx="6315075" cy="255673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1994853" name="Title 1"/>
          <p:cNvSpPr>
            <a:spLocks noGrp="1"/>
          </p:cNvSpPr>
          <p:nvPr>
            <p:ph type="title"/>
          </p:nvPr>
        </p:nvSpPr>
        <p:spPr bwMode="auto">
          <a:xfrm>
            <a:off x="457200" y="130652"/>
            <a:ext cx="8229600" cy="576262"/>
          </a:xfrm>
        </p:spPr>
        <p:txBody>
          <a:bodyPr/>
          <a:lstStyle/>
          <a:p>
            <a:pPr>
              <a:defRPr/>
            </a:pPr>
            <a:r>
              <a:rPr lang="en-US"/>
              <a:t>Solaris</a:t>
            </a:r>
            <a:endParaRPr/>
          </a:p>
        </p:txBody>
      </p:sp>
      <p:sp>
        <p:nvSpPr>
          <p:cNvPr id="1965937753" name="Content Placeholder 2"/>
          <p:cNvSpPr>
            <a:spLocks noGrp="1"/>
          </p:cNvSpPr>
          <p:nvPr>
            <p:ph idx="1"/>
          </p:nvPr>
        </p:nvSpPr>
        <p:spPr bwMode="auto">
          <a:xfrm>
            <a:off x="933450" y="1081088"/>
            <a:ext cx="7181850" cy="4530725"/>
          </a:xfrm>
        </p:spPr>
        <p:txBody>
          <a:bodyPr/>
          <a:lstStyle/>
          <a:p>
            <a:pPr>
              <a:defRPr/>
            </a:pPr>
            <a:r>
              <a:rPr lang="en-US"/>
              <a:t>Priority-based scheduling</a:t>
            </a:r>
            <a:endParaRPr/>
          </a:p>
          <a:p>
            <a:pPr>
              <a:defRPr/>
            </a:pPr>
            <a:r>
              <a:rPr lang="en-US"/>
              <a:t>Six classes available</a:t>
            </a:r>
            <a:endParaRPr/>
          </a:p>
          <a:p>
            <a:pPr lvl="1">
              <a:defRPr/>
            </a:pPr>
            <a:r>
              <a:rPr lang="en-US"/>
              <a:t>Time sharing (default) (TS)</a:t>
            </a:r>
            <a:endParaRPr/>
          </a:p>
          <a:p>
            <a:pPr lvl="1">
              <a:defRPr/>
            </a:pPr>
            <a:r>
              <a:rPr lang="en-US"/>
              <a:t>Interactive (IA)</a:t>
            </a:r>
            <a:endParaRPr/>
          </a:p>
          <a:p>
            <a:pPr lvl="1">
              <a:defRPr/>
            </a:pPr>
            <a:r>
              <a:rPr lang="en-US"/>
              <a:t>Real time (RT)</a:t>
            </a:r>
            <a:endParaRPr/>
          </a:p>
          <a:p>
            <a:pPr lvl="1">
              <a:defRPr/>
            </a:pPr>
            <a:r>
              <a:rPr lang="en-US"/>
              <a:t>System (SYS)</a:t>
            </a:r>
            <a:endParaRPr/>
          </a:p>
          <a:p>
            <a:pPr lvl="1">
              <a:defRPr/>
            </a:pPr>
            <a:r>
              <a:rPr lang="en-US"/>
              <a:t>Fair Share (FSS)</a:t>
            </a:r>
            <a:endParaRPr/>
          </a:p>
          <a:p>
            <a:pPr lvl="1">
              <a:defRPr/>
            </a:pPr>
            <a:r>
              <a:rPr lang="en-US"/>
              <a:t>Fixed priority (FP)</a:t>
            </a:r>
            <a:endParaRPr/>
          </a:p>
          <a:p>
            <a:pPr>
              <a:defRPr/>
            </a:pPr>
            <a:r>
              <a:rPr lang="en-US"/>
              <a:t>Given thread can be in one class at a time</a:t>
            </a:r>
            <a:endParaRPr/>
          </a:p>
          <a:p>
            <a:pPr>
              <a:defRPr/>
            </a:pPr>
            <a:r>
              <a:rPr lang="en-US"/>
              <a:t>Each class has its own scheduling algorithm</a:t>
            </a:r>
            <a:endParaRPr/>
          </a:p>
          <a:p>
            <a:pPr>
              <a:defRPr/>
            </a:pPr>
            <a:r>
              <a:rPr lang="en-US"/>
              <a:t>Time sharing is multi-level feedback queue</a:t>
            </a:r>
            <a:endParaRPr/>
          </a:p>
          <a:p>
            <a:pPr lvl="1">
              <a:defRPr/>
            </a:pPr>
            <a:r>
              <a:rPr lang="en-US"/>
              <a:t>Loadable table configurable by sysadmin</a:t>
            </a:r>
            <a:endParaRPr/>
          </a:p>
          <a:p>
            <a:pPr>
              <a:defRPr/>
            </a:pPr>
            <a:endParaRPr lang="en-US"/>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4488083" name="Rectangle 2"/>
          <p:cNvSpPr>
            <a:spLocks noChangeArrowheads="1" noGrp="1"/>
          </p:cNvSpPr>
          <p:nvPr>
            <p:ph type="title"/>
          </p:nvPr>
        </p:nvSpPr>
        <p:spPr bwMode="auto">
          <a:xfrm>
            <a:off x="827088" y="111760"/>
            <a:ext cx="7859712" cy="632372"/>
          </a:xfrm>
        </p:spPr>
        <p:txBody>
          <a:bodyPr/>
          <a:lstStyle/>
          <a:p>
            <a:pPr>
              <a:defRPr/>
            </a:pPr>
            <a:r>
              <a:rPr lang="en-US"/>
              <a:t>Solaris Dispatch Table </a:t>
            </a:r>
            <a:endParaRPr/>
          </a:p>
        </p:txBody>
      </p:sp>
      <p:pic>
        <p:nvPicPr>
          <p:cNvPr id="1806047043" name="Picture 1"/>
          <p:cNvPicPr>
            <a:picLocks noChangeAspect="1"/>
          </p:cNvPicPr>
          <p:nvPr/>
        </p:nvPicPr>
        <p:blipFill rotWithShape="1">
          <a:blip r:embed="rId3"/>
          <a:stretch/>
        </p:blipFill>
        <p:spPr bwMode="auto">
          <a:xfrm>
            <a:off x="2527300" y="1425575"/>
            <a:ext cx="4613275" cy="417671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649770" name="Title 1"/>
          <p:cNvSpPr>
            <a:spLocks noGrp="1"/>
          </p:cNvSpPr>
          <p:nvPr>
            <p:ph type="title"/>
          </p:nvPr>
        </p:nvSpPr>
        <p:spPr bwMode="auto">
          <a:xfrm>
            <a:off x="457200" y="168646"/>
            <a:ext cx="8229600" cy="576262"/>
          </a:xfrm>
        </p:spPr>
        <p:txBody>
          <a:bodyPr/>
          <a:lstStyle/>
          <a:p>
            <a:pPr>
              <a:defRPr/>
            </a:pPr>
            <a:r>
              <a:rPr lang="en-US"/>
              <a:t>Solaris Scheduling</a:t>
            </a:r>
            <a:endParaRPr/>
          </a:p>
        </p:txBody>
      </p:sp>
      <p:pic>
        <p:nvPicPr>
          <p:cNvPr id="689560013" name="Picture 1"/>
          <p:cNvPicPr>
            <a:picLocks noChangeAspect="1"/>
          </p:cNvPicPr>
          <p:nvPr/>
        </p:nvPicPr>
        <p:blipFill rotWithShape="1">
          <a:blip r:embed="rId3"/>
          <a:stretch/>
        </p:blipFill>
        <p:spPr bwMode="auto">
          <a:xfrm>
            <a:off x="3098799" y="1053463"/>
            <a:ext cx="3267075" cy="506730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2462824" name="Title 1"/>
          <p:cNvSpPr>
            <a:spLocks noGrp="1"/>
          </p:cNvSpPr>
          <p:nvPr>
            <p:ph type="title"/>
          </p:nvPr>
        </p:nvSpPr>
        <p:spPr bwMode="auto">
          <a:xfrm>
            <a:off x="731520" y="143193"/>
            <a:ext cx="8229600" cy="576262"/>
          </a:xfrm>
        </p:spPr>
        <p:txBody>
          <a:bodyPr/>
          <a:lstStyle/>
          <a:p>
            <a:pPr>
              <a:defRPr/>
            </a:pPr>
            <a:r>
              <a:rPr lang="en-US"/>
              <a:t>Solaris Scheduling (Cont.)</a:t>
            </a:r>
            <a:endParaRPr/>
          </a:p>
        </p:txBody>
      </p:sp>
      <p:sp>
        <p:nvSpPr>
          <p:cNvPr id="1613913698" name="Content Placeholder 2"/>
          <p:cNvSpPr>
            <a:spLocks noGrp="1"/>
          </p:cNvSpPr>
          <p:nvPr>
            <p:ph idx="1"/>
          </p:nvPr>
        </p:nvSpPr>
        <p:spPr bwMode="auto">
          <a:xfrm>
            <a:off x="787400" y="1103949"/>
            <a:ext cx="7015480" cy="4484052"/>
          </a:xfrm>
        </p:spPr>
        <p:txBody>
          <a:bodyPr/>
          <a:lstStyle/>
          <a:p>
            <a:pPr>
              <a:defRPr/>
            </a:pPr>
            <a:r>
              <a:rPr lang="en-US"/>
              <a:t>Scheduler converts class-specific priorities into a per-thread global priority</a:t>
            </a:r>
            <a:endParaRPr/>
          </a:p>
          <a:p>
            <a:pPr lvl="1">
              <a:defRPr/>
            </a:pPr>
            <a:r>
              <a:rPr lang="en-US"/>
              <a:t>Thread with highest priority runs next</a:t>
            </a:r>
            <a:endParaRPr/>
          </a:p>
          <a:p>
            <a:pPr lvl="1">
              <a:defRPr/>
            </a:pPr>
            <a:r>
              <a:rPr lang="en-US"/>
              <a:t>Runs until (1) blocks, (2) uses time slice, (3) preempted by higher-priority thread</a:t>
            </a:r>
            <a:endParaRPr/>
          </a:p>
          <a:p>
            <a:pPr lvl="1">
              <a:defRPr/>
            </a:pPr>
            <a:r>
              <a:rPr lang="en-US"/>
              <a:t>Multiple threads at same priority selected via RR</a:t>
            </a:r>
            <a:endParaRPr/>
          </a:p>
          <a:p>
            <a:pPr lvl="1">
              <a:buFont typeface="Monotype Sort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7083329" name="Rectangle 2"/>
          <p:cNvSpPr>
            <a:spLocks noChangeArrowheads="1" noGrp="1"/>
          </p:cNvSpPr>
          <p:nvPr>
            <p:ph type="title"/>
          </p:nvPr>
        </p:nvSpPr>
        <p:spPr bwMode="auto">
          <a:xfrm>
            <a:off x="1069975" y="97526"/>
            <a:ext cx="7616825" cy="576262"/>
          </a:xfrm>
        </p:spPr>
        <p:txBody>
          <a:bodyPr/>
          <a:lstStyle/>
          <a:p>
            <a:pPr>
              <a:defRPr/>
            </a:pPr>
            <a:r>
              <a:rPr lang="en-US"/>
              <a:t>Algorithm Evaluation</a:t>
            </a:r>
            <a:endParaRPr/>
          </a:p>
        </p:txBody>
      </p:sp>
      <p:sp>
        <p:nvSpPr>
          <p:cNvPr id="1678650710" name="Rectangle 3"/>
          <p:cNvSpPr>
            <a:spLocks noChangeArrowheads="1" noGrp="1"/>
          </p:cNvSpPr>
          <p:nvPr>
            <p:ph type="body" idx="1"/>
          </p:nvPr>
        </p:nvSpPr>
        <p:spPr bwMode="auto">
          <a:xfrm>
            <a:off x="825271" y="965201"/>
            <a:ext cx="6774409" cy="4622799"/>
          </a:xfrm>
        </p:spPr>
        <p:txBody>
          <a:bodyPr/>
          <a:lstStyle/>
          <a:p>
            <a:pPr>
              <a:defRPr/>
            </a:pPr>
            <a:r>
              <a:rPr lang="en-US"/>
              <a:t>How to select CPU-scheduling algorithm for an OS?</a:t>
            </a:r>
            <a:endParaRPr/>
          </a:p>
          <a:p>
            <a:pPr>
              <a:defRPr/>
            </a:pPr>
            <a:r>
              <a:rPr lang="en-US"/>
              <a:t>Determine criteria, then evaluate algorithms</a:t>
            </a:r>
            <a:endParaRPr/>
          </a:p>
          <a:p>
            <a:pPr>
              <a:defRPr/>
            </a:pPr>
            <a:r>
              <a:rPr lang="en-US" b="1">
                <a:solidFill>
                  <a:srgbClr val="006699"/>
                </a:solidFill>
                <a:latin typeface="+mj-lt"/>
              </a:rPr>
              <a:t>Deterministic modeling</a:t>
            </a:r>
            <a:endParaRPr/>
          </a:p>
          <a:p>
            <a:pPr lvl="1">
              <a:defRPr/>
            </a:pPr>
            <a:r>
              <a:rPr lang="en-US"/>
              <a:t>Type of </a:t>
            </a:r>
            <a:r>
              <a:rPr lang="en-US" b="1">
                <a:solidFill>
                  <a:srgbClr val="006699"/>
                </a:solidFill>
                <a:latin typeface="+mj-lt"/>
              </a:rPr>
              <a:t>analytic evaluation</a:t>
            </a:r>
            <a:endParaRPr/>
          </a:p>
          <a:p>
            <a:pPr lvl="1">
              <a:defRPr/>
            </a:pPr>
            <a:r>
              <a:rPr lang="en-US"/>
              <a:t>Takes a particular predetermined workload and defines the performance of each algorithm  for that workload</a:t>
            </a:r>
            <a:endParaRPr/>
          </a:p>
          <a:p>
            <a:pPr>
              <a:defRPr/>
            </a:pPr>
            <a:r>
              <a:rPr lang="en-US"/>
              <a:t>Consider 5 processes arriving at time 0:</a:t>
            </a:r>
            <a:endParaRPr/>
          </a:p>
        </p:txBody>
      </p:sp>
      <p:pic>
        <p:nvPicPr>
          <p:cNvPr id="689467784" name="Picture 1" descr="Screen Shot 2012-12-17 at 9.44.14 PM.png"/>
          <p:cNvPicPr>
            <a:picLocks noChangeAspect="1"/>
          </p:cNvPicPr>
          <p:nvPr/>
        </p:nvPicPr>
        <p:blipFill rotWithShape="1">
          <a:blip r:embed="rId3"/>
          <a:stretch/>
        </p:blipFill>
        <p:spPr bwMode="auto">
          <a:xfrm>
            <a:off x="2401887" y="3526473"/>
            <a:ext cx="1897062" cy="17748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5378078" name="Rectangle 2"/>
          <p:cNvSpPr>
            <a:spLocks noChangeArrowheads="1" noGrp="1"/>
          </p:cNvSpPr>
          <p:nvPr>
            <p:ph type="title"/>
          </p:nvPr>
        </p:nvSpPr>
        <p:spPr bwMode="auto">
          <a:xfrm>
            <a:off x="1069975" y="89747"/>
            <a:ext cx="7616825" cy="576262"/>
          </a:xfrm>
        </p:spPr>
        <p:txBody>
          <a:bodyPr/>
          <a:lstStyle/>
          <a:p>
            <a:pPr>
              <a:defRPr/>
            </a:pPr>
            <a:r>
              <a:rPr lang="en-US"/>
              <a:t>Deterministic Evaluation</a:t>
            </a:r>
            <a:endParaRPr/>
          </a:p>
        </p:txBody>
      </p:sp>
      <p:sp>
        <p:nvSpPr>
          <p:cNvPr id="1807650540" name="Rectangle 3"/>
          <p:cNvSpPr>
            <a:spLocks noChangeArrowheads="1" noGrp="1"/>
          </p:cNvSpPr>
          <p:nvPr>
            <p:ph type="body" idx="1"/>
          </p:nvPr>
        </p:nvSpPr>
        <p:spPr bwMode="auto">
          <a:xfrm>
            <a:off x="827089" y="1097280"/>
            <a:ext cx="7087552" cy="4683760"/>
          </a:xfrm>
        </p:spPr>
        <p:txBody>
          <a:bodyPr/>
          <a:lstStyle/>
          <a:p>
            <a:pPr marL="341313" indent="-341313">
              <a:defRPr/>
            </a:pPr>
            <a:r>
              <a:rPr lang="en-US"/>
              <a:t>For each algorithm, calculate minimum average waiting time</a:t>
            </a:r>
            <a:endParaRPr/>
          </a:p>
          <a:p>
            <a:pPr marL="341313" indent="-341313">
              <a:defRPr/>
            </a:pPr>
            <a:r>
              <a:rPr lang="en-US"/>
              <a:t>Simple and fast, but requires exact numbers for input, applies only to those inputs</a:t>
            </a:r>
            <a:endParaRPr/>
          </a:p>
          <a:p>
            <a:pPr marL="741363" lvl="1" indent="-284163">
              <a:defRPr/>
            </a:pPr>
            <a:r>
              <a:rPr lang="en-US"/>
              <a:t>FCS is 28ms:</a:t>
            </a:r>
            <a:endParaRPr/>
          </a:p>
          <a:p>
            <a:pPr marL="341313" indent="-341313">
              <a:defRPr/>
            </a:pPr>
            <a:endParaRPr lang="en-US"/>
          </a:p>
          <a:p>
            <a:pPr marL="341313" indent="-341313">
              <a:buFont typeface="Monotype Sorts"/>
              <a:buNone/>
              <a:defRPr/>
            </a:pPr>
            <a:endParaRPr lang="en-US"/>
          </a:p>
          <a:p>
            <a:pPr marL="741363" lvl="1" indent="-284163">
              <a:defRPr/>
            </a:pPr>
            <a:r>
              <a:rPr lang="en-US"/>
              <a:t>Non-preemptive SFJ is 13ms:</a:t>
            </a:r>
            <a:endParaRPr/>
          </a:p>
          <a:p>
            <a:pPr marL="341313" indent="-341313">
              <a:defRPr/>
            </a:pPr>
            <a:endParaRPr lang="en-US"/>
          </a:p>
          <a:p>
            <a:pPr marL="341313" indent="-341313">
              <a:buFont typeface="Monotype Sorts"/>
              <a:buNone/>
              <a:defRPr/>
            </a:pPr>
            <a:endParaRPr lang="en-US"/>
          </a:p>
          <a:p>
            <a:pPr marL="741363" lvl="1" indent="-284163">
              <a:defRPr/>
            </a:pPr>
            <a:r>
              <a:rPr lang="en-US"/>
              <a:t>RR is 23ms:</a:t>
            </a:r>
            <a:endParaRPr/>
          </a:p>
          <a:p>
            <a:pPr marL="341313" indent="-341313">
              <a:buFont typeface="Monotype Sorts"/>
              <a:buNone/>
              <a:defRPr/>
            </a:pPr>
            <a:endParaRPr lang="en-US"/>
          </a:p>
        </p:txBody>
      </p:sp>
      <p:pic>
        <p:nvPicPr>
          <p:cNvPr id="182759444" name="Picture 2" descr="Screen Shot 2012-12-17 at 9.47.12 PM.png"/>
          <p:cNvPicPr>
            <a:picLocks noChangeAspect="1"/>
          </p:cNvPicPr>
          <p:nvPr/>
        </p:nvPicPr>
        <p:blipFill rotWithShape="1">
          <a:blip r:embed="rId3"/>
          <a:stretch/>
        </p:blipFill>
        <p:spPr bwMode="auto">
          <a:xfrm>
            <a:off x="1935163" y="2517775"/>
            <a:ext cx="4445000" cy="828675"/>
          </a:xfrm>
          <a:prstGeom prst="rect">
            <a:avLst/>
          </a:prstGeom>
          <a:noFill/>
          <a:ln>
            <a:noFill/>
          </a:ln>
        </p:spPr>
      </p:pic>
      <p:pic>
        <p:nvPicPr>
          <p:cNvPr id="1000481752" name="Picture 3" descr="Screen Shot 2012-12-17 at 9.47.18 PM.png"/>
          <p:cNvPicPr>
            <a:picLocks noChangeAspect="1"/>
          </p:cNvPicPr>
          <p:nvPr/>
        </p:nvPicPr>
        <p:blipFill rotWithShape="1">
          <a:blip r:embed="rId4"/>
          <a:stretch/>
        </p:blipFill>
        <p:spPr bwMode="auto">
          <a:xfrm>
            <a:off x="1893888" y="3596641"/>
            <a:ext cx="4529137" cy="773748"/>
          </a:xfrm>
          <a:prstGeom prst="rect">
            <a:avLst/>
          </a:prstGeom>
          <a:noFill/>
          <a:ln>
            <a:noFill/>
          </a:ln>
        </p:spPr>
      </p:pic>
      <p:pic>
        <p:nvPicPr>
          <p:cNvPr id="1586203344" name="Picture 4" descr="Screen Shot 2012-12-17 at 9.47.24 PM.png"/>
          <p:cNvPicPr>
            <a:picLocks noChangeAspect="1"/>
          </p:cNvPicPr>
          <p:nvPr/>
        </p:nvPicPr>
        <p:blipFill rotWithShape="1">
          <a:blip r:embed="rId5"/>
          <a:stretch/>
        </p:blipFill>
        <p:spPr bwMode="auto">
          <a:xfrm>
            <a:off x="1898650" y="4770120"/>
            <a:ext cx="4445000" cy="7524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988016" name="Title 1"/>
          <p:cNvSpPr>
            <a:spLocks noGrp="1"/>
          </p:cNvSpPr>
          <p:nvPr>
            <p:ph type="title"/>
          </p:nvPr>
        </p:nvSpPr>
        <p:spPr bwMode="auto">
          <a:xfrm>
            <a:off x="457200" y="144071"/>
            <a:ext cx="8229600" cy="576262"/>
          </a:xfrm>
        </p:spPr>
        <p:txBody>
          <a:bodyPr/>
          <a:lstStyle/>
          <a:p>
            <a:pPr>
              <a:defRPr/>
            </a:pPr>
            <a:r>
              <a:rPr lang="en-US"/>
              <a:t>Queueing Models</a:t>
            </a:r>
            <a:endParaRPr/>
          </a:p>
        </p:txBody>
      </p:sp>
      <p:sp>
        <p:nvSpPr>
          <p:cNvPr id="438457867" name="Content Placeholder 2"/>
          <p:cNvSpPr>
            <a:spLocks noGrp="1"/>
          </p:cNvSpPr>
          <p:nvPr>
            <p:ph idx="1"/>
          </p:nvPr>
        </p:nvSpPr>
        <p:spPr bwMode="auto">
          <a:xfrm>
            <a:off x="833402" y="1050609"/>
            <a:ext cx="7213318" cy="4517072"/>
          </a:xfrm>
        </p:spPr>
        <p:txBody>
          <a:bodyPr/>
          <a:lstStyle/>
          <a:p>
            <a:pPr>
              <a:defRPr/>
            </a:pPr>
            <a:r>
              <a:rPr lang="en-US"/>
              <a:t>Describes the arrival of processes, and CPU and I/O bursts probabilistically</a:t>
            </a:r>
            <a:endParaRPr/>
          </a:p>
          <a:p>
            <a:pPr lvl="1">
              <a:defRPr/>
            </a:pPr>
            <a:r>
              <a:rPr lang="en-US"/>
              <a:t>Commonly exponential, and described by mean</a:t>
            </a:r>
            <a:endParaRPr/>
          </a:p>
          <a:p>
            <a:pPr lvl="1">
              <a:defRPr/>
            </a:pPr>
            <a:r>
              <a:rPr lang="en-US"/>
              <a:t>Computes average throughput, utilization, waiting time, etc.</a:t>
            </a:r>
            <a:endParaRPr/>
          </a:p>
          <a:p>
            <a:pPr>
              <a:defRPr/>
            </a:pPr>
            <a:r>
              <a:rPr lang="en-US"/>
              <a:t>Computer system described as network of servers, each with queue of waiting processes</a:t>
            </a:r>
            <a:endParaRPr/>
          </a:p>
          <a:p>
            <a:pPr lvl="1">
              <a:defRPr/>
            </a:pPr>
            <a:r>
              <a:rPr lang="en-US"/>
              <a:t>Knowing arrival rates and service rates</a:t>
            </a:r>
            <a:endParaRPr/>
          </a:p>
          <a:p>
            <a:pPr lvl="1">
              <a:defRPr/>
            </a:pPr>
            <a:r>
              <a:rPr lang="en-US"/>
              <a:t>Computes utilization, average queue length, average wait time, etc.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1359167" name="Title 1"/>
          <p:cNvSpPr>
            <a:spLocks noGrp="1"/>
          </p:cNvSpPr>
          <p:nvPr>
            <p:ph type="title"/>
          </p:nvPr>
        </p:nvSpPr>
        <p:spPr bwMode="auto">
          <a:xfrm>
            <a:off x="457200" y="113591"/>
            <a:ext cx="8229600" cy="576262"/>
          </a:xfrm>
        </p:spPr>
        <p:txBody>
          <a:bodyPr/>
          <a:lstStyle/>
          <a:p>
            <a:pPr>
              <a:defRPr/>
            </a:pPr>
            <a:r>
              <a:rPr lang="en-US"/>
              <a:t>Little</a:t>
            </a:r>
            <a:r>
              <a:rPr lang="ja-JP"/>
              <a:t>’</a:t>
            </a:r>
            <a:r>
              <a:rPr lang="en-US"/>
              <a:t>s Formula</a:t>
            </a:r>
            <a:endParaRPr lang="en-US"/>
          </a:p>
        </p:txBody>
      </p:sp>
      <p:sp>
        <p:nvSpPr>
          <p:cNvPr id="564401563" name="Content Placeholder 2"/>
          <p:cNvSpPr>
            <a:spLocks noGrp="1"/>
          </p:cNvSpPr>
          <p:nvPr>
            <p:ph idx="1"/>
          </p:nvPr>
        </p:nvSpPr>
        <p:spPr bwMode="auto">
          <a:xfrm>
            <a:off x="858026" y="1016001"/>
            <a:ext cx="7137894" cy="4551680"/>
          </a:xfrm>
        </p:spPr>
        <p:txBody>
          <a:bodyPr/>
          <a:lstStyle/>
          <a:p>
            <a:pPr>
              <a:defRPr/>
            </a:pPr>
            <a:r>
              <a:rPr lang="en-US" i="1"/>
              <a:t>n</a:t>
            </a:r>
            <a:r>
              <a:rPr lang="en-US"/>
              <a:t> = average queue length</a:t>
            </a:r>
            <a:endParaRPr/>
          </a:p>
          <a:p>
            <a:pPr>
              <a:defRPr/>
            </a:pPr>
            <a:r>
              <a:rPr lang="en-US" i="1"/>
              <a:t>W</a:t>
            </a:r>
            <a:r>
              <a:rPr lang="en-US"/>
              <a:t> = average waiting time in queue</a:t>
            </a:r>
            <a:endParaRPr/>
          </a:p>
          <a:p>
            <a:pPr>
              <a:defRPr/>
            </a:pPr>
            <a:r>
              <a:rPr lang="en-US" i="1"/>
              <a:t>λ</a:t>
            </a:r>
            <a:r>
              <a:rPr lang="en-US"/>
              <a:t> = average arrival rate into queue</a:t>
            </a:r>
            <a:endParaRPr/>
          </a:p>
          <a:p>
            <a:pPr>
              <a:defRPr/>
            </a:pPr>
            <a:r>
              <a:rPr lang="en-US"/>
              <a:t>Little</a:t>
            </a:r>
            <a:r>
              <a:rPr lang="ja-JP"/>
              <a:t>’</a:t>
            </a:r>
            <a:r>
              <a:rPr lang="en-US"/>
              <a:t>s law – in steady state, processes leaving queue must equal processes arriving, thus:</a:t>
            </a:r>
            <a:br>
              <a:rPr lang="en-US"/>
            </a:br>
            <a:r>
              <a:rPr lang="en-US"/>
              <a:t>      </a:t>
            </a:r>
            <a:r>
              <a:rPr lang="en-US" i="1"/>
              <a:t>n </a:t>
            </a:r>
            <a:r>
              <a:rPr lang="en-US"/>
              <a:t>= </a:t>
            </a:r>
            <a:r>
              <a:rPr lang="en-US" i="1"/>
              <a:t>λ </a:t>
            </a:r>
            <a:r>
              <a:rPr lang="en-US"/>
              <a:t>x</a:t>
            </a:r>
            <a:r>
              <a:rPr lang="en-US" i="1"/>
              <a:t> W</a:t>
            </a:r>
            <a:endParaRPr/>
          </a:p>
          <a:p>
            <a:pPr lvl="1">
              <a:defRPr/>
            </a:pPr>
            <a:r>
              <a:rPr lang="en-US"/>
              <a:t>Valid for any scheduling algorithm and arrival distribution</a:t>
            </a:r>
            <a:endParaRPr/>
          </a:p>
          <a:p>
            <a:pPr>
              <a:defRPr/>
            </a:pPr>
            <a:r>
              <a:rPr lang="en-US"/>
              <a:t>For example, if on average 7 processes arrive per second, and normally 14 processes in queue, then average wait time per process = 2 seconds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3401184" name="Title 1"/>
          <p:cNvSpPr>
            <a:spLocks noGrp="1"/>
          </p:cNvSpPr>
          <p:nvPr>
            <p:ph type="title"/>
          </p:nvPr>
        </p:nvSpPr>
        <p:spPr bwMode="auto">
          <a:xfrm>
            <a:off x="457200" y="122922"/>
            <a:ext cx="8229600" cy="576262"/>
          </a:xfrm>
        </p:spPr>
        <p:txBody>
          <a:bodyPr/>
          <a:lstStyle/>
          <a:p>
            <a:pPr>
              <a:defRPr/>
            </a:pPr>
            <a:r>
              <a:rPr lang="en-US"/>
              <a:t>Simulations</a:t>
            </a:r>
            <a:endParaRPr/>
          </a:p>
        </p:txBody>
      </p:sp>
      <p:sp>
        <p:nvSpPr>
          <p:cNvPr id="1370011375" name="Content Placeholder 2"/>
          <p:cNvSpPr>
            <a:spLocks noGrp="1"/>
          </p:cNvSpPr>
          <p:nvPr>
            <p:ph idx="1"/>
          </p:nvPr>
        </p:nvSpPr>
        <p:spPr bwMode="auto">
          <a:xfrm>
            <a:off x="834443" y="1060768"/>
            <a:ext cx="7727950" cy="4530725"/>
          </a:xfrm>
        </p:spPr>
        <p:txBody>
          <a:bodyPr/>
          <a:lstStyle/>
          <a:p>
            <a:pPr>
              <a:defRPr/>
            </a:pPr>
            <a:r>
              <a:rPr lang="en-US"/>
              <a:t>Queueing models limited</a:t>
            </a:r>
            <a:endParaRPr/>
          </a:p>
          <a:p>
            <a:pPr>
              <a:defRPr/>
            </a:pPr>
            <a:r>
              <a:rPr lang="en-US" b="1">
                <a:solidFill>
                  <a:srgbClr val="006699"/>
                </a:solidFill>
                <a:latin typeface="+mj-lt"/>
              </a:rPr>
              <a:t>Simulations</a:t>
            </a:r>
            <a:r>
              <a:rPr lang="en-US" b="1"/>
              <a:t> </a:t>
            </a:r>
            <a:r>
              <a:rPr lang="en-US"/>
              <a:t>more accurate</a:t>
            </a:r>
            <a:endParaRPr/>
          </a:p>
          <a:p>
            <a:pPr lvl="1">
              <a:defRPr/>
            </a:pPr>
            <a:r>
              <a:rPr lang="en-US"/>
              <a:t>Programmed model of computer system</a:t>
            </a:r>
            <a:endParaRPr/>
          </a:p>
          <a:p>
            <a:pPr lvl="1">
              <a:defRPr/>
            </a:pPr>
            <a:r>
              <a:rPr lang="en-US"/>
              <a:t>Clock is a variable</a:t>
            </a:r>
            <a:endParaRPr/>
          </a:p>
          <a:p>
            <a:pPr lvl="1">
              <a:defRPr/>
            </a:pPr>
            <a:r>
              <a:rPr lang="en-US"/>
              <a:t>Gather statistics  indicating algorithm performance</a:t>
            </a:r>
            <a:endParaRPr/>
          </a:p>
          <a:p>
            <a:pPr lvl="1">
              <a:defRPr/>
            </a:pPr>
            <a:r>
              <a:rPr lang="en-US"/>
              <a:t>Data to drive simulation gathered via</a:t>
            </a:r>
            <a:endParaRPr/>
          </a:p>
          <a:p>
            <a:pPr lvl="2">
              <a:defRPr/>
            </a:pPr>
            <a:r>
              <a:rPr lang="en-US"/>
              <a:t>Random number generator according to probabilities</a:t>
            </a:r>
            <a:endParaRPr/>
          </a:p>
          <a:p>
            <a:pPr lvl="2">
              <a:defRPr/>
            </a:pPr>
            <a:r>
              <a:rPr lang="en-US"/>
              <a:t>Distributions defined mathematically or empirically</a:t>
            </a:r>
            <a:endParaRPr/>
          </a:p>
          <a:p>
            <a:pPr lvl="2">
              <a:defRPr/>
            </a:pPr>
            <a:r>
              <a:rPr lang="en-US"/>
              <a:t>Trace tapes record sequences of real events in real systems</a:t>
            </a:r>
            <a:endParaRPr/>
          </a:p>
          <a:p>
            <a:pPr lvl="2">
              <a:defRPr/>
            </a:pPr>
            <a:endParaRPr lang="en-US"/>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4191421" name="Rectangle 2"/>
          <p:cNvSpPr>
            <a:spLocks noChangeArrowheads="1" noGrp="1"/>
          </p:cNvSpPr>
          <p:nvPr>
            <p:ph type="title"/>
          </p:nvPr>
        </p:nvSpPr>
        <p:spPr bwMode="auto">
          <a:xfrm>
            <a:off x="1287537" y="100754"/>
            <a:ext cx="7850187" cy="576262"/>
          </a:xfrm>
        </p:spPr>
        <p:txBody>
          <a:bodyPr/>
          <a:lstStyle/>
          <a:p>
            <a:pPr>
              <a:defRPr/>
            </a:pPr>
            <a:r>
              <a:rPr lang="en-US" sz="2800"/>
              <a:t>Evaluation of CPU Schedulers by Simulation</a:t>
            </a:r>
            <a:endParaRPr/>
          </a:p>
        </p:txBody>
      </p:sp>
      <p:pic>
        <p:nvPicPr>
          <p:cNvPr id="1594397045" name="Picture 1"/>
          <p:cNvPicPr>
            <a:picLocks noChangeAspect="1"/>
          </p:cNvPicPr>
          <p:nvPr/>
        </p:nvPicPr>
        <p:blipFill rotWithShape="1">
          <a:blip r:embed="rId3"/>
          <a:stretch/>
        </p:blipFill>
        <p:spPr bwMode="auto">
          <a:xfrm>
            <a:off x="1593215" y="1150938"/>
            <a:ext cx="5953125" cy="370998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8963072" name="Title 1"/>
          <p:cNvSpPr>
            <a:spLocks noGrp="1"/>
          </p:cNvSpPr>
          <p:nvPr>
            <p:ph type="title" idx="4294967295"/>
          </p:nvPr>
        </p:nvSpPr>
        <p:spPr bwMode="auto">
          <a:xfrm>
            <a:off x="1404938" y="124637"/>
            <a:ext cx="6824662" cy="576262"/>
          </a:xfrm>
        </p:spPr>
        <p:txBody>
          <a:bodyPr/>
          <a:lstStyle/>
          <a:p>
            <a:pPr>
              <a:defRPr/>
            </a:pPr>
            <a:r>
              <a:rPr lang="en-US"/>
              <a:t>Implementation</a:t>
            </a:r>
            <a:endParaRPr/>
          </a:p>
        </p:txBody>
      </p:sp>
      <p:sp>
        <p:nvSpPr>
          <p:cNvPr id="1072322576" name="Content Placeholder 2"/>
          <p:cNvSpPr txBox="1"/>
          <p:nvPr/>
        </p:nvSpPr>
        <p:spPr bwMode="auto">
          <a:xfrm>
            <a:off x="850900" y="1055688"/>
            <a:ext cx="7531100" cy="4530725"/>
          </a:xfrm>
          <a:prstGeom prst="rect">
            <a:avLst/>
          </a:prstGeom>
          <a:noFill/>
          <a:ln>
            <a:noFill/>
          </a:ln>
        </p:spPr>
        <p:txBody>
          <a:bodyPr lIns="91417" tIns="45709" rIns="91417" bIns="45709"/>
          <a:lstStyle>
            <a:lvl1pPr marL="488950" indent="-488950" defTabSz="1304925">
              <a:defRPr>
                <a:solidFill>
                  <a:schemeClr val="tx1"/>
                </a:solidFill>
                <a:latin typeface="Verdana"/>
                <a:ea typeface="MS PGothic"/>
              </a:defRPr>
            </a:lvl1pPr>
            <a:lvl2pPr marL="1141413" indent="-488950" defTabSz="1304925">
              <a:defRPr>
                <a:solidFill>
                  <a:schemeClr val="tx1"/>
                </a:solidFill>
                <a:latin typeface="Verdana"/>
                <a:ea typeface="MS PGothic"/>
              </a:defRPr>
            </a:lvl2pPr>
            <a:lvl3pPr marL="1550988" indent="-325438" defTabSz="1304925">
              <a:defRPr>
                <a:solidFill>
                  <a:schemeClr val="tx1"/>
                </a:solidFill>
                <a:latin typeface="Verdana"/>
                <a:ea typeface="MS PGothic"/>
              </a:defRPr>
            </a:lvl3pPr>
            <a:lvl4pPr marL="1600200" indent="-228600" defTabSz="1304925">
              <a:defRPr>
                <a:solidFill>
                  <a:schemeClr val="tx1"/>
                </a:solidFill>
                <a:latin typeface="Verdana"/>
                <a:ea typeface="MS PGothic"/>
              </a:defRPr>
            </a:lvl4pPr>
            <a:lvl5pPr marL="2057400" indent="-228600" defTabSz="1304925">
              <a:defRPr>
                <a:solidFill>
                  <a:schemeClr val="tx1"/>
                </a:solidFill>
                <a:latin typeface="Verdana"/>
                <a:ea typeface="MS PGothic"/>
              </a:defRPr>
            </a:lvl5pPr>
            <a:lvl6pPr marL="2514600" indent="-228600" defTabSz="1304925">
              <a:spcBef>
                <a:spcPts val="0"/>
              </a:spcBef>
              <a:spcAft>
                <a:spcPts val="0"/>
              </a:spcAft>
              <a:defRPr>
                <a:solidFill>
                  <a:schemeClr val="tx1"/>
                </a:solidFill>
                <a:latin typeface="Verdana"/>
                <a:ea typeface="MS PGothic"/>
              </a:defRPr>
            </a:lvl6pPr>
            <a:lvl7pPr marL="2971800" indent="-228600" defTabSz="1304925">
              <a:spcBef>
                <a:spcPts val="0"/>
              </a:spcBef>
              <a:spcAft>
                <a:spcPts val="0"/>
              </a:spcAft>
              <a:defRPr>
                <a:solidFill>
                  <a:schemeClr val="tx1"/>
                </a:solidFill>
                <a:latin typeface="Verdana"/>
                <a:ea typeface="MS PGothic"/>
              </a:defRPr>
            </a:lvl7pPr>
            <a:lvl8pPr marL="3429000" indent="-228600" defTabSz="1304925">
              <a:spcBef>
                <a:spcPts val="0"/>
              </a:spcBef>
              <a:spcAft>
                <a:spcPts val="0"/>
              </a:spcAft>
              <a:defRPr>
                <a:solidFill>
                  <a:schemeClr val="tx1"/>
                </a:solidFill>
                <a:latin typeface="Verdana"/>
                <a:ea typeface="MS PGothic"/>
              </a:defRPr>
            </a:lvl8pPr>
            <a:lvl9pPr marL="3886200" indent="-228600" defTabSz="1304925">
              <a:spcBef>
                <a:spcPts val="0"/>
              </a:spcBef>
              <a:spcAft>
                <a:spcPts val="0"/>
              </a:spcAft>
              <a:defRPr>
                <a:solidFill>
                  <a:schemeClr val="tx1"/>
                </a:solidFill>
                <a:latin typeface="Verdana"/>
                <a:ea typeface="MS PGothic"/>
              </a:defRPr>
            </a:lvl9pPr>
          </a:lstStyle>
          <a:p>
            <a:pPr>
              <a:spcBef>
                <a:spcPts val="0"/>
              </a:spcBef>
              <a:buClr>
                <a:srgbClr val="993300"/>
              </a:buClr>
              <a:buSzPct val="110000"/>
              <a:buFont typeface="Wingdings"/>
              <a:buChar char="§"/>
              <a:defRPr/>
            </a:pPr>
            <a:r>
              <a:rPr lang="en-US">
                <a:latin typeface="Helvetica"/>
              </a:rPr>
              <a:t>Even simulations have limited accuracy</a:t>
            </a:r>
            <a:endParaRPr/>
          </a:p>
          <a:p>
            <a:pPr>
              <a:spcBef>
                <a:spcPts val="0"/>
              </a:spcBef>
              <a:buClr>
                <a:srgbClr val="993300"/>
              </a:buClr>
              <a:buSzPct val="110000"/>
              <a:buFont typeface="Wingdings"/>
              <a:buChar char="§"/>
              <a:defRPr/>
            </a:pPr>
            <a:r>
              <a:rPr lang="en-US">
                <a:latin typeface="Helvetica"/>
              </a:rPr>
              <a:t>Just implement new scheduler and test in real systems</a:t>
            </a:r>
            <a:endParaRPr/>
          </a:p>
          <a:p>
            <a:pPr lvl="1">
              <a:spcBef>
                <a:spcPts val="0"/>
              </a:spcBef>
              <a:buClr>
                <a:srgbClr val="993300"/>
              </a:buClr>
              <a:buSzPct val="110000"/>
              <a:buFont typeface="Arial"/>
              <a:buChar char="•"/>
              <a:defRPr/>
            </a:pPr>
            <a:r>
              <a:rPr lang="en-US">
                <a:latin typeface="Helvetica"/>
              </a:rPr>
              <a:t>High cost, high risk</a:t>
            </a:r>
            <a:endParaRPr/>
          </a:p>
          <a:p>
            <a:pPr lvl="1">
              <a:spcBef>
                <a:spcPts val="0"/>
              </a:spcBef>
              <a:buClr>
                <a:srgbClr val="993300"/>
              </a:buClr>
              <a:buSzPct val="110000"/>
              <a:buFont typeface="Arial"/>
              <a:buChar char="•"/>
              <a:defRPr/>
            </a:pPr>
            <a:r>
              <a:rPr lang="en-US">
                <a:latin typeface="Helvetica"/>
              </a:rPr>
              <a:t>Environments vary</a:t>
            </a:r>
            <a:endParaRPr/>
          </a:p>
          <a:p>
            <a:pPr>
              <a:spcBef>
                <a:spcPts val="0"/>
              </a:spcBef>
              <a:buClr>
                <a:srgbClr val="993300"/>
              </a:buClr>
              <a:buSzPct val="110000"/>
              <a:buFont typeface="Wingdings"/>
              <a:buChar char="§"/>
              <a:defRPr/>
            </a:pPr>
            <a:r>
              <a:rPr lang="en-US">
                <a:latin typeface="Helvetica"/>
              </a:rPr>
              <a:t>Most flexible schedulers can be modified per-site or per-system</a:t>
            </a:r>
            <a:endParaRPr/>
          </a:p>
          <a:p>
            <a:pPr>
              <a:spcBef>
                <a:spcPts val="0"/>
              </a:spcBef>
              <a:buClr>
                <a:srgbClr val="993300"/>
              </a:buClr>
              <a:buSzPct val="110000"/>
              <a:buFont typeface="Wingdings"/>
              <a:buChar char="§"/>
              <a:defRPr/>
            </a:pPr>
            <a:r>
              <a:rPr lang="en-US">
                <a:latin typeface="Helvetica"/>
              </a:rPr>
              <a:t>Or APIs to modify priorities</a:t>
            </a:r>
            <a:endParaRPr/>
          </a:p>
          <a:p>
            <a:pPr>
              <a:spcBef>
                <a:spcPts val="0"/>
              </a:spcBef>
              <a:buClr>
                <a:srgbClr val="993300"/>
              </a:buClr>
              <a:buSzPct val="110000"/>
              <a:buFont typeface="Wingdings"/>
              <a:buChar char="§"/>
              <a:defRPr/>
            </a:pPr>
            <a:r>
              <a:rPr lang="en-US">
                <a:latin typeface="Helvetica"/>
              </a:rPr>
              <a:t>But again environments vary</a:t>
            </a:r>
            <a:endParaRPr/>
          </a:p>
          <a:p>
            <a:pPr>
              <a:spcBef>
                <a:spcPts val="0"/>
              </a:spcBef>
              <a:buClr>
                <a:srgbClr val="993300"/>
              </a:buClr>
              <a:buSzPct val="90000"/>
              <a:buFont typeface="Monotype Sorts"/>
              <a:buChar char="n"/>
              <a:defRPr/>
            </a:pPr>
            <a:endParaRPr lang="en-US">
              <a:latin typeface="Helvetica"/>
            </a:endParaRPr>
          </a:p>
          <a:p>
            <a:pPr lvl="2">
              <a:spcBef>
                <a:spcPts val="0"/>
              </a:spcBef>
              <a:buClr>
                <a:srgbClr val="009900"/>
              </a:buClr>
              <a:buSzPct val="75000"/>
              <a:buFont typeface="Webdings"/>
              <a:buChar char="4"/>
              <a:defRPr/>
            </a:pPr>
            <a:endParaRPr lang="en-US">
              <a:latin typeface="Helvetica"/>
            </a:endParaRPr>
          </a:p>
          <a:p>
            <a:pPr lvl="1">
              <a:spcBef>
                <a:spcPts val="0"/>
              </a:spcBef>
              <a:buClr>
                <a:srgbClr val="CC6600"/>
              </a:buClr>
              <a:buSzPct val="80000"/>
              <a:buFont typeface="Monotype Sorts"/>
              <a:buChar char="l"/>
              <a:defRPr/>
            </a:pPr>
            <a:endParaRPr lang="en-US">
              <a:latin typeface="Helvetic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3653143" name="Rectangle 2"/>
          <p:cNvSpPr>
            <a:spLocks noChangeArrowheads="1" noGrp="1"/>
          </p:cNvSpPr>
          <p:nvPr>
            <p:ph type="ctrTitle"/>
          </p:nvPr>
        </p:nvSpPr>
        <p:spPr bwMode="auto"/>
        <p:txBody>
          <a:bodyPr/>
          <a:lstStyle/>
          <a:p>
            <a:pPr>
              <a:defRPr/>
            </a:pPr>
            <a:r>
              <a:rPr lang="en-US"/>
              <a:t>End of Chapter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Arial"/>
        <a:cs typeface="Arial"/>
      </a:majorFont>
      <a:minorFont>
        <a:latin typeface="Helvetica"/>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emplate>OS8</Template>
  <TotalTime>0</TotalTime>
  <Words>0</Words>
  <Application>ONLYOFFICE/9.3.1.8</Application>
  <PresentationFormat>On-screen Show (4:3)</PresentationFormat>
  <Paragraphs>0</Paragraphs>
  <Slides>79</Slides>
  <Notes>79</Notes>
  <HiddenSlides>0</HiddenSlides>
  <MMClips>2</MMClips>
  <ScaleCrop>0</ScaleCrop>
  <HeadingPairs>
    <vt:vector size="4" baseType="variant">
      <vt:variant>
        <vt:lpstr>Theme</vt:lpstr>
      </vt:variant>
      <vt:variant>
        <vt:i4>1</vt:i4>
      </vt:variant>
      <vt:variant>
        <vt:lpstr>Slide Titles</vt:lpstr>
      </vt:variant>
      <vt:variant>
        <vt:i4>79</vt:i4>
      </vt:variant>
    </vt:vector>
  </HeadingPairs>
  <TitlesOfParts>
    <vt:vector size="8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Lucent Technologies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
  <cp:revision>253</cp:revision>
  <dcterms:created xsi:type="dcterms:W3CDTF">2011-01-13T23:43:38Z</dcterms:created>
  <dcterms:modified xsi:type="dcterms:W3CDTF">2026-04-26T12:54:49Z</dcterms:modified>
</cp:coreProperties>
</file>