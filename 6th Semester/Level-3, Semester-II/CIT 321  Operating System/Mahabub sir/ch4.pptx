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63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22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notesSlides/notesSlide28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28.xml" ContentType="application/vnd.openxmlformats-officedocument.presentationml.slide+xml"/>
  <Override PartName="/ppt/slides/slide43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1.xml" ContentType="application/vnd.openxmlformats-officedocument.presentationml.notesSlide+xml"/>
  <Override PartName="/ppt/notesSlides/notesSlide6.xml" ContentType="application/vnd.openxmlformats-officedocument.presentationml.notesSlide+xml"/>
  <Override PartName="/ppt/slides/slide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notesSlides/notesSlide55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notesSlides/notesSlide49.xml" ContentType="application/vnd.openxmlformats-officedocument.presentationml.notesSlide+xml"/>
  <Override PartName="/ppt/slides/slide20.xml" ContentType="application/vnd.openxmlformats-officedocument.presentationml.slide+xml"/>
  <Override PartName="/ppt/slides/slide47.xml" ContentType="application/vnd.openxmlformats-officedocument.presentationml.slide+xml"/>
  <Override PartName="/ppt/slideLayouts/slideLayout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32.xml" ContentType="application/vnd.openxmlformats-officedocument.presentationml.slide+xml"/>
  <Override PartName="/ppt/notesSlides/notesSlide37.xml" ContentType="application/vnd.openxmlformats-officedocument.presentationml.notesSlide+xml"/>
  <Override PartName="/ppt/notesSlides/notesSlide7.xml" ContentType="application/vnd.openxmlformats-officedocument.presentationml.notesSlid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ppt/slides/slide58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53.xml" ContentType="application/vnd.openxmlformats-officedocument.presentationml.notes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5.xml" ContentType="application/vnd.openxmlformats-officedocument.presentationml.slide+xml"/>
  <Override PartName="/ppt/notesSlides/notesSlide27.xml" ContentType="application/vnd.openxmlformats-officedocument.presentationml.notesSlide+xml"/>
  <Override PartName="/ppt/presProps.xml" ContentType="application/vnd.openxmlformats-officedocument.presentationml.presProps+xml"/>
  <Override PartName="/ppt/slides/slide21.xml" ContentType="application/vnd.openxmlformats-officedocument.presentationml.slide+xml"/>
  <Override PartName="/ppt/slides/slide61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26.xml" ContentType="application/vnd.openxmlformats-officedocument.presentationml.slide+xml"/>
  <Override PartName="/ppt/theme/theme2.xml" ContentType="application/vnd.openxmlformats-officedocument.them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40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3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33.xml" ContentType="application/vnd.openxmlformats-officedocument.presentationml.slide+xml"/>
  <Override PartName="/ppt/slides/slide63.xml" ContentType="application/vnd.openxmlformats-officedocument.presentationml.slide+xml"/>
  <Override PartName="/ppt/presentation.xml" ContentType="application/vnd.openxmlformats-officedocument.presentationml.presentation.main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5.xml" ContentType="application/vnd.openxmlformats-officedocument.presentationml.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53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8.xml" ContentType="application/vnd.openxmlformats-officedocument.presentationml.slide+xml"/>
  <Override PartName="/ppt/slides/slide51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57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52.xml" ContentType="application/vnd.openxmlformats-officedocument.presentationml.slide+xml"/>
  <Override PartName="/ppt/slides/slide55.xml" ContentType="application/vnd.openxmlformats-officedocument.presentationml.slide+xml"/>
  <Override PartName="/ppt/slides/slide59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60.xml" ContentType="application/vnd.openxmlformats-officedocument.presentationml.slide+xml"/>
  <Override PartName="/ppt/slideLayouts/slideLayout3.xml" ContentType="application/vnd.openxmlformats-officedocument.presentationml.slideLayout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 strictFirstAndLastChars="0">
  <p:sldMasterIdLst>
    <p:sldMasterId id="2147483648" r:id="rId1"/>
  </p:sldMasterIdLst>
  <p:notesMasterIdLst>
    <p:notesMasterId r:id="rId6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</p:sldIdLst>
  <p:sldSz cx="9144000" cy="6858000" type="screen4x3"/>
  <p:notesSz cx="7010400" cy="9296400"/>
  <p:defaultTextStyle>
    <a:defPPr>
      <a:defRPr lang="en-US"/>
    </a:defPPr>
    <a:lvl1pPr algn="l" rtl="0">
      <a:spcBef>
        <a:spcPts val="0"/>
      </a:spcBef>
      <a:spcAft>
        <a:spcPts val="0"/>
      </a:spcAft>
      <a:defRPr>
        <a:solidFill>
          <a:schemeClr val="tx1"/>
        </a:solidFill>
        <a:latin typeface="Verdana"/>
        <a:ea typeface="MS PGothic"/>
        <a:cs typeface="+mn-cs"/>
      </a:defRPr>
    </a:lvl1pPr>
    <a:lvl2pPr marL="457200" algn="l" rtl="0">
      <a:spcBef>
        <a:spcPts val="0"/>
      </a:spcBef>
      <a:spcAft>
        <a:spcPts val="0"/>
      </a:spcAft>
      <a:defRPr>
        <a:solidFill>
          <a:schemeClr val="tx1"/>
        </a:solidFill>
        <a:latin typeface="Verdana"/>
        <a:ea typeface="MS PGothic"/>
        <a:cs typeface="+mn-cs"/>
      </a:defRPr>
    </a:lvl2pPr>
    <a:lvl3pPr marL="914400" algn="l" rtl="0">
      <a:spcBef>
        <a:spcPts val="0"/>
      </a:spcBef>
      <a:spcAft>
        <a:spcPts val="0"/>
      </a:spcAft>
      <a:defRPr>
        <a:solidFill>
          <a:schemeClr val="tx1"/>
        </a:solidFill>
        <a:latin typeface="Verdana"/>
        <a:ea typeface="MS PGothic"/>
        <a:cs typeface="+mn-cs"/>
      </a:defRPr>
    </a:lvl3pPr>
    <a:lvl4pPr marL="1371600" algn="l" rtl="0">
      <a:spcBef>
        <a:spcPts val="0"/>
      </a:spcBef>
      <a:spcAft>
        <a:spcPts val="0"/>
      </a:spcAft>
      <a:defRPr>
        <a:solidFill>
          <a:schemeClr val="tx1"/>
        </a:solidFill>
        <a:latin typeface="Verdana"/>
        <a:ea typeface="MS PGothic"/>
        <a:cs typeface="+mn-cs"/>
      </a:defRPr>
    </a:lvl4pPr>
    <a:lvl5pPr marL="1828800" algn="l" rtl="0">
      <a:spcBef>
        <a:spcPts val="0"/>
      </a:spcBef>
      <a:spcAft>
        <a:spcPts val="0"/>
      </a:spcAft>
      <a:defRPr>
        <a:solidFill>
          <a:schemeClr val="tx1"/>
        </a:solidFill>
        <a:latin typeface="Verdana"/>
        <a:ea typeface="MS PGothic"/>
        <a:cs typeface="+mn-cs"/>
      </a:defRPr>
    </a:lvl5pPr>
    <a:lvl6pPr marL="2286000" algn="l" defTabSz="914400" rtl="0">
      <a:defRPr>
        <a:solidFill>
          <a:schemeClr val="tx1"/>
        </a:solidFill>
        <a:latin typeface="Verdana"/>
        <a:ea typeface="MS PGothic"/>
        <a:cs typeface="+mn-cs"/>
      </a:defRPr>
    </a:lvl6pPr>
    <a:lvl7pPr marL="2743200" algn="l" defTabSz="914400" rtl="0">
      <a:defRPr>
        <a:solidFill>
          <a:schemeClr val="tx1"/>
        </a:solidFill>
        <a:latin typeface="Verdana"/>
        <a:ea typeface="MS PGothic"/>
        <a:cs typeface="+mn-cs"/>
      </a:defRPr>
    </a:lvl7pPr>
    <a:lvl8pPr marL="3200400" algn="l" defTabSz="914400" rtl="0">
      <a:defRPr>
        <a:solidFill>
          <a:schemeClr val="tx1"/>
        </a:solidFill>
        <a:latin typeface="Verdana"/>
        <a:ea typeface="MS PGothic"/>
        <a:cs typeface="+mn-cs"/>
      </a:defRPr>
    </a:lvl8pPr>
    <a:lvl9pPr marL="3657600" algn="l" defTabSz="914400" rtl="0">
      <a:defRPr>
        <a:solidFill>
          <a:schemeClr val="tx1"/>
        </a:solidFill>
        <a:latin typeface="Verdana"/>
        <a:ea typeface="MS PGothic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4" d="100"/>
          <a:sy n="64" d="100"/>
        </p:scale>
        <p:origin x="1166" y="72"/>
      </p:cViewPr>
      <p:guideLst>
        <p:guide pos="816" orient="horz"/>
        <p:guide pos="44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 /><Relationship Id="rId69" Type="http://schemas.openxmlformats.org/officeDocument/2006/relationships/tableStyles" Target="tableStyles.xml" /><Relationship Id="rId7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485955" name="Rectangle 2"/>
          <p:cNvSpPr>
            <a:spLocks noChangeArrowheads="1" noGrp="1"/>
          </p:cNvSpPr>
          <p:nvPr>
            <p:ph type="hdr" sz="quarter"/>
          </p:nvPr>
        </p:nvSpPr>
        <p:spPr bwMode="auto">
          <a:xfrm>
            <a:off x="0" y="0"/>
            <a:ext cx="3036888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ctr" anchorCtr="0" compatLnSpc="1">
            <a:prstTxWarp prst="textNoShape"/>
          </a:bodyPr>
          <a:lstStyle>
            <a:lvl1pPr defTabSz="930275">
              <a:defRPr sz="1200">
                <a:latin typeface="Times New Roman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38259146" name="Rectangle 3"/>
          <p:cNvSpPr>
            <a:spLocks noChangeArrowheads="1" noGrp="1"/>
          </p:cNvSpPr>
          <p:nvPr>
            <p:ph type="dt" idx="1"/>
          </p:nvPr>
        </p:nvSpPr>
        <p:spPr bwMode="auto">
          <a:xfrm>
            <a:off x="3973512" y="0"/>
            <a:ext cx="3036887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ctr" anchorCtr="0" compatLnSpc="1">
            <a:prstTxWarp prst="textNoShape"/>
          </a:bodyPr>
          <a:lstStyle>
            <a:lvl1pPr algn="r" defTabSz="930275">
              <a:defRPr sz="1200">
                <a:latin typeface="Times New Roman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25857547" name="Rectangle 4"/>
          <p:cNvSpPr>
            <a:spLocks noChangeArrowheads="1" noChangeAspect="1" noGrp="1" noRot="1" noTextEdit="1"/>
          </p:cNvSpPr>
          <p:nvPr>
            <p:ph type="sldImg" idx="2"/>
          </p:nvPr>
        </p:nvSpPr>
        <p:spPr bwMode="auto">
          <a:xfrm>
            <a:off x="1182688" y="698500"/>
            <a:ext cx="4646612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12862707" name="Rectangle 5"/>
          <p:cNvSpPr>
            <a:spLocks noChangeArrowheads="1" noGrp="1"/>
          </p:cNvSpPr>
          <p:nvPr>
            <p:ph type="body" sz="quarter" idx="3"/>
          </p:nvPr>
        </p:nvSpPr>
        <p:spPr bwMode="auto">
          <a:xfrm>
            <a:off x="935038" y="4416425"/>
            <a:ext cx="5140325" cy="4181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ctr" anchorCtr="0" compatLnSpc="1">
            <a:prstTxWarp prst="textNoShape"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709842884" name="Rectangle 6"/>
          <p:cNvSpPr>
            <a:spLocks noChangeArrowheads="1" noGrp="1"/>
          </p:cNvSpPr>
          <p:nvPr>
            <p:ph type="ftr" sz="quarter" idx="4"/>
          </p:nvPr>
        </p:nvSpPr>
        <p:spPr bwMode="auto">
          <a:xfrm>
            <a:off x="0" y="8832850"/>
            <a:ext cx="3036888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b" anchorCtr="0" compatLnSpc="1">
            <a:prstTxWarp prst="textNoShape"/>
          </a:bodyPr>
          <a:lstStyle>
            <a:lvl1pPr defTabSz="930275">
              <a:defRPr sz="1200">
                <a:latin typeface="Times New Roman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66959974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xfrm>
            <a:off x="3973512" y="8832850"/>
            <a:ext cx="3036887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b" anchorCtr="0" compatLnSpc="1">
            <a:prstTxWarp prst="textNoShape"/>
          </a:bodyPr>
          <a:lstStyle>
            <a:lvl1pPr algn="r" defTabSz="930275">
              <a:defRPr sz="1200">
                <a:latin typeface="Times New Roman"/>
                <a:ea typeface="MS PGothic"/>
              </a:defRPr>
            </a:lvl1pPr>
          </a:lstStyle>
          <a:p>
            <a:pPr>
              <a:defRPr/>
            </a:pPr>
            <a:fld id="{B502DF71-3C45-4C55-AF2B-283333F9BC5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>
      <a:spcBef>
        <a:spcPts val="0"/>
      </a:spcBef>
      <a:spcAft>
        <a:spcPts val="0"/>
      </a:spcAft>
      <a:defRPr sz="1200">
        <a:solidFill>
          <a:schemeClr val="tx1"/>
        </a:solidFill>
        <a:latin typeface="Times New Roman"/>
        <a:ea typeface="MS PGothic"/>
        <a:cs typeface="MS PGothic"/>
      </a:defRPr>
    </a:lvl1pPr>
    <a:lvl2pPr marL="4572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Times New Roman"/>
        <a:ea typeface="MS PGothic"/>
        <a:cs typeface="+mn-cs"/>
      </a:defRPr>
    </a:lvl2pPr>
    <a:lvl3pPr marL="9144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Times New Roman"/>
        <a:ea typeface="MS PGothic"/>
        <a:cs typeface="+mn-cs"/>
      </a:defRPr>
    </a:lvl3pPr>
    <a:lvl4pPr marL="13716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Times New Roman"/>
        <a:ea typeface="MS PGothic"/>
        <a:cs typeface="+mn-cs"/>
      </a:defRPr>
    </a:lvl4pPr>
    <a:lvl5pPr marL="18288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Times New Roman"/>
        <a:ea typeface="MS PGothic"/>
        <a:cs typeface="+mn-cs"/>
      </a:defRPr>
    </a:lvl5pPr>
    <a:lvl6pPr marL="2286000" algn="l" defTabSz="4572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 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 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 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 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 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 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 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 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 ?>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 ?>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 ?>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 ?>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 ?>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 ?>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 ?>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 ?>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 ?>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 ?>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 ?>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 ?>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 ?>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 ?>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 ?>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 ?>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 ?>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 ?>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927859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C54CFF6C-4004-4410-88F0-F4F19A1CCD13}" type="slidenum">
              <a:rPr lang="en-US">
                <a:latin typeface="Helvetica"/>
              </a:rPr>
              <a:t>1</a:t>
            </a:fld>
            <a:endParaRPr lang="en-US">
              <a:latin typeface="Helvetica"/>
            </a:endParaRPr>
          </a:p>
        </p:txBody>
      </p:sp>
      <p:sp>
        <p:nvSpPr>
          <p:cNvPr id="1847519579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365838888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4970366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BA73D603-B8D2-4718-A866-542F17F0E427}" type="slidenum">
              <a:rPr lang="en-US">
                <a:latin typeface="Helvetica"/>
              </a:rPr>
              <a:t>2</a:t>
            </a:fld>
            <a:endParaRPr lang="en-US">
              <a:latin typeface="Helvetica"/>
            </a:endParaRPr>
          </a:p>
        </p:txBody>
      </p:sp>
      <p:sp>
        <p:nvSpPr>
          <p:cNvPr id="1457110542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267861940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549723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73643505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157980-7134-3F32-50FF-3DF5A8D448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2523491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6AF3DCFE-B091-466E-897F-AF0229B99FBE}" type="slidenum">
              <a:rPr lang="en-US">
                <a:latin typeface="Helvetica"/>
              </a:rPr>
              <a:t>5</a:t>
            </a:fld>
            <a:endParaRPr lang="en-US">
              <a:latin typeface="Helvetica"/>
            </a:endParaRPr>
          </a:p>
        </p:txBody>
      </p:sp>
      <p:sp>
        <p:nvSpPr>
          <p:cNvPr id="611356545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054679463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8871614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511741236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3925441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D319C771-0D6A-4807-BCDD-77C1F2EE8271}" type="slidenum">
              <a:rPr lang="en-US">
                <a:latin typeface="Helvetica"/>
              </a:rPr>
              <a:t>7</a:t>
            </a:fld>
            <a:endParaRPr lang="en-US">
              <a:latin typeface="Helvetica"/>
            </a:endParaRPr>
          </a:p>
        </p:txBody>
      </p:sp>
      <p:sp>
        <p:nvSpPr>
          <p:cNvPr id="959636953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678322203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591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2123633136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445922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558747156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8194204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881943465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FCA5CE-49E0-CB2F-1417-8BB230CC8F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8592497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24200DDC-C11B-49B3-97E9-1ED578740C37}" type="slidenum">
              <a:rPr lang="en-US">
                <a:latin typeface="Helvetica"/>
              </a:rPr>
              <a:t>12</a:t>
            </a:fld>
            <a:endParaRPr lang="en-US">
              <a:latin typeface="Helvetica"/>
            </a:endParaRPr>
          </a:p>
        </p:txBody>
      </p:sp>
      <p:sp>
        <p:nvSpPr>
          <p:cNvPr id="1157265971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168092233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BDB579-B7B1-4407-D9A4-B6163B93E4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34628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29398EA6-8FE3-4BCE-B6A8-508B0A27C7F8}" type="slidenum">
              <a:rPr lang="en-US">
                <a:latin typeface="Helvetica"/>
              </a:rPr>
              <a:t>14</a:t>
            </a:fld>
            <a:endParaRPr lang="en-US">
              <a:latin typeface="Helvetica"/>
            </a:endParaRPr>
          </a:p>
        </p:txBody>
      </p:sp>
      <p:sp>
        <p:nvSpPr>
          <p:cNvPr id="1161793778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205758125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A7301E-193C-9D36-E06F-EF074AD59D9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898959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36A5F754-A269-48A9-AF00-EE1AB4FE158B}" type="slidenum">
              <a:rPr lang="en-US">
                <a:latin typeface="Helvetica"/>
              </a:rPr>
              <a:t>16</a:t>
            </a:fld>
            <a:endParaRPr lang="en-US">
              <a:latin typeface="Helvetica"/>
            </a:endParaRPr>
          </a:p>
        </p:txBody>
      </p:sp>
      <p:sp>
        <p:nvSpPr>
          <p:cNvPr id="1148814382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384701897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0728875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5B6B8074-FFAA-46E8-A8E7-A2DF12801B2C}" type="slidenum">
              <a:rPr lang="en-US">
                <a:latin typeface="Helvetica"/>
              </a:rPr>
              <a:t>17</a:t>
            </a:fld>
            <a:endParaRPr lang="en-US">
              <a:latin typeface="Helvetica"/>
            </a:endParaRPr>
          </a:p>
        </p:txBody>
      </p:sp>
      <p:sp>
        <p:nvSpPr>
          <p:cNvPr id="1030209794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083416390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4418043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2F77C39C-CCD1-4085-91E8-2B527B8A2188}" type="slidenum">
              <a:rPr lang="en-US">
                <a:latin typeface="Helvetica"/>
              </a:rPr>
              <a:t>18</a:t>
            </a:fld>
            <a:endParaRPr lang="en-US">
              <a:latin typeface="Helvetica"/>
            </a:endParaRPr>
          </a:p>
        </p:txBody>
      </p:sp>
      <p:sp>
        <p:nvSpPr>
          <p:cNvPr id="413739508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456322717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1207283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7A8AF47D-CB37-4C77-9E61-6FE982C48A6C}" type="slidenum">
              <a:rPr lang="en-US">
                <a:latin typeface="Helvetica"/>
              </a:rPr>
              <a:t>19</a:t>
            </a:fld>
            <a:endParaRPr lang="en-US">
              <a:latin typeface="Helvetica"/>
            </a:endParaRPr>
          </a:p>
        </p:txBody>
      </p:sp>
      <p:sp>
        <p:nvSpPr>
          <p:cNvPr id="974555403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831507946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3494306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16B73719-6FB6-4E20-AE32-14616D4F0E63}" type="slidenum">
              <a:rPr lang="en-US">
                <a:latin typeface="Helvetica"/>
              </a:rPr>
              <a:t>20</a:t>
            </a:fld>
            <a:endParaRPr lang="en-US">
              <a:latin typeface="Helvetica"/>
            </a:endParaRPr>
          </a:p>
        </p:txBody>
      </p:sp>
      <p:sp>
        <p:nvSpPr>
          <p:cNvPr id="1020412654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374528867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1960445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991572052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6110783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EBF23E72-A12C-4C92-8AE1-BFA934D068FF}" type="slidenum">
              <a:rPr lang="en-US">
                <a:latin typeface="Helvetica"/>
              </a:rPr>
              <a:t>22</a:t>
            </a:fld>
            <a:endParaRPr lang="en-US">
              <a:latin typeface="Helvetica"/>
            </a:endParaRPr>
          </a:p>
        </p:txBody>
      </p:sp>
      <p:sp>
        <p:nvSpPr>
          <p:cNvPr id="75404147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913134998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4607D9-0C0A-CF4D-0B10-49591F3291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BB33252-DC13-67D2-12A5-F601E481582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FF04-E9F8-2F71-9280-911745B7A06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6815C27-D9DE-10BE-9235-71EC0210F5F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25225-D7A0-E563-7D19-580C8554199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4542456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F3C5D0B0-D187-4E63-8B13-81271B8117FB}" type="slidenum">
              <a:rPr lang="en-US">
                <a:latin typeface="Helvetica"/>
              </a:rPr>
              <a:t>28</a:t>
            </a:fld>
            <a:endParaRPr lang="en-US">
              <a:latin typeface="Helvetica"/>
            </a:endParaRPr>
          </a:p>
        </p:txBody>
      </p:sp>
      <p:sp>
        <p:nvSpPr>
          <p:cNvPr id="1868689141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032041803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CD3225-5323-2039-7AAC-214DC76B47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2C56B2E-6D9B-09CA-77E4-D54F1B4151B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24DE82-6229-7F13-D59F-7EEC9670AAC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54133D-CCEE-2F13-EE14-6495F15079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531138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203646A7-87D1-4E08-9877-083F79BE34C5}" type="slidenum">
              <a:rPr lang="en-US">
                <a:latin typeface="Helvetica"/>
              </a:rPr>
              <a:t>33</a:t>
            </a:fld>
            <a:endParaRPr lang="en-US">
              <a:latin typeface="Helvetica"/>
            </a:endParaRPr>
          </a:p>
        </p:txBody>
      </p:sp>
      <p:sp>
        <p:nvSpPr>
          <p:cNvPr id="464880954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701209532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743278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F58E20DC-D625-4FC1-80D1-197547D6A0FC}" type="slidenum">
              <a:rPr lang="en-US">
                <a:latin typeface="Helvetica"/>
              </a:rPr>
              <a:t>34</a:t>
            </a:fld>
            <a:endParaRPr lang="en-US">
              <a:latin typeface="Helvetica"/>
            </a:endParaRPr>
          </a:p>
        </p:txBody>
      </p:sp>
      <p:sp>
        <p:nvSpPr>
          <p:cNvPr id="676010658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085272156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145E47-F399-99E8-9074-2969E51B40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1C8E328-F273-5CE8-CDD9-B0D8DEFB8D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CFCB86-BA59-DBCA-0AA0-E5158F75EEB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4BFE43-F374-8C8B-3DEE-33857747373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FDB92DB-F6F6-C831-5CF8-99140A1C2BF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3F395F-8FA6-4578-5131-D568EF2FAE1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B9B86B-23B7-10E0-FA24-0428876BCD1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DE102C-5BFF-0A29-84F1-F5142ADDAAD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1000670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62086FDF-C283-4A26-A609-6B6E5A4F7611}" type="slidenum">
              <a:rPr lang="en-US">
                <a:latin typeface="Helvetica"/>
              </a:rPr>
              <a:t>43</a:t>
            </a:fld>
            <a:endParaRPr lang="en-US">
              <a:latin typeface="Helvetica"/>
            </a:endParaRPr>
          </a:p>
        </p:txBody>
      </p:sp>
      <p:sp>
        <p:nvSpPr>
          <p:cNvPr id="1481082434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648071882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2EA1A9-134B-D0E2-71D3-59E9858DED0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2683687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06B4739B-763B-41A7-BF7B-6390169FD7EB}" type="slidenum">
              <a:rPr lang="en-US">
                <a:latin typeface="Helvetica"/>
              </a:rPr>
              <a:t>45</a:t>
            </a:fld>
            <a:endParaRPr lang="en-US">
              <a:latin typeface="Helvetica"/>
            </a:endParaRPr>
          </a:p>
        </p:txBody>
      </p:sp>
      <p:sp>
        <p:nvSpPr>
          <p:cNvPr id="22497652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839368326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8073372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435790EF-1AC9-4C3D-A973-AAE8B010255A}" type="slidenum">
              <a:rPr lang="en-US">
                <a:latin typeface="Helvetica"/>
              </a:rPr>
              <a:t>46</a:t>
            </a:fld>
            <a:endParaRPr lang="en-US">
              <a:latin typeface="Helvetica"/>
            </a:endParaRPr>
          </a:p>
        </p:txBody>
      </p:sp>
      <p:sp>
        <p:nvSpPr>
          <p:cNvPr id="832552178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6542569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DD2519-69BA-143E-7422-A7044144B9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8DED9D-4B40-3266-062F-1AC6E1291A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867922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80910074-6A37-4496-AE68-529FF68CD695}" type="slidenum">
              <a:rPr lang="en-US">
                <a:latin typeface="Helvetica"/>
              </a:rPr>
              <a:t>49</a:t>
            </a:fld>
            <a:endParaRPr lang="en-US">
              <a:latin typeface="Helvetica"/>
            </a:endParaRPr>
          </a:p>
        </p:txBody>
      </p:sp>
      <p:sp>
        <p:nvSpPr>
          <p:cNvPr id="563828840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161132826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5160839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A20F8462-1483-480D-9499-599BDADC3331}" type="slidenum">
              <a:rPr lang="en-US">
                <a:latin typeface="Helvetica"/>
              </a:rPr>
              <a:t>50</a:t>
            </a:fld>
            <a:endParaRPr lang="en-US">
              <a:latin typeface="Helvetica"/>
            </a:endParaRPr>
          </a:p>
        </p:txBody>
      </p:sp>
      <p:sp>
        <p:nvSpPr>
          <p:cNvPr id="1608591859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848349133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948132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F7FC7D05-D70C-4688-A6EC-0CAD37F60868}" type="slidenum">
              <a:rPr lang="en-US">
                <a:latin typeface="Helvetica"/>
              </a:rPr>
              <a:t>51</a:t>
            </a:fld>
            <a:endParaRPr lang="en-US">
              <a:latin typeface="Helvetica"/>
            </a:endParaRPr>
          </a:p>
        </p:txBody>
      </p:sp>
      <p:sp>
        <p:nvSpPr>
          <p:cNvPr id="1909509904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144015741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370623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A5384F79-FBB8-4CF0-ACB5-B2C4E81F4BD7}" type="slidenum">
              <a:rPr lang="en-US">
                <a:latin typeface="Helvetica"/>
              </a:rPr>
              <a:t>52</a:t>
            </a:fld>
            <a:endParaRPr lang="en-US">
              <a:latin typeface="Helvetica"/>
            </a:endParaRPr>
          </a:p>
        </p:txBody>
      </p:sp>
      <p:sp>
        <p:nvSpPr>
          <p:cNvPr id="1856354503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941576454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913111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046DE1FD-0744-4729-8EA7-07AB55511A72}" type="slidenum">
              <a:rPr lang="en-US">
                <a:latin typeface="Helvetica"/>
              </a:rPr>
              <a:t>53</a:t>
            </a:fld>
            <a:endParaRPr lang="en-US">
              <a:latin typeface="Helvetica"/>
            </a:endParaRPr>
          </a:p>
        </p:txBody>
      </p:sp>
      <p:sp>
        <p:nvSpPr>
          <p:cNvPr id="356364499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46680733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802257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77F09621-5A44-4CBF-82F9-AF59D7D29429}" type="slidenum">
              <a:rPr lang="en-US">
                <a:latin typeface="Helvetica"/>
              </a:rPr>
              <a:t>54</a:t>
            </a:fld>
            <a:endParaRPr lang="en-US">
              <a:latin typeface="Helvetica"/>
            </a:endParaRPr>
          </a:p>
        </p:txBody>
      </p:sp>
      <p:sp>
        <p:nvSpPr>
          <p:cNvPr id="673673567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910567392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D02266D-BF9C-05FF-7414-6097EFC6E3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523346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CC124DD7-701B-4C62-BB67-32CAEE595173}" type="slidenum">
              <a:rPr lang="en-US">
                <a:latin typeface="Helvetica"/>
              </a:rPr>
              <a:t>56</a:t>
            </a:fld>
            <a:endParaRPr lang="en-US">
              <a:latin typeface="Helvetica"/>
            </a:endParaRPr>
          </a:p>
        </p:txBody>
      </p:sp>
      <p:sp>
        <p:nvSpPr>
          <p:cNvPr id="2048932593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956942198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959703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5AF1AA22-768A-4441-B4A7-7B9EE0F1CEA2}" type="slidenum">
              <a:rPr lang="en-US">
                <a:latin typeface="Helvetica"/>
              </a:rPr>
              <a:t>57</a:t>
            </a:fld>
            <a:endParaRPr lang="en-US">
              <a:latin typeface="Helvetica"/>
            </a:endParaRPr>
          </a:p>
        </p:txBody>
      </p:sp>
      <p:sp>
        <p:nvSpPr>
          <p:cNvPr id="150650638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2116857443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7828365" name="Rectangle 7"/>
          <p:cNvSpPr txBox="1">
            <a:spLocks noChangeArrowheads="1" noGrp="1"/>
          </p:cNvSpPr>
          <p:nvPr/>
        </p:nvSpPr>
        <p:spPr bwMode="auto">
          <a:xfrm>
            <a:off x="3973512" y="8853488"/>
            <a:ext cx="3055937" cy="457200"/>
          </a:xfrm>
          <a:prstGeom prst="rect">
            <a:avLst/>
          </a:prstGeom>
          <a:noFill/>
          <a:ln>
            <a:noFill/>
          </a:ln>
        </p:spPr>
        <p:txBody>
          <a:bodyPr wrap="none" lIns="91604" tIns="45801" rIns="91604" bIns="45801" anchor="b"/>
          <a:lstStyle>
            <a:lvl1pPr defTabSz="898525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898525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898525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898525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898525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898525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898525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898525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898525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 algn="r">
              <a:defRPr/>
            </a:pPr>
            <a:fld id="{4F87849D-3357-408B-BE81-D941B68A9C17}" type="slidenum">
              <a:rPr lang="en-US" sz="1200">
                <a:latin typeface="Helvetica"/>
              </a:rPr>
              <a:t>58</a:t>
            </a:fld>
            <a:endParaRPr lang="en-US" sz="1200">
              <a:latin typeface="Helvetica"/>
            </a:endParaRPr>
          </a:p>
        </p:txBody>
      </p:sp>
      <p:sp>
        <p:nvSpPr>
          <p:cNvPr id="496990629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043138262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4542935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87116B57-7969-4071-A746-9D77D5F1E3CB}" type="slidenum">
              <a:rPr lang="en-US">
                <a:latin typeface="Helvetica"/>
              </a:rPr>
              <a:t>59</a:t>
            </a:fld>
            <a:endParaRPr lang="en-US">
              <a:latin typeface="Helvetica"/>
            </a:endParaRPr>
          </a:p>
        </p:txBody>
      </p:sp>
      <p:sp>
        <p:nvSpPr>
          <p:cNvPr id="1235893147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223293566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323102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B16A8B9C-1E5D-4E07-B8D8-9FCDFD426338}" type="slidenum">
              <a:rPr lang="en-US">
                <a:latin typeface="Helvetica"/>
              </a:rPr>
              <a:t>60</a:t>
            </a:fld>
            <a:endParaRPr lang="en-US">
              <a:latin typeface="Helvetica"/>
            </a:endParaRPr>
          </a:p>
        </p:txBody>
      </p:sp>
      <p:sp>
        <p:nvSpPr>
          <p:cNvPr id="1643435822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1418941974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2815232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278697333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04055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12B12ED1-C80C-4561-A421-39FDA9B078BC}" type="slidenum">
              <a:rPr lang="en-US">
                <a:latin typeface="Helvetica"/>
              </a:rPr>
              <a:t>62</a:t>
            </a:fld>
            <a:endParaRPr lang="en-US">
              <a:latin typeface="Helvetica"/>
            </a:endParaRPr>
          </a:p>
        </p:txBody>
      </p:sp>
      <p:sp>
        <p:nvSpPr>
          <p:cNvPr id="987652899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247405938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9374643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prstGeom prst="rect">
            <a:avLst/>
          </a:prstGeom>
          <a:noFill/>
          <a:ln/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 defTabSz="912813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fld id="{1FD05454-0887-49D1-BB79-E16982FE9E04}" type="slidenum">
              <a:rPr lang="en-US">
                <a:latin typeface="Helvetica"/>
              </a:rPr>
              <a:t>63</a:t>
            </a:fld>
            <a:endParaRPr lang="en-US">
              <a:latin typeface="Helvetica"/>
            </a:endParaRPr>
          </a:p>
        </p:txBody>
      </p:sp>
      <p:sp>
        <p:nvSpPr>
          <p:cNvPr id="706060599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ln/>
        </p:spPr>
      </p:sp>
      <p:sp>
        <p:nvSpPr>
          <p:cNvPr id="255034087" name="Rectangle 3"/>
          <p:cNvSpPr>
            <a:spLocks noChangeArrowheads="1" noGrp="1"/>
          </p:cNvSpPr>
          <p:nvPr>
            <p:ph type="body" idx="1"/>
          </p:nvPr>
        </p:nvSpPr>
        <p:spPr bwMode="auto">
          <a:prstGeom prst="rect">
            <a:avLst/>
          </a:prstGeom>
          <a:noFill/>
          <a:ln/>
        </p:spPr>
        <p:txBody>
          <a:bodyPr/>
          <a:lstStyle/>
          <a:p>
            <a:pPr>
              <a:defRPr/>
            </a:pPr>
            <a:endParaRPr lang="en-US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3031108" name="Group 3"/>
          <p:cNvGrpSpPr/>
          <p:nvPr/>
        </p:nvGrpSpPr>
        <p:grpSpPr bwMode="auto">
          <a:xfrm>
            <a:off x="198438" y="2960688"/>
            <a:ext cx="8610600" cy="201612"/>
            <a:chOff x="125" y="1865"/>
            <a:chExt cx="5424" cy="127"/>
          </a:xfrm>
        </p:grpSpPr>
        <p:sp>
          <p:nvSpPr>
            <p:cNvPr id="4" name="Rectangle 4"/>
            <p:cNvSpPr>
              <a:spLocks noChangeArrowheads="1"/>
            </p:cNvSpPr>
            <p:nvPr/>
          </p:nvSpPr>
          <p:spPr bwMode="auto">
            <a:xfrm>
              <a:off x="125" y="1865"/>
              <a:ext cx="1808" cy="127"/>
            </a:xfrm>
            <a:prstGeom prst="rect">
              <a:avLst/>
            </a:prstGeom>
            <a:solidFill>
              <a:srgbClr val="336699"/>
            </a:solidFill>
            <a:ln>
              <a:noFill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5pPr>
              <a:lvl6pPr marL="2514600" indent="-228600">
                <a:spcBef>
                  <a:spcPts val="0"/>
                </a:spcBef>
                <a:spcAft>
                  <a:spcPts val="0"/>
                </a:spcAft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6pPr>
              <a:lvl7pPr marL="2971800" indent="-228600">
                <a:spcBef>
                  <a:spcPts val="0"/>
                </a:spcBef>
                <a:spcAft>
                  <a:spcPts val="0"/>
                </a:spcAft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7pPr>
              <a:lvl8pPr marL="3429000" indent="-228600">
                <a:spcBef>
                  <a:spcPts val="0"/>
                </a:spcBef>
                <a:spcAft>
                  <a:spcPts val="0"/>
                </a:spcAft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8pPr>
              <a:lvl9pPr marL="3886200" indent="-228600">
                <a:spcBef>
                  <a:spcPts val="0"/>
                </a:spcBef>
                <a:spcAft>
                  <a:spcPts val="0"/>
                </a:spcAft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9pPr>
            </a:lstStyle>
            <a:p>
              <a:pPr>
                <a:defRPr/>
              </a:pPr>
              <a:endParaRPr lang="en-US"/>
            </a:p>
          </p:txBody>
        </p:sp>
        <p:sp>
          <p:nvSpPr>
            <p:cNvPr id="5" name="Rectangle 5"/>
            <p:cNvSpPr>
              <a:spLocks noChangeArrowheads="1"/>
            </p:cNvSpPr>
            <p:nvPr/>
          </p:nvSpPr>
          <p:spPr bwMode="auto">
            <a:xfrm>
              <a:off x="1933" y="1865"/>
              <a:ext cx="1808" cy="127"/>
            </a:xfrm>
            <a:prstGeom prst="rect">
              <a:avLst/>
            </a:prstGeom>
            <a:solidFill>
              <a:srgbClr val="99CCFF"/>
            </a:solidFill>
            <a:ln>
              <a:noFill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5pPr>
              <a:lvl6pPr marL="2514600" indent="-228600">
                <a:spcBef>
                  <a:spcPts val="0"/>
                </a:spcBef>
                <a:spcAft>
                  <a:spcPts val="0"/>
                </a:spcAft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6pPr>
              <a:lvl7pPr marL="2971800" indent="-228600">
                <a:spcBef>
                  <a:spcPts val="0"/>
                </a:spcBef>
                <a:spcAft>
                  <a:spcPts val="0"/>
                </a:spcAft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7pPr>
              <a:lvl8pPr marL="3429000" indent="-228600">
                <a:spcBef>
                  <a:spcPts val="0"/>
                </a:spcBef>
                <a:spcAft>
                  <a:spcPts val="0"/>
                </a:spcAft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8pPr>
              <a:lvl9pPr marL="3886200" indent="-228600">
                <a:spcBef>
                  <a:spcPts val="0"/>
                </a:spcBef>
                <a:spcAft>
                  <a:spcPts val="0"/>
                </a:spcAft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9pPr>
            </a:lstStyle>
            <a:p>
              <a:pPr>
                <a:defRPr/>
              </a:pPr>
              <a:endParaRPr lang="en-US"/>
            </a:p>
          </p:txBody>
        </p:sp>
        <p:sp>
          <p:nvSpPr>
            <p:cNvPr id="6" name="Rectangle 6"/>
            <p:cNvSpPr>
              <a:spLocks noChangeArrowheads="1"/>
            </p:cNvSpPr>
            <p:nvPr/>
          </p:nvSpPr>
          <p:spPr bwMode="auto">
            <a:xfrm>
              <a:off x="3741" y="1865"/>
              <a:ext cx="1808" cy="127"/>
            </a:xfrm>
            <a:prstGeom prst="rect">
              <a:avLst/>
            </a:prstGeom>
            <a:solidFill>
              <a:srgbClr val="336699"/>
            </a:solidFill>
            <a:ln>
              <a:noFill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5pPr>
              <a:lvl6pPr marL="2514600" indent="-228600">
                <a:spcBef>
                  <a:spcPts val="0"/>
                </a:spcBef>
                <a:spcAft>
                  <a:spcPts val="0"/>
                </a:spcAft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6pPr>
              <a:lvl7pPr marL="2971800" indent="-228600">
                <a:spcBef>
                  <a:spcPts val="0"/>
                </a:spcBef>
                <a:spcAft>
                  <a:spcPts val="0"/>
                </a:spcAft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7pPr>
              <a:lvl8pPr marL="3429000" indent="-228600">
                <a:spcBef>
                  <a:spcPts val="0"/>
                </a:spcBef>
                <a:spcAft>
                  <a:spcPts val="0"/>
                </a:spcAft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8pPr>
              <a:lvl9pPr marL="3886200" indent="-228600">
                <a:spcBef>
                  <a:spcPts val="0"/>
                </a:spcBef>
                <a:spcAft>
                  <a:spcPts val="0"/>
                </a:spcAft>
                <a:defRPr>
                  <a:solidFill>
                    <a:schemeClr val="tx1"/>
                  </a:solidFill>
                  <a:latin typeface="Verdana"/>
                  <a:ea typeface="MS PGothic"/>
                </a:defRPr>
              </a:lvl9pPr>
            </a:lstStyle>
            <a:p>
              <a:pPr>
                <a:defRPr/>
              </a:pPr>
              <a:endParaRPr lang="en-US"/>
            </a:p>
          </p:txBody>
        </p:sp>
      </p:grpSp>
      <p:sp>
        <p:nvSpPr>
          <p:cNvPr id="2112280476" name="Text Box 7"/>
          <p:cNvSpPr txBox="1">
            <a:spLocks noChangeArrowheads="1"/>
          </p:cNvSpPr>
          <p:nvPr/>
        </p:nvSpPr>
        <p:spPr bwMode="auto">
          <a:xfrm>
            <a:off x="6489700" y="6588125"/>
            <a:ext cx="2713038" cy="2444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 algn="ctr">
              <a:spcBef>
                <a:spcPts val="0"/>
              </a:spcBef>
              <a:defRPr/>
            </a:pPr>
            <a:r>
              <a:rPr lang="en-US" sz="1000" b="1">
                <a:solidFill>
                  <a:srgbClr val="336699"/>
                </a:solidFill>
                <a:latin typeface="Helvetica"/>
              </a:rPr>
              <a:t>Silberschatz, Galvin and Gagne ©2018</a:t>
            </a:r>
            <a:endParaRPr/>
          </a:p>
        </p:txBody>
      </p:sp>
      <p:sp>
        <p:nvSpPr>
          <p:cNvPr id="347931042" name="Text Box 8"/>
          <p:cNvSpPr txBox="1">
            <a:spLocks noChangeArrowheads="1"/>
          </p:cNvSpPr>
          <p:nvPr/>
        </p:nvSpPr>
        <p:spPr bwMode="auto">
          <a:xfrm>
            <a:off x="26988" y="6613525"/>
            <a:ext cx="2730500" cy="2460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spcBef>
                <a:spcPts val="0"/>
              </a:spcBef>
              <a:defRPr/>
            </a:pPr>
            <a:r>
              <a:rPr lang="en-US" sz="1000" b="1">
                <a:solidFill>
                  <a:srgbClr val="336699"/>
                </a:solidFill>
                <a:latin typeface="Helvetica"/>
              </a:rPr>
              <a:t>Operating System Concepts – 10</a:t>
            </a:r>
            <a:r>
              <a:rPr lang="en-US" sz="1000" b="1" baseline="30000">
                <a:solidFill>
                  <a:srgbClr val="336699"/>
                </a:solidFill>
                <a:latin typeface="Helvetica"/>
              </a:rPr>
              <a:t>th</a:t>
            </a:r>
            <a:r>
              <a:rPr lang="en-US" sz="1000" b="1">
                <a:solidFill>
                  <a:srgbClr val="336699"/>
                </a:solidFill>
                <a:latin typeface="Helvetica"/>
              </a:rPr>
              <a:t> Edition</a:t>
            </a:r>
            <a:endParaRPr/>
          </a:p>
        </p:txBody>
      </p:sp>
      <p:pic>
        <p:nvPicPr>
          <p:cNvPr id="1472023582" name="Picture 9" descr="dino_4"/>
          <p:cNvPicPr>
            <a:picLocks noChangeAspect="1" noChangeArrowheads="1"/>
          </p:cNvPicPr>
          <p:nvPr/>
        </p:nvPicPr>
        <p:blipFill rotWithShape="1">
          <a:blip r:embed="rId2"/>
          <a:stretch/>
        </p:blipFill>
        <p:spPr bwMode="auto">
          <a:xfrm>
            <a:off x="3360738" y="4157663"/>
            <a:ext cx="2062162" cy="1593850"/>
          </a:xfrm>
          <a:prstGeom prst="rect">
            <a:avLst/>
          </a:prstGeom>
          <a:noFill/>
          <a:ln w="76200">
            <a:solidFill>
              <a:srgbClr val="336699"/>
            </a:solidFill>
            <a:miter lim="800000"/>
            <a:headEnd/>
            <a:tailEnd/>
          </a:ln>
        </p:spPr>
      </p:pic>
      <p:sp>
        <p:nvSpPr>
          <p:cNvPr id="1653795127" name="Rectangle 10"/>
          <p:cNvSpPr>
            <a:spLocks noChangeArrowheads="1"/>
          </p:cNvSpPr>
          <p:nvPr/>
        </p:nvSpPr>
        <p:spPr bwMode="auto">
          <a:xfrm>
            <a:off x="3224213" y="4006850"/>
            <a:ext cx="2336800" cy="1887538"/>
          </a:xfrm>
          <a:prstGeom prst="rect">
            <a:avLst/>
          </a:prstGeom>
          <a:noFill/>
          <a:ln w="57150" cmpd="thinThick">
            <a:solidFill>
              <a:srgbClr val="66CCFF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784821909" name="Rectangle 2"/>
          <p:cNvSpPr>
            <a:spLocks noChangeArrowheads="1" noGrp="1"/>
          </p:cNvSpPr>
          <p:nvPr>
            <p:ph type="ctrTitle"/>
          </p:nvPr>
        </p:nvSpPr>
        <p:spPr bwMode="auto">
          <a:xfrm>
            <a:off x="685800" y="685800"/>
            <a:ext cx="7772400" cy="2127250"/>
          </a:xfrm>
        </p:spPr>
        <p:txBody>
          <a:bodyPr/>
          <a:lstStyle>
            <a:lvl1pPr>
              <a:defRPr sz="43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9990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0198411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38074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9583038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84745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31365122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06450" y="1233488"/>
            <a:ext cx="40386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4502509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997450" y="1233488"/>
            <a:ext cx="40386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7424614" name="Titl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13758535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6699480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9890909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4302690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9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9807288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92956748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73653324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5825363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879719060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en-US"/>
          </a:p>
        </p:txBody>
      </p:sp>
      <p:sp>
        <p:nvSpPr>
          <p:cNvPr id="94898772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5680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08594553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652652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891338" y="277813"/>
            <a:ext cx="2144712" cy="5486400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18282167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7813"/>
            <a:ext cx="6281738" cy="5486400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04544028" name="Picture 2" descr="dino_3"/>
          <p:cNvPicPr>
            <a:picLocks noChangeAspect="1" noChangeArrowheads="1"/>
          </p:cNvPicPr>
          <p:nvPr/>
        </p:nvPicPr>
        <p:blipFill rotWithShape="1">
          <a:blip r:embed="rId13"/>
          <a:stretch/>
        </p:blipFill>
        <p:spPr bwMode="auto">
          <a:xfrm>
            <a:off x="285750" y="0"/>
            <a:ext cx="1195388" cy="9080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9783896" name="Rectangle 3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33853"/>
            <a:ext cx="8229600" cy="57626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/>
          </a:bodyPr>
          <a:lstStyle/>
          <a:p>
            <a:pPr lvl="0"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11927478" name="Rectangle 4"/>
          <p:cNvSpPr>
            <a:spLocks noChangeArrowheads="1" noGrp="1"/>
          </p:cNvSpPr>
          <p:nvPr>
            <p:ph type="body" idx="1"/>
          </p:nvPr>
        </p:nvSpPr>
        <p:spPr bwMode="auto">
          <a:xfrm>
            <a:off x="806450" y="1233488"/>
            <a:ext cx="7727950" cy="45307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036254622" name="Rectangle 5"/>
          <p:cNvSpPr>
            <a:spLocks noChangeArrowheads="1"/>
          </p:cNvSpPr>
          <p:nvPr/>
        </p:nvSpPr>
        <p:spPr bwMode="auto">
          <a:xfrm>
            <a:off x="0" y="0"/>
            <a:ext cx="228600" cy="2286000"/>
          </a:xfrm>
          <a:prstGeom prst="rect">
            <a:avLst/>
          </a:prstGeom>
          <a:solidFill>
            <a:srgbClr val="336699"/>
          </a:solidFill>
          <a:ln>
            <a:noFill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 algn="ctr">
              <a:defRPr/>
            </a:pPr>
            <a:endParaRPr lang="en-US" sz="2400">
              <a:latin typeface="Times New Roman"/>
            </a:endParaRPr>
          </a:p>
        </p:txBody>
      </p:sp>
      <p:sp>
        <p:nvSpPr>
          <p:cNvPr id="17317256" name="Line 6"/>
          <p:cNvSpPr>
            <a:spLocks noChangeShapeType="1"/>
          </p:cNvSpPr>
          <p:nvPr/>
        </p:nvSpPr>
        <p:spPr bwMode="auto">
          <a:xfrm>
            <a:off x="457200" y="860425"/>
            <a:ext cx="8077200" cy="0"/>
          </a:xfrm>
          <a:prstGeom prst="line">
            <a:avLst/>
          </a:prstGeom>
          <a:noFill/>
          <a:ln w="19050">
            <a:solidFill>
              <a:srgbClr val="336699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1045533" name="Rectangle 7"/>
          <p:cNvSpPr>
            <a:spLocks noChangeArrowheads="1"/>
          </p:cNvSpPr>
          <p:nvPr/>
        </p:nvSpPr>
        <p:spPr bwMode="auto">
          <a:xfrm>
            <a:off x="0" y="2286000"/>
            <a:ext cx="228600" cy="2286000"/>
          </a:xfrm>
          <a:prstGeom prst="rect">
            <a:avLst/>
          </a:prstGeom>
          <a:solidFill>
            <a:srgbClr val="99CCFF"/>
          </a:solidFill>
          <a:ln>
            <a:noFill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 algn="ctr">
              <a:defRPr/>
            </a:pPr>
            <a:endParaRPr lang="en-US" sz="2400">
              <a:latin typeface="Times New Roman"/>
            </a:endParaRPr>
          </a:p>
        </p:txBody>
      </p:sp>
      <p:sp>
        <p:nvSpPr>
          <p:cNvPr id="734041997" name="Rectangle 8"/>
          <p:cNvSpPr>
            <a:spLocks noChangeArrowheads="1"/>
          </p:cNvSpPr>
          <p:nvPr/>
        </p:nvSpPr>
        <p:spPr bwMode="auto">
          <a:xfrm>
            <a:off x="0" y="4572000"/>
            <a:ext cx="228600" cy="2286000"/>
          </a:xfrm>
          <a:prstGeom prst="rect">
            <a:avLst/>
          </a:prstGeom>
          <a:solidFill>
            <a:srgbClr val="336699"/>
          </a:solidFill>
          <a:ln>
            <a:noFill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 algn="ctr">
              <a:defRPr/>
            </a:pPr>
            <a:endParaRPr lang="en-US" sz="2400">
              <a:latin typeface="Times New Roman"/>
            </a:endParaRPr>
          </a:p>
        </p:txBody>
      </p:sp>
      <p:sp>
        <p:nvSpPr>
          <p:cNvPr id="1899010195" name="Text Box 9"/>
          <p:cNvSpPr txBox="1">
            <a:spLocks noChangeArrowheads="1"/>
          </p:cNvSpPr>
          <p:nvPr/>
        </p:nvSpPr>
        <p:spPr bwMode="auto">
          <a:xfrm>
            <a:off x="4256088" y="6613525"/>
            <a:ext cx="447675" cy="2460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 algn="ctr">
              <a:spcBef>
                <a:spcPts val="0"/>
              </a:spcBef>
              <a:defRPr/>
            </a:pPr>
            <a:r>
              <a:rPr lang="en-US" sz="1000" b="1">
                <a:solidFill>
                  <a:srgbClr val="006699"/>
                </a:solidFill>
                <a:latin typeface="Helvetica"/>
              </a:rPr>
              <a:t>4.</a:t>
            </a:r>
            <a:fld id="{B8C59114-2645-4608-9BE9-5C330A595960}" type="slidenum">
              <a:rPr lang="en-US" sz="1000" b="1">
                <a:solidFill>
                  <a:srgbClr val="006699"/>
                </a:solidFill>
                <a:latin typeface="Helvetica"/>
              </a:rPr>
              <a:t>‹#›</a:t>
            </a:fld>
            <a:endParaRPr lang="en-US" sz="1000" b="1">
              <a:solidFill>
                <a:srgbClr val="006699"/>
              </a:solidFill>
              <a:latin typeface="Helvetica"/>
            </a:endParaRPr>
          </a:p>
        </p:txBody>
      </p:sp>
      <p:sp>
        <p:nvSpPr>
          <p:cNvPr id="1815499645" name="Text Box 10"/>
          <p:cNvSpPr txBox="1">
            <a:spLocks noChangeArrowheads="1"/>
          </p:cNvSpPr>
          <p:nvPr/>
        </p:nvSpPr>
        <p:spPr bwMode="auto">
          <a:xfrm>
            <a:off x="6489700" y="6588125"/>
            <a:ext cx="2713038" cy="2444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 algn="ctr">
              <a:spcBef>
                <a:spcPts val="0"/>
              </a:spcBef>
              <a:defRPr/>
            </a:pPr>
            <a:r>
              <a:rPr lang="en-US" sz="1000" b="1">
                <a:solidFill>
                  <a:srgbClr val="006699"/>
                </a:solidFill>
                <a:latin typeface="Helvetica"/>
              </a:rPr>
              <a:t>Silberschatz, Galvin and Gagne ©2018</a:t>
            </a:r>
            <a:endParaRPr/>
          </a:p>
        </p:txBody>
      </p:sp>
      <p:sp>
        <p:nvSpPr>
          <p:cNvPr id="90609141" name="Text Box 11"/>
          <p:cNvSpPr txBox="1">
            <a:spLocks noChangeArrowheads="1"/>
          </p:cNvSpPr>
          <p:nvPr/>
        </p:nvSpPr>
        <p:spPr bwMode="auto">
          <a:xfrm>
            <a:off x="185738" y="6621462"/>
            <a:ext cx="2730500" cy="24606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/>
                <a:ea typeface="MS PGothic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/>
                <a:ea typeface="MS PGothic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Verdana"/>
                <a:ea typeface="MS PGothic"/>
              </a:defRPr>
            </a:lvl9pPr>
          </a:lstStyle>
          <a:p>
            <a:pPr>
              <a:spcBef>
                <a:spcPts val="0"/>
              </a:spcBef>
              <a:defRPr/>
            </a:pPr>
            <a:r>
              <a:rPr lang="en-US" sz="1000" b="1">
                <a:solidFill>
                  <a:srgbClr val="006699"/>
                </a:solidFill>
                <a:latin typeface="Helvetica"/>
              </a:rPr>
              <a:t>Operating System Concepts – 10</a:t>
            </a:r>
            <a:r>
              <a:rPr lang="en-US" sz="1000" b="1" baseline="30000">
                <a:solidFill>
                  <a:srgbClr val="006699"/>
                </a:solidFill>
                <a:latin typeface="Helvetica"/>
              </a:rPr>
              <a:t>th</a:t>
            </a:r>
            <a:r>
              <a:rPr lang="en-US" sz="1000" b="1">
                <a:solidFill>
                  <a:srgbClr val="006699"/>
                </a:solidFill>
                <a:latin typeface="Helvetica"/>
              </a:rPr>
              <a:t> Edition</a:t>
            </a:r>
            <a:endParaRPr/>
          </a:p>
        </p:txBody>
      </p:sp>
      <p:pic>
        <p:nvPicPr>
          <p:cNvPr id="1933599387" name="Picture 12" descr="dino_6"/>
          <p:cNvPicPr>
            <a:picLocks noChangeAspect="1" noChangeArrowheads="1"/>
          </p:cNvPicPr>
          <p:nvPr/>
        </p:nvPicPr>
        <p:blipFill rotWithShape="1">
          <a:blip r:embed="rId14"/>
          <a:stretch/>
        </p:blipFill>
        <p:spPr bwMode="auto">
          <a:xfrm>
            <a:off x="7773988" y="5849938"/>
            <a:ext cx="1284287" cy="7921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>
        <a:spcBef>
          <a:spcPts val="0"/>
        </a:spcBef>
        <a:spcAft>
          <a:spcPts val="0"/>
        </a:spcAft>
        <a:defRPr sz="3200" b="1">
          <a:solidFill>
            <a:srgbClr val="006699"/>
          </a:solidFill>
          <a:latin typeface="+mj-lt"/>
          <a:ea typeface="MS PGothic"/>
          <a:cs typeface="MS PGothic"/>
        </a:defRPr>
      </a:lvl1pPr>
      <a:lvl2pPr algn="ctr" rtl="0">
        <a:spcBef>
          <a:spcPts val="0"/>
        </a:spcBef>
        <a:spcAft>
          <a:spcPts val="0"/>
        </a:spcAft>
        <a:defRPr sz="3200" b="1">
          <a:solidFill>
            <a:srgbClr val="006699"/>
          </a:solidFill>
          <a:latin typeface="Arial"/>
          <a:ea typeface="MS PGothic"/>
          <a:cs typeface="MS PGothic"/>
        </a:defRPr>
      </a:lvl2pPr>
      <a:lvl3pPr algn="ctr" rtl="0">
        <a:spcBef>
          <a:spcPts val="0"/>
        </a:spcBef>
        <a:spcAft>
          <a:spcPts val="0"/>
        </a:spcAft>
        <a:defRPr sz="3200" b="1">
          <a:solidFill>
            <a:srgbClr val="006699"/>
          </a:solidFill>
          <a:latin typeface="Arial"/>
          <a:ea typeface="MS PGothic"/>
          <a:cs typeface="MS PGothic"/>
        </a:defRPr>
      </a:lvl3pPr>
      <a:lvl4pPr algn="ctr" rtl="0">
        <a:spcBef>
          <a:spcPts val="0"/>
        </a:spcBef>
        <a:spcAft>
          <a:spcPts val="0"/>
        </a:spcAft>
        <a:defRPr sz="3200" b="1">
          <a:solidFill>
            <a:srgbClr val="006699"/>
          </a:solidFill>
          <a:latin typeface="Arial"/>
          <a:ea typeface="MS PGothic"/>
          <a:cs typeface="MS PGothic"/>
        </a:defRPr>
      </a:lvl4pPr>
      <a:lvl5pPr algn="ctr" rtl="0">
        <a:spcBef>
          <a:spcPts val="0"/>
        </a:spcBef>
        <a:spcAft>
          <a:spcPts val="0"/>
        </a:spcAft>
        <a:defRPr sz="3200" b="1">
          <a:solidFill>
            <a:srgbClr val="006699"/>
          </a:solidFill>
          <a:latin typeface="Arial"/>
          <a:ea typeface="MS PGothic"/>
          <a:cs typeface="MS PGothic"/>
        </a:defRPr>
      </a:lvl5pPr>
      <a:lvl6pPr marL="457200" algn="ctr" rtl="0">
        <a:spcBef>
          <a:spcPts val="0"/>
        </a:spcBef>
        <a:spcAft>
          <a:spcPts val="0"/>
        </a:spcAft>
        <a:defRPr sz="3200" b="1">
          <a:solidFill>
            <a:srgbClr val="006699"/>
          </a:solidFill>
          <a:latin typeface="Arial"/>
        </a:defRPr>
      </a:lvl6pPr>
      <a:lvl7pPr marL="914400" algn="ctr" rtl="0">
        <a:spcBef>
          <a:spcPts val="0"/>
        </a:spcBef>
        <a:spcAft>
          <a:spcPts val="0"/>
        </a:spcAft>
        <a:defRPr sz="3200" b="1">
          <a:solidFill>
            <a:srgbClr val="006699"/>
          </a:solidFill>
          <a:latin typeface="Arial"/>
        </a:defRPr>
      </a:lvl7pPr>
      <a:lvl8pPr marL="1371600" algn="ctr" rtl="0">
        <a:spcBef>
          <a:spcPts val="0"/>
        </a:spcBef>
        <a:spcAft>
          <a:spcPts val="0"/>
        </a:spcAft>
        <a:defRPr sz="3200" b="1">
          <a:solidFill>
            <a:srgbClr val="006699"/>
          </a:solidFill>
          <a:latin typeface="Arial"/>
        </a:defRPr>
      </a:lvl8pPr>
      <a:lvl9pPr marL="1828800" algn="ctr" rtl="0">
        <a:spcBef>
          <a:spcPts val="0"/>
        </a:spcBef>
        <a:spcAft>
          <a:spcPts val="0"/>
        </a:spcAft>
        <a:defRPr sz="3200" b="1">
          <a:solidFill>
            <a:srgbClr val="006699"/>
          </a:solidFill>
          <a:latin typeface="Arial"/>
        </a:defRPr>
      </a:lvl9pPr>
    </p:titleStyle>
    <p:bodyStyle>
      <a:lvl1pPr marL="342900" indent="-342900" algn="l" rtl="0">
        <a:spcBef>
          <a:spcPts val="0"/>
        </a:spcBef>
        <a:spcAft>
          <a:spcPts val="0"/>
        </a:spcAft>
        <a:buClr>
          <a:srgbClr val="993300"/>
        </a:buClr>
        <a:buSzPct val="110000"/>
        <a:buFont typeface="Wingdings"/>
        <a:buChar char="§"/>
        <a:defRPr>
          <a:solidFill>
            <a:schemeClr val="tx1"/>
          </a:solidFill>
          <a:latin typeface="+mn-lt"/>
          <a:ea typeface="MS PGothic"/>
          <a:cs typeface="MS PGothic"/>
        </a:defRPr>
      </a:lvl1pPr>
      <a:lvl2pPr marL="742950" indent="-285750" algn="l" rtl="0">
        <a:spcBef>
          <a:spcPts val="0"/>
        </a:spcBef>
        <a:spcAft>
          <a:spcPts val="0"/>
        </a:spcAft>
        <a:buClr>
          <a:srgbClr val="CC6600"/>
        </a:buClr>
        <a:buSzPct val="110000"/>
        <a:buFont typeface="Arial"/>
        <a:buChar char="•"/>
        <a:defRPr>
          <a:solidFill>
            <a:schemeClr val="tx1"/>
          </a:solidFill>
          <a:latin typeface="+mn-lt"/>
          <a:ea typeface="MS PGothic"/>
        </a:defRPr>
      </a:lvl2pPr>
      <a:lvl3pPr marL="1085850" indent="-228600" algn="l" rtl="0">
        <a:spcBef>
          <a:spcPts val="0"/>
        </a:spcBef>
        <a:spcAft>
          <a:spcPts val="0"/>
        </a:spcAft>
        <a:buClr>
          <a:srgbClr val="009900"/>
        </a:buClr>
        <a:buSzPct val="75000"/>
        <a:buFont typeface="Webdings"/>
        <a:buChar char="4"/>
        <a:defRPr>
          <a:solidFill>
            <a:schemeClr val="tx1"/>
          </a:solidFill>
          <a:latin typeface="+mn-lt"/>
          <a:ea typeface="MS PGothic"/>
        </a:defRPr>
      </a:lvl3pPr>
      <a:lvl4pPr marL="1428750" indent="-228600" algn="l" rtl="0">
        <a:spcBef>
          <a:spcPts val="0"/>
        </a:spcBef>
        <a:spcAft>
          <a:spcPts val="0"/>
        </a:spcAft>
        <a:buClr>
          <a:schemeClr val="hlink"/>
        </a:buClr>
        <a:buSzPct val="75000"/>
        <a:buChar char="–"/>
        <a:defRPr>
          <a:solidFill>
            <a:schemeClr val="tx1"/>
          </a:solidFill>
          <a:latin typeface="+mn-lt"/>
          <a:ea typeface="MS PGothic"/>
        </a:defRPr>
      </a:lvl4pPr>
      <a:lvl5pPr marL="1771650" indent="-228600" algn="l" rtl="0">
        <a:spcBef>
          <a:spcPts val="0"/>
        </a:spcBef>
        <a:spcAft>
          <a:spcPts val="0"/>
        </a:spcAft>
        <a:buClr>
          <a:srgbClr val="FF0066"/>
        </a:buClr>
        <a:buSzPct val="75000"/>
        <a:buChar char="»"/>
        <a:defRPr>
          <a:solidFill>
            <a:schemeClr val="tx1"/>
          </a:solidFill>
          <a:latin typeface="+mn-lt"/>
          <a:ea typeface="MS PGothic"/>
        </a:defRPr>
      </a:lvl5pPr>
      <a:lvl6pPr marL="2228850" indent="-228600" algn="l" rtl="0">
        <a:spcBef>
          <a:spcPts val="0"/>
        </a:spcBef>
        <a:spcAft>
          <a:spcPts val="0"/>
        </a:spcAft>
        <a:buClr>
          <a:srgbClr val="FF0066"/>
        </a:buClr>
        <a:buSzPct val="75000"/>
        <a:buChar char="»"/>
        <a:defRPr>
          <a:solidFill>
            <a:schemeClr val="tx1"/>
          </a:solidFill>
          <a:latin typeface="+mn-lt"/>
          <a:ea typeface="ＭＳ Ｐゴシック"/>
        </a:defRPr>
      </a:lvl6pPr>
      <a:lvl7pPr marL="2686050" indent="-228600" algn="l" rtl="0">
        <a:spcBef>
          <a:spcPts val="0"/>
        </a:spcBef>
        <a:spcAft>
          <a:spcPts val="0"/>
        </a:spcAft>
        <a:buClr>
          <a:srgbClr val="FF0066"/>
        </a:buClr>
        <a:buSzPct val="75000"/>
        <a:buChar char="»"/>
        <a:defRPr>
          <a:solidFill>
            <a:schemeClr val="tx1"/>
          </a:solidFill>
          <a:latin typeface="+mn-lt"/>
          <a:ea typeface="ＭＳ Ｐゴシック"/>
        </a:defRPr>
      </a:lvl7pPr>
      <a:lvl8pPr marL="3143250" indent="-228600" algn="l" rtl="0">
        <a:spcBef>
          <a:spcPts val="0"/>
        </a:spcBef>
        <a:spcAft>
          <a:spcPts val="0"/>
        </a:spcAft>
        <a:buClr>
          <a:srgbClr val="FF0066"/>
        </a:buClr>
        <a:buSzPct val="75000"/>
        <a:buChar char="»"/>
        <a:defRPr>
          <a:solidFill>
            <a:schemeClr val="tx1"/>
          </a:solidFill>
          <a:latin typeface="+mn-lt"/>
          <a:ea typeface="ＭＳ Ｐゴシック"/>
        </a:defRPr>
      </a:lvl8pPr>
      <a:lvl9pPr marL="3600450" indent="-228600" algn="l" rtl="0">
        <a:spcBef>
          <a:spcPts val="0"/>
        </a:spcBef>
        <a:spcAft>
          <a:spcPts val="0"/>
        </a:spcAft>
        <a:buClr>
          <a:srgbClr val="FF0066"/>
        </a:buClr>
        <a:buSzPct val="75000"/>
        <a:buChar char="»"/>
        <a:defRPr>
          <a:solidFill>
            <a:schemeClr val="tx1"/>
          </a:solidFill>
          <a:latin typeface="+mn-lt"/>
          <a:ea typeface="ＭＳ Ｐゴシック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jp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jp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jp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jp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7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8.png"/><Relationship Id="rId4" Type="http://schemas.openxmlformats.org/officeDocument/2006/relationships/image" Target="../media/media1.sv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9.pn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0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1.pn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7.pn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8.pn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9.png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0.png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1.png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2.jpg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3.png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4.jpg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5.png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6.png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7.jpg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38.png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9.png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0.png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43.png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44.jpg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47.jpg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48.jpg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49.jpg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54911" name="Rectangle 2"/>
          <p:cNvSpPr>
            <a:spLocks noChangeArrowheads="1" noGrp="1"/>
          </p:cNvSpPr>
          <p:nvPr>
            <p:ph type="ctrTitle"/>
          </p:nvPr>
        </p:nvSpPr>
        <p:spPr bwMode="auto">
          <a:xfrm>
            <a:off x="685800" y="782638"/>
            <a:ext cx="7772400" cy="2127250"/>
          </a:xfrm>
        </p:spPr>
        <p:txBody>
          <a:bodyPr/>
          <a:lstStyle/>
          <a:p>
            <a:pPr>
              <a:defRPr/>
            </a:pPr>
            <a:r>
              <a:rPr lang="en-US"/>
              <a:t>Chapter 4:  Threads &amp; Concurrency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615152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24522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Outline</a:t>
            </a:r>
            <a:endParaRPr/>
          </a:p>
        </p:txBody>
      </p:sp>
      <p:sp>
        <p:nvSpPr>
          <p:cNvPr id="748454869" name="Rectangle 3"/>
          <p:cNvSpPr>
            <a:spLocks noChangeArrowheads="1"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Overview</a:t>
            </a:r>
            <a:endParaRPr/>
          </a:p>
          <a:p>
            <a:pPr>
              <a:defRPr/>
            </a:pPr>
            <a:r>
              <a:rPr lang="en-US"/>
              <a:t>Multicore Programming</a:t>
            </a:r>
            <a:endParaRPr/>
          </a:p>
          <a:p>
            <a:pPr>
              <a:defRPr/>
            </a:pPr>
            <a:r>
              <a:rPr lang="en-US"/>
              <a:t>Multithreading Models</a:t>
            </a:r>
            <a:endParaRPr/>
          </a:p>
          <a:p>
            <a:pPr>
              <a:defRPr/>
            </a:pPr>
            <a:r>
              <a:rPr lang="en-US"/>
              <a:t>Thread Libraries</a:t>
            </a:r>
            <a:endParaRPr/>
          </a:p>
          <a:p>
            <a:pPr>
              <a:defRPr/>
            </a:pPr>
            <a:r>
              <a:rPr lang="en-US"/>
              <a:t>Implicit Threading</a:t>
            </a:r>
            <a:endParaRPr/>
          </a:p>
          <a:p>
            <a:pPr>
              <a:defRPr/>
            </a:pPr>
            <a:r>
              <a:rPr lang="en-US"/>
              <a:t>Threading Issues</a:t>
            </a:r>
            <a:endParaRPr/>
          </a:p>
          <a:p>
            <a:pPr>
              <a:defRPr/>
            </a:pPr>
            <a:r>
              <a:rPr lang="en-US"/>
              <a:t>Operating System Examples</a:t>
            </a:r>
            <a:endParaRPr/>
          </a:p>
          <a:p>
            <a:pPr>
              <a:buFont typeface="Monotype Sorts"/>
              <a:buNone/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653765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Objectives</a:t>
            </a:r>
            <a:endParaRPr/>
          </a:p>
        </p:txBody>
      </p:sp>
      <p:sp>
        <p:nvSpPr>
          <p:cNvPr id="1416894803" name="Content Placeholder 2"/>
          <p:cNvSpPr>
            <a:spLocks noGrp="1"/>
          </p:cNvSpPr>
          <p:nvPr>
            <p:ph idx="1"/>
          </p:nvPr>
        </p:nvSpPr>
        <p:spPr bwMode="auto">
          <a:xfrm>
            <a:off x="806450" y="1233488"/>
            <a:ext cx="6940550" cy="4530725"/>
          </a:xfrm>
        </p:spPr>
        <p:txBody>
          <a:bodyPr/>
          <a:lstStyle/>
          <a:p>
            <a:pPr>
              <a:defRPr/>
            </a:pPr>
            <a:r>
              <a:rPr lang="en-US"/>
              <a:t>Identify the basic components of a thread, and contrast threads and processes</a:t>
            </a:r>
            <a:endParaRPr/>
          </a:p>
          <a:p>
            <a:pPr>
              <a:defRPr/>
            </a:pPr>
            <a:r>
              <a:rPr lang="en-US"/>
              <a:t>Describe the benefits and challenges of designng multithreaded applications</a:t>
            </a:r>
            <a:endParaRPr/>
          </a:p>
          <a:p>
            <a:pPr>
              <a:defRPr/>
            </a:pPr>
            <a:r>
              <a:rPr lang="en-US"/>
              <a:t>Illustrate different approaches to implicit threading including thread pools, fork-join, and Grand Central Dispatch</a:t>
            </a:r>
            <a:endParaRPr/>
          </a:p>
          <a:p>
            <a:pPr>
              <a:defRPr/>
            </a:pPr>
            <a:r>
              <a:rPr lang="en-US"/>
              <a:t>Describe how the Windows and Linux operating systems represent threads</a:t>
            </a:r>
            <a:endParaRPr/>
          </a:p>
          <a:p>
            <a:pPr>
              <a:defRPr/>
            </a:pPr>
            <a:r>
              <a:rPr lang="en-US"/>
              <a:t>Design multithreaded applications using the Pthreads, Java, and Windows threading APIs</a:t>
            </a:r>
            <a:endParaRPr/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805231" name="Title 1"/>
          <p:cNvSpPr>
            <a:spLocks noGrp="1"/>
          </p:cNvSpPr>
          <p:nvPr>
            <p:ph type="title"/>
          </p:nvPr>
        </p:nvSpPr>
        <p:spPr bwMode="auto">
          <a:xfrm>
            <a:off x="457200" y="222868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Motivation</a:t>
            </a:r>
            <a:endParaRPr/>
          </a:p>
        </p:txBody>
      </p:sp>
      <p:sp>
        <p:nvSpPr>
          <p:cNvPr id="1581522208" name="Content Placeholder 2"/>
          <p:cNvSpPr>
            <a:spLocks noGrp="1"/>
          </p:cNvSpPr>
          <p:nvPr>
            <p:ph idx="1"/>
          </p:nvPr>
        </p:nvSpPr>
        <p:spPr bwMode="auto">
          <a:xfrm>
            <a:off x="806450" y="1233488"/>
            <a:ext cx="6813550" cy="4530725"/>
          </a:xfrm>
        </p:spPr>
        <p:txBody>
          <a:bodyPr/>
          <a:lstStyle/>
          <a:p>
            <a:pPr>
              <a:defRPr/>
            </a:pPr>
            <a:r>
              <a:rPr lang="en-US"/>
              <a:t>Most modern applications are multithreaded</a:t>
            </a:r>
            <a:endParaRPr/>
          </a:p>
          <a:p>
            <a:pPr>
              <a:defRPr/>
            </a:pPr>
            <a:r>
              <a:rPr lang="en-US"/>
              <a:t>Threads run within application</a:t>
            </a:r>
            <a:endParaRPr/>
          </a:p>
          <a:p>
            <a:pPr>
              <a:defRPr/>
            </a:pPr>
            <a:r>
              <a:rPr lang="en-US"/>
              <a:t>Multiple tasks with the application can be implemented by separate threads</a:t>
            </a:r>
            <a:endParaRPr/>
          </a:p>
          <a:p>
            <a:pPr lvl="1">
              <a:defRPr/>
            </a:pPr>
            <a:r>
              <a:rPr lang="en-US"/>
              <a:t>Update display</a:t>
            </a:r>
            <a:endParaRPr/>
          </a:p>
          <a:p>
            <a:pPr lvl="1">
              <a:defRPr/>
            </a:pPr>
            <a:r>
              <a:rPr lang="en-US"/>
              <a:t>Fetch data</a:t>
            </a:r>
            <a:endParaRPr/>
          </a:p>
          <a:p>
            <a:pPr lvl="1">
              <a:defRPr/>
            </a:pPr>
            <a:r>
              <a:rPr lang="en-US"/>
              <a:t>Spell checking</a:t>
            </a:r>
            <a:endParaRPr/>
          </a:p>
          <a:p>
            <a:pPr lvl="1">
              <a:defRPr/>
            </a:pPr>
            <a:r>
              <a:rPr lang="en-US"/>
              <a:t>Answer a network request</a:t>
            </a:r>
            <a:endParaRPr/>
          </a:p>
          <a:p>
            <a:pPr>
              <a:defRPr/>
            </a:pPr>
            <a:r>
              <a:rPr lang="en-US"/>
              <a:t>Process creation is heavy-weight while thread creation is light-weight</a:t>
            </a:r>
            <a:endParaRPr/>
          </a:p>
          <a:p>
            <a:pPr>
              <a:defRPr/>
            </a:pPr>
            <a:r>
              <a:rPr lang="en-US"/>
              <a:t>Can simplify code, increase efficiency</a:t>
            </a:r>
            <a:endParaRPr/>
          </a:p>
          <a:p>
            <a:pPr>
              <a:defRPr/>
            </a:pPr>
            <a:r>
              <a:rPr lang="en-US"/>
              <a:t>Kernels are generally multithreaded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302920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749300" y="228830"/>
            <a:ext cx="8499475" cy="576262"/>
          </a:xfrm>
        </p:spPr>
        <p:txBody>
          <a:bodyPr/>
          <a:lstStyle/>
          <a:p>
            <a:pPr>
              <a:defRPr/>
            </a:pPr>
            <a:r>
              <a:rPr lang="en-US"/>
              <a:t>Single and Multithreaded Processes</a:t>
            </a:r>
            <a:endParaRPr/>
          </a:p>
        </p:txBody>
      </p:sp>
      <p:pic>
        <p:nvPicPr>
          <p:cNvPr id="1670808868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300" y="1282700"/>
            <a:ext cx="7626350" cy="4281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932424" name="Title 1"/>
          <p:cNvSpPr>
            <a:spLocks noGrp="1"/>
          </p:cNvSpPr>
          <p:nvPr>
            <p:ph type="title"/>
          </p:nvPr>
        </p:nvSpPr>
        <p:spPr bwMode="auto">
          <a:xfrm>
            <a:off x="885825" y="168870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Multithreaded Server Architecture</a:t>
            </a:r>
            <a:endParaRPr/>
          </a:p>
        </p:txBody>
      </p:sp>
      <p:pic>
        <p:nvPicPr>
          <p:cNvPr id="542540409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84200" y="2006600"/>
            <a:ext cx="7966075" cy="284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3690371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862013" y="481242"/>
            <a:ext cx="6951662" cy="312738"/>
          </a:xfrm>
        </p:spPr>
        <p:txBody>
          <a:bodyPr/>
          <a:lstStyle/>
          <a:p>
            <a:pPr>
              <a:defRPr/>
            </a:pPr>
            <a:r>
              <a:rPr lang="en-US"/>
              <a:t>Benefits</a:t>
            </a:r>
            <a:endParaRPr/>
          </a:p>
        </p:txBody>
      </p:sp>
      <p:sp>
        <p:nvSpPr>
          <p:cNvPr id="1145755580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06450" y="1233488"/>
            <a:ext cx="7207250" cy="4530725"/>
          </a:xfrm>
        </p:spPr>
        <p:txBody>
          <a:bodyPr/>
          <a:lstStyle/>
          <a:p>
            <a:pPr>
              <a:defRPr/>
            </a:pPr>
            <a:r>
              <a:rPr lang="en-US" b="1"/>
              <a:t>Responsiveness – </a:t>
            </a:r>
            <a:r>
              <a:rPr lang="en-US"/>
              <a:t>may allow continued execution if part of process is blocked, especially important for user interfaces</a:t>
            </a:r>
            <a:endParaRPr/>
          </a:p>
          <a:p>
            <a:pPr>
              <a:defRPr/>
            </a:pPr>
            <a:r>
              <a:rPr lang="en-US" b="1"/>
              <a:t>Resource Sharing – </a:t>
            </a:r>
            <a:r>
              <a:rPr lang="en-US"/>
              <a:t>threads share resources of process, easier than shared memory or message passing</a:t>
            </a:r>
            <a:endParaRPr/>
          </a:p>
          <a:p>
            <a:pPr>
              <a:defRPr/>
            </a:pPr>
            <a:r>
              <a:rPr lang="en-US" b="1"/>
              <a:t>Economy – </a:t>
            </a:r>
            <a:r>
              <a:rPr lang="en-US"/>
              <a:t>cheaper than process creation, thread switching lower overhead than context switching</a:t>
            </a:r>
            <a:endParaRPr/>
          </a:p>
          <a:p>
            <a:pPr>
              <a:defRPr/>
            </a:pPr>
            <a:r>
              <a:rPr lang="en-US" b="1"/>
              <a:t>Scalability – </a:t>
            </a:r>
            <a:r>
              <a:rPr lang="en-US"/>
              <a:t>process can take advantage of multicore architectures</a:t>
            </a:r>
            <a:br>
              <a:rPr lang="en-US"/>
            </a:br>
            <a:endParaRPr lang="en-US"/>
          </a:p>
          <a:p>
            <a:pPr>
              <a:defRPr/>
            </a:pPr>
            <a:endParaRPr lang="en-US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692179" name="Title 1"/>
          <p:cNvSpPr>
            <a:spLocks noGrp="1"/>
          </p:cNvSpPr>
          <p:nvPr>
            <p:ph type="title"/>
          </p:nvPr>
        </p:nvSpPr>
        <p:spPr bwMode="auto">
          <a:xfrm>
            <a:off x="1012825" y="222868"/>
            <a:ext cx="7673975" cy="576262"/>
          </a:xfrm>
        </p:spPr>
        <p:txBody>
          <a:bodyPr/>
          <a:lstStyle/>
          <a:p>
            <a:pPr>
              <a:defRPr/>
            </a:pPr>
            <a:r>
              <a:rPr lang="en-US"/>
              <a:t>Multicore Programming</a:t>
            </a:r>
            <a:endParaRPr/>
          </a:p>
        </p:txBody>
      </p:sp>
      <p:sp>
        <p:nvSpPr>
          <p:cNvPr id="406087193" name="Content Placeholder 2"/>
          <p:cNvSpPr>
            <a:spLocks noGrp="1"/>
          </p:cNvSpPr>
          <p:nvPr>
            <p:ph idx="1"/>
          </p:nvPr>
        </p:nvSpPr>
        <p:spPr bwMode="auto">
          <a:xfrm>
            <a:off x="808002" y="1208088"/>
            <a:ext cx="7723187" cy="4530725"/>
          </a:xfrm>
        </p:spPr>
        <p:txBody>
          <a:bodyPr/>
          <a:lstStyle/>
          <a:p>
            <a:pPr>
              <a:defRPr/>
            </a:pPr>
            <a:r>
              <a:rPr lang="en-US" b="1">
                <a:solidFill>
                  <a:srgbClr val="006699"/>
                </a:solidFill>
                <a:latin typeface="+mj-lt"/>
              </a:rPr>
              <a:t>Multicore</a:t>
            </a:r>
            <a:r>
              <a:rPr lang="en-US"/>
              <a:t> or </a:t>
            </a:r>
            <a:r>
              <a:rPr lang="en-US" b="1">
                <a:solidFill>
                  <a:srgbClr val="006699"/>
                </a:solidFill>
                <a:latin typeface="+mj-lt"/>
              </a:rPr>
              <a:t>multiprocessor</a:t>
            </a:r>
            <a:r>
              <a:rPr lang="en-US"/>
              <a:t> systems putting pressure on programmers, challenges include:</a:t>
            </a:r>
            <a:endParaRPr/>
          </a:p>
          <a:p>
            <a:pPr lvl="1">
              <a:defRPr/>
            </a:pPr>
            <a:r>
              <a:rPr lang="en-US" b="1"/>
              <a:t>Dividing activities</a:t>
            </a:r>
            <a:endParaRPr/>
          </a:p>
          <a:p>
            <a:pPr lvl="1">
              <a:defRPr/>
            </a:pPr>
            <a:r>
              <a:rPr lang="en-US" b="1"/>
              <a:t>Balance</a:t>
            </a:r>
            <a:endParaRPr/>
          </a:p>
          <a:p>
            <a:pPr lvl="1">
              <a:defRPr/>
            </a:pPr>
            <a:r>
              <a:rPr lang="en-US" b="1"/>
              <a:t>Data splitting</a:t>
            </a:r>
            <a:endParaRPr/>
          </a:p>
          <a:p>
            <a:pPr lvl="1">
              <a:defRPr/>
            </a:pPr>
            <a:r>
              <a:rPr lang="en-US" b="1"/>
              <a:t>Data dependency</a:t>
            </a:r>
            <a:endParaRPr/>
          </a:p>
          <a:p>
            <a:pPr lvl="1">
              <a:defRPr/>
            </a:pPr>
            <a:r>
              <a:rPr lang="en-US" b="1"/>
              <a:t>Testing and debugging</a:t>
            </a:r>
            <a:endParaRPr/>
          </a:p>
          <a:p>
            <a:pPr>
              <a:defRPr/>
            </a:pPr>
            <a:r>
              <a:rPr lang="en-US" b="1" i="1"/>
              <a:t>Parallelism</a:t>
            </a:r>
            <a:r>
              <a:rPr lang="en-US"/>
              <a:t> implies a system can perform more than one task simultaneously</a:t>
            </a:r>
            <a:endParaRPr/>
          </a:p>
          <a:p>
            <a:pPr>
              <a:defRPr/>
            </a:pPr>
            <a:r>
              <a:rPr lang="en-US" b="1" i="1"/>
              <a:t>Concurrency</a:t>
            </a:r>
            <a:r>
              <a:rPr lang="en-US"/>
              <a:t> supports more than one task making progress</a:t>
            </a:r>
            <a:endParaRPr/>
          </a:p>
          <a:p>
            <a:pPr lvl="1">
              <a:defRPr/>
            </a:pPr>
            <a:r>
              <a:rPr lang="en-US"/>
              <a:t>Single processor / core, scheduler providing concurrency</a:t>
            </a:r>
            <a:endParaRPr/>
          </a:p>
          <a:p>
            <a:pPr lvl="1">
              <a:buFont typeface="Monotype Sorts"/>
              <a:buNone/>
              <a:defRPr/>
            </a:pPr>
            <a:endParaRPr lang="en-US"/>
          </a:p>
          <a:p>
            <a:pPr lvl="1">
              <a:buFont typeface="Monotype Sorts"/>
              <a:buNone/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9278291" name="Title 1"/>
          <p:cNvSpPr>
            <a:spLocks noGrp="1"/>
          </p:cNvSpPr>
          <p:nvPr>
            <p:ph type="title"/>
          </p:nvPr>
        </p:nvSpPr>
        <p:spPr bwMode="auto">
          <a:xfrm>
            <a:off x="676275" y="222215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Concurrency vs. Parallelism</a:t>
            </a:r>
            <a:endParaRPr/>
          </a:p>
        </p:txBody>
      </p:sp>
      <p:sp>
        <p:nvSpPr>
          <p:cNvPr id="87904798" name="Rectangle 3"/>
          <p:cNvSpPr>
            <a:spLocks noChangeArrowheads="1" noGrp="1"/>
          </p:cNvSpPr>
          <p:nvPr/>
        </p:nvSpPr>
        <p:spPr bwMode="auto">
          <a:xfrm>
            <a:off x="802433" y="1163638"/>
            <a:ext cx="7912359" cy="4530725"/>
          </a:xfrm>
          <a:prstGeom prst="rect">
            <a:avLst/>
          </a:prstGeom>
          <a:noFill/>
          <a:ln>
            <a:noFill/>
          </a:ln>
        </p:spPr>
        <p:txBody>
          <a:bodyPr lIns="91435" tIns="45718" rIns="91435" bIns="45718"/>
          <a:lstStyle>
            <a:lvl1pPr marL="488950" indent="-488950">
              <a:spcBef>
                <a:spcPts val="0"/>
              </a:spcBef>
              <a:buClr>
                <a:srgbClr val="993300"/>
              </a:buClr>
              <a:buSzPct val="90000"/>
              <a:buFont typeface="Monotype Sorts"/>
              <a:buChar char="n"/>
              <a:defRPr>
                <a:solidFill>
                  <a:schemeClr val="tx1"/>
                </a:solidFill>
                <a:latin typeface="Helvetica"/>
                <a:ea typeface="MS PGothic"/>
                <a:cs typeface="MS PGothic"/>
              </a:defRPr>
            </a:lvl1pPr>
            <a:lvl2pPr marL="742950" indent="-285750">
              <a:spcBef>
                <a:spcPts val="0"/>
              </a:spcBef>
              <a:buClr>
                <a:srgbClr val="CC6600"/>
              </a:buClr>
              <a:buSzPct val="80000"/>
              <a:buFont typeface="Monotype Sorts"/>
              <a:buChar char="l"/>
              <a:defRPr>
                <a:solidFill>
                  <a:schemeClr val="tx1"/>
                </a:solidFill>
                <a:latin typeface="Helvetica"/>
                <a:ea typeface="MS PGothic"/>
              </a:defRPr>
            </a:lvl2pPr>
            <a:lvl3pPr marL="1143000" indent="-228600">
              <a:spcBef>
                <a:spcPts val="0"/>
              </a:spcBef>
              <a:buClr>
                <a:srgbClr val="009900"/>
              </a:buClr>
              <a:buSzPct val="75000"/>
              <a:buFont typeface="Webdings"/>
              <a:buChar char="4"/>
              <a:defRPr>
                <a:solidFill>
                  <a:schemeClr val="tx1"/>
                </a:solidFill>
                <a:latin typeface="Helvetica"/>
                <a:ea typeface="MS PGothic"/>
              </a:defRPr>
            </a:lvl3pPr>
            <a:lvl4pPr marL="1600200" indent="-228600">
              <a:spcBef>
                <a:spcPts val="0"/>
              </a:spcBef>
              <a:buClr>
                <a:schemeClr val="hlink"/>
              </a:buClr>
              <a:buSzPct val="75000"/>
              <a:buChar char="–"/>
              <a:defRPr>
                <a:solidFill>
                  <a:schemeClr val="tx1"/>
                </a:solidFill>
                <a:latin typeface="Helvetica"/>
                <a:ea typeface="MS PGothic"/>
              </a:defRPr>
            </a:lvl4pPr>
            <a:lvl5pPr marL="2057400" indent="-228600">
              <a:spcBef>
                <a:spcPts val="0"/>
              </a:spcBef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9pPr>
          </a:lstStyle>
          <a:p>
            <a:pPr>
              <a:buSzPct val="110000"/>
              <a:buFont typeface="Wingdings"/>
              <a:buChar char="§"/>
              <a:defRPr/>
            </a:pPr>
            <a:r>
              <a:rPr lang="en-US" b="1"/>
              <a:t>Concurrent execution on single-core system:</a:t>
            </a:r>
            <a:endParaRPr/>
          </a:p>
          <a:p>
            <a:pPr>
              <a:defRPr/>
            </a:pPr>
            <a:endParaRPr lang="en-US" b="1"/>
          </a:p>
          <a:p>
            <a:pPr>
              <a:defRPr/>
            </a:pPr>
            <a:endParaRPr lang="en-US" b="1"/>
          </a:p>
          <a:p>
            <a:pPr>
              <a:defRPr/>
            </a:pPr>
            <a:endParaRPr lang="en-US" b="1"/>
          </a:p>
          <a:p>
            <a:pPr>
              <a:buFontTx/>
              <a:buNone/>
              <a:defRPr/>
            </a:pPr>
            <a:endParaRPr lang="en-US" b="1"/>
          </a:p>
          <a:p>
            <a:pPr>
              <a:buSzPct val="110000"/>
              <a:buFont typeface="Wingdings"/>
              <a:buChar char="§"/>
              <a:defRPr/>
            </a:pPr>
            <a:r>
              <a:rPr lang="en-US" b="1"/>
              <a:t>Parallelism on a multi-core system:</a:t>
            </a:r>
            <a:endParaRPr/>
          </a:p>
          <a:p>
            <a:pPr>
              <a:defRPr/>
            </a:pPr>
            <a:endParaRPr lang="en-US" b="1"/>
          </a:p>
        </p:txBody>
      </p:sp>
      <p:pic>
        <p:nvPicPr>
          <p:cNvPr id="565121164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7413" y="1830388"/>
            <a:ext cx="7799387" cy="8683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423363" name="Picture 2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225675" y="3647589"/>
            <a:ext cx="4692650" cy="16271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355192" name="Title 1"/>
          <p:cNvSpPr>
            <a:spLocks noGrp="1"/>
          </p:cNvSpPr>
          <p:nvPr>
            <p:ph type="title"/>
          </p:nvPr>
        </p:nvSpPr>
        <p:spPr bwMode="auto">
          <a:xfrm>
            <a:off x="1012825" y="213537"/>
            <a:ext cx="7673975" cy="576262"/>
          </a:xfrm>
        </p:spPr>
        <p:txBody>
          <a:bodyPr/>
          <a:lstStyle/>
          <a:p>
            <a:pPr>
              <a:defRPr/>
            </a:pPr>
            <a:r>
              <a:rPr lang="en-US"/>
              <a:t>Multicore Programming</a:t>
            </a:r>
            <a:endParaRPr/>
          </a:p>
        </p:txBody>
      </p:sp>
      <p:sp>
        <p:nvSpPr>
          <p:cNvPr id="1016005962" name="Content Placeholder 2"/>
          <p:cNvSpPr>
            <a:spLocks noGrp="1"/>
          </p:cNvSpPr>
          <p:nvPr>
            <p:ph idx="1"/>
          </p:nvPr>
        </p:nvSpPr>
        <p:spPr bwMode="auto">
          <a:xfrm>
            <a:off x="806450" y="1233488"/>
            <a:ext cx="7156450" cy="4530725"/>
          </a:xfrm>
        </p:spPr>
        <p:txBody>
          <a:bodyPr/>
          <a:lstStyle/>
          <a:p>
            <a:pPr>
              <a:defRPr/>
            </a:pPr>
            <a:r>
              <a:rPr lang="en-US"/>
              <a:t>Types of parallelism </a:t>
            </a:r>
            <a:endParaRPr/>
          </a:p>
          <a:p>
            <a:pPr lvl="1">
              <a:defRPr/>
            </a:pPr>
            <a:r>
              <a:rPr lang="en-US" b="1">
                <a:solidFill>
                  <a:srgbClr val="006699"/>
                </a:solidFill>
                <a:latin typeface="+mj-lt"/>
              </a:rPr>
              <a:t>Data parallelism </a:t>
            </a:r>
            <a:r>
              <a:rPr lang="en-US"/>
              <a:t>– distributes subsets of the same data across multiple cores, same operation on each</a:t>
            </a:r>
            <a:endParaRPr lang="en-US" b="1">
              <a:solidFill>
                <a:srgbClr val="3366FF"/>
              </a:solidFill>
            </a:endParaRPr>
          </a:p>
          <a:p>
            <a:pPr lvl="1">
              <a:defRPr/>
            </a:pPr>
            <a:r>
              <a:rPr lang="en-US" b="1">
                <a:solidFill>
                  <a:srgbClr val="006699"/>
                </a:solidFill>
                <a:latin typeface="+mj-lt"/>
              </a:rPr>
              <a:t>Task parallelism </a:t>
            </a:r>
            <a:r>
              <a:rPr lang="en-US"/>
              <a:t>– distributing threads across cores, each thread performing unique operation</a:t>
            </a:r>
            <a:endParaRPr/>
          </a:p>
          <a:p>
            <a:pPr lvl="1">
              <a:buFont typeface="Monotype Sorts"/>
              <a:buNone/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9234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Data and Task Parallelism</a:t>
            </a:r>
            <a:endParaRPr/>
          </a:p>
        </p:txBody>
      </p:sp>
      <p:pic>
        <p:nvPicPr>
          <p:cNvPr id="193097521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638300" y="1473200"/>
            <a:ext cx="5851525" cy="39068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4271099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29606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Amdahl’s Law</a:t>
            </a:r>
            <a:endParaRPr/>
          </a:p>
        </p:txBody>
      </p:sp>
      <p:sp>
        <p:nvSpPr>
          <p:cNvPr id="1354545811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69950" y="1106488"/>
            <a:ext cx="7900988" cy="4530725"/>
          </a:xfrm>
        </p:spPr>
        <p:txBody>
          <a:bodyPr/>
          <a:lstStyle/>
          <a:p>
            <a:pPr>
              <a:defRPr/>
            </a:pPr>
            <a:r>
              <a:rPr lang="en-US">
                <a:cs typeface="ＭＳ Ｐゴシック"/>
              </a:rPr>
              <a:t>Identifies performance gains from adding additional cores to an application that has both serial and parallel components</a:t>
            </a:r>
            <a:endParaRPr/>
          </a:p>
          <a:p>
            <a:pPr>
              <a:defRPr/>
            </a:pPr>
            <a:r>
              <a:rPr lang="en-US" i="1">
                <a:cs typeface="ＭＳ Ｐゴシック"/>
              </a:rPr>
              <a:t>S</a:t>
            </a:r>
            <a:r>
              <a:rPr lang="en-US">
                <a:cs typeface="ＭＳ Ｐゴシック"/>
              </a:rPr>
              <a:t> is serial portion</a:t>
            </a:r>
            <a:endParaRPr/>
          </a:p>
          <a:p>
            <a:pPr>
              <a:defRPr/>
            </a:pPr>
            <a:r>
              <a:rPr lang="en-US" i="1">
                <a:cs typeface="ＭＳ Ｐゴシック"/>
              </a:rPr>
              <a:t>N</a:t>
            </a:r>
            <a:r>
              <a:rPr lang="en-US">
                <a:cs typeface="ＭＳ Ｐゴシック"/>
              </a:rPr>
              <a:t> processing cores</a:t>
            </a:r>
            <a:endParaRPr/>
          </a:p>
          <a:p>
            <a:pPr>
              <a:defRPr/>
            </a:pPr>
            <a:endParaRPr lang="en-US">
              <a:cs typeface="ＭＳ Ｐゴシック"/>
            </a:endParaRPr>
          </a:p>
          <a:p>
            <a:pPr>
              <a:defRPr/>
            </a:pPr>
            <a:endParaRPr lang="en-US">
              <a:cs typeface="ＭＳ Ｐゴシック"/>
            </a:endParaRPr>
          </a:p>
          <a:p>
            <a:pPr marL="0" indent="0">
              <a:buFont typeface="Monotype Sorts"/>
              <a:buNone/>
              <a:defRPr/>
            </a:pPr>
            <a:endParaRPr lang="en-US">
              <a:cs typeface="ＭＳ Ｐゴシック"/>
            </a:endParaRPr>
          </a:p>
          <a:p>
            <a:pPr>
              <a:defRPr/>
            </a:pPr>
            <a:r>
              <a:rPr lang="en-US">
                <a:cs typeface="ＭＳ Ｐゴシック"/>
              </a:rPr>
              <a:t>That is, if application is 75% parallel / 25% serial, moving from 1 to 2 cores results in speedup of 1.6 times</a:t>
            </a:r>
            <a:endParaRPr/>
          </a:p>
          <a:p>
            <a:pPr>
              <a:defRPr/>
            </a:pPr>
            <a:r>
              <a:rPr lang="en-US">
                <a:cs typeface="ＭＳ Ｐゴシック"/>
              </a:rPr>
              <a:t>As </a:t>
            </a:r>
            <a:r>
              <a:rPr lang="en-US" i="1">
                <a:cs typeface="ＭＳ Ｐゴシック"/>
              </a:rPr>
              <a:t>N</a:t>
            </a:r>
            <a:r>
              <a:rPr lang="en-US">
                <a:cs typeface="ＭＳ Ｐゴシック"/>
              </a:rPr>
              <a:t> approaches infinity, speedup approaches 1 / </a:t>
            </a:r>
            <a:r>
              <a:rPr lang="en-US" i="1">
                <a:cs typeface="ＭＳ Ｐゴシック"/>
              </a:rPr>
              <a:t>S</a:t>
            </a:r>
            <a:endParaRPr/>
          </a:p>
          <a:p>
            <a:pPr>
              <a:buFont typeface="Monotype Sorts"/>
              <a:buNone/>
              <a:defRPr/>
            </a:pPr>
            <a:br>
              <a:rPr lang="en-US" b="1">
                <a:cs typeface="ＭＳ Ｐゴシック"/>
              </a:rPr>
            </a:br>
            <a:r>
              <a:rPr lang="en-US" b="1">
                <a:cs typeface="ＭＳ Ｐゴシック"/>
              </a:rPr>
              <a:t>Serial portion of an application has disproportionate  effect on performance gained by adding additional cores</a:t>
            </a:r>
            <a:endParaRPr/>
          </a:p>
          <a:p>
            <a:pPr>
              <a:buFont typeface="Monotype Sorts"/>
              <a:buNone/>
              <a:defRPr/>
            </a:pPr>
            <a:endParaRPr lang="en-US" sz="800" b="1">
              <a:cs typeface="ＭＳ Ｐゴシック"/>
            </a:endParaRPr>
          </a:p>
          <a:p>
            <a:pPr>
              <a:defRPr/>
            </a:pPr>
            <a:r>
              <a:rPr lang="en-US">
                <a:cs typeface="ＭＳ Ｐゴシック"/>
              </a:rPr>
              <a:t>But does the law take into account contemporary multicore systems?</a:t>
            </a:r>
            <a:endParaRPr/>
          </a:p>
        </p:txBody>
      </p:sp>
      <p:pic>
        <p:nvPicPr>
          <p:cNvPr id="1993946048" name="Picture 1" descr="Screen Shot 2012-12-04 at 7.54.07 P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806117" y="2597182"/>
            <a:ext cx="2430463" cy="9064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616619" name="Title 1"/>
          <p:cNvSpPr>
            <a:spLocks noGrp="1"/>
          </p:cNvSpPr>
          <p:nvPr>
            <p:ph type="title"/>
          </p:nvPr>
        </p:nvSpPr>
        <p:spPr bwMode="auto">
          <a:xfrm>
            <a:off x="457200" y="224522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Amdahl’s Law</a:t>
            </a:r>
            <a:endParaRPr/>
          </a:p>
        </p:txBody>
      </p:sp>
      <p:pic>
        <p:nvPicPr>
          <p:cNvPr id="1384551543" name="Pictur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368550" y="1411288"/>
            <a:ext cx="5276850" cy="372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978057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936625" y="229606"/>
            <a:ext cx="7826375" cy="576262"/>
          </a:xfrm>
        </p:spPr>
        <p:txBody>
          <a:bodyPr/>
          <a:lstStyle/>
          <a:p>
            <a:pPr>
              <a:defRPr/>
            </a:pPr>
            <a:r>
              <a:rPr lang="en-US"/>
              <a:t>User Threads and Kernel Threads</a:t>
            </a:r>
            <a:endParaRPr/>
          </a:p>
        </p:txBody>
      </p:sp>
      <p:sp>
        <p:nvSpPr>
          <p:cNvPr id="1944854155" name="Rectangle 3"/>
          <p:cNvSpPr>
            <a:spLocks noChangeArrowheads="1"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b="1">
                <a:solidFill>
                  <a:srgbClr val="006699"/>
                </a:solidFill>
                <a:latin typeface="+mj-lt"/>
              </a:rPr>
              <a:t>User threads </a:t>
            </a:r>
            <a:r>
              <a:rPr lang="en-US"/>
              <a:t>- management done by user-level threads library</a:t>
            </a:r>
            <a:endParaRPr/>
          </a:p>
          <a:p>
            <a:pPr>
              <a:defRPr/>
            </a:pPr>
            <a:r>
              <a:rPr lang="en-US"/>
              <a:t>Three primary thread libraries:</a:t>
            </a:r>
            <a:endParaRPr/>
          </a:p>
          <a:p>
            <a:pPr lvl="1">
              <a:defRPr/>
            </a:pPr>
            <a:r>
              <a:rPr lang="en-US"/>
              <a:t> POSIX </a:t>
            </a:r>
            <a:r>
              <a:rPr lang="en-US" b="1">
                <a:solidFill>
                  <a:srgbClr val="006699"/>
                </a:solidFill>
                <a:latin typeface="+mj-lt"/>
              </a:rPr>
              <a:t>Pthreads</a:t>
            </a:r>
            <a:endParaRPr lang="en-US" b="1">
              <a:solidFill>
                <a:srgbClr val="006699"/>
              </a:solidFill>
              <a:latin typeface="+mj-lt"/>
            </a:endParaRPr>
          </a:p>
          <a:p>
            <a:pPr lvl="1">
              <a:defRPr/>
            </a:pPr>
            <a:r>
              <a:rPr lang="en-US"/>
              <a:t> Windows threads</a:t>
            </a:r>
            <a:endParaRPr/>
          </a:p>
          <a:p>
            <a:pPr lvl="1">
              <a:defRPr/>
            </a:pPr>
            <a:r>
              <a:rPr lang="en-US"/>
              <a:t> Java threads</a:t>
            </a:r>
            <a:endParaRPr/>
          </a:p>
          <a:p>
            <a:pPr>
              <a:defRPr/>
            </a:pPr>
            <a:r>
              <a:rPr lang="en-US" b="1">
                <a:solidFill>
                  <a:srgbClr val="006699"/>
                </a:solidFill>
                <a:latin typeface="+mj-lt"/>
              </a:rPr>
              <a:t>Kernel threads </a:t>
            </a:r>
            <a:r>
              <a:rPr lang="en-US"/>
              <a:t>- Supported by the Kernel</a:t>
            </a:r>
            <a:endParaRPr/>
          </a:p>
          <a:p>
            <a:pPr>
              <a:defRPr/>
            </a:pPr>
            <a:r>
              <a:rPr lang="en-US"/>
              <a:t>Examples – virtually all general -purpose operating systems, including:</a:t>
            </a:r>
            <a:endParaRPr/>
          </a:p>
          <a:p>
            <a:pPr lvl="1">
              <a:defRPr/>
            </a:pPr>
            <a:r>
              <a:rPr lang="en-US"/>
              <a:t>Windows </a:t>
            </a:r>
            <a:endParaRPr/>
          </a:p>
          <a:p>
            <a:pPr lvl="1">
              <a:defRPr/>
            </a:pPr>
            <a:r>
              <a:rPr lang="en-US"/>
              <a:t>Linux</a:t>
            </a:r>
            <a:endParaRPr/>
          </a:p>
          <a:p>
            <a:pPr lvl="1">
              <a:defRPr/>
            </a:pPr>
            <a:r>
              <a:rPr lang="en-US"/>
              <a:t>Mac OS X</a:t>
            </a:r>
            <a:endParaRPr/>
          </a:p>
          <a:p>
            <a:pPr lvl="1">
              <a:defRPr/>
            </a:pPr>
            <a:r>
              <a:rPr lang="en-US"/>
              <a:t>iOS</a:t>
            </a:r>
            <a:endParaRPr/>
          </a:p>
          <a:p>
            <a:pPr lvl="1">
              <a:defRPr/>
            </a:pPr>
            <a:r>
              <a:rPr lang="en-US"/>
              <a:t>Android</a:t>
            </a:r>
            <a:endParaRPr/>
          </a:p>
          <a:p>
            <a:pPr lvl="1"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50155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User and Kernel Threads</a:t>
            </a:r>
            <a:endParaRPr/>
          </a:p>
        </p:txBody>
      </p:sp>
      <p:pic>
        <p:nvPicPr>
          <p:cNvPr id="236161887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420938" y="1901825"/>
            <a:ext cx="4826000" cy="2660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160552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26237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Multithreading Models</a:t>
            </a:r>
            <a:endParaRPr/>
          </a:p>
        </p:txBody>
      </p:sp>
      <p:sp>
        <p:nvSpPr>
          <p:cNvPr id="1142959488" name="Rectangle 3"/>
          <p:cNvSpPr>
            <a:spLocks noChangeArrowheads="1"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Many-to-One</a:t>
            </a:r>
            <a:br>
              <a:rPr lang="en-US"/>
            </a:br>
            <a:endParaRPr lang="en-US"/>
          </a:p>
          <a:p>
            <a:pPr>
              <a:defRPr/>
            </a:pPr>
            <a:r>
              <a:rPr lang="en-US"/>
              <a:t>One-to-One</a:t>
            </a:r>
            <a:br>
              <a:rPr lang="en-US"/>
            </a:br>
            <a:endParaRPr lang="en-US"/>
          </a:p>
          <a:p>
            <a:pPr>
              <a:defRPr/>
            </a:pPr>
            <a:r>
              <a:rPr lang="en-US"/>
              <a:t>Many-to-Many</a:t>
            </a:r>
            <a:endParaRPr/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888055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22868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Many-to-One</a:t>
            </a:r>
            <a:endParaRPr/>
          </a:p>
        </p:txBody>
      </p:sp>
      <p:sp>
        <p:nvSpPr>
          <p:cNvPr id="1450934610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06450" y="1233488"/>
            <a:ext cx="7721730" cy="4530725"/>
          </a:xfrm>
        </p:spPr>
        <p:txBody>
          <a:bodyPr/>
          <a:lstStyle/>
          <a:p>
            <a:pPr>
              <a:defRPr/>
            </a:pPr>
            <a:r>
              <a:rPr lang="en-US"/>
              <a:t>Many user-level threads mapped to single kernel thread</a:t>
            </a:r>
            <a:endParaRPr/>
          </a:p>
          <a:p>
            <a:pPr>
              <a:defRPr/>
            </a:pPr>
            <a:r>
              <a:rPr lang="en-US"/>
              <a:t>One thread blocking causes all to block</a:t>
            </a:r>
            <a:endParaRPr/>
          </a:p>
          <a:p>
            <a:pPr>
              <a:defRPr/>
            </a:pPr>
            <a:r>
              <a:rPr lang="en-US"/>
              <a:t>Multiple threads may not run in parallel on </a:t>
            </a:r>
            <a:r>
              <a:rPr lang="en-US"/>
              <a:t>muticore</a:t>
            </a:r>
            <a:r>
              <a:rPr lang="en-US"/>
              <a:t> system because only one may be in kernel at a time</a:t>
            </a:r>
            <a:endParaRPr/>
          </a:p>
          <a:p>
            <a:pPr>
              <a:defRPr/>
            </a:pPr>
            <a:r>
              <a:rPr lang="en-US"/>
              <a:t>Few systems currently use this model</a:t>
            </a:r>
            <a:endParaRPr/>
          </a:p>
          <a:p>
            <a:pPr>
              <a:defRPr/>
            </a:pPr>
            <a:r>
              <a:rPr lang="en-US"/>
              <a:t>Examples:</a:t>
            </a:r>
            <a:endParaRPr/>
          </a:p>
          <a:p>
            <a:pPr lvl="1">
              <a:defRPr/>
            </a:pPr>
            <a:r>
              <a:rPr lang="en-US" b="1">
                <a:solidFill>
                  <a:srgbClr val="006699"/>
                </a:solidFill>
                <a:latin typeface="+mj-lt"/>
              </a:rPr>
              <a:t>Solaris Green Threads</a:t>
            </a:r>
            <a:endParaRPr/>
          </a:p>
          <a:p>
            <a:pPr lvl="1">
              <a:defRPr/>
            </a:pPr>
            <a:r>
              <a:rPr lang="en-US" b="1">
                <a:solidFill>
                  <a:srgbClr val="006699"/>
                </a:solidFill>
                <a:latin typeface="+mj-lt"/>
              </a:rPr>
              <a:t>GNU Portable Threads</a:t>
            </a:r>
            <a:endParaRPr/>
          </a:p>
        </p:txBody>
      </p:sp>
      <p:pic>
        <p:nvPicPr>
          <p:cNvPr id="1199957016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68955" y="3672082"/>
            <a:ext cx="3959225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874231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24522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One-to-One</a:t>
            </a:r>
            <a:endParaRPr/>
          </a:p>
        </p:txBody>
      </p:sp>
      <p:sp>
        <p:nvSpPr>
          <p:cNvPr id="198226149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06449" y="1233488"/>
            <a:ext cx="7628423" cy="4530725"/>
          </a:xfrm>
        </p:spPr>
        <p:txBody>
          <a:bodyPr/>
          <a:lstStyle/>
          <a:p>
            <a:pPr>
              <a:defRPr/>
            </a:pPr>
            <a:r>
              <a:rPr lang="en-US"/>
              <a:t>Each user-level thread maps to kernel thread</a:t>
            </a:r>
            <a:endParaRPr/>
          </a:p>
          <a:p>
            <a:pPr>
              <a:defRPr/>
            </a:pPr>
            <a:r>
              <a:rPr lang="en-US"/>
              <a:t>Creating a user-level thread creates a kernel thread</a:t>
            </a:r>
            <a:endParaRPr/>
          </a:p>
          <a:p>
            <a:pPr>
              <a:defRPr/>
            </a:pPr>
            <a:r>
              <a:rPr lang="en-US"/>
              <a:t>More concurrency than many-to-one</a:t>
            </a:r>
            <a:endParaRPr/>
          </a:p>
          <a:p>
            <a:pPr>
              <a:defRPr/>
            </a:pPr>
            <a:r>
              <a:rPr lang="en-US"/>
              <a:t>Number of threads per process sometimes restricted due to overhead</a:t>
            </a:r>
            <a:endParaRPr/>
          </a:p>
          <a:p>
            <a:pPr>
              <a:defRPr/>
            </a:pPr>
            <a:r>
              <a:rPr lang="en-US"/>
              <a:t>Examples</a:t>
            </a:r>
            <a:endParaRPr/>
          </a:p>
          <a:p>
            <a:pPr lvl="1">
              <a:defRPr/>
            </a:pPr>
            <a:r>
              <a:rPr lang="en-US"/>
              <a:t>Windows</a:t>
            </a:r>
            <a:endParaRPr/>
          </a:p>
          <a:p>
            <a:pPr lvl="1">
              <a:defRPr/>
            </a:pPr>
            <a:r>
              <a:rPr lang="en-US"/>
              <a:t>Linux</a:t>
            </a:r>
            <a:endParaRPr/>
          </a:p>
        </p:txBody>
      </p:sp>
      <p:pic>
        <p:nvPicPr>
          <p:cNvPr id="1379758131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984625" y="3349625"/>
            <a:ext cx="3914775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049570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24522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Many-to-Many Model</a:t>
            </a:r>
            <a:endParaRPr/>
          </a:p>
        </p:txBody>
      </p:sp>
      <p:sp>
        <p:nvSpPr>
          <p:cNvPr id="435930259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27088" y="1155699"/>
            <a:ext cx="7607785" cy="4445000"/>
          </a:xfrm>
        </p:spPr>
        <p:txBody>
          <a:bodyPr/>
          <a:lstStyle/>
          <a:p>
            <a:pPr>
              <a:defRPr/>
            </a:pPr>
            <a:r>
              <a:rPr lang="en-US"/>
              <a:t>Allows many user level threads to be mapped to many kernel threads</a:t>
            </a:r>
            <a:endParaRPr/>
          </a:p>
          <a:p>
            <a:pPr>
              <a:defRPr/>
            </a:pPr>
            <a:r>
              <a:rPr lang="en-US"/>
              <a:t>Allows the  operating system to create a sufficient number of kernel threads</a:t>
            </a:r>
            <a:endParaRPr/>
          </a:p>
          <a:p>
            <a:pPr>
              <a:defRPr/>
            </a:pPr>
            <a:r>
              <a:rPr lang="en-US"/>
              <a:t>Windows  with the </a:t>
            </a:r>
            <a:r>
              <a:rPr lang="en-US" i="1"/>
              <a:t>ThreadFiber</a:t>
            </a:r>
            <a:r>
              <a:rPr lang="en-US"/>
              <a:t> package</a:t>
            </a:r>
            <a:endParaRPr/>
          </a:p>
          <a:p>
            <a:pPr>
              <a:defRPr/>
            </a:pPr>
            <a:r>
              <a:rPr lang="en-US"/>
              <a:t>Otherwise not very common</a:t>
            </a:r>
            <a:endParaRPr/>
          </a:p>
        </p:txBody>
      </p:sp>
      <p:pic>
        <p:nvPicPr>
          <p:cNvPr id="441350933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0" y="3378200"/>
            <a:ext cx="39433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750124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28830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Two-level Model</a:t>
            </a:r>
            <a:endParaRPr/>
          </a:p>
        </p:txBody>
      </p:sp>
      <p:sp>
        <p:nvSpPr>
          <p:cNvPr id="1852729275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39787" y="1155699"/>
            <a:ext cx="7641739" cy="4456113"/>
          </a:xfrm>
        </p:spPr>
        <p:txBody>
          <a:bodyPr/>
          <a:lstStyle/>
          <a:p>
            <a:pPr>
              <a:defRPr/>
            </a:pPr>
            <a:r>
              <a:rPr lang="en-US"/>
              <a:t>Similar to M:M, except that it allows a user thread to be </a:t>
            </a:r>
            <a:r>
              <a:rPr lang="en-US" b="1"/>
              <a:t>bound</a:t>
            </a:r>
            <a:r>
              <a:rPr lang="en-US"/>
              <a:t> to kernel thread</a:t>
            </a:r>
            <a:endParaRPr/>
          </a:p>
        </p:txBody>
      </p:sp>
      <p:pic>
        <p:nvPicPr>
          <p:cNvPr id="88202876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451100" y="2336800"/>
            <a:ext cx="42227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479817" name="Title 1"/>
          <p:cNvSpPr>
            <a:spLocks noGrp="1"/>
          </p:cNvSpPr>
          <p:nvPr>
            <p:ph type="title"/>
          </p:nvPr>
        </p:nvSpPr>
        <p:spPr bwMode="auto">
          <a:xfrm>
            <a:off x="457200" y="216906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Thread Libraries</a:t>
            </a:r>
            <a:endParaRPr/>
          </a:p>
        </p:txBody>
      </p:sp>
      <p:sp>
        <p:nvSpPr>
          <p:cNvPr id="1937597595" name="Content Placeholder 2"/>
          <p:cNvSpPr>
            <a:spLocks noGrp="1"/>
          </p:cNvSpPr>
          <p:nvPr>
            <p:ph idx="1"/>
          </p:nvPr>
        </p:nvSpPr>
        <p:spPr bwMode="auto">
          <a:xfrm>
            <a:off x="834442" y="1233488"/>
            <a:ext cx="7703067" cy="4530725"/>
          </a:xfrm>
        </p:spPr>
        <p:txBody>
          <a:bodyPr/>
          <a:lstStyle/>
          <a:p>
            <a:pPr>
              <a:defRPr/>
            </a:pPr>
            <a:r>
              <a:rPr lang="en-US" b="1">
                <a:solidFill>
                  <a:srgbClr val="3366FF"/>
                </a:solidFill>
              </a:rPr>
              <a:t>Thread library</a:t>
            </a:r>
            <a:r>
              <a:rPr lang="en-US">
                <a:solidFill>
                  <a:srgbClr val="3366FF"/>
                </a:solidFill>
              </a:rPr>
              <a:t> </a:t>
            </a:r>
            <a:r>
              <a:rPr lang="en-US"/>
              <a:t>provides programmer with API for creating and managing threads</a:t>
            </a:r>
            <a:endParaRPr/>
          </a:p>
          <a:p>
            <a:pPr>
              <a:defRPr/>
            </a:pPr>
            <a:r>
              <a:rPr lang="en-US"/>
              <a:t>Two primary ways of implementing</a:t>
            </a:r>
            <a:endParaRPr/>
          </a:p>
          <a:p>
            <a:pPr lvl="1">
              <a:defRPr/>
            </a:pPr>
            <a:r>
              <a:rPr lang="en-US"/>
              <a:t>Library entirely in user space</a:t>
            </a:r>
            <a:endParaRPr/>
          </a:p>
          <a:p>
            <a:pPr lvl="1">
              <a:defRPr/>
            </a:pPr>
            <a:r>
              <a:rPr lang="en-US"/>
              <a:t>Kernel-level library supported by the OS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511875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20275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Pthreads</a:t>
            </a:r>
            <a:endParaRPr lang="en-US"/>
          </a:p>
        </p:txBody>
      </p:sp>
      <p:sp>
        <p:nvSpPr>
          <p:cNvPr id="447197644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58416" y="1233488"/>
            <a:ext cx="7613779" cy="4465637"/>
          </a:xfrm>
        </p:spPr>
        <p:txBody>
          <a:bodyPr/>
          <a:lstStyle/>
          <a:p>
            <a:pPr>
              <a:defRPr/>
            </a:pPr>
            <a:r>
              <a:rPr lang="en-US"/>
              <a:t>May be provided either as user-level or kernel-level</a:t>
            </a:r>
            <a:endParaRPr/>
          </a:p>
          <a:p>
            <a:pPr>
              <a:defRPr/>
            </a:pPr>
            <a:r>
              <a:rPr lang="en-US"/>
              <a:t>A POSIX standard (IEEE 1003.1c) API for thread creation and synchronization</a:t>
            </a:r>
            <a:endParaRPr/>
          </a:p>
          <a:p>
            <a:pPr>
              <a:defRPr/>
            </a:pPr>
            <a:r>
              <a:rPr lang="en-US" b="1" i="1"/>
              <a:t>Specification</a:t>
            </a:r>
            <a:r>
              <a:rPr lang="en-US"/>
              <a:t>, not </a:t>
            </a:r>
            <a:r>
              <a:rPr lang="en-US" b="1" i="1"/>
              <a:t>implementation</a:t>
            </a:r>
            <a:endParaRPr lang="en-US"/>
          </a:p>
          <a:p>
            <a:pPr>
              <a:defRPr/>
            </a:pPr>
            <a:r>
              <a:rPr lang="en-US"/>
              <a:t>API specifies behavior of the thread library, implementation is up to development of the library</a:t>
            </a:r>
            <a:endParaRPr/>
          </a:p>
          <a:p>
            <a:pPr>
              <a:defRPr/>
            </a:pPr>
            <a:r>
              <a:rPr lang="en-US"/>
              <a:t>Common in UNIX operating systems (Linux &amp; Mac OS X)</a:t>
            </a:r>
            <a:endParaRPr/>
          </a:p>
          <a:p>
            <a:pPr>
              <a:buFont typeface="Monotype Sorts"/>
              <a:buNone/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319140" name="Title 1"/>
          <p:cNvSpPr>
            <a:spLocks noGrp="1"/>
          </p:cNvSpPr>
          <p:nvPr>
            <p:ph type="title"/>
          </p:nvPr>
        </p:nvSpPr>
        <p:spPr bwMode="auto">
          <a:xfrm>
            <a:off x="457200" y="220275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Pthreads</a:t>
            </a:r>
            <a:r>
              <a:rPr lang="en-US"/>
              <a:t> Example</a:t>
            </a:r>
            <a:endParaRPr/>
          </a:p>
        </p:txBody>
      </p:sp>
      <p:pic>
        <p:nvPicPr>
          <p:cNvPr id="542485443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85863" y="949325"/>
            <a:ext cx="7137400" cy="535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220651" name="Title 1"/>
          <p:cNvSpPr>
            <a:spLocks noGrp="1"/>
          </p:cNvSpPr>
          <p:nvPr>
            <p:ph type="title"/>
          </p:nvPr>
        </p:nvSpPr>
        <p:spPr bwMode="auto">
          <a:xfrm>
            <a:off x="457200" y="224522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Pthreads</a:t>
            </a:r>
            <a:r>
              <a:rPr lang="en-US"/>
              <a:t> Example (Cont.)</a:t>
            </a:r>
            <a:endParaRPr/>
          </a:p>
        </p:txBody>
      </p:sp>
      <p:pic>
        <p:nvPicPr>
          <p:cNvPr id="1429835739" name="Pictur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752599" y="2057400"/>
            <a:ext cx="5638800" cy="273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133196" name="Title 1"/>
          <p:cNvSpPr>
            <a:spLocks noGrp="1"/>
          </p:cNvSpPr>
          <p:nvPr>
            <p:ph type="title"/>
          </p:nvPr>
        </p:nvSpPr>
        <p:spPr bwMode="auto">
          <a:xfrm>
            <a:off x="1023938" y="222868"/>
            <a:ext cx="7793037" cy="576262"/>
          </a:xfrm>
        </p:spPr>
        <p:txBody>
          <a:bodyPr/>
          <a:lstStyle/>
          <a:p>
            <a:pPr>
              <a:defRPr/>
            </a:pPr>
            <a:r>
              <a:rPr lang="en-US"/>
              <a:t>Pthreads</a:t>
            </a:r>
            <a:r>
              <a:rPr lang="en-US"/>
              <a:t> Code for Joining 10 Threads</a:t>
            </a:r>
            <a:endParaRPr/>
          </a:p>
        </p:txBody>
      </p:sp>
      <p:pic>
        <p:nvPicPr>
          <p:cNvPr id="1034152326" name="Picture 1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1852613" y="1447800"/>
            <a:ext cx="5438774" cy="21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4159831" name="Title 1"/>
          <p:cNvSpPr>
            <a:spLocks noGrp="1"/>
          </p:cNvSpPr>
          <p:nvPr>
            <p:ph type="title"/>
          </p:nvPr>
        </p:nvSpPr>
        <p:spPr bwMode="auto">
          <a:xfrm>
            <a:off x="541176" y="226237"/>
            <a:ext cx="8615524" cy="576262"/>
          </a:xfrm>
        </p:spPr>
        <p:txBody>
          <a:bodyPr/>
          <a:lstStyle/>
          <a:p>
            <a:pPr>
              <a:defRPr/>
            </a:pPr>
            <a:r>
              <a:rPr lang="en-US"/>
              <a:t>Windows  Multithreaded C Program</a:t>
            </a:r>
            <a:endParaRPr/>
          </a:p>
        </p:txBody>
      </p:sp>
      <p:pic>
        <p:nvPicPr>
          <p:cNvPr id="468049242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73200" y="1905000"/>
            <a:ext cx="6184900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85113" name="Title 1"/>
          <p:cNvSpPr>
            <a:spLocks noGrp="1"/>
          </p:cNvSpPr>
          <p:nvPr>
            <p:ph type="title"/>
          </p:nvPr>
        </p:nvSpPr>
        <p:spPr bwMode="auto">
          <a:xfrm>
            <a:off x="1054359" y="222868"/>
            <a:ext cx="8026140" cy="576262"/>
          </a:xfrm>
        </p:spPr>
        <p:txBody>
          <a:bodyPr/>
          <a:lstStyle/>
          <a:p>
            <a:pPr>
              <a:defRPr/>
            </a:pPr>
            <a:r>
              <a:rPr lang="en-US" sz="3000"/>
              <a:t>Windows  Multithreaded C Program (Cont.)</a:t>
            </a:r>
            <a:endParaRPr/>
          </a:p>
        </p:txBody>
      </p:sp>
      <p:pic>
        <p:nvPicPr>
          <p:cNvPr id="849184593" name="Pictur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17638" y="893763"/>
            <a:ext cx="6540500" cy="5765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497905" name="Rectangle 4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26237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Java Threads</a:t>
            </a:r>
            <a:endParaRPr/>
          </a:p>
        </p:txBody>
      </p:sp>
      <p:sp>
        <p:nvSpPr>
          <p:cNvPr id="1064004700" name="Rectangle 5"/>
          <p:cNvSpPr>
            <a:spLocks noChangeArrowheads="1" noGrp="1"/>
          </p:cNvSpPr>
          <p:nvPr>
            <p:ph type="body" idx="1"/>
          </p:nvPr>
        </p:nvSpPr>
        <p:spPr bwMode="auto">
          <a:xfrm>
            <a:off x="811212" y="1231900"/>
            <a:ext cx="7688975" cy="3746500"/>
          </a:xfrm>
        </p:spPr>
        <p:txBody>
          <a:bodyPr/>
          <a:lstStyle/>
          <a:p>
            <a:pPr>
              <a:defRPr/>
            </a:pPr>
            <a:r>
              <a:rPr lang="en-US"/>
              <a:t>Java threads are managed by the JVM</a:t>
            </a:r>
            <a:endParaRPr/>
          </a:p>
          <a:p>
            <a:pPr>
              <a:defRPr/>
            </a:pPr>
            <a:r>
              <a:rPr lang="en-US"/>
              <a:t>Typically implemented using the threads model provided by underlying OS</a:t>
            </a:r>
            <a:endParaRPr/>
          </a:p>
          <a:p>
            <a:pPr>
              <a:defRPr/>
            </a:pPr>
            <a:r>
              <a:rPr lang="en-US"/>
              <a:t>Java threads may be created by:</a:t>
            </a:r>
            <a:endParaRPr/>
          </a:p>
          <a:p>
            <a:pPr lvl="1">
              <a:defRPr/>
            </a:pPr>
            <a:r>
              <a:rPr lang="en-US"/>
              <a:t>Extending Thread class</a:t>
            </a:r>
            <a:endParaRPr/>
          </a:p>
          <a:p>
            <a:pPr lvl="1">
              <a:defRPr/>
            </a:pPr>
            <a:r>
              <a:rPr lang="en-US"/>
              <a:t>Implementing the Runnable interface</a:t>
            </a: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endParaRPr lang="en-US"/>
          </a:p>
          <a:p>
            <a:pPr marL="457200" lvl="1" indent="0">
              <a:buNone/>
              <a:defRPr/>
            </a:pPr>
            <a:endParaRPr lang="en-US" sz="900"/>
          </a:p>
          <a:p>
            <a:pPr lvl="1">
              <a:defRPr/>
            </a:pPr>
            <a:r>
              <a:rPr lang="en-US"/>
              <a:t>Standard practice is to implement Runnable interface</a:t>
            </a:r>
            <a:br>
              <a:rPr lang="en-US"/>
            </a:br>
            <a:endParaRPr lang="en-US"/>
          </a:p>
        </p:txBody>
      </p:sp>
      <p:pic>
        <p:nvPicPr>
          <p:cNvPr id="1783776970" name="Picture 1" descr="Screen Shot 2012-12-04 at 9.09.28 P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098675" y="3503613"/>
            <a:ext cx="3773488" cy="1130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781599" name="Title 1"/>
          <p:cNvSpPr>
            <a:spLocks noGrp="1"/>
          </p:cNvSpPr>
          <p:nvPr>
            <p:ph type="title"/>
          </p:nvPr>
        </p:nvSpPr>
        <p:spPr bwMode="auto">
          <a:xfrm>
            <a:off x="457200" y="224522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Java Threads</a:t>
            </a:r>
            <a:endParaRPr/>
          </a:p>
        </p:txBody>
      </p:sp>
      <p:sp>
        <p:nvSpPr>
          <p:cNvPr id="1452285521" name="TextBox 2"/>
          <p:cNvSpPr txBox="1">
            <a:spLocks noChangeArrowheads="1"/>
          </p:cNvSpPr>
          <p:nvPr/>
        </p:nvSpPr>
        <p:spPr bwMode="auto">
          <a:xfrm>
            <a:off x="1141413" y="1062038"/>
            <a:ext cx="4657725" cy="36988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spcBef>
                <a:spcPts val="0"/>
              </a:spcBef>
              <a:buClr>
                <a:srgbClr val="993300"/>
              </a:buClr>
              <a:buSzPct val="90000"/>
              <a:buFont typeface="Monotype Sorts"/>
              <a:buChar char="n"/>
              <a:defRPr>
                <a:solidFill>
                  <a:schemeClr val="tx1"/>
                </a:solidFill>
                <a:latin typeface="Helvetica"/>
                <a:ea typeface="MS PGothic"/>
                <a:cs typeface="MS PGothic"/>
              </a:defRPr>
            </a:lvl1pPr>
            <a:lvl2pPr marL="742950" indent="-285750">
              <a:spcBef>
                <a:spcPts val="0"/>
              </a:spcBef>
              <a:buClr>
                <a:srgbClr val="CC6600"/>
              </a:buClr>
              <a:buSzPct val="80000"/>
              <a:buFont typeface="Monotype Sorts"/>
              <a:buChar char="l"/>
              <a:defRPr>
                <a:solidFill>
                  <a:schemeClr val="tx1"/>
                </a:solidFill>
                <a:latin typeface="Helvetica"/>
                <a:ea typeface="MS PGothic"/>
              </a:defRPr>
            </a:lvl2pPr>
            <a:lvl3pPr marL="1143000" indent="-228600">
              <a:spcBef>
                <a:spcPts val="0"/>
              </a:spcBef>
              <a:buClr>
                <a:srgbClr val="009900"/>
              </a:buClr>
              <a:buSzPct val="75000"/>
              <a:buFont typeface="Webdings"/>
              <a:buChar char="4"/>
              <a:defRPr>
                <a:solidFill>
                  <a:schemeClr val="tx1"/>
                </a:solidFill>
                <a:latin typeface="Helvetica"/>
                <a:ea typeface="MS PGothic"/>
              </a:defRPr>
            </a:lvl3pPr>
            <a:lvl4pPr marL="1600200" indent="-228600">
              <a:spcBef>
                <a:spcPts val="0"/>
              </a:spcBef>
              <a:buClr>
                <a:schemeClr val="hlink"/>
              </a:buClr>
              <a:buSzPct val="75000"/>
              <a:buChar char="–"/>
              <a:defRPr>
                <a:solidFill>
                  <a:schemeClr val="tx1"/>
                </a:solidFill>
                <a:latin typeface="Helvetica"/>
                <a:ea typeface="MS PGothic"/>
              </a:defRPr>
            </a:lvl4pPr>
            <a:lvl5pPr marL="2057400" indent="-228600">
              <a:spcBef>
                <a:spcPts val="0"/>
              </a:spcBef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9pPr>
          </a:lstStyle>
          <a:p>
            <a:pPr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en-US" b="1">
                <a:latin typeface="Verdana"/>
              </a:rPr>
              <a:t>Implementing Runnable interface:</a:t>
            </a:r>
            <a:endParaRPr/>
          </a:p>
        </p:txBody>
      </p:sp>
      <p:pic>
        <p:nvPicPr>
          <p:cNvPr id="1433448567" name="Pictur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793875" y="1492250"/>
            <a:ext cx="4826000" cy="157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4119259" name="Rectangle 4"/>
          <p:cNvSpPr>
            <a:spLocks noChangeArrowheads="1"/>
          </p:cNvSpPr>
          <p:nvPr/>
        </p:nvSpPr>
        <p:spPr bwMode="auto">
          <a:xfrm>
            <a:off x="1214438" y="3014663"/>
            <a:ext cx="2546350" cy="3683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spcBef>
                <a:spcPts val="0"/>
              </a:spcBef>
              <a:buClr>
                <a:srgbClr val="993300"/>
              </a:buClr>
              <a:buSzPct val="90000"/>
              <a:buFont typeface="Monotype Sorts"/>
              <a:buChar char="n"/>
              <a:defRPr>
                <a:solidFill>
                  <a:schemeClr val="tx1"/>
                </a:solidFill>
                <a:latin typeface="Helvetica"/>
                <a:ea typeface="MS PGothic"/>
                <a:cs typeface="MS PGothic"/>
              </a:defRPr>
            </a:lvl1pPr>
            <a:lvl2pPr marL="742950" indent="-285750">
              <a:spcBef>
                <a:spcPts val="0"/>
              </a:spcBef>
              <a:buClr>
                <a:srgbClr val="CC6600"/>
              </a:buClr>
              <a:buSzPct val="80000"/>
              <a:buFont typeface="Monotype Sorts"/>
              <a:buChar char="l"/>
              <a:defRPr>
                <a:solidFill>
                  <a:schemeClr val="tx1"/>
                </a:solidFill>
                <a:latin typeface="Helvetica"/>
                <a:ea typeface="MS PGothic"/>
              </a:defRPr>
            </a:lvl2pPr>
            <a:lvl3pPr marL="1143000" indent="-228600">
              <a:spcBef>
                <a:spcPts val="0"/>
              </a:spcBef>
              <a:buClr>
                <a:srgbClr val="009900"/>
              </a:buClr>
              <a:buSzPct val="75000"/>
              <a:buFont typeface="Webdings"/>
              <a:buChar char="4"/>
              <a:defRPr>
                <a:solidFill>
                  <a:schemeClr val="tx1"/>
                </a:solidFill>
                <a:latin typeface="Helvetica"/>
                <a:ea typeface="MS PGothic"/>
              </a:defRPr>
            </a:lvl3pPr>
            <a:lvl4pPr marL="1600200" indent="-228600">
              <a:spcBef>
                <a:spcPts val="0"/>
              </a:spcBef>
              <a:buClr>
                <a:schemeClr val="hlink"/>
              </a:buClr>
              <a:buSzPct val="75000"/>
              <a:buChar char="–"/>
              <a:defRPr>
                <a:solidFill>
                  <a:schemeClr val="tx1"/>
                </a:solidFill>
                <a:latin typeface="Helvetica"/>
                <a:ea typeface="MS PGothic"/>
              </a:defRPr>
            </a:lvl4pPr>
            <a:lvl5pPr marL="2057400" indent="-228600">
              <a:spcBef>
                <a:spcPts val="0"/>
              </a:spcBef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9pPr>
          </a:lstStyle>
          <a:p>
            <a:pPr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en-US" b="1">
                <a:latin typeface="Verdana"/>
              </a:rPr>
              <a:t>Creating a thread:</a:t>
            </a:r>
            <a:endParaRPr/>
          </a:p>
        </p:txBody>
      </p:sp>
      <p:pic>
        <p:nvPicPr>
          <p:cNvPr id="2039107042" name="Picture 5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649413" y="3494088"/>
            <a:ext cx="4800600" cy="736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2863857" name="Rectangle 6"/>
          <p:cNvSpPr>
            <a:spLocks noChangeArrowheads="1"/>
          </p:cNvSpPr>
          <p:nvPr/>
        </p:nvSpPr>
        <p:spPr bwMode="auto">
          <a:xfrm>
            <a:off x="1214438" y="4219575"/>
            <a:ext cx="2849562" cy="36988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spcBef>
                <a:spcPts val="0"/>
              </a:spcBef>
              <a:buClr>
                <a:srgbClr val="993300"/>
              </a:buClr>
              <a:buSzPct val="90000"/>
              <a:buFont typeface="Monotype Sorts"/>
              <a:buChar char="n"/>
              <a:defRPr>
                <a:solidFill>
                  <a:schemeClr val="tx1"/>
                </a:solidFill>
                <a:latin typeface="Helvetica"/>
                <a:ea typeface="MS PGothic"/>
                <a:cs typeface="MS PGothic"/>
              </a:defRPr>
            </a:lvl1pPr>
            <a:lvl2pPr marL="742950" indent="-285750">
              <a:spcBef>
                <a:spcPts val="0"/>
              </a:spcBef>
              <a:buClr>
                <a:srgbClr val="CC6600"/>
              </a:buClr>
              <a:buSzPct val="80000"/>
              <a:buFont typeface="Monotype Sorts"/>
              <a:buChar char="l"/>
              <a:defRPr>
                <a:solidFill>
                  <a:schemeClr val="tx1"/>
                </a:solidFill>
                <a:latin typeface="Helvetica"/>
                <a:ea typeface="MS PGothic"/>
              </a:defRPr>
            </a:lvl2pPr>
            <a:lvl3pPr marL="1143000" indent="-228600">
              <a:spcBef>
                <a:spcPts val="0"/>
              </a:spcBef>
              <a:buClr>
                <a:srgbClr val="009900"/>
              </a:buClr>
              <a:buSzPct val="75000"/>
              <a:buFont typeface="Webdings"/>
              <a:buChar char="4"/>
              <a:defRPr>
                <a:solidFill>
                  <a:schemeClr val="tx1"/>
                </a:solidFill>
                <a:latin typeface="Helvetica"/>
                <a:ea typeface="MS PGothic"/>
              </a:defRPr>
            </a:lvl3pPr>
            <a:lvl4pPr marL="1600200" indent="-228600">
              <a:spcBef>
                <a:spcPts val="0"/>
              </a:spcBef>
              <a:buClr>
                <a:schemeClr val="hlink"/>
              </a:buClr>
              <a:buSzPct val="75000"/>
              <a:buChar char="–"/>
              <a:defRPr>
                <a:solidFill>
                  <a:schemeClr val="tx1"/>
                </a:solidFill>
                <a:latin typeface="Helvetica"/>
                <a:ea typeface="MS PGothic"/>
              </a:defRPr>
            </a:lvl4pPr>
            <a:lvl5pPr marL="2057400" indent="-228600">
              <a:spcBef>
                <a:spcPts val="0"/>
              </a:spcBef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buClr>
                <a:srgbClr val="FF0066"/>
              </a:buClr>
              <a:buSzPct val="75000"/>
              <a:buChar char="»"/>
              <a:defRPr>
                <a:solidFill>
                  <a:schemeClr val="tx1"/>
                </a:solidFill>
                <a:latin typeface="Helvetica"/>
                <a:ea typeface="MS PGothic"/>
              </a:defRPr>
            </a:lvl9pPr>
          </a:lstStyle>
          <a:p>
            <a:pPr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en-US" b="1">
                <a:latin typeface="Verdana"/>
              </a:rPr>
              <a:t>Waiting on a thread:</a:t>
            </a:r>
            <a:endParaRPr/>
          </a:p>
        </p:txBody>
      </p:sp>
      <p:pic>
        <p:nvPicPr>
          <p:cNvPr id="499597321" name="Picture 7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1793875" y="4657725"/>
            <a:ext cx="4114800" cy="127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89041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Java Executor Framework</a:t>
            </a:r>
            <a:endParaRPr/>
          </a:p>
        </p:txBody>
      </p:sp>
      <p:sp>
        <p:nvSpPr>
          <p:cNvPr id="6199083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Rather than explicitly creating threads, Java also allows thread creation around the Executor interface:</a:t>
            </a: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endParaRPr lang="en-US"/>
          </a:p>
          <a:p>
            <a:pPr>
              <a:defRPr/>
            </a:pPr>
            <a:r>
              <a:rPr lang="en-US"/>
              <a:t>The Executor is used as follows:</a:t>
            </a:r>
            <a:br>
              <a:rPr lang="en-US"/>
            </a:br>
            <a:br>
              <a:rPr lang="en-US"/>
            </a:br>
            <a:endParaRPr lang="en-US"/>
          </a:p>
        </p:txBody>
      </p:sp>
      <p:pic>
        <p:nvPicPr>
          <p:cNvPr id="702831820" name="Pictur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51063" y="1982788"/>
            <a:ext cx="4267200" cy="116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1973515" name="Picture 4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220913" y="4083050"/>
            <a:ext cx="3695700" cy="74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1061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Java Executor Framework</a:t>
            </a:r>
            <a:endParaRPr/>
          </a:p>
        </p:txBody>
      </p:sp>
      <p:pic>
        <p:nvPicPr>
          <p:cNvPr id="961844441" name="Picture 4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006600" y="1389062"/>
            <a:ext cx="6019800" cy="443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97787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Java Executor Framework (Cont.)</a:t>
            </a:r>
            <a:endParaRPr/>
          </a:p>
        </p:txBody>
      </p:sp>
      <p:pic>
        <p:nvPicPr>
          <p:cNvPr id="492148440" name="Pictur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74700" y="1778000"/>
            <a:ext cx="7581899" cy="328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7422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19499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Implicit Threading</a:t>
            </a:r>
            <a:endParaRPr/>
          </a:p>
        </p:txBody>
      </p:sp>
      <p:sp>
        <p:nvSpPr>
          <p:cNvPr id="1440914906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06449" y="1233488"/>
            <a:ext cx="7684407" cy="4478337"/>
          </a:xfrm>
        </p:spPr>
        <p:txBody>
          <a:bodyPr/>
          <a:lstStyle/>
          <a:p>
            <a:pPr>
              <a:defRPr/>
            </a:pPr>
            <a:r>
              <a:rPr lang="en-US"/>
              <a:t>Growing in popularity as numbers of threads increase, program correctness more difficult with explicit threads</a:t>
            </a:r>
            <a:endParaRPr/>
          </a:p>
          <a:p>
            <a:pPr>
              <a:defRPr/>
            </a:pPr>
            <a:r>
              <a:rPr lang="en-US"/>
              <a:t>Creation and management of threads done by compilers and run-time libraries rather than programmers</a:t>
            </a:r>
            <a:endParaRPr/>
          </a:p>
          <a:p>
            <a:pPr>
              <a:defRPr/>
            </a:pPr>
            <a:r>
              <a:rPr lang="en-US"/>
              <a:t>Five methods explored</a:t>
            </a:r>
            <a:endParaRPr/>
          </a:p>
          <a:p>
            <a:pPr lvl="1">
              <a:defRPr/>
            </a:pPr>
            <a:r>
              <a:rPr lang="en-US"/>
              <a:t>Thread Pools</a:t>
            </a:r>
            <a:endParaRPr/>
          </a:p>
          <a:p>
            <a:pPr lvl="1">
              <a:defRPr/>
            </a:pPr>
            <a:r>
              <a:rPr lang="en-US"/>
              <a:t>Fork-Join</a:t>
            </a:r>
            <a:endParaRPr/>
          </a:p>
          <a:p>
            <a:pPr lvl="1">
              <a:defRPr/>
            </a:pPr>
            <a:r>
              <a:rPr lang="en-US"/>
              <a:t>OpenMP</a:t>
            </a:r>
            <a:endParaRPr/>
          </a:p>
          <a:p>
            <a:pPr lvl="1">
              <a:defRPr/>
            </a:pPr>
            <a:r>
              <a:rPr lang="en-US"/>
              <a:t>Grand Central Dispatch</a:t>
            </a:r>
            <a:endParaRPr/>
          </a:p>
          <a:p>
            <a:pPr lvl="1">
              <a:defRPr/>
            </a:pPr>
            <a:r>
              <a:rPr lang="en-US"/>
              <a:t>Intel Threading Building Blocks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745664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16130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Thread Pools</a:t>
            </a:r>
            <a:endParaRPr/>
          </a:p>
        </p:txBody>
      </p:sp>
      <p:sp>
        <p:nvSpPr>
          <p:cNvPr id="1406699677" name="Rectangle 3"/>
          <p:cNvSpPr>
            <a:spLocks noChangeArrowheads="1" noGrp="1"/>
          </p:cNvSpPr>
          <p:nvPr>
            <p:ph type="body" idx="1"/>
          </p:nvPr>
        </p:nvSpPr>
        <p:spPr bwMode="auto">
          <a:xfrm flipH="0" flipV="0">
            <a:off x="869949" y="1081087"/>
            <a:ext cx="7686220" cy="3339949"/>
          </a:xfrm>
        </p:spPr>
        <p:txBody>
          <a:bodyPr/>
          <a:lstStyle/>
          <a:p>
            <a:pPr>
              <a:defRPr/>
            </a:pPr>
            <a:r>
              <a:rPr lang="en-US"/>
              <a:t>Create a number of threads in a pool where they await work</a:t>
            </a:r>
            <a:endParaRPr/>
          </a:p>
          <a:p>
            <a:pPr>
              <a:defRPr/>
            </a:pPr>
            <a:r>
              <a:rPr lang="en-US"/>
              <a:t>Advantages:</a:t>
            </a:r>
            <a:endParaRPr/>
          </a:p>
          <a:p>
            <a:pPr lvl="1">
              <a:defRPr/>
            </a:pPr>
            <a:r>
              <a:rPr lang="en-US"/>
              <a:t>Usually slightly faster to service a request with an existing thread than create a new thread</a:t>
            </a:r>
            <a:endParaRPr/>
          </a:p>
          <a:p>
            <a:pPr lvl="1">
              <a:defRPr/>
            </a:pPr>
            <a:r>
              <a:rPr lang="en-US"/>
              <a:t>Allows the number of threads in the application(s) to be bound to the size of the pool</a:t>
            </a:r>
            <a:endParaRPr/>
          </a:p>
          <a:p>
            <a:pPr lvl="1">
              <a:defRPr/>
            </a:pPr>
            <a:r>
              <a:rPr lang="en-US"/>
              <a:t>Separating task to be performed from mechanics of creating task allows different strategies for running task</a:t>
            </a:r>
            <a:endParaRPr/>
          </a:p>
          <a:p>
            <a:pPr lvl="2">
              <a:defRPr/>
            </a:pPr>
            <a:r>
              <a:rPr lang="en-US"/>
              <a:t>i.e.,Tasks</a:t>
            </a:r>
            <a:r>
              <a:rPr lang="en-US"/>
              <a:t> could be scheduled to run periodically</a:t>
            </a:r>
            <a:endParaRPr/>
          </a:p>
          <a:p>
            <a:pPr>
              <a:defRPr/>
            </a:pPr>
            <a:r>
              <a:rPr lang="en-US"/>
              <a:t>Windows API supports thread pools:</a:t>
            </a:r>
            <a:endParaRPr/>
          </a:p>
        </p:txBody>
      </p:sp>
      <p:pic>
        <p:nvPicPr>
          <p:cNvPr id="1345358254" name="Picture 1" descr="Screen Shot 2012-12-04 at 9.17.42 P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11288" y="4743450"/>
            <a:ext cx="6438899" cy="14239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77512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Java Thread Pools</a:t>
            </a:r>
            <a:endParaRPr/>
          </a:p>
        </p:txBody>
      </p:sp>
      <p:sp>
        <p:nvSpPr>
          <p:cNvPr id="69499839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Three factory methods for creating thread pools in Executors class:</a:t>
            </a:r>
            <a:endParaRPr/>
          </a:p>
        </p:txBody>
      </p:sp>
      <p:pic>
        <p:nvPicPr>
          <p:cNvPr id="1571249545" name="Pictur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62050" y="1636713"/>
            <a:ext cx="6680200" cy="13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4493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Java Thread Pools (Cont.)</a:t>
            </a:r>
            <a:endParaRPr/>
          </a:p>
        </p:txBody>
      </p:sp>
      <p:pic>
        <p:nvPicPr>
          <p:cNvPr id="406324677" name="Content Placeholder 3"/>
          <p:cNvPicPr>
            <a:picLocks noChangeAspect="1" noGrp="1"/>
          </p:cNvPicPr>
          <p:nvPr>
            <p:ph idx="1"/>
          </p:nvPr>
        </p:nvPicPr>
        <p:blipFill rotWithShape="1">
          <a:blip r:embed="rId3"/>
          <a:stretch/>
        </p:blipFill>
        <p:spPr bwMode="auto">
          <a:xfrm>
            <a:off x="1206500" y="1311275"/>
            <a:ext cx="7010399" cy="4254500"/>
          </a:xfr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322679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Fork-Join Parallelism</a:t>
            </a:r>
            <a:endParaRPr/>
          </a:p>
        </p:txBody>
      </p:sp>
      <p:sp>
        <p:nvSpPr>
          <p:cNvPr id="115467182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Multiple threads (tasks) are </a:t>
            </a:r>
            <a:r>
              <a:rPr lang="en-US" b="1"/>
              <a:t>forked</a:t>
            </a:r>
            <a:r>
              <a:rPr lang="en-US"/>
              <a:t>, and then </a:t>
            </a:r>
            <a:r>
              <a:rPr lang="en-US" b="1"/>
              <a:t>joined</a:t>
            </a:r>
            <a:r>
              <a:rPr lang="en-US"/>
              <a:t>.</a:t>
            </a:r>
            <a:endParaRPr/>
          </a:p>
        </p:txBody>
      </p:sp>
      <p:pic>
        <p:nvPicPr>
          <p:cNvPr id="1459452355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17538" y="2838450"/>
            <a:ext cx="8351837" cy="174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6946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Fork-Join Parallelism</a:t>
            </a:r>
            <a:endParaRPr/>
          </a:p>
        </p:txBody>
      </p:sp>
      <p:sp>
        <p:nvSpPr>
          <p:cNvPr id="5562912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General algorithm for fork-join strategy:</a:t>
            </a:r>
            <a:endParaRPr/>
          </a:p>
        </p:txBody>
      </p:sp>
      <p:pic>
        <p:nvPicPr>
          <p:cNvPr id="1793614964" name="Pictur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676400" y="2057400"/>
            <a:ext cx="5778500" cy="273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63286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Fork-Join Parallelism</a:t>
            </a:r>
            <a:endParaRPr/>
          </a:p>
        </p:txBody>
      </p:sp>
      <p:pic>
        <p:nvPicPr>
          <p:cNvPr id="815442649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378075" y="1482725"/>
            <a:ext cx="4202113" cy="42243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5264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Fork-Join Parallelism in Java</a:t>
            </a:r>
            <a:endParaRPr/>
          </a:p>
        </p:txBody>
      </p:sp>
      <p:pic>
        <p:nvPicPr>
          <p:cNvPr id="5380151" name="Pictur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25663" y="2084388"/>
            <a:ext cx="5537200" cy="162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8225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Fork-Join Parallelism in Java</a:t>
            </a:r>
            <a:endParaRPr/>
          </a:p>
        </p:txBody>
      </p:sp>
      <p:pic>
        <p:nvPicPr>
          <p:cNvPr id="577493052" name="Pictur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396542" y="906105"/>
            <a:ext cx="4806691" cy="57180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81978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Fork-Join Parallelism in Java</a:t>
            </a:r>
            <a:endParaRPr/>
          </a:p>
        </p:txBody>
      </p:sp>
      <p:sp>
        <p:nvSpPr>
          <p:cNvPr id="1522246599" name="Content Placeholder 2"/>
          <p:cNvSpPr>
            <a:spLocks noGrp="1"/>
          </p:cNvSpPr>
          <p:nvPr>
            <p:ph idx="1"/>
          </p:nvPr>
        </p:nvSpPr>
        <p:spPr bwMode="auto">
          <a:xfrm>
            <a:off x="806450" y="1233488"/>
            <a:ext cx="7712399" cy="1857375"/>
          </a:xfrm>
        </p:spPr>
        <p:txBody>
          <a:bodyPr/>
          <a:lstStyle/>
          <a:p>
            <a:pPr>
              <a:defRPr/>
            </a:pPr>
            <a:r>
              <a:rPr lang="en-US"/>
              <a:t>The </a:t>
            </a:r>
            <a:r>
              <a:rPr lang="en-US" b="1">
                <a:latin typeface="Courier New"/>
              </a:rPr>
              <a:t>ForkJoinTask</a:t>
            </a:r>
            <a:r>
              <a:rPr lang="en-US"/>
              <a:t> is an abstract base class</a:t>
            </a:r>
            <a:endParaRPr/>
          </a:p>
          <a:p>
            <a:pPr>
              <a:defRPr/>
            </a:pPr>
            <a:r>
              <a:rPr lang="en-US" b="1">
                <a:latin typeface="Courier New"/>
              </a:rPr>
              <a:t>RecursiveTask</a:t>
            </a:r>
            <a:r>
              <a:rPr lang="en-US"/>
              <a:t> and </a:t>
            </a:r>
            <a:r>
              <a:rPr lang="en-US" b="1">
                <a:latin typeface="Courier New"/>
              </a:rPr>
              <a:t>RecursiveAction</a:t>
            </a:r>
            <a:r>
              <a:rPr lang="en-US"/>
              <a:t> classes extend </a:t>
            </a:r>
            <a:r>
              <a:rPr lang="en-US" b="1">
                <a:latin typeface="Courier New"/>
              </a:rPr>
              <a:t>ForkJoinTask</a:t>
            </a:r>
            <a:endParaRPr lang="en-US" b="1">
              <a:latin typeface="Courier New"/>
            </a:endParaRPr>
          </a:p>
          <a:p>
            <a:pPr>
              <a:defRPr/>
            </a:pPr>
            <a:r>
              <a:rPr lang="en-US" b="1">
                <a:latin typeface="Courier New"/>
              </a:rPr>
              <a:t>RecursiveTask</a:t>
            </a:r>
            <a:r>
              <a:rPr lang="en-US"/>
              <a:t> returns a result (via the return value from the </a:t>
            </a:r>
            <a:r>
              <a:rPr lang="en-US" b="1">
                <a:latin typeface="Courier New"/>
              </a:rPr>
              <a:t>compute() </a:t>
            </a:r>
            <a:r>
              <a:rPr lang="en-US"/>
              <a:t>method) </a:t>
            </a:r>
            <a:endParaRPr/>
          </a:p>
          <a:p>
            <a:pPr>
              <a:defRPr/>
            </a:pPr>
            <a:r>
              <a:rPr lang="en-US" b="1">
                <a:latin typeface="Courier New"/>
              </a:rPr>
              <a:t>RecursiveAction</a:t>
            </a:r>
            <a:r>
              <a:rPr lang="en-US"/>
              <a:t> does not return a result</a:t>
            </a:r>
            <a:endParaRPr lang="en-US" b="1">
              <a:latin typeface="Courier New"/>
            </a:endParaRPr>
          </a:p>
          <a:p>
            <a:pPr>
              <a:defRPr/>
            </a:pPr>
            <a:endParaRPr lang="en-US" b="1">
              <a:latin typeface="Courier New"/>
            </a:endParaRPr>
          </a:p>
        </p:txBody>
      </p:sp>
      <p:pic>
        <p:nvPicPr>
          <p:cNvPr id="571774813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003037" y="3514236"/>
            <a:ext cx="4959350" cy="2543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609689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03430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OpenMP</a:t>
            </a:r>
            <a:endParaRPr/>
          </a:p>
        </p:txBody>
      </p:sp>
      <p:sp>
        <p:nvSpPr>
          <p:cNvPr id="970268863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06450" y="1473200"/>
            <a:ext cx="3560763" cy="3997325"/>
          </a:xfrm>
        </p:spPr>
        <p:txBody>
          <a:bodyPr/>
          <a:lstStyle/>
          <a:p>
            <a:pPr>
              <a:defRPr/>
            </a:pPr>
            <a:r>
              <a:rPr lang="en-US"/>
              <a:t>Set of compiler directives and an API for C, C++, FORTRAN </a:t>
            </a:r>
            <a:endParaRPr/>
          </a:p>
          <a:p>
            <a:pPr>
              <a:defRPr/>
            </a:pPr>
            <a:r>
              <a:rPr lang="en-US"/>
              <a:t>Provides support for parallel programming in shared-memory environments</a:t>
            </a:r>
            <a:endParaRPr/>
          </a:p>
          <a:p>
            <a:pPr>
              <a:defRPr/>
            </a:pPr>
            <a:r>
              <a:rPr lang="en-US"/>
              <a:t>Identifies </a:t>
            </a:r>
            <a:r>
              <a:rPr lang="en-US" b="1">
                <a:solidFill>
                  <a:srgbClr val="006699"/>
                </a:solidFill>
                <a:latin typeface="+mj-lt"/>
              </a:rPr>
              <a:t>parallel regions </a:t>
            </a:r>
            <a:r>
              <a:rPr lang="en-US"/>
              <a:t>– blocks of code that can run in parallel</a:t>
            </a:r>
            <a:endParaRPr/>
          </a:p>
          <a:p>
            <a:pPr>
              <a:buFont typeface="Monotype Sorts"/>
              <a:buNone/>
              <a:defRPr/>
            </a:pPr>
            <a:r>
              <a:rPr lang="en-US" b="1">
                <a:latin typeface="Courier New"/>
              </a:rPr>
              <a:t>#pragma </a:t>
            </a:r>
            <a:r>
              <a:rPr lang="en-US" b="1">
                <a:latin typeface="Courier New"/>
              </a:rPr>
              <a:t>omp</a:t>
            </a:r>
            <a:r>
              <a:rPr lang="en-US" b="1">
                <a:latin typeface="Courier New"/>
              </a:rPr>
              <a:t> parallel </a:t>
            </a:r>
            <a:endParaRPr/>
          </a:p>
          <a:p>
            <a:pPr>
              <a:buFont typeface="Monotype Sorts"/>
              <a:buNone/>
              <a:defRPr/>
            </a:pPr>
            <a:r>
              <a:rPr lang="en-US"/>
              <a:t>Create as many threads as there are cores</a:t>
            </a:r>
            <a:endParaRPr/>
          </a:p>
        </p:txBody>
      </p:sp>
      <p:pic>
        <p:nvPicPr>
          <p:cNvPr id="2005674128" name="Pictur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08500" y="1473200"/>
            <a:ext cx="4089400" cy="399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4184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7676772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Run the for loop in parallel</a:t>
            </a:r>
            <a:endParaRPr/>
          </a:p>
        </p:txBody>
      </p:sp>
      <p:pic>
        <p:nvPicPr>
          <p:cNvPr id="1186292518" name="Pictur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676525" y="2570163"/>
            <a:ext cx="3581400" cy="1181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469875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12761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Grand Central Dispatch</a:t>
            </a:r>
            <a:endParaRPr/>
          </a:p>
        </p:txBody>
      </p:sp>
      <p:sp>
        <p:nvSpPr>
          <p:cNvPr id="291427884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21093" y="1187450"/>
            <a:ext cx="7753740" cy="4478338"/>
          </a:xfrm>
        </p:spPr>
        <p:txBody>
          <a:bodyPr/>
          <a:lstStyle/>
          <a:p>
            <a:pPr>
              <a:defRPr/>
            </a:pPr>
            <a:r>
              <a:rPr lang="en-US"/>
              <a:t>Apple technology for macOS and iOS operating systems</a:t>
            </a:r>
            <a:endParaRPr/>
          </a:p>
          <a:p>
            <a:pPr>
              <a:defRPr/>
            </a:pPr>
            <a:r>
              <a:rPr lang="en-US"/>
              <a:t>Extensions to C, C++ and Objective-C languages, API, and run-time library</a:t>
            </a:r>
            <a:endParaRPr/>
          </a:p>
          <a:p>
            <a:pPr>
              <a:defRPr/>
            </a:pPr>
            <a:r>
              <a:rPr lang="en-US"/>
              <a:t>Allows identification of parallel sections</a:t>
            </a:r>
            <a:endParaRPr/>
          </a:p>
          <a:p>
            <a:pPr>
              <a:defRPr/>
            </a:pPr>
            <a:r>
              <a:rPr lang="en-US"/>
              <a:t>Manages most of the details of threading</a:t>
            </a:r>
            <a:endParaRPr/>
          </a:p>
          <a:p>
            <a:pPr>
              <a:defRPr/>
            </a:pPr>
            <a:r>
              <a:rPr lang="en-US"/>
              <a:t>Block is in “^{ }” :</a:t>
            </a:r>
            <a:br>
              <a:rPr lang="en-US"/>
            </a:br>
            <a:br>
              <a:rPr lang="en-US"/>
            </a:br>
            <a:r>
              <a:rPr lang="en-US"/>
              <a:t> </a:t>
            </a:r>
            <a:r>
              <a:rPr lang="ro-RO" b="1">
                <a:latin typeface="Courier New"/>
              </a:rPr>
              <a:t>ˆ{ printf("I am a block"); } </a:t>
            </a:r>
            <a:br>
              <a:rPr lang="ro-RO" b="1">
                <a:latin typeface="Courier New"/>
              </a:rPr>
            </a:br>
            <a:endParaRPr lang="en-US"/>
          </a:p>
          <a:p>
            <a:pPr>
              <a:defRPr/>
            </a:pPr>
            <a:r>
              <a:rPr lang="en-US"/>
              <a:t>Blocks placed in dispatch queue</a:t>
            </a:r>
            <a:endParaRPr/>
          </a:p>
          <a:p>
            <a:pPr lvl="1">
              <a:defRPr/>
            </a:pPr>
            <a:r>
              <a:rPr lang="en-US"/>
              <a:t>Assigned to available thread in thread pool when removed from queue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243011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13537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Grand Central Dispatch</a:t>
            </a:r>
            <a:endParaRPr/>
          </a:p>
        </p:txBody>
      </p:sp>
      <p:sp>
        <p:nvSpPr>
          <p:cNvPr id="642473555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21092" y="1203325"/>
            <a:ext cx="7688426" cy="4478338"/>
          </a:xfrm>
        </p:spPr>
        <p:txBody>
          <a:bodyPr/>
          <a:lstStyle/>
          <a:p>
            <a:pPr>
              <a:defRPr/>
            </a:pPr>
            <a:r>
              <a:rPr lang="en-US"/>
              <a:t>Two types of dispatch queues:</a:t>
            </a:r>
            <a:endParaRPr/>
          </a:p>
          <a:p>
            <a:pPr lvl="1">
              <a:defRPr/>
            </a:pPr>
            <a:r>
              <a:rPr lang="en-US" b="1"/>
              <a:t>serial</a:t>
            </a:r>
            <a:r>
              <a:rPr lang="en-US"/>
              <a:t> – blocks removed in FIFO order, queue is per process, called </a:t>
            </a:r>
            <a:r>
              <a:rPr lang="en-US" b="1">
                <a:solidFill>
                  <a:srgbClr val="006699"/>
                </a:solidFill>
                <a:latin typeface="+mj-lt"/>
              </a:rPr>
              <a:t>main queue</a:t>
            </a:r>
            <a:endParaRPr/>
          </a:p>
          <a:p>
            <a:pPr lvl="2">
              <a:defRPr/>
            </a:pPr>
            <a:r>
              <a:rPr lang="en-US"/>
              <a:t>Programmers can create additional serial queues within program</a:t>
            </a:r>
            <a:endParaRPr/>
          </a:p>
          <a:p>
            <a:pPr lvl="1">
              <a:defRPr/>
            </a:pPr>
            <a:r>
              <a:rPr lang="en-US" b="1"/>
              <a:t>concurrent</a:t>
            </a:r>
            <a:r>
              <a:rPr lang="en-US"/>
              <a:t> – removed in FIFO order but several may be removed at a time</a:t>
            </a:r>
            <a:endParaRPr/>
          </a:p>
          <a:p>
            <a:pPr lvl="2">
              <a:defRPr/>
            </a:pPr>
            <a:r>
              <a:rPr lang="en-US"/>
              <a:t>Four system wide queues divided by quality of service:</a:t>
            </a:r>
            <a:endParaRPr/>
          </a:p>
          <a:p>
            <a:pPr lvl="2">
              <a:buFont typeface="Courier New"/>
              <a:buChar char="o"/>
              <a:defRPr/>
            </a:pPr>
            <a:r>
              <a:rPr lang="en-US">
                <a:latin typeface="Courier New"/>
              </a:rPr>
              <a:t>QOS_CLASS_USER_INTERACTIVE</a:t>
            </a:r>
            <a:endParaRPr/>
          </a:p>
          <a:p>
            <a:pPr lvl="2">
              <a:buFont typeface="Courier New"/>
              <a:buChar char="o"/>
              <a:defRPr/>
            </a:pPr>
            <a:r>
              <a:rPr lang="en-US">
                <a:latin typeface="Courier New"/>
              </a:rPr>
              <a:t>QOS_CLASS_USER_INITIATED</a:t>
            </a:r>
            <a:endParaRPr/>
          </a:p>
          <a:p>
            <a:pPr lvl="2">
              <a:buFont typeface="Courier New"/>
              <a:buChar char="o"/>
              <a:defRPr/>
            </a:pPr>
            <a:r>
              <a:rPr lang="en-US">
                <a:latin typeface="Courier New"/>
              </a:rPr>
              <a:t>QOS_CLASS_USER_UTILITY</a:t>
            </a:r>
            <a:endParaRPr/>
          </a:p>
          <a:p>
            <a:pPr lvl="2">
              <a:buFont typeface="Courier New"/>
              <a:buChar char="o"/>
              <a:defRPr/>
            </a:pPr>
            <a:r>
              <a:rPr lang="en-US">
                <a:latin typeface="Courier New"/>
              </a:rPr>
              <a:t>QOS_CLASS_USER_BACKGROUND</a:t>
            </a:r>
            <a:endParaRPr/>
          </a:p>
          <a:p>
            <a:pPr lvl="2">
              <a:defRPr/>
            </a:pPr>
            <a:endParaRPr lang="en-US"/>
          </a:p>
          <a:p>
            <a:pPr lvl="2">
              <a:defRPr/>
            </a:pPr>
            <a:endParaRPr lang="en-US"/>
          </a:p>
          <a:p>
            <a:pPr lvl="2">
              <a:defRPr/>
            </a:pPr>
            <a:endParaRPr lang="en-US"/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211620" name="Title 1"/>
          <p:cNvSpPr>
            <a:spLocks noGrp="1"/>
          </p:cNvSpPr>
          <p:nvPr>
            <p:ph type="title"/>
          </p:nvPr>
        </p:nvSpPr>
        <p:spPr bwMode="auto">
          <a:xfrm>
            <a:off x="457200" y="205860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Grand Central Dispatch</a:t>
            </a:r>
            <a:endParaRPr/>
          </a:p>
        </p:txBody>
      </p:sp>
      <p:sp>
        <p:nvSpPr>
          <p:cNvPr id="204539219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For the Swift language a task is defined as a closure – similar to a block, minus the caret</a:t>
            </a:r>
            <a:endParaRPr/>
          </a:p>
          <a:p>
            <a:pPr>
              <a:defRPr/>
            </a:pPr>
            <a:r>
              <a:rPr lang="en-US"/>
              <a:t>Closures are submitted to the queue using the </a:t>
            </a:r>
            <a:r>
              <a:rPr lang="en-US">
                <a:latin typeface="Courier New"/>
              </a:rPr>
              <a:t>dispatch_async</a:t>
            </a:r>
            <a:r>
              <a:rPr lang="en-US">
                <a:latin typeface="Courier New"/>
              </a:rPr>
              <a:t>() </a:t>
            </a:r>
            <a:r>
              <a:rPr lang="en-US"/>
              <a:t>function:</a:t>
            </a:r>
            <a:br>
              <a:rPr lang="en-US"/>
            </a:br>
            <a:br>
              <a:rPr lang="en-US"/>
            </a:br>
            <a:r>
              <a:rPr lang="en-US"/>
              <a:t> </a:t>
            </a:r>
            <a:endParaRPr/>
          </a:p>
        </p:txBody>
      </p:sp>
      <p:pic>
        <p:nvPicPr>
          <p:cNvPr id="1949361780" name="Pictur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625600" y="2432050"/>
            <a:ext cx="5892800" cy="1231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860793" name="Title 1"/>
          <p:cNvSpPr>
            <a:spLocks noGrp="1"/>
          </p:cNvSpPr>
          <p:nvPr>
            <p:ph type="title"/>
          </p:nvPr>
        </p:nvSpPr>
        <p:spPr bwMode="auto">
          <a:xfrm>
            <a:off x="958850" y="233853"/>
            <a:ext cx="7727950" cy="576262"/>
          </a:xfrm>
        </p:spPr>
        <p:txBody>
          <a:bodyPr/>
          <a:lstStyle/>
          <a:p>
            <a:pPr>
              <a:defRPr/>
            </a:pPr>
            <a:r>
              <a:rPr lang="en-US"/>
              <a:t>Intel Threading Building Blocks (TBB)</a:t>
            </a:r>
            <a:endParaRPr/>
          </a:p>
        </p:txBody>
      </p:sp>
      <p:sp>
        <p:nvSpPr>
          <p:cNvPr id="140406741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Template library for designing parallel C++ programs</a:t>
            </a:r>
            <a:endParaRPr/>
          </a:p>
          <a:p>
            <a:pPr>
              <a:defRPr/>
            </a:pPr>
            <a:r>
              <a:rPr lang="en-US"/>
              <a:t>A serial version of a simple for loop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The same for loop written using TBB with </a:t>
            </a:r>
            <a:r>
              <a:rPr lang="en-US" b="1">
                <a:latin typeface="Courier New"/>
              </a:rPr>
              <a:t>parallel_for</a:t>
            </a:r>
            <a:r>
              <a:rPr lang="en-US"/>
              <a:t> statement:</a:t>
            </a:r>
            <a:endParaRPr/>
          </a:p>
        </p:txBody>
      </p:sp>
      <p:pic>
        <p:nvPicPr>
          <p:cNvPr id="923400409" name="Pictur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008188" y="2112963"/>
            <a:ext cx="3721100" cy="889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6481195" name="Picture 4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322388" y="4071938"/>
            <a:ext cx="6642100" cy="62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404804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16130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Threading Issues</a:t>
            </a:r>
            <a:endParaRPr/>
          </a:p>
        </p:txBody>
      </p:sp>
      <p:sp>
        <p:nvSpPr>
          <p:cNvPr id="1001572460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11762" y="1143000"/>
            <a:ext cx="7440645" cy="4483100"/>
          </a:xfrm>
        </p:spPr>
        <p:txBody>
          <a:bodyPr/>
          <a:lstStyle/>
          <a:p>
            <a:pPr>
              <a:defRPr/>
            </a:pPr>
            <a:r>
              <a:rPr lang="en-US"/>
              <a:t>Semantics of </a:t>
            </a:r>
            <a:r>
              <a:rPr lang="en-US" b="1"/>
              <a:t>fork()</a:t>
            </a:r>
            <a:r>
              <a:rPr lang="en-US"/>
              <a:t> and </a:t>
            </a:r>
            <a:r>
              <a:rPr lang="en-US" b="1"/>
              <a:t>exec()</a:t>
            </a:r>
            <a:r>
              <a:rPr lang="en-US"/>
              <a:t> system calls</a:t>
            </a:r>
            <a:endParaRPr lang="en-US" sz="800"/>
          </a:p>
          <a:p>
            <a:pPr>
              <a:defRPr/>
            </a:pPr>
            <a:r>
              <a:rPr lang="en-US"/>
              <a:t>Signal handling</a:t>
            </a:r>
            <a:endParaRPr/>
          </a:p>
          <a:p>
            <a:pPr lvl="1">
              <a:defRPr/>
            </a:pPr>
            <a:r>
              <a:rPr lang="en-US"/>
              <a:t>Synchronous and asynchronous</a:t>
            </a:r>
            <a:endParaRPr lang="en-US" sz="800"/>
          </a:p>
          <a:p>
            <a:pPr>
              <a:defRPr/>
            </a:pPr>
            <a:r>
              <a:rPr lang="en-US"/>
              <a:t>Thread cancellation of target thread</a:t>
            </a:r>
            <a:endParaRPr/>
          </a:p>
          <a:p>
            <a:pPr lvl="1">
              <a:defRPr/>
            </a:pPr>
            <a:r>
              <a:rPr lang="en-US"/>
              <a:t>Asynchronous or deferred</a:t>
            </a:r>
            <a:endParaRPr lang="en-US" sz="800"/>
          </a:p>
          <a:p>
            <a:pPr>
              <a:defRPr/>
            </a:pPr>
            <a:r>
              <a:rPr lang="en-US"/>
              <a:t>Thread-local storage</a:t>
            </a:r>
            <a:endParaRPr/>
          </a:p>
          <a:p>
            <a:pPr>
              <a:defRPr/>
            </a:pPr>
            <a:r>
              <a:rPr lang="en-US"/>
              <a:t>Scheduler Activations</a:t>
            </a:r>
            <a:endParaRPr/>
          </a:p>
          <a:p>
            <a:pPr>
              <a:defRPr/>
            </a:pPr>
            <a:endParaRPr lang="en-US" sz="800"/>
          </a:p>
          <a:p>
            <a:pPr lvl="1">
              <a:buFont typeface="Monotype Sorts"/>
              <a:buNone/>
              <a:defRPr/>
            </a:pPr>
            <a:endParaRPr lang="en-US" sz="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517658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1117600" y="204205"/>
            <a:ext cx="7569200" cy="576262"/>
          </a:xfrm>
        </p:spPr>
        <p:txBody>
          <a:bodyPr/>
          <a:lstStyle/>
          <a:p>
            <a:pPr>
              <a:defRPr/>
            </a:pPr>
            <a:r>
              <a:rPr lang="en-US"/>
              <a:t>Semantics of fork() and exec()</a:t>
            </a:r>
            <a:endParaRPr/>
          </a:p>
        </p:txBody>
      </p:sp>
      <p:sp>
        <p:nvSpPr>
          <p:cNvPr id="1905646516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06449" y="1233488"/>
            <a:ext cx="7656415" cy="4530725"/>
          </a:xfrm>
        </p:spPr>
        <p:txBody>
          <a:bodyPr/>
          <a:lstStyle/>
          <a:p>
            <a:pPr>
              <a:defRPr/>
            </a:pPr>
            <a:r>
              <a:rPr lang="en-US"/>
              <a:t>Does </a:t>
            </a:r>
            <a:r>
              <a:rPr lang="en-US" b="1">
                <a:latin typeface="Courier New"/>
              </a:rPr>
              <a:t>fork()</a:t>
            </a:r>
            <a:r>
              <a:rPr lang="en-US"/>
              <a:t>duplicate only the calling thread or all threads?</a:t>
            </a:r>
            <a:endParaRPr/>
          </a:p>
          <a:p>
            <a:pPr lvl="1">
              <a:defRPr/>
            </a:pPr>
            <a:r>
              <a:rPr lang="en-US"/>
              <a:t>Some UNIXes have two versions of fork</a:t>
            </a:r>
            <a:endParaRPr/>
          </a:p>
          <a:p>
            <a:pPr>
              <a:defRPr/>
            </a:pPr>
            <a:r>
              <a:rPr lang="en-US" b="1">
                <a:latin typeface="Courier New"/>
              </a:rPr>
              <a:t>exec() </a:t>
            </a:r>
            <a:r>
              <a:rPr lang="en-US"/>
              <a:t>usually works as normal – replace the running process including all threads</a:t>
            </a:r>
            <a:endParaRPr/>
          </a:p>
          <a:p>
            <a:pPr lvl="1"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0876884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1168400" y="226237"/>
            <a:ext cx="7518400" cy="576262"/>
          </a:xfrm>
        </p:spPr>
        <p:txBody>
          <a:bodyPr/>
          <a:lstStyle/>
          <a:p>
            <a:pPr>
              <a:defRPr/>
            </a:pPr>
            <a:r>
              <a:rPr lang="en-US"/>
              <a:t>Signal Handling</a:t>
            </a:r>
            <a:endParaRPr/>
          </a:p>
        </p:txBody>
      </p:sp>
      <p:sp>
        <p:nvSpPr>
          <p:cNvPr id="1064908871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17756" y="1164839"/>
            <a:ext cx="7719753" cy="5156200"/>
          </a:xfrm>
        </p:spPr>
        <p:txBody>
          <a:bodyPr/>
          <a:lstStyle/>
          <a:p>
            <a:pPr>
              <a:defRPr/>
            </a:pPr>
            <a:r>
              <a:rPr lang="en-US" b="1">
                <a:solidFill>
                  <a:srgbClr val="006699"/>
                </a:solidFill>
                <a:latin typeface="+mj-lt"/>
              </a:rPr>
              <a:t>Signals</a:t>
            </a:r>
            <a:r>
              <a:rPr lang="en-US" b="1">
                <a:solidFill>
                  <a:srgbClr val="3366FF"/>
                </a:solidFill>
                <a:ea typeface="ＭＳ Ｐゴシック"/>
                <a:cs typeface="ＭＳ Ｐゴシック"/>
              </a:rPr>
              <a:t> </a:t>
            </a:r>
            <a:r>
              <a:rPr lang="en-US">
                <a:ea typeface="ＭＳ Ｐゴシック"/>
                <a:cs typeface="ＭＳ Ｐゴシック"/>
              </a:rPr>
              <a:t>are used in UNIX systems to notify a process that a particular event has occurred.</a:t>
            </a:r>
            <a:endParaRPr/>
          </a:p>
          <a:p>
            <a:pPr>
              <a:defRPr/>
            </a:pPr>
            <a:r>
              <a:rPr lang="en-US">
                <a:ea typeface="ＭＳ Ｐゴシック"/>
                <a:cs typeface="ＭＳ Ｐゴシック"/>
              </a:rPr>
              <a:t>A </a:t>
            </a:r>
            <a:r>
              <a:rPr lang="en-US" b="1">
                <a:solidFill>
                  <a:srgbClr val="006699"/>
                </a:solidFill>
                <a:latin typeface="+mj-lt"/>
              </a:rPr>
              <a:t>signal handler </a:t>
            </a:r>
            <a:r>
              <a:rPr lang="en-US">
                <a:ea typeface="ＭＳ Ｐゴシック"/>
                <a:cs typeface="ＭＳ Ｐゴシック"/>
              </a:rPr>
              <a:t>is used to process signals</a:t>
            </a:r>
            <a:endParaRPr/>
          </a:p>
          <a:p>
            <a:pPr marL="798989" lvl="1" indent="-342265">
              <a:buFont typeface="Webdings"/>
              <a:buAutoNum type="arabicPeriod"/>
              <a:defRPr/>
            </a:pPr>
            <a:r>
              <a:rPr lang="en-US">
                <a:ea typeface="ＭＳ Ｐゴシック"/>
              </a:rPr>
              <a:t>Signal is generated by particular event</a:t>
            </a:r>
            <a:endParaRPr/>
          </a:p>
          <a:p>
            <a:pPr marL="798989" lvl="1" indent="-342265">
              <a:buFont typeface="Webdings"/>
              <a:buAutoNum type="arabicPeriod"/>
              <a:defRPr/>
            </a:pPr>
            <a:r>
              <a:rPr lang="en-US">
                <a:ea typeface="ＭＳ Ｐゴシック"/>
              </a:rPr>
              <a:t>Signal is delivered to a process</a:t>
            </a:r>
            <a:endParaRPr/>
          </a:p>
          <a:p>
            <a:pPr marL="798989" lvl="1" indent="-342265">
              <a:buFont typeface="Webdings"/>
              <a:buAutoNum type="arabicPeriod"/>
              <a:defRPr/>
            </a:pPr>
            <a:r>
              <a:rPr lang="en-US">
                <a:ea typeface="ＭＳ Ｐゴシック"/>
              </a:rPr>
              <a:t>Signal is handled by one of two signal handlers:</a:t>
            </a:r>
            <a:endParaRPr/>
          </a:p>
          <a:p>
            <a:pPr marL="1142366" lvl="2" indent="-342265">
              <a:buFont typeface="Webdings"/>
              <a:buAutoNum type="arabicPeriod"/>
              <a:defRPr/>
            </a:pPr>
            <a:r>
              <a:rPr lang="en-US">
                <a:ea typeface="ＭＳ Ｐゴシック"/>
              </a:rPr>
              <a:t>default</a:t>
            </a:r>
            <a:endParaRPr/>
          </a:p>
          <a:p>
            <a:pPr marL="1142366" lvl="2" indent="-342265">
              <a:buFont typeface="Webdings"/>
              <a:buAutoNum type="arabicPeriod"/>
              <a:defRPr/>
            </a:pPr>
            <a:r>
              <a:rPr lang="en-US">
                <a:ea typeface="ＭＳ Ｐゴシック"/>
              </a:rPr>
              <a:t>user-defined</a:t>
            </a:r>
            <a:endParaRPr/>
          </a:p>
          <a:p>
            <a:pPr>
              <a:defRPr/>
            </a:pPr>
            <a:r>
              <a:rPr lang="en-US">
                <a:ea typeface="ＭＳ Ｐゴシック"/>
                <a:cs typeface="ＭＳ Ｐゴシック"/>
              </a:rPr>
              <a:t>Every signal has </a:t>
            </a:r>
            <a:r>
              <a:rPr lang="en-US" b="1">
                <a:solidFill>
                  <a:srgbClr val="006699"/>
                </a:solidFill>
                <a:latin typeface="+mj-lt"/>
              </a:rPr>
              <a:t>default handler</a:t>
            </a:r>
            <a:r>
              <a:rPr lang="en-US" b="1">
                <a:solidFill>
                  <a:srgbClr val="3366FF"/>
                </a:solidFill>
                <a:ea typeface="ＭＳ Ｐゴシック"/>
                <a:cs typeface="ＭＳ Ｐゴシック"/>
              </a:rPr>
              <a:t> </a:t>
            </a:r>
            <a:r>
              <a:rPr lang="en-US">
                <a:ea typeface="ＭＳ Ｐゴシック"/>
                <a:cs typeface="ＭＳ Ｐゴシック"/>
              </a:rPr>
              <a:t>that kernel runs when handling signal</a:t>
            </a:r>
            <a:endParaRPr/>
          </a:p>
          <a:p>
            <a:pPr marL="780098" lvl="1" indent="-380048">
              <a:defRPr/>
            </a:pPr>
            <a:r>
              <a:rPr lang="en-US" b="1">
                <a:solidFill>
                  <a:srgbClr val="006699"/>
                </a:solidFill>
                <a:latin typeface="+mj-lt"/>
              </a:rPr>
              <a:t>User-defined signal handler </a:t>
            </a:r>
            <a:r>
              <a:rPr lang="en-US">
                <a:ea typeface="ＭＳ Ｐゴシック"/>
                <a:cs typeface="ＭＳ Ｐゴシック"/>
              </a:rPr>
              <a:t>can override default</a:t>
            </a:r>
            <a:endParaRPr/>
          </a:p>
          <a:p>
            <a:pPr marL="780098" lvl="1" indent="-380048">
              <a:defRPr/>
            </a:pPr>
            <a:r>
              <a:rPr lang="en-US">
                <a:ea typeface="ＭＳ Ｐゴシック"/>
                <a:cs typeface="ＭＳ Ｐゴシック"/>
              </a:rPr>
              <a:t>For single-threaded, signal delivered to process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2698304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1168400" y="226237"/>
            <a:ext cx="7518400" cy="576262"/>
          </a:xfrm>
        </p:spPr>
        <p:txBody>
          <a:bodyPr/>
          <a:lstStyle/>
          <a:p>
            <a:pPr>
              <a:defRPr/>
            </a:pPr>
            <a:r>
              <a:rPr lang="en-US"/>
              <a:t>Signal Handling (Cont.)</a:t>
            </a:r>
            <a:endParaRPr/>
          </a:p>
        </p:txBody>
      </p:sp>
      <p:sp>
        <p:nvSpPr>
          <p:cNvPr id="470489169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27087" y="1146175"/>
            <a:ext cx="7691761" cy="5156200"/>
          </a:xfrm>
        </p:spPr>
        <p:txBody>
          <a:bodyPr/>
          <a:lstStyle/>
          <a:p>
            <a:pPr>
              <a:defRPr/>
            </a:pPr>
            <a:r>
              <a:rPr lang="en-US">
                <a:ea typeface="ＭＳ Ｐゴシック"/>
                <a:cs typeface="ＭＳ Ｐゴシック"/>
              </a:rPr>
              <a:t>Where should a signal be delivered for multi-threaded? </a:t>
            </a:r>
            <a:endParaRPr/>
          </a:p>
          <a:p>
            <a:pPr lvl="1">
              <a:defRPr/>
            </a:pPr>
            <a:r>
              <a:rPr lang="en-US">
                <a:ea typeface="ＭＳ Ｐゴシック"/>
              </a:rPr>
              <a:t>Deliver the signal to the thread to which the signal applies</a:t>
            </a:r>
            <a:endParaRPr/>
          </a:p>
          <a:p>
            <a:pPr lvl="1">
              <a:defRPr/>
            </a:pPr>
            <a:r>
              <a:rPr lang="en-US">
                <a:ea typeface="ＭＳ Ｐゴシック"/>
              </a:rPr>
              <a:t>Deliver the signal to every thread in the process</a:t>
            </a:r>
            <a:endParaRPr/>
          </a:p>
          <a:p>
            <a:pPr lvl="1">
              <a:defRPr/>
            </a:pPr>
            <a:r>
              <a:rPr lang="en-US">
                <a:ea typeface="ＭＳ Ｐゴシック"/>
              </a:rPr>
              <a:t>Deliver the signal to certain threads in the process</a:t>
            </a:r>
            <a:endParaRPr/>
          </a:p>
          <a:p>
            <a:pPr lvl="1">
              <a:defRPr/>
            </a:pPr>
            <a:r>
              <a:rPr lang="en-US">
                <a:ea typeface="ＭＳ Ｐゴシック"/>
              </a:rPr>
              <a:t>Assign a specific thread to receive all signals for the process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724511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1081088" y="226237"/>
            <a:ext cx="7605712" cy="576262"/>
          </a:xfrm>
        </p:spPr>
        <p:txBody>
          <a:bodyPr/>
          <a:lstStyle/>
          <a:p>
            <a:pPr>
              <a:defRPr/>
            </a:pPr>
            <a:r>
              <a:rPr lang="en-US"/>
              <a:t>Thread Cancellation</a:t>
            </a:r>
            <a:endParaRPr/>
          </a:p>
        </p:txBody>
      </p:sp>
      <p:sp>
        <p:nvSpPr>
          <p:cNvPr id="1403551272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21093" y="1146175"/>
            <a:ext cx="7672031" cy="4430713"/>
          </a:xfrm>
        </p:spPr>
        <p:txBody>
          <a:bodyPr/>
          <a:lstStyle/>
          <a:p>
            <a:pPr>
              <a:defRPr/>
            </a:pPr>
            <a:r>
              <a:rPr lang="en-US"/>
              <a:t>Terminating a thread before it has finished</a:t>
            </a:r>
            <a:endParaRPr/>
          </a:p>
          <a:p>
            <a:pPr>
              <a:defRPr/>
            </a:pPr>
            <a:r>
              <a:rPr lang="en-US"/>
              <a:t>Thread to be canceled is </a:t>
            </a:r>
            <a:r>
              <a:rPr lang="en-US" b="1">
                <a:solidFill>
                  <a:srgbClr val="006699"/>
                </a:solidFill>
                <a:latin typeface="+mj-lt"/>
              </a:rPr>
              <a:t>target thread</a:t>
            </a:r>
            <a:endParaRPr/>
          </a:p>
          <a:p>
            <a:pPr>
              <a:defRPr/>
            </a:pPr>
            <a:r>
              <a:rPr lang="en-US"/>
              <a:t>Two general approaches:</a:t>
            </a:r>
            <a:endParaRPr/>
          </a:p>
          <a:p>
            <a:pPr lvl="1">
              <a:defRPr/>
            </a:pPr>
            <a:r>
              <a:rPr lang="en-US" b="1"/>
              <a:t>Asynchronous cancellation</a:t>
            </a:r>
            <a:r>
              <a:rPr lang="en-US"/>
              <a:t> terminates the target thread immediately</a:t>
            </a:r>
            <a:endParaRPr/>
          </a:p>
          <a:p>
            <a:pPr lvl="1">
              <a:defRPr/>
            </a:pPr>
            <a:r>
              <a:rPr lang="en-US" b="1"/>
              <a:t>Deferred cancellation</a:t>
            </a:r>
            <a:r>
              <a:rPr lang="en-US"/>
              <a:t> allows the target thread to periodically check if it should be cancelled</a:t>
            </a:r>
            <a:endParaRPr/>
          </a:p>
          <a:p>
            <a:pPr>
              <a:defRPr/>
            </a:pPr>
            <a:r>
              <a:rPr lang="en-US"/>
              <a:t>Pthread</a:t>
            </a:r>
            <a:r>
              <a:rPr lang="en-US"/>
              <a:t> code to create and cancel a thread:</a:t>
            </a:r>
            <a:endParaRPr/>
          </a:p>
          <a:p>
            <a:pPr>
              <a:buFont typeface="Monotype Sorts"/>
              <a:buNone/>
              <a:defRPr/>
            </a:pPr>
            <a:endParaRPr lang="en-US"/>
          </a:p>
          <a:p>
            <a:pPr lvl="1">
              <a:defRPr/>
            </a:pPr>
            <a:endParaRPr lang="en-US"/>
          </a:p>
        </p:txBody>
      </p:sp>
      <p:pic>
        <p:nvPicPr>
          <p:cNvPr id="650374986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568575" y="4022725"/>
            <a:ext cx="3948113" cy="2425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643244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1081088" y="222868"/>
            <a:ext cx="7605712" cy="576262"/>
          </a:xfrm>
        </p:spPr>
        <p:txBody>
          <a:bodyPr/>
          <a:lstStyle/>
          <a:p>
            <a:pPr>
              <a:defRPr/>
            </a:pPr>
            <a:r>
              <a:rPr lang="en-US"/>
              <a:t>Thread Cancellation (Cont.)</a:t>
            </a:r>
            <a:endParaRPr/>
          </a:p>
        </p:txBody>
      </p:sp>
      <p:sp>
        <p:nvSpPr>
          <p:cNvPr id="460630618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39755" y="1057275"/>
            <a:ext cx="7735078" cy="4962525"/>
          </a:xfrm>
        </p:spPr>
        <p:txBody>
          <a:bodyPr/>
          <a:lstStyle/>
          <a:p>
            <a:pPr>
              <a:defRPr/>
            </a:pPr>
            <a:r>
              <a:rPr lang="en-US">
                <a:cs typeface="ＭＳ Ｐゴシック"/>
              </a:rPr>
              <a:t>Invoking thread cancellation requests cancellation, but actual cancellation depends on thread state</a:t>
            </a:r>
            <a:endParaRPr/>
          </a:p>
          <a:p>
            <a:pPr>
              <a:defRPr/>
            </a:pPr>
            <a:endParaRPr lang="en-US">
              <a:cs typeface="ＭＳ Ｐゴシック"/>
            </a:endParaRPr>
          </a:p>
          <a:p>
            <a:pPr>
              <a:defRPr/>
            </a:pPr>
            <a:endParaRPr lang="en-US">
              <a:cs typeface="ＭＳ Ｐゴシック"/>
            </a:endParaRPr>
          </a:p>
          <a:p>
            <a:pPr marL="0" indent="0">
              <a:buFont typeface="Monotype Sorts"/>
              <a:buNone/>
              <a:defRPr/>
            </a:pPr>
            <a:endParaRPr lang="en-US">
              <a:cs typeface="ＭＳ Ｐゴシック"/>
            </a:endParaRPr>
          </a:p>
          <a:p>
            <a:pPr marL="0" indent="0">
              <a:buFont typeface="Monotype Sorts"/>
              <a:buNone/>
              <a:defRPr/>
            </a:pPr>
            <a:endParaRPr lang="en-US">
              <a:cs typeface="ＭＳ Ｐゴシック"/>
            </a:endParaRPr>
          </a:p>
          <a:p>
            <a:pPr>
              <a:defRPr/>
            </a:pPr>
            <a:r>
              <a:rPr lang="en-US">
                <a:cs typeface="ＭＳ Ｐゴシック"/>
              </a:rPr>
              <a:t>If thread has cancellation disabled, cancellation remains pending until thread enables it</a:t>
            </a:r>
            <a:endParaRPr/>
          </a:p>
          <a:p>
            <a:pPr>
              <a:defRPr/>
            </a:pPr>
            <a:r>
              <a:rPr lang="en-US">
                <a:cs typeface="ＭＳ Ｐゴシック"/>
              </a:rPr>
              <a:t>Default type is deferred</a:t>
            </a:r>
            <a:endParaRPr/>
          </a:p>
          <a:p>
            <a:pPr lvl="1">
              <a:defRPr/>
            </a:pPr>
            <a:r>
              <a:rPr lang="en-US"/>
              <a:t>Cancellation only occurs when thread reaches </a:t>
            </a:r>
            <a:r>
              <a:rPr lang="en-US" b="1">
                <a:solidFill>
                  <a:srgbClr val="006699"/>
                </a:solidFill>
                <a:latin typeface="+mj-lt"/>
              </a:rPr>
              <a:t>cancellation point</a:t>
            </a:r>
            <a:endParaRPr/>
          </a:p>
          <a:p>
            <a:pPr lvl="2">
              <a:defRPr/>
            </a:pPr>
            <a:r>
              <a:rPr lang="en-US"/>
              <a:t>i.e., </a:t>
            </a:r>
            <a:r>
              <a:rPr lang="en-US" b="1">
                <a:latin typeface="Courier New"/>
                <a:cs typeface="Courier New"/>
              </a:rPr>
              <a:t>pthread_testcancel</a:t>
            </a:r>
            <a:r>
              <a:rPr lang="en-US" b="1">
                <a:latin typeface="Courier New"/>
                <a:cs typeface="Courier New"/>
              </a:rPr>
              <a:t>()</a:t>
            </a:r>
            <a:endParaRPr/>
          </a:p>
          <a:p>
            <a:pPr lvl="2">
              <a:defRPr/>
            </a:pPr>
            <a:r>
              <a:rPr lang="en-US"/>
              <a:t>Then </a:t>
            </a:r>
            <a:r>
              <a:rPr lang="en-US" b="1">
                <a:solidFill>
                  <a:srgbClr val="006699"/>
                </a:solidFill>
                <a:latin typeface="+mj-lt"/>
              </a:rPr>
              <a:t>cleanup handler </a:t>
            </a:r>
            <a:r>
              <a:rPr lang="en-US"/>
              <a:t>is invoked</a:t>
            </a:r>
            <a:endParaRPr/>
          </a:p>
          <a:p>
            <a:pPr>
              <a:defRPr/>
            </a:pPr>
            <a:r>
              <a:rPr lang="en-US">
                <a:cs typeface="ＭＳ Ｐゴシック"/>
              </a:rPr>
              <a:t>On Linux systems, thread cancellation is handled through signals</a:t>
            </a:r>
            <a:endParaRPr/>
          </a:p>
        </p:txBody>
      </p:sp>
      <p:pic>
        <p:nvPicPr>
          <p:cNvPr id="881028011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084388" y="1963738"/>
            <a:ext cx="5100637" cy="904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66592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Thread Cancellation in Java</a:t>
            </a:r>
            <a:endParaRPr/>
          </a:p>
        </p:txBody>
      </p:sp>
      <p:sp>
        <p:nvSpPr>
          <p:cNvPr id="152404890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Deferred cancellation uses the </a:t>
            </a:r>
            <a:r>
              <a:rPr lang="en-US" b="1">
                <a:latin typeface="Courier New"/>
              </a:rPr>
              <a:t>interrupt()</a:t>
            </a:r>
            <a:r>
              <a:rPr lang="en-US"/>
              <a:t> method, which sets the interrupted status of a thread. </a:t>
            </a: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endParaRPr lang="en-US"/>
          </a:p>
          <a:p>
            <a:pPr>
              <a:defRPr/>
            </a:pPr>
            <a:r>
              <a:rPr lang="en-US"/>
              <a:t>A thread can then check to see if it has been interrupted:</a:t>
            </a:r>
            <a:endParaRPr/>
          </a:p>
        </p:txBody>
      </p:sp>
      <p:pic>
        <p:nvPicPr>
          <p:cNvPr id="159673552" name="Pictur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941513" y="1812925"/>
            <a:ext cx="5715000" cy="180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4367358" name="Picture 4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817687" y="4195763"/>
            <a:ext cx="5664200" cy="99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0301542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13537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Thread-Local Storage</a:t>
            </a:r>
            <a:endParaRPr/>
          </a:p>
        </p:txBody>
      </p:sp>
      <p:sp>
        <p:nvSpPr>
          <p:cNvPr id="1866561800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06449" y="1233488"/>
            <a:ext cx="7768383" cy="4478337"/>
          </a:xfrm>
        </p:spPr>
        <p:txBody>
          <a:bodyPr/>
          <a:lstStyle/>
          <a:p>
            <a:pPr>
              <a:defRPr/>
            </a:pPr>
            <a:r>
              <a:rPr lang="en-US" b="1">
                <a:solidFill>
                  <a:srgbClr val="006699"/>
                </a:solidFill>
                <a:latin typeface="+mj-lt"/>
              </a:rPr>
              <a:t>Thread-local storage</a:t>
            </a:r>
            <a:r>
              <a:rPr lang="en-US" b="1">
                <a:solidFill>
                  <a:srgbClr val="3366FF"/>
                </a:solidFill>
              </a:rPr>
              <a:t> </a:t>
            </a:r>
            <a:r>
              <a:rPr lang="en-US"/>
              <a:t>(</a:t>
            </a:r>
            <a:r>
              <a:rPr lang="en-US" b="1">
                <a:solidFill>
                  <a:srgbClr val="006699"/>
                </a:solidFill>
                <a:latin typeface="+mj-lt"/>
              </a:rPr>
              <a:t>TLS</a:t>
            </a:r>
            <a:r>
              <a:rPr lang="en-US"/>
              <a:t>) allows each thread to have its own copy of data</a:t>
            </a:r>
            <a:endParaRPr/>
          </a:p>
          <a:p>
            <a:pPr>
              <a:defRPr/>
            </a:pPr>
            <a:r>
              <a:rPr lang="en-US"/>
              <a:t>Useful when you do not have control over the thread creation process (i.e., when using a thread pool)</a:t>
            </a:r>
            <a:endParaRPr/>
          </a:p>
          <a:p>
            <a:pPr>
              <a:defRPr/>
            </a:pPr>
            <a:r>
              <a:rPr lang="en-US"/>
              <a:t>Different from local variables</a:t>
            </a:r>
            <a:endParaRPr/>
          </a:p>
          <a:p>
            <a:pPr lvl="1">
              <a:defRPr/>
            </a:pPr>
            <a:r>
              <a:rPr lang="en-US"/>
              <a:t>Local variables visible only during single function invocation</a:t>
            </a:r>
            <a:endParaRPr/>
          </a:p>
          <a:p>
            <a:pPr lvl="1">
              <a:defRPr/>
            </a:pPr>
            <a:r>
              <a:rPr lang="en-US"/>
              <a:t>TLS visible across function invocations</a:t>
            </a:r>
            <a:endParaRPr/>
          </a:p>
          <a:p>
            <a:pPr>
              <a:defRPr/>
            </a:pPr>
            <a:r>
              <a:rPr lang="en-US"/>
              <a:t>Similar to </a:t>
            </a:r>
            <a:r>
              <a:rPr lang="en-US" b="1">
                <a:latin typeface="Courier New"/>
              </a:rPr>
              <a:t>static</a:t>
            </a:r>
            <a:r>
              <a:rPr lang="en-US"/>
              <a:t> data</a:t>
            </a:r>
            <a:endParaRPr/>
          </a:p>
          <a:p>
            <a:pPr lvl="1">
              <a:defRPr/>
            </a:pPr>
            <a:r>
              <a:rPr lang="en-US"/>
              <a:t>TLS is unique to each thread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6839762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1160463" y="228830"/>
            <a:ext cx="7526337" cy="576262"/>
          </a:xfrm>
        </p:spPr>
        <p:txBody>
          <a:bodyPr/>
          <a:lstStyle/>
          <a:p>
            <a:pPr>
              <a:defRPr/>
            </a:pPr>
            <a:r>
              <a:rPr lang="en-US"/>
              <a:t>Scheduler Activations</a:t>
            </a:r>
            <a:endParaRPr/>
          </a:p>
        </p:txBody>
      </p:sp>
      <p:sp>
        <p:nvSpPr>
          <p:cNvPr id="1609324954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06450" y="1017588"/>
            <a:ext cx="5316538" cy="4964112"/>
          </a:xfrm>
        </p:spPr>
        <p:txBody>
          <a:bodyPr/>
          <a:lstStyle/>
          <a:p>
            <a:pPr>
              <a:defRPr/>
            </a:pPr>
            <a:r>
              <a:rPr lang="en-US"/>
              <a:t>Both M:M and Two-level models require communication to maintain the appropriate number of kernel threads allocated to the application</a:t>
            </a:r>
            <a:endParaRPr/>
          </a:p>
          <a:p>
            <a:pPr>
              <a:defRPr/>
            </a:pPr>
            <a:r>
              <a:rPr lang="en-US"/>
              <a:t>Typically use an intermediate data structure between user and kernel threads – </a:t>
            </a:r>
            <a:r>
              <a:rPr lang="en-US" b="1">
                <a:solidFill>
                  <a:srgbClr val="006699"/>
                </a:solidFill>
                <a:latin typeface="+mj-lt"/>
              </a:rPr>
              <a:t>lightweight</a:t>
            </a:r>
            <a:r>
              <a:rPr lang="en-US" b="1">
                <a:solidFill>
                  <a:srgbClr val="3366FF"/>
                </a:solidFill>
              </a:rPr>
              <a:t> </a:t>
            </a:r>
            <a:r>
              <a:rPr lang="en-US" b="1">
                <a:solidFill>
                  <a:srgbClr val="006699"/>
                </a:solidFill>
                <a:latin typeface="+mj-lt"/>
              </a:rPr>
              <a:t>process</a:t>
            </a:r>
            <a:r>
              <a:rPr lang="en-US" b="1">
                <a:solidFill>
                  <a:srgbClr val="3366FF"/>
                </a:solidFill>
              </a:rPr>
              <a:t> </a:t>
            </a:r>
            <a:r>
              <a:rPr lang="en-US"/>
              <a:t>(</a:t>
            </a:r>
            <a:r>
              <a:rPr lang="en-US" b="1">
                <a:solidFill>
                  <a:srgbClr val="006699"/>
                </a:solidFill>
                <a:latin typeface="+mj-lt"/>
              </a:rPr>
              <a:t>LWP</a:t>
            </a:r>
            <a:r>
              <a:rPr lang="en-US"/>
              <a:t>)</a:t>
            </a:r>
            <a:endParaRPr/>
          </a:p>
          <a:p>
            <a:pPr lvl="1">
              <a:defRPr/>
            </a:pPr>
            <a:r>
              <a:rPr lang="en-US"/>
              <a:t>Appears to be a virtual processor on which process can schedule user thread to run</a:t>
            </a:r>
            <a:endParaRPr/>
          </a:p>
          <a:p>
            <a:pPr lvl="1">
              <a:defRPr/>
            </a:pPr>
            <a:r>
              <a:rPr lang="en-US"/>
              <a:t>Each LWP attached to kernel thread</a:t>
            </a:r>
            <a:endParaRPr/>
          </a:p>
          <a:p>
            <a:pPr lvl="1">
              <a:defRPr/>
            </a:pPr>
            <a:r>
              <a:rPr lang="en-US"/>
              <a:t>How many LWPs to create?</a:t>
            </a:r>
            <a:endParaRPr/>
          </a:p>
          <a:p>
            <a:pPr>
              <a:defRPr/>
            </a:pPr>
            <a:r>
              <a:rPr lang="en-US"/>
              <a:t>Scheduler activations provide </a:t>
            </a:r>
            <a:r>
              <a:rPr lang="en-US" b="1">
                <a:solidFill>
                  <a:srgbClr val="006699"/>
                </a:solidFill>
                <a:latin typeface="+mj-lt"/>
              </a:rPr>
              <a:t>upcalls</a:t>
            </a:r>
            <a:r>
              <a:rPr lang="en-US">
                <a:solidFill>
                  <a:srgbClr val="3366FF"/>
                </a:solidFill>
              </a:rPr>
              <a:t> </a:t>
            </a:r>
            <a:r>
              <a:rPr lang="en-US"/>
              <a:t>- a communication mechanism from the kernel to the </a:t>
            </a:r>
            <a:r>
              <a:rPr lang="en-US" b="1">
                <a:solidFill>
                  <a:srgbClr val="006699"/>
                </a:solidFill>
                <a:latin typeface="+mj-lt"/>
              </a:rPr>
              <a:t>upcall</a:t>
            </a:r>
            <a:r>
              <a:rPr lang="en-US" b="1">
                <a:solidFill>
                  <a:srgbClr val="3366FF"/>
                </a:solidFill>
              </a:rPr>
              <a:t> </a:t>
            </a:r>
            <a:r>
              <a:rPr lang="en-US" b="1">
                <a:solidFill>
                  <a:srgbClr val="006699"/>
                </a:solidFill>
                <a:latin typeface="+mj-lt"/>
              </a:rPr>
              <a:t>handler</a:t>
            </a:r>
            <a:r>
              <a:rPr lang="en-US" b="1">
                <a:solidFill>
                  <a:srgbClr val="3366FF"/>
                </a:solidFill>
              </a:rPr>
              <a:t> </a:t>
            </a:r>
            <a:r>
              <a:rPr lang="en-US"/>
              <a:t>in the thread library</a:t>
            </a:r>
            <a:endParaRPr/>
          </a:p>
          <a:p>
            <a:pPr>
              <a:defRPr/>
            </a:pPr>
            <a:r>
              <a:rPr lang="en-US"/>
              <a:t>This communication allows an application to maintain the correct number kernel threads</a:t>
            </a:r>
            <a:endParaRPr/>
          </a:p>
        </p:txBody>
      </p:sp>
      <p:pic>
        <p:nvPicPr>
          <p:cNvPr id="1641342267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456363" y="2416175"/>
            <a:ext cx="2352675" cy="21669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0182946" name="Rectangle 2"/>
          <p:cNvSpPr>
            <a:spLocks noChangeArrowheads="1" noGrp="1"/>
          </p:cNvSpPr>
          <p:nvPr>
            <p:ph type="title" idx="4294967295"/>
          </p:nvPr>
        </p:nvSpPr>
        <p:spPr bwMode="auto">
          <a:xfrm>
            <a:off x="1025525" y="228830"/>
            <a:ext cx="7673975" cy="576262"/>
          </a:xfrm>
        </p:spPr>
        <p:txBody>
          <a:bodyPr/>
          <a:lstStyle/>
          <a:p>
            <a:pPr>
              <a:defRPr/>
            </a:pPr>
            <a:r>
              <a:rPr lang="en-US"/>
              <a:t>Operating System Examples</a:t>
            </a:r>
            <a:endParaRPr/>
          </a:p>
        </p:txBody>
      </p:sp>
      <p:sp>
        <p:nvSpPr>
          <p:cNvPr id="1747688012" name="Rectangle 3"/>
          <p:cNvSpPr>
            <a:spLocks noChangeArrowheads="1" noGrp="1"/>
          </p:cNvSpPr>
          <p:nvPr>
            <p:ph type="body" idx="4294967295"/>
          </p:nvPr>
        </p:nvSpPr>
        <p:spPr bwMode="auto">
          <a:xfrm>
            <a:off x="806450" y="1233488"/>
            <a:ext cx="7469188" cy="4492625"/>
          </a:xfrm>
        </p:spPr>
        <p:txBody>
          <a:bodyPr/>
          <a:lstStyle/>
          <a:p>
            <a:pPr>
              <a:defRPr/>
            </a:pPr>
            <a:r>
              <a:rPr lang="en-US"/>
              <a:t>Windows Threads</a:t>
            </a:r>
            <a:endParaRPr/>
          </a:p>
          <a:p>
            <a:pPr>
              <a:defRPr/>
            </a:pPr>
            <a:r>
              <a:rPr lang="en-US"/>
              <a:t>Linux Threads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585586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30641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Windows Threads</a:t>
            </a:r>
            <a:endParaRPr/>
          </a:p>
        </p:txBody>
      </p:sp>
      <p:sp>
        <p:nvSpPr>
          <p:cNvPr id="697425772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21095" y="1130300"/>
            <a:ext cx="7763068" cy="5141913"/>
          </a:xfrm>
        </p:spPr>
        <p:txBody>
          <a:bodyPr/>
          <a:lstStyle/>
          <a:p>
            <a:pPr>
              <a:defRPr/>
            </a:pPr>
            <a:r>
              <a:rPr lang="en-US"/>
              <a:t>Windows API – primary API for Windows applications</a:t>
            </a:r>
            <a:endParaRPr/>
          </a:p>
          <a:p>
            <a:pPr>
              <a:defRPr/>
            </a:pPr>
            <a:r>
              <a:rPr lang="en-US"/>
              <a:t>Implements the one-to-one mapping, kernel-level</a:t>
            </a:r>
            <a:endParaRPr/>
          </a:p>
          <a:p>
            <a:pPr>
              <a:defRPr/>
            </a:pPr>
            <a:r>
              <a:rPr lang="en-US"/>
              <a:t>Each thread contains</a:t>
            </a:r>
            <a:endParaRPr/>
          </a:p>
          <a:p>
            <a:pPr lvl="1">
              <a:defRPr/>
            </a:pPr>
            <a:r>
              <a:rPr lang="en-US"/>
              <a:t>A thread id</a:t>
            </a:r>
            <a:endParaRPr/>
          </a:p>
          <a:p>
            <a:pPr lvl="1">
              <a:defRPr/>
            </a:pPr>
            <a:r>
              <a:rPr lang="en-US"/>
              <a:t>Register set representing state of processor</a:t>
            </a:r>
            <a:endParaRPr/>
          </a:p>
          <a:p>
            <a:pPr lvl="1">
              <a:defRPr/>
            </a:pPr>
            <a:r>
              <a:rPr lang="en-US"/>
              <a:t>Separate user and kernel stacks for when thread runs in user mode or kernel mode</a:t>
            </a:r>
            <a:endParaRPr/>
          </a:p>
          <a:p>
            <a:pPr lvl="1">
              <a:defRPr/>
            </a:pPr>
            <a:r>
              <a:rPr lang="en-US"/>
              <a:t>Private data storage area used by run-time libraries and dynamic link libraries (DLLs)</a:t>
            </a:r>
            <a:endParaRPr/>
          </a:p>
          <a:p>
            <a:pPr>
              <a:defRPr/>
            </a:pPr>
            <a:r>
              <a:rPr lang="en-US"/>
              <a:t>The register set, stacks, and private storage area are known as the </a:t>
            </a:r>
            <a:r>
              <a:rPr lang="en-US" b="1">
                <a:solidFill>
                  <a:srgbClr val="006699"/>
                </a:solidFill>
                <a:latin typeface="+mj-lt"/>
              </a:rPr>
              <a:t>context</a:t>
            </a:r>
            <a:r>
              <a:rPr lang="en-US">
                <a:solidFill>
                  <a:srgbClr val="3366FF"/>
                </a:solidFill>
              </a:rPr>
              <a:t> </a:t>
            </a:r>
            <a:r>
              <a:rPr lang="en-US"/>
              <a:t>of the thread</a:t>
            </a:r>
            <a:endParaRPr/>
          </a:p>
          <a:p>
            <a:pPr>
              <a:buFont typeface="Monotype Sorts"/>
              <a:buNone/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377222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30646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Windows Threads (Cont.)</a:t>
            </a:r>
            <a:endParaRPr/>
          </a:p>
        </p:txBody>
      </p:sp>
      <p:sp>
        <p:nvSpPr>
          <p:cNvPr id="69389423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27088" y="1206500"/>
            <a:ext cx="7701092" cy="5141913"/>
          </a:xfrm>
        </p:spPr>
        <p:txBody>
          <a:bodyPr/>
          <a:lstStyle/>
          <a:p>
            <a:pPr>
              <a:defRPr/>
            </a:pPr>
            <a:r>
              <a:rPr lang="en-US"/>
              <a:t>The primary data structures of a thread include:</a:t>
            </a:r>
            <a:endParaRPr/>
          </a:p>
          <a:p>
            <a:pPr lvl="1">
              <a:defRPr/>
            </a:pPr>
            <a:r>
              <a:rPr lang="en-US"/>
              <a:t>ETHREAD (executive thread block) – includes pointer to process to which thread belongs and to KTHREAD, in kernel space</a:t>
            </a:r>
            <a:endParaRPr/>
          </a:p>
          <a:p>
            <a:pPr lvl="1">
              <a:defRPr/>
            </a:pPr>
            <a:r>
              <a:rPr lang="en-US"/>
              <a:t>KTHREAD (kernel thread block) – scheduling and synchronization info, kernel-mode stack, pointer to TEB, in kernel space</a:t>
            </a:r>
            <a:endParaRPr/>
          </a:p>
          <a:p>
            <a:pPr lvl="1">
              <a:defRPr/>
            </a:pPr>
            <a:r>
              <a:rPr lang="en-US"/>
              <a:t>TEB (thread environment block) – thread id, user-mode stack, thread-local storage, in user space</a:t>
            </a:r>
            <a:endParaRPr/>
          </a:p>
          <a:p>
            <a:pPr>
              <a:buFont typeface="Monotype Sorts"/>
              <a:buNone/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347711" name="Title 1"/>
          <p:cNvSpPr>
            <a:spLocks noGrp="1"/>
          </p:cNvSpPr>
          <p:nvPr>
            <p:ph type="title" idx="4294967295"/>
          </p:nvPr>
        </p:nvSpPr>
        <p:spPr bwMode="auto">
          <a:xfrm>
            <a:off x="1151874" y="228830"/>
            <a:ext cx="7693025" cy="576262"/>
          </a:xfrm>
        </p:spPr>
        <p:txBody>
          <a:bodyPr/>
          <a:lstStyle/>
          <a:p>
            <a:pPr>
              <a:defRPr/>
            </a:pPr>
            <a:r>
              <a:rPr lang="en-US"/>
              <a:t>Windows Threads Data Structures</a:t>
            </a:r>
            <a:endParaRPr/>
          </a:p>
        </p:txBody>
      </p:sp>
      <p:pic>
        <p:nvPicPr>
          <p:cNvPr id="274742338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578100" y="1498600"/>
            <a:ext cx="4306888" cy="4157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843382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225461"/>
            <a:ext cx="8229600" cy="576262"/>
          </a:xfrm>
        </p:spPr>
        <p:txBody>
          <a:bodyPr/>
          <a:lstStyle/>
          <a:p>
            <a:pPr>
              <a:defRPr/>
            </a:pPr>
            <a:r>
              <a:rPr lang="en-US"/>
              <a:t>Linux Threads</a:t>
            </a:r>
            <a:endParaRPr/>
          </a:p>
        </p:txBody>
      </p:sp>
      <p:sp>
        <p:nvSpPr>
          <p:cNvPr id="384775980" name="Rectangle 3"/>
          <p:cNvSpPr>
            <a:spLocks noChangeArrowheads="1" noGrp="1"/>
          </p:cNvSpPr>
          <p:nvPr>
            <p:ph type="body" idx="1"/>
          </p:nvPr>
        </p:nvSpPr>
        <p:spPr bwMode="auto">
          <a:xfrm>
            <a:off x="877888" y="1092200"/>
            <a:ext cx="7594308" cy="4495800"/>
          </a:xfrm>
        </p:spPr>
        <p:txBody>
          <a:bodyPr/>
          <a:lstStyle/>
          <a:p>
            <a:pPr>
              <a:defRPr/>
            </a:pPr>
            <a:r>
              <a:rPr lang="en-US">
                <a:cs typeface="ＭＳ Ｐゴシック"/>
              </a:rPr>
              <a:t>Linux refers to them as </a:t>
            </a:r>
            <a:r>
              <a:rPr lang="en-US" b="1" i="1">
                <a:cs typeface="ＭＳ Ｐゴシック"/>
              </a:rPr>
              <a:t>tasks</a:t>
            </a:r>
            <a:r>
              <a:rPr lang="en-US">
                <a:cs typeface="ＭＳ Ｐゴシック"/>
              </a:rPr>
              <a:t> rather than </a:t>
            </a:r>
            <a:r>
              <a:rPr lang="en-US" b="1" i="1">
                <a:cs typeface="ＭＳ Ｐゴシック"/>
              </a:rPr>
              <a:t>threads</a:t>
            </a:r>
            <a:endParaRPr lang="en-US">
              <a:cs typeface="ＭＳ Ｐゴシック"/>
            </a:endParaRPr>
          </a:p>
          <a:p>
            <a:pPr>
              <a:defRPr/>
            </a:pPr>
            <a:r>
              <a:rPr lang="en-US">
                <a:cs typeface="ＭＳ Ｐゴシック"/>
              </a:rPr>
              <a:t>Thread creation is done through </a:t>
            </a:r>
            <a:r>
              <a:rPr lang="en-US" b="1">
                <a:latin typeface="Courier New"/>
                <a:cs typeface="Courier New"/>
              </a:rPr>
              <a:t>clone()</a:t>
            </a:r>
            <a:r>
              <a:rPr lang="en-US">
                <a:latin typeface="Courier New"/>
                <a:cs typeface="Courier New"/>
              </a:rPr>
              <a:t> </a:t>
            </a:r>
            <a:r>
              <a:rPr lang="en-US">
                <a:cs typeface="ＭＳ Ｐゴシック"/>
              </a:rPr>
              <a:t>system call</a:t>
            </a:r>
            <a:endParaRPr/>
          </a:p>
          <a:p>
            <a:pPr>
              <a:defRPr/>
            </a:pPr>
            <a:r>
              <a:rPr lang="en-US" b="1">
                <a:latin typeface="Courier New"/>
                <a:cs typeface="Courier New"/>
              </a:rPr>
              <a:t>clone() </a:t>
            </a:r>
            <a:r>
              <a:rPr lang="en-US">
                <a:cs typeface="ＭＳ Ｐゴシック"/>
              </a:rPr>
              <a:t>allows a child task to share the address space of the parent task (process)</a:t>
            </a:r>
            <a:endParaRPr/>
          </a:p>
          <a:p>
            <a:pPr lvl="1">
              <a:defRPr/>
            </a:pPr>
            <a:r>
              <a:rPr lang="en-US"/>
              <a:t>Flags control behavior</a:t>
            </a:r>
            <a:endParaRPr/>
          </a:p>
          <a:p>
            <a:pPr lvl="1">
              <a:defRPr/>
            </a:pPr>
            <a:endParaRPr lang="en-US"/>
          </a:p>
          <a:p>
            <a:pPr lvl="1">
              <a:defRPr/>
            </a:pPr>
            <a:endParaRPr lang="en-US"/>
          </a:p>
          <a:p>
            <a:pPr lvl="1">
              <a:defRPr/>
            </a:pPr>
            <a:endParaRPr lang="en-US"/>
          </a:p>
          <a:p>
            <a:pPr marL="457200" lvl="1" indent="0">
              <a:buFont typeface="Monotype Sorts"/>
              <a:buNone/>
              <a:defRPr/>
            </a:pPr>
            <a:endParaRPr lang="en-US"/>
          </a:p>
          <a:p>
            <a:pPr>
              <a:buFont typeface="Monotype Sorts"/>
              <a:buNone/>
              <a:defRPr/>
            </a:pPr>
            <a:endParaRPr lang="en-US">
              <a:latin typeface="Courier New"/>
              <a:cs typeface="Courier New"/>
            </a:endParaRPr>
          </a:p>
          <a:p>
            <a:pPr>
              <a:defRPr/>
            </a:pPr>
            <a:r>
              <a:rPr lang="en-US" b="1">
                <a:latin typeface="Courier New"/>
                <a:cs typeface="Courier New"/>
              </a:rPr>
              <a:t>struct</a:t>
            </a:r>
            <a:r>
              <a:rPr lang="en-US" b="1">
                <a:latin typeface="Courier New"/>
                <a:cs typeface="Courier New"/>
              </a:rPr>
              <a:t> </a:t>
            </a:r>
            <a:r>
              <a:rPr lang="en-US" b="1">
                <a:latin typeface="Courier New"/>
                <a:cs typeface="Courier New"/>
              </a:rPr>
              <a:t>task_struct</a:t>
            </a:r>
            <a:r>
              <a:rPr lang="en-US" b="1">
                <a:latin typeface="Courier New"/>
                <a:cs typeface="Courier New"/>
              </a:rPr>
              <a:t> </a:t>
            </a:r>
            <a:r>
              <a:rPr lang="en-US">
                <a:cs typeface="Courier New"/>
              </a:rPr>
              <a:t>points to process data structures (shared or unique)</a:t>
            </a:r>
            <a:endParaRPr lang="en-US">
              <a:latin typeface="Courier New"/>
              <a:cs typeface="Courier New"/>
            </a:endParaRPr>
          </a:p>
          <a:p>
            <a:pPr>
              <a:defRPr/>
            </a:pPr>
            <a:endParaRPr lang="en-US">
              <a:cs typeface="ＭＳ Ｐゴシック"/>
            </a:endParaRPr>
          </a:p>
        </p:txBody>
      </p:sp>
      <p:pic>
        <p:nvPicPr>
          <p:cNvPr id="131191616" name="Pictur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616200" y="3032125"/>
            <a:ext cx="3954463" cy="1441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1054811" name="Rectangle 2"/>
          <p:cNvSpPr>
            <a:spLocks noChangeArrowheads="1" noGrp="1"/>
          </p:cNvSpPr>
          <p:nvPr>
            <p:ph type="ctrTitle"/>
          </p:nvPr>
        </p:nvSpPr>
        <p:spPr bwMode="auto">
          <a:xfrm>
            <a:off x="685800" y="795338"/>
            <a:ext cx="7772400" cy="2127250"/>
          </a:xfrm>
        </p:spPr>
        <p:txBody>
          <a:bodyPr/>
          <a:lstStyle/>
          <a:p>
            <a:pPr>
              <a:defRPr/>
            </a:pPr>
            <a:r>
              <a:rPr lang="en-US"/>
              <a:t>End of Chapter 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s-8">
  <a:themeElements>
    <a:clrScheme name="os-8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os-8">
      <a:majorFont>
        <a:latin typeface="Arial"/>
        <a:ea typeface="Arial"/>
        <a:cs typeface="Arial"/>
      </a:majorFont>
      <a:minorFont>
        <a:latin typeface="Helvetica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</a:objectDefaults>
  <a:extraClrSchemeLst>
    <a:extraClrScheme>
      <a:clrScheme name="os-8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s-8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s-8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emplate>OS8</Template>
  <TotalTime>0</TotalTime>
  <Words>0</Words>
  <Application>ONLYOFFICE/9.3.1.8</Application>
  <PresentationFormat>On-screen Show (4:3)</PresentationFormat>
  <Paragraphs>0</Paragraphs>
  <Slides>63</Slides>
  <Notes>63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Lucent Technologies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2.01</dc:title>
  <dc:creator>Lucent End User</dc:creator>
  <cp:lastModifiedBy/>
  <cp:revision>226</cp:revision>
  <dcterms:created xsi:type="dcterms:W3CDTF">2011-01-13T23:43:38Z</dcterms:created>
  <dcterms:modified xsi:type="dcterms:W3CDTF">2026-04-26T01:23:45Z</dcterms:modified>
</cp:coreProperties>
</file>