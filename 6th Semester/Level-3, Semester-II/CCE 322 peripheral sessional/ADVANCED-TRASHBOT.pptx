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Alexandria" panose="020B0604020202020204" charset="-78"/>
      <p:regular r:id="rId14"/>
    </p:embeddedFont>
    <p:embeddedFont>
      <p:font typeface="Nobil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4133"/>
            <a:ext cx="657701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ADVANCED TRASHBOT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483638"/>
            <a:ext cx="7556421" cy="11339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AI-Based Autonomous Smart Waste Collection Robot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2957751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Presented by: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575804"/>
            <a:ext cx="7556421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A44F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Abdul Jobayer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284464"/>
            <a:ext cx="7556421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A44F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Senarul Islam 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993124"/>
            <a:ext cx="7556421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A44F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Md Naimur Rahman Naiem 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5701784"/>
            <a:ext cx="7556421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A44F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Prosenjit Mondal 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3790" y="6410444"/>
            <a:ext cx="7556421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A44F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MD Sakib Hasan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93790" y="7119104"/>
            <a:ext cx="1369576" cy="426244"/>
          </a:xfrm>
          <a:prstGeom prst="roundRect">
            <a:avLst>
              <a:gd name="adj" fmla="val 17880"/>
            </a:avLst>
          </a:prstGeom>
          <a:solidFill>
            <a:srgbClr val="D2DDF9"/>
          </a:solidFill>
        </p:spPr>
      </p:sp>
      <p:sp>
        <p:nvSpPr>
          <p:cNvPr id="12" name="Text 9"/>
          <p:cNvSpPr/>
          <p:nvPr/>
        </p:nvSpPr>
        <p:spPr>
          <a:xfrm>
            <a:off x="929878" y="7187089"/>
            <a:ext cx="1097399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SMART CITY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276713" y="7119104"/>
            <a:ext cx="470535" cy="426244"/>
          </a:xfrm>
          <a:prstGeom prst="roundRect">
            <a:avLst>
              <a:gd name="adj" fmla="val 17880"/>
            </a:avLst>
          </a:prstGeom>
          <a:solidFill>
            <a:srgbClr val="D2DDF9"/>
          </a:solidFill>
        </p:spPr>
      </p:sp>
      <p:sp>
        <p:nvSpPr>
          <p:cNvPr id="14" name="Text 11"/>
          <p:cNvSpPr/>
          <p:nvPr/>
        </p:nvSpPr>
        <p:spPr>
          <a:xfrm>
            <a:off x="2412802" y="7187089"/>
            <a:ext cx="198358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60596" y="7119104"/>
            <a:ext cx="586026" cy="426244"/>
          </a:xfrm>
          <a:prstGeom prst="roundRect">
            <a:avLst>
              <a:gd name="adj" fmla="val 17880"/>
            </a:avLst>
          </a:prstGeom>
          <a:solidFill>
            <a:srgbClr val="D2DDF9"/>
          </a:solidFill>
        </p:spPr>
      </p:sp>
      <p:sp>
        <p:nvSpPr>
          <p:cNvPr id="16" name="Text 13"/>
          <p:cNvSpPr/>
          <p:nvPr/>
        </p:nvSpPr>
        <p:spPr>
          <a:xfrm>
            <a:off x="2996684" y="7187089"/>
            <a:ext cx="313849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IOT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559969" y="7119104"/>
            <a:ext cx="2569726" cy="426244"/>
          </a:xfrm>
          <a:prstGeom prst="roundRect">
            <a:avLst>
              <a:gd name="adj" fmla="val 17880"/>
            </a:avLst>
          </a:prstGeom>
          <a:solidFill>
            <a:srgbClr val="D2DDF9"/>
          </a:solidFill>
        </p:spPr>
      </p:sp>
      <p:sp>
        <p:nvSpPr>
          <p:cNvPr id="18" name="Text 15"/>
          <p:cNvSpPr/>
          <p:nvPr/>
        </p:nvSpPr>
        <p:spPr>
          <a:xfrm>
            <a:off x="3696057" y="7187089"/>
            <a:ext cx="2297549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AUTONOMOUS ROBOTICS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0415" y="1098232"/>
            <a:ext cx="7748707" cy="411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Unseen Challenge: Our Problem Statement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60415" y="1706642"/>
            <a:ext cx="8223171" cy="2105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Waste management in urban and public spaces faces significant hurdles, impacting public health and environmental quality.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60415" y="2262426"/>
            <a:ext cx="8223171" cy="970597"/>
          </a:xfrm>
          <a:prstGeom prst="roundRect">
            <a:avLst>
              <a:gd name="adj" fmla="val 7537"/>
            </a:avLst>
          </a:prstGeom>
          <a:solidFill>
            <a:srgbClr val="F9F9FF"/>
          </a:solidFill>
        </p:spPr>
      </p:sp>
      <p:sp>
        <p:nvSpPr>
          <p:cNvPr id="6" name="Shape 3"/>
          <p:cNvSpPr/>
          <p:nvPr/>
        </p:nvSpPr>
        <p:spPr>
          <a:xfrm>
            <a:off x="460415" y="2247186"/>
            <a:ext cx="8223171" cy="60960"/>
          </a:xfrm>
          <a:prstGeom prst="roundRect">
            <a:avLst>
              <a:gd name="adj" fmla="val 90645"/>
            </a:avLst>
          </a:prstGeom>
          <a:solidFill>
            <a:srgbClr val="1B54DA"/>
          </a:solidFill>
        </p:spPr>
      </p:sp>
      <p:sp>
        <p:nvSpPr>
          <p:cNvPr id="7" name="Shape 4"/>
          <p:cNvSpPr/>
          <p:nvPr/>
        </p:nvSpPr>
        <p:spPr>
          <a:xfrm>
            <a:off x="4374654" y="2065139"/>
            <a:ext cx="394692" cy="394692"/>
          </a:xfrm>
          <a:prstGeom prst="roundRect">
            <a:avLst>
              <a:gd name="adj" fmla="val 231674"/>
            </a:avLst>
          </a:prstGeom>
          <a:solidFill>
            <a:srgbClr val="1B54DA"/>
          </a:solidFill>
        </p:spPr>
      </p:sp>
      <p:sp>
        <p:nvSpPr>
          <p:cNvPr id="8" name="Text 5"/>
          <p:cNvSpPr/>
          <p:nvPr/>
        </p:nvSpPr>
        <p:spPr>
          <a:xfrm>
            <a:off x="4493002" y="2163842"/>
            <a:ext cx="157877" cy="1972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7219" y="2591276"/>
            <a:ext cx="1644491" cy="2055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Overflowing Bins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7219" y="2875717"/>
            <a:ext cx="7929563" cy="2105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Uncollected waste leads to unsightly scenes and unsanitary conditions.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0415" y="3561874"/>
            <a:ext cx="8223171" cy="970597"/>
          </a:xfrm>
          <a:prstGeom prst="roundRect">
            <a:avLst>
              <a:gd name="adj" fmla="val 7537"/>
            </a:avLst>
          </a:prstGeom>
          <a:solidFill>
            <a:srgbClr val="F9F9FF"/>
          </a:solidFill>
        </p:spPr>
      </p:sp>
      <p:sp>
        <p:nvSpPr>
          <p:cNvPr id="12" name="Shape 9"/>
          <p:cNvSpPr/>
          <p:nvPr/>
        </p:nvSpPr>
        <p:spPr>
          <a:xfrm>
            <a:off x="460415" y="3546634"/>
            <a:ext cx="8223171" cy="60960"/>
          </a:xfrm>
          <a:prstGeom prst="roundRect">
            <a:avLst>
              <a:gd name="adj" fmla="val 90645"/>
            </a:avLst>
          </a:prstGeom>
          <a:solidFill>
            <a:srgbClr val="1B54DA"/>
          </a:solidFill>
        </p:spPr>
      </p:sp>
      <p:sp>
        <p:nvSpPr>
          <p:cNvPr id="13" name="Shape 10"/>
          <p:cNvSpPr/>
          <p:nvPr/>
        </p:nvSpPr>
        <p:spPr>
          <a:xfrm>
            <a:off x="4374654" y="3364587"/>
            <a:ext cx="394692" cy="394692"/>
          </a:xfrm>
          <a:prstGeom prst="roundRect">
            <a:avLst>
              <a:gd name="adj" fmla="val 231674"/>
            </a:avLst>
          </a:prstGeom>
          <a:solidFill>
            <a:srgbClr val="1B54DA"/>
          </a:solidFill>
        </p:spPr>
      </p:sp>
      <p:sp>
        <p:nvSpPr>
          <p:cNvPr id="14" name="Text 11"/>
          <p:cNvSpPr/>
          <p:nvPr/>
        </p:nvSpPr>
        <p:spPr>
          <a:xfrm>
            <a:off x="4493002" y="3463290"/>
            <a:ext cx="157877" cy="1972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7219" y="3890724"/>
            <a:ext cx="1944172" cy="2055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Manual Collection Risks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07219" y="4175165"/>
            <a:ext cx="7929563" cy="2105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Human involvement in waste collection often poses health and safety risks.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0415" y="4861322"/>
            <a:ext cx="8223171" cy="970597"/>
          </a:xfrm>
          <a:prstGeom prst="roundRect">
            <a:avLst>
              <a:gd name="adj" fmla="val 7537"/>
            </a:avLst>
          </a:prstGeom>
          <a:solidFill>
            <a:srgbClr val="F9F9FF"/>
          </a:solidFill>
        </p:spPr>
      </p:sp>
      <p:sp>
        <p:nvSpPr>
          <p:cNvPr id="18" name="Shape 15"/>
          <p:cNvSpPr/>
          <p:nvPr/>
        </p:nvSpPr>
        <p:spPr>
          <a:xfrm>
            <a:off x="460415" y="4846082"/>
            <a:ext cx="8223171" cy="60960"/>
          </a:xfrm>
          <a:prstGeom prst="roundRect">
            <a:avLst>
              <a:gd name="adj" fmla="val 90645"/>
            </a:avLst>
          </a:prstGeom>
          <a:solidFill>
            <a:srgbClr val="1B54DA"/>
          </a:solidFill>
        </p:spPr>
      </p:sp>
      <p:sp>
        <p:nvSpPr>
          <p:cNvPr id="19" name="Shape 16"/>
          <p:cNvSpPr/>
          <p:nvPr/>
        </p:nvSpPr>
        <p:spPr>
          <a:xfrm>
            <a:off x="4374654" y="4664035"/>
            <a:ext cx="394692" cy="394692"/>
          </a:xfrm>
          <a:prstGeom prst="roundRect">
            <a:avLst>
              <a:gd name="adj" fmla="val 231674"/>
            </a:avLst>
          </a:prstGeom>
          <a:solidFill>
            <a:srgbClr val="1B54DA"/>
          </a:solidFill>
        </p:spPr>
      </p:sp>
      <p:sp>
        <p:nvSpPr>
          <p:cNvPr id="20" name="Text 17"/>
          <p:cNvSpPr/>
          <p:nvPr/>
        </p:nvSpPr>
        <p:spPr>
          <a:xfrm>
            <a:off x="4493002" y="4762738"/>
            <a:ext cx="157877" cy="1972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7219" y="5190173"/>
            <a:ext cx="1644491" cy="2055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Poor Monitoring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07219" y="5474613"/>
            <a:ext cx="7929563" cy="2105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Lack of real-time oversight in public areas exacerbates the problem.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0415" y="6160770"/>
            <a:ext cx="8223171" cy="970597"/>
          </a:xfrm>
          <a:prstGeom prst="roundRect">
            <a:avLst>
              <a:gd name="adj" fmla="val 7537"/>
            </a:avLst>
          </a:prstGeom>
          <a:solidFill>
            <a:srgbClr val="F9F9FF"/>
          </a:solidFill>
        </p:spPr>
      </p:sp>
      <p:sp>
        <p:nvSpPr>
          <p:cNvPr id="24" name="Shape 21"/>
          <p:cNvSpPr/>
          <p:nvPr/>
        </p:nvSpPr>
        <p:spPr>
          <a:xfrm>
            <a:off x="460415" y="6145530"/>
            <a:ext cx="8223171" cy="60960"/>
          </a:xfrm>
          <a:prstGeom prst="roundRect">
            <a:avLst>
              <a:gd name="adj" fmla="val 90645"/>
            </a:avLst>
          </a:prstGeom>
          <a:solidFill>
            <a:srgbClr val="1B54DA"/>
          </a:solidFill>
        </p:spPr>
      </p:sp>
      <p:sp>
        <p:nvSpPr>
          <p:cNvPr id="25" name="Shape 22"/>
          <p:cNvSpPr/>
          <p:nvPr/>
        </p:nvSpPr>
        <p:spPr>
          <a:xfrm>
            <a:off x="4374654" y="5963483"/>
            <a:ext cx="394692" cy="394692"/>
          </a:xfrm>
          <a:prstGeom prst="roundRect">
            <a:avLst>
              <a:gd name="adj" fmla="val 231674"/>
            </a:avLst>
          </a:prstGeom>
          <a:solidFill>
            <a:srgbClr val="1B54DA"/>
          </a:solidFill>
        </p:spPr>
      </p:sp>
      <p:sp>
        <p:nvSpPr>
          <p:cNvPr id="26" name="Text 23"/>
          <p:cNvSpPr/>
          <p:nvPr/>
        </p:nvSpPr>
        <p:spPr>
          <a:xfrm>
            <a:off x="4493002" y="6062186"/>
            <a:ext cx="157877" cy="1972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7219" y="6489621"/>
            <a:ext cx="1644491" cy="2055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Lack of Automation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07219" y="6774061"/>
            <a:ext cx="7929563" cy="2105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Inefficient, traditional methods fail to keep pace with growing urban waste.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83735" y="462498"/>
            <a:ext cx="7291745" cy="4587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Driving Change: Motivation &amp; Objectives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81598" y="1058822"/>
            <a:ext cx="9286875" cy="4695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Our motivation stems from the critical need for a paradigm shift in waste management, aiming for cleaner, safer, and more efficient urban environments.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1598" y="1869337"/>
            <a:ext cx="3022640" cy="2752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Why Automation is Needed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22459" y="2330081"/>
            <a:ext cx="4464368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To mitigate health hazards for sanitation workers.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2459" y="2711496"/>
            <a:ext cx="4464368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To enhance urban aesthetics and public hygiene.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2459" y="3187107"/>
            <a:ext cx="4464368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To achieve sustainability goals for smart cities.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2459" y="3709597"/>
            <a:ext cx="4464368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To reduce operational costs and increase efficiency.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890" y="1957864"/>
            <a:ext cx="4464368" cy="44643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1598" y="4485851"/>
            <a:ext cx="2202418" cy="2752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Goal of TRASHBOT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6902" y="5240952"/>
            <a:ext cx="9286875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To develop a </a:t>
            </a:r>
            <a:r>
              <a:rPr lang="en-US" sz="1400" dirty="0">
                <a:solidFill>
                  <a:srgbClr val="1B54DA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smart, safe, and autonomous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system for waste detection 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6902" y="5955571"/>
            <a:ext cx="9286875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To provide </a:t>
            </a:r>
            <a:r>
              <a:rPr lang="en-US" sz="1400" dirty="0">
                <a:solidFill>
                  <a:srgbClr val="1B54DA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real-time monitoring and alerts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for optimal waste management.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8B6359-E58F-A98B-CA8F-273581366899}"/>
              </a:ext>
            </a:extLst>
          </p:cNvPr>
          <p:cNvSpPr/>
          <p:nvPr/>
        </p:nvSpPr>
        <p:spPr>
          <a:xfrm>
            <a:off x="12823902" y="7805854"/>
            <a:ext cx="1694986" cy="30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5331" y="639366"/>
            <a:ext cx="9302710" cy="4614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Introducing TRASHBOT: Our Autonomous Solution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15317" y="1305699"/>
            <a:ext cx="9339620" cy="236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The Advanced TRASHBOT is an AI-powered autonomous robot designed to revolutionize waste collection in public spaces.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17" y="1774090"/>
            <a:ext cx="5642239" cy="56422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1" y="1798438"/>
            <a:ext cx="3613666" cy="4244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C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Overview of the Robot</a:t>
            </a:r>
            <a:endParaRPr lang="en-US" sz="1700" dirty="0">
              <a:solidFill>
                <a:srgbClr val="FFC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8472845" y="2370534"/>
            <a:ext cx="3519607" cy="472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 self-navigating unit equipped with advanced sensors.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72845" y="2894648"/>
            <a:ext cx="3519607" cy="472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Capable of detecting and collecting various types of waste.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72845" y="3418761"/>
            <a:ext cx="3519607" cy="236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Integrates AI for intelligent decision-making.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3899" y="3835835"/>
            <a:ext cx="3519607" cy="5536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C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Autonomous Trash Detection &amp; Collection</a:t>
            </a:r>
            <a:endParaRPr lang="en-US" sz="1700" dirty="0">
              <a:solidFill>
                <a:srgbClr val="FFC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8472845" y="4503896"/>
            <a:ext cx="3519607" cy="472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Utilizes machine learning for precise object recognition.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72845" y="5028009"/>
            <a:ext cx="3519607" cy="472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 robotic arm securely grips and deposits waste.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84903" y="5631479"/>
            <a:ext cx="3143964" cy="2768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FC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Smart Alerts and Monitoring</a:t>
            </a:r>
            <a:endParaRPr lang="en-US" sz="1700" dirty="0">
              <a:solidFill>
                <a:srgbClr val="FFC00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8472845" y="6072545"/>
            <a:ext cx="3519607" cy="472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Provides real-time updates on waste levels and robot status.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72845" y="6596658"/>
            <a:ext cx="3519607" cy="236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Generates alerts for anomalies or full bins.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CC5158-325C-AF96-5D55-943E07A00BC7}"/>
              </a:ext>
            </a:extLst>
          </p:cNvPr>
          <p:cNvSpPr/>
          <p:nvPr/>
        </p:nvSpPr>
        <p:spPr>
          <a:xfrm>
            <a:off x="12823902" y="7805854"/>
            <a:ext cx="1694986" cy="30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5027" y="370284"/>
            <a:ext cx="8480227" cy="8377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Architecture: The Brains Behind TRASHBOT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075027" y="1476137"/>
            <a:ext cx="8480227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Our robust system architecture ensures seamless autonomous operation and effective waste management.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052" y="1841302"/>
            <a:ext cx="5804178" cy="46074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85968" y="3647362"/>
            <a:ext cx="1043059" cy="9540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TRASHBOT System Architecture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812067" y="2283514"/>
            <a:ext cx="1551737" cy="238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Camera Sensor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812067" y="2589860"/>
            <a:ext cx="1551737" cy="3816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Visual environmental data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225618" y="2164262"/>
            <a:ext cx="1551737" cy="4770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Vibration Sensor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25618" y="2709112"/>
            <a:ext cx="1551737" cy="3816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Collision and motion alerts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25618" y="5310932"/>
            <a:ext cx="1551737" cy="238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Fire Sensor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225618" y="5617278"/>
            <a:ext cx="1551737" cy="3816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Flame and heat detection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12067" y="5310932"/>
            <a:ext cx="1551737" cy="238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Gas Sensor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812067" y="5617278"/>
            <a:ext cx="1551737" cy="3816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Air quality monitoring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371759" y="3656770"/>
            <a:ext cx="1585658" cy="4770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Ultrasonic Sensor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371759" y="4201621"/>
            <a:ext cx="1585658" cy="3816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Distance and obstacle detection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57447" y="3784502"/>
            <a:ext cx="1585658" cy="238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Rain Sensor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657447" y="4090848"/>
            <a:ext cx="1585658" cy="3816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Precipitation detection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075027" y="6599515"/>
            <a:ext cx="8480227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Sensors:</a:t>
            </a: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The eyes and ears of the TRASHBOT, gathering crucial environmental data.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075027" y="6860858"/>
            <a:ext cx="8480227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Raspberry Pi:</a:t>
            </a: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The central processing unit, running AI algorithms and controlling operations.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075027" y="7122200"/>
            <a:ext cx="8480227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Robotic Arm:</a:t>
            </a: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Precision mechanical component for waste collection.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075027" y="7383542"/>
            <a:ext cx="8480227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IoT Module:</a:t>
            </a: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Enables connectivity and data sharing with smart city infrastructure.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075027" y="7644884"/>
            <a:ext cx="8480227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GSM SMS System:</a:t>
            </a:r>
            <a:r>
              <a:rPr lang="en-US" sz="10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Critical for reliable alerts, especially in areas with no internet.</a:t>
            </a:r>
            <a:endParaRPr lang="en-US" sz="10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BD8790-8E65-4634-74FF-AB4F75672C0B}"/>
              </a:ext>
            </a:extLst>
          </p:cNvPr>
          <p:cNvSpPr/>
          <p:nvPr/>
        </p:nvSpPr>
        <p:spPr>
          <a:xfrm>
            <a:off x="12823902" y="7805854"/>
            <a:ext cx="1694986" cy="30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617"/>
            <a:ext cx="1263169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Core Capabilities: Key Features of TRASHBOT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202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TRASHBOT is engineered with a suite of advanced features for intelligent and safe waste collection.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530078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80542"/>
            <a:ext cx="303633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Dual Operating Mode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70960"/>
            <a:ext cx="41586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Seamless switching between autonomous and remote-controlled operation.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530078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3380542"/>
            <a:ext cx="343340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Autonomous Navigation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3870960"/>
            <a:ext cx="41586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Self-guided movement using GPS and obstacle avoidance systems.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530078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3380542"/>
            <a:ext cx="285416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Robotic Arm Pickup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3870960"/>
            <a:ext cx="41586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Precise manipulation for effective trash collection and segregation.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41329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3790" y="6263759"/>
            <a:ext cx="305026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Smart Bin Monitoring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93790" y="6754177"/>
            <a:ext cx="41586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Real-time level detection to prevent overflows and optimize routes.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5413296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5893" y="626375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Safety Sensors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5235893" y="6754177"/>
            <a:ext cx="41586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Integrated sensors ensure safe operation around people and animals.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E1D945-7420-A3B1-3AE1-D701B4EA6D68}"/>
              </a:ext>
            </a:extLst>
          </p:cNvPr>
          <p:cNvSpPr/>
          <p:nvPr/>
        </p:nvSpPr>
        <p:spPr>
          <a:xfrm>
            <a:off x="12823902" y="7805854"/>
            <a:ext cx="1694986" cy="30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4931" y="1494234"/>
            <a:ext cx="6428303" cy="5611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Sensor &amp; Hardware Overview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14931" y="2324695"/>
            <a:ext cx="7886938" cy="5743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TRASHBOT is equipped with a comprehensive array of sensors and hardware components for intelligent operation.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14931" y="3262670"/>
            <a:ext cx="3724394" cy="5743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Camera: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Visual data for AI trash detection and environment mapping.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14931" y="3899773"/>
            <a:ext cx="3724394" cy="5743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Ultrasonic Sensors: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Accurate distance measurement for obstacle avoidance.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14931" y="4536877"/>
            <a:ext cx="3724394" cy="5743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Gas Sensor: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Detects harmful gases, ensuring environmental safety.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14931" y="5173980"/>
            <a:ext cx="3724394" cy="5743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Fire Sensor: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Identifies potential fire hazards in waste bins.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14931" y="5811083"/>
            <a:ext cx="3724394" cy="861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Rain Sensor: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Enables adaptive behaviour during adverse weather conditions.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85095" y="3262670"/>
            <a:ext cx="3724394" cy="5743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Vibration Sensor: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Detects unusual movements or impacts.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285095" y="3899773"/>
            <a:ext cx="3724394" cy="5743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GPS Module: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Precise localization and navigation capabilities.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285095" y="4536877"/>
            <a:ext cx="3724394" cy="861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GSM Module: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Facilitates SMS communication without internet dependency.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285095" y="5461159"/>
            <a:ext cx="3724394" cy="5743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Solar Panel:</a:t>
            </a:r>
            <a:r>
              <a:rPr lang="en-US" sz="14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Provides sustainable power, extending operational time.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563205-EBDA-4AFD-0243-B5B8A0E7204C}"/>
              </a:ext>
            </a:extLst>
          </p:cNvPr>
          <p:cNvSpPr/>
          <p:nvPr/>
        </p:nvSpPr>
        <p:spPr>
          <a:xfrm>
            <a:off x="12823902" y="7805854"/>
            <a:ext cx="1694986" cy="30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3947" y="402253"/>
            <a:ext cx="4942880" cy="365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Robotic Arm &amp; Waste Segregation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74729" y="921425"/>
            <a:ext cx="7391995" cy="187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The TRASHBOT's robotic arm is designed for versatile trash collection and initial segregation, enhancing recycling efforts.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4729" y="1507300"/>
            <a:ext cx="2336244" cy="219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Servo-Based Robotic Hand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74729" y="1901635"/>
            <a:ext cx="3553420" cy="187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Multi-articulated for flexible reach and grip.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4729" y="2253885"/>
            <a:ext cx="3553420" cy="187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Equipped with pressure sensors for gentle yet firm handling.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122" y="2678549"/>
            <a:ext cx="2732365" cy="219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FF0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Metal &amp; Non-Metal Segregation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74729" y="3112458"/>
            <a:ext cx="3553420" cy="187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Integrated sensors classify waste materials in real-time.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4729" y="3474765"/>
            <a:ext cx="3553420" cy="187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Separate compartments within the robot for initial sorting.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219" y="1371362"/>
            <a:ext cx="3553420" cy="35534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9604" y="4551540"/>
            <a:ext cx="2972157" cy="219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Automatic Trash Pickup Workflow</a:t>
            </a:r>
            <a:endParaRPr lang="en-US" sz="13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04" y="5380316"/>
            <a:ext cx="3695938" cy="4674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0661" y="6059266"/>
            <a:ext cx="1460778" cy="182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FFC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Detect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756404" y="6366316"/>
            <a:ext cx="3462337" cy="187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AI identifies waste using camera input.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695" y="5319061"/>
            <a:ext cx="3696057" cy="4674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34830" y="5968004"/>
            <a:ext cx="1460778" cy="182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FFC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Approach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7" name="Text 12"/>
          <p:cNvSpPr/>
          <p:nvPr/>
        </p:nvSpPr>
        <p:spPr>
          <a:xfrm>
            <a:off x="6734830" y="6280797"/>
            <a:ext cx="3462457" cy="187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Robot navigates safely to the waste.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7016" y="6833001"/>
            <a:ext cx="3695938" cy="4674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124207" y="7441942"/>
            <a:ext cx="1460778" cy="182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FFC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Grasp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3124207" y="7696735"/>
            <a:ext cx="3462337" cy="187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Robotic arm securely picks up the item.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081" y="6766441"/>
            <a:ext cx="3696057" cy="46743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31881" y="7350681"/>
            <a:ext cx="1460778" cy="1825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FFC000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Segregate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23" name="Text 16"/>
          <p:cNvSpPr/>
          <p:nvPr/>
        </p:nvSpPr>
        <p:spPr>
          <a:xfrm>
            <a:off x="7431881" y="7603212"/>
            <a:ext cx="3462457" cy="187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Waste is classified and deposited into correct bins.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0BD07B-5C84-B739-ED4A-7ED6B764C84D}"/>
              </a:ext>
            </a:extLst>
          </p:cNvPr>
          <p:cNvSpPr/>
          <p:nvPr/>
        </p:nvSpPr>
        <p:spPr>
          <a:xfrm>
            <a:off x="12823902" y="7805854"/>
            <a:ext cx="1694986" cy="30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2673" y="468154"/>
            <a:ext cx="7607022" cy="397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AI &amp; Autonomous Operation: Intelligent Mobility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292673" y="1119902"/>
            <a:ext cx="8044934" cy="203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TRASHBOT leverages cutting-edge AI for intelligent decision-making, ensuring safe and efficient autonomous operation.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92673" y="1593413"/>
            <a:ext cx="2756178" cy="238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Camera + ML Trash Detection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2673" y="1958935"/>
            <a:ext cx="3867269" cy="4067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Advanced machine learning models accurately identify various waste types.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92673" y="2410063"/>
            <a:ext cx="3867269" cy="4067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Continuously learns and adapts to new debris and environments.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2673" y="2943939"/>
            <a:ext cx="1907858" cy="238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Obstacle Avoidance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2673" y="3309461"/>
            <a:ext cx="3867269" cy="4067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Utilizes ultrasonic sensors and LiDAR for dynamic obstacle detection.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2673" y="3760589"/>
            <a:ext cx="3867269" cy="4067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Intelligent path adjustments to navigate around people, vehicles, and objects.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839" y="1609249"/>
            <a:ext cx="3867269" cy="386726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92673" y="5810250"/>
            <a:ext cx="1907858" cy="238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Path Planning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92673" y="6239351"/>
            <a:ext cx="8044934" cy="203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Optimized routing algorithms for efficient coverage of designated areas.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2673" y="6487120"/>
            <a:ext cx="8044934" cy="203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Dynamic recalculation to avoid obstacles and adapt to changing conditions.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92673" y="6881217"/>
            <a:ext cx="2175391" cy="2383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Crowd &amp; Animal Safety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292673" y="7310318"/>
            <a:ext cx="8044934" cy="203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Integrated safety protocols to detect and maintain distance from living beings.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92673" y="7558087"/>
            <a:ext cx="8044934" cy="203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Voice alerts and flashing lights provide warnings to ensure public safety.</a:t>
            </a:r>
            <a:endParaRPr lang="en-US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6D24BE-2949-BAFC-77F4-DC66AA6F71CD}"/>
              </a:ext>
            </a:extLst>
          </p:cNvPr>
          <p:cNvSpPr/>
          <p:nvPr/>
        </p:nvSpPr>
        <p:spPr>
          <a:xfrm>
            <a:off x="12823902" y="7805854"/>
            <a:ext cx="1694986" cy="30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615" y="751284"/>
            <a:ext cx="13095208" cy="651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Real-Life Applications: Transforming Public Spaces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29615" y="1819751"/>
            <a:ext cx="13171170" cy="6669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TRASHBOT's versatility makes it an invaluable asset across a wide range of public and private environments, contributing to cleaner communities.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" y="2721173"/>
            <a:ext cx="3097411" cy="30974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615" y="6027063"/>
            <a:ext cx="2606040" cy="325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Smart Cities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29615" y="6477833"/>
            <a:ext cx="3097411" cy="10004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Integral to intelligent urban infrastructure, enhancing livability.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535" y="2721173"/>
            <a:ext cx="3097411" cy="30974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87535" y="6027063"/>
            <a:ext cx="2606040" cy="325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Parks &amp; Streets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4087535" y="6477833"/>
            <a:ext cx="3097411" cy="10004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Maintaining pristine public spaces for recreation and daily life.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454" y="2721173"/>
            <a:ext cx="3097411" cy="30974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45454" y="6027063"/>
            <a:ext cx="2926318" cy="325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Railway &amp; Bus Stations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7445454" y="6477833"/>
            <a:ext cx="3097411" cy="6669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Ensuring cleanliness in high-traffic transport hubs.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3374" y="2721173"/>
            <a:ext cx="3097411" cy="30974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03374" y="6027063"/>
            <a:ext cx="2606040" cy="3257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Campuses &amp; Malls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10803374" y="6477833"/>
            <a:ext cx="3097411" cy="10004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Providing a pleasant and hygienic environment for students and shoppers.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400FD3-E664-FF64-FBE5-6BA0391B8149}"/>
              </a:ext>
            </a:extLst>
          </p:cNvPr>
          <p:cNvSpPr/>
          <p:nvPr/>
        </p:nvSpPr>
        <p:spPr>
          <a:xfrm>
            <a:off x="12823902" y="7805854"/>
            <a:ext cx="1694986" cy="30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85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1210151" y="704493"/>
            <a:ext cx="12210098" cy="3087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10151" y="1230392"/>
            <a:ext cx="12210098" cy="3087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10151" y="1756291"/>
            <a:ext cx="12210098" cy="3087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10151" y="2282190"/>
            <a:ext cx="12210098" cy="3087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10151" y="2880479"/>
            <a:ext cx="12210098" cy="1809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250"/>
              </a:lnSpc>
              <a:buNone/>
            </a:pPr>
            <a:r>
              <a:rPr lang="en-US" sz="11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    </a:t>
            </a:r>
            <a:r>
              <a:rPr lang="en-US" sz="11400" b="1" i="1" dirty="0">
                <a:solidFill>
                  <a:srgbClr val="FFA44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Thank You</a:t>
            </a:r>
            <a:endParaRPr lang="en-US" sz="11400" dirty="0"/>
          </a:p>
        </p:txBody>
      </p:sp>
      <p:sp>
        <p:nvSpPr>
          <p:cNvPr id="9" name="Text 6"/>
          <p:cNvSpPr/>
          <p:nvPr/>
        </p:nvSpPr>
        <p:spPr>
          <a:xfrm>
            <a:off x="1210151" y="4979789"/>
            <a:ext cx="12210098" cy="386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210151" y="5583079"/>
            <a:ext cx="12210098" cy="6174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10151" y="6490097"/>
            <a:ext cx="2413040" cy="3015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210151" y="7081242"/>
            <a:ext cx="12210098" cy="6174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944</Words>
  <Application>Microsoft Office PowerPoint</Application>
  <PresentationFormat>Custom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Nobile</vt:lpstr>
      <vt:lpstr>Arial</vt:lpstr>
      <vt:lpstr>Alexandria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Pacific BD</dc:creator>
  <cp:lastModifiedBy>Prosenjit mondol</cp:lastModifiedBy>
  <cp:revision>4</cp:revision>
  <dcterms:created xsi:type="dcterms:W3CDTF">2026-01-26T05:41:00Z</dcterms:created>
  <dcterms:modified xsi:type="dcterms:W3CDTF">2026-01-26T15:16:27Z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C2A0D6B19FE74F07B1C2911DC438F3A7_12</vt:lpwstr>
  </property>
  <property fmtid="{D5CDD505-2E9C-101B-9397-08002B2CF9AE}" pid="3" name="KSOProductBuildVer">
    <vt:lpwstr>1033-12.2.0.20323</vt:lpwstr>
  </property>
</Properties>
</file>