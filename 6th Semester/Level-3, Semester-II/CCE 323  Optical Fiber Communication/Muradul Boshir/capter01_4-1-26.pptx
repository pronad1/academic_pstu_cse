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 type="screen4x3"/>
  <p:notesSz cx="7010400" cy="9296400"/>
  <p:defaultTextStyle>
    <a:lvl1pPr marL="0" indent="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/>
      </a:defRPr>
    </a:lvl1pPr>
    <a:lvl2pPr marL="457200" indent="4572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/>
      </a:defRPr>
    </a:lvl2pPr>
    <a:lvl3pPr marL="914400" indent="9144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/>
      </a:defRPr>
    </a:lvl3pPr>
    <a:lvl4pPr marL="1371600" indent="13716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/>
      </a:defRPr>
    </a:lvl4pPr>
    <a:lvl5pPr marL="1828800" indent="18288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205864" name="Rectangle 2"/>
          <p:cNvSpPr>
            <a:spLocks noChangeShapeType="1" noGrp="1"/>
          </p:cNvSpPr>
          <p:nvPr>
            <p:ph type="hdr" idx="0"/>
          </p:nvPr>
        </p:nvSpPr>
        <p:spPr bwMode="auto">
          <a:xfrm>
            <a:off x="0" y="0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/>
          <a:lstStyle/>
          <a:p>
            <a:pPr>
              <a:defRPr/>
            </a:pPr>
            <a:endParaRPr sz="1400"/>
          </a:p>
        </p:txBody>
      </p:sp>
      <p:sp>
        <p:nvSpPr>
          <p:cNvPr id="101980722" name="Rectangle 3"/>
          <p:cNvSpPr>
            <a:spLocks noChangeShapeType="1" noGrp="1"/>
          </p:cNvSpPr>
          <p:nvPr>
            <p:ph type="dt" idx="1"/>
          </p:nvPr>
        </p:nvSpPr>
        <p:spPr bwMode="auto">
          <a:xfrm>
            <a:off x="3971925" y="0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/>
          <a:lstStyle/>
          <a:p>
            <a:pPr>
              <a:defRPr/>
            </a:pPr>
            <a:endParaRPr sz="1400"/>
          </a:p>
        </p:txBody>
      </p:sp>
      <p:sp>
        <p:nvSpPr>
          <p:cNvPr id="1627471173" name="Rectangle 4"/>
          <p:cNvSpPr>
            <a:spLocks noChangeShapeType="1" noGrp="1"/>
          </p:cNvSpPr>
          <p:nvPr>
            <p:ph type="sldImg" idx="2"/>
          </p:nvPr>
        </p:nvSpPr>
        <p:spPr bwMode="auto">
          <a:xfrm>
            <a:off x="1181099" y="696912"/>
            <a:ext cx="4648200" cy="3486150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96648412" name="Rectangle 5"/>
          <p:cNvSpPr>
            <a:spLocks noChangeShapeType="1" noGrp="1"/>
          </p:cNvSpPr>
          <p:nvPr>
            <p:ph type="body" idx="3"/>
          </p:nvPr>
        </p:nvSpPr>
        <p:spPr bwMode="auto">
          <a:xfrm>
            <a:off x="935037" y="4416425"/>
            <a:ext cx="5140325" cy="4183062"/>
          </a:xfrm>
          <a:prstGeom prst="rect">
            <a:avLst/>
          </a:prstGeom>
          <a:noFill/>
        </p:spPr>
        <p:txBody>
          <a:bodyPr lIns="93170" tIns="46586" rIns="93170" bIns="46586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Click to edit Master text styles</a:t>
            </a:r>
            <a:endParaRPr/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/>
              <a:t>Second level</a:t>
            </a:r>
            <a:endParaRPr/>
          </a:p>
          <a:p>
            <a:pPr marL="914400" lvl="2" indent="0">
              <a:spcBef>
                <a:spcPts val="0"/>
              </a:spcBef>
              <a:buNone/>
              <a:defRPr/>
            </a:pPr>
            <a:r>
              <a:rPr/>
              <a:t>Third level</a:t>
            </a:r>
            <a:endParaRPr/>
          </a:p>
          <a:p>
            <a:pPr marL="1371600" lvl="3" indent="0">
              <a:spcBef>
                <a:spcPts val="0"/>
              </a:spcBef>
              <a:buNone/>
              <a:defRPr/>
            </a:pPr>
            <a:r>
              <a:rPr/>
              <a:t>Fourth level</a:t>
            </a:r>
            <a:endParaRPr/>
          </a:p>
          <a:p>
            <a:pPr marL="1828800" lvl="4" indent="0">
              <a:spcBef>
                <a:spcPts val="0"/>
              </a:spcBef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79750108" name="Rectangle 6"/>
          <p:cNvSpPr>
            <a:spLocks noChangeShapeType="1" noGrp="1"/>
          </p:cNvSpPr>
          <p:nvPr>
            <p:ph type="ftr" idx="4"/>
          </p:nvPr>
        </p:nvSpPr>
        <p:spPr bwMode="auto">
          <a:xfrm>
            <a:off x="0" y="8831262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 anchor="b"/>
          <a:lstStyle/>
          <a:p>
            <a:pPr>
              <a:defRPr/>
            </a:pPr>
            <a:endParaRPr sz="1400"/>
          </a:p>
        </p:txBody>
      </p:sp>
      <p:sp>
        <p:nvSpPr>
          <p:cNvPr id="1372517897" name="Rectangle 7"/>
          <p:cNvSpPr>
            <a:spLocks noChangeShapeType="1" noGrp="1"/>
          </p:cNvSpPr>
          <p:nvPr>
            <p:ph type="sldNum" idx="5"/>
          </p:nvPr>
        </p:nvSpPr>
        <p:spPr bwMode="auto">
          <a:xfrm>
            <a:off x="3971925" y="8831262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 anchor="b"/>
          <a:lstStyle>
            <a:lvl1pPr marL="0" indent="0" algn="l" defTabSz="93186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3186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3186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3186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3186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 defTabSz="931862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/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661742" name="Slide Image Placeholder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81099" y="696912"/>
            <a:ext cx="4648200" cy="3486150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337778623" name="Notes Placeholder 2"/>
          <p:cNvSpPr>
            <a:spLocks noChangeShapeType="1" noGrp="1"/>
          </p:cNvSpPr>
          <p:nvPr>
            <p:ph type="body" idx="1"/>
          </p:nvPr>
        </p:nvSpPr>
        <p:spPr bwMode="auto">
          <a:xfrm>
            <a:off x="935037" y="4416425"/>
            <a:ext cx="5140325" cy="4183062"/>
          </a:xfrm>
          <a:prstGeom prst="rect">
            <a:avLst/>
          </a:prstGeom>
          <a:noFill/>
        </p:spPr>
        <p:txBody>
          <a:bodyPr lIns="93170" tIns="46586" rIns="93170" bIns="46586" anchor="t"/>
          <a:lstStyle/>
          <a:p>
            <a:pPr>
              <a:defRPr/>
            </a:pPr>
            <a:endParaRPr sz="1400"/>
          </a:p>
        </p:txBody>
      </p:sp>
      <p:sp>
        <p:nvSpPr>
          <p:cNvPr id="1332967417" name="Slide Number Placeholder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971925" y="8831262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 anchor="b"/>
          <a:lstStyle/>
          <a:p>
            <a:pPr lvl="0" algn="r" defTabSz="931862">
              <a:defRPr/>
            </a:pPr>
            <a:fld id="{D038279B-FC19-497E-A7D1-5ADD9CAF016F}" type="slidenum">
              <a:rPr lang="en-US" sz="1200">
                <a:latin typeface="Calibri"/>
                <a:ea typeface="Arial"/>
              </a:rPr>
              <a:t>*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110558" name="Rectangle 7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971925" y="8831262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 anchor="b"/>
          <a:lstStyle/>
          <a:p>
            <a:pPr lvl="0" algn="r" defTabSz="931862">
              <a:defRPr/>
            </a:pPr>
            <a:fld id="{D038279B-FC19-497E-A7D1-5ADD9CAF016F}" type="slidenum">
              <a:rPr lang="en-US" sz="1200"/>
              <a:t>*</a:t>
            </a:fld>
            <a:endParaRPr/>
          </a:p>
        </p:txBody>
      </p:sp>
      <p:sp>
        <p:nvSpPr>
          <p:cNvPr id="1282868933" name="Rectangle 2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81099" y="696912"/>
            <a:ext cx="4648200" cy="3486150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15429324" name="Rectangle 3"/>
          <p:cNvSpPr>
            <a:spLocks noChangeShapeType="1" noGrp="1"/>
          </p:cNvSpPr>
          <p:nvPr>
            <p:ph type="body" idx="1"/>
          </p:nvPr>
        </p:nvSpPr>
        <p:spPr bwMode="auto">
          <a:xfrm>
            <a:off x="935037" y="4416425"/>
            <a:ext cx="5140325" cy="4183062"/>
          </a:xfrm>
          <a:prstGeom prst="rect">
            <a:avLst/>
          </a:prstGeom>
          <a:noFill/>
        </p:spPr>
        <p:txBody>
          <a:bodyPr lIns="93170" tIns="46586" rIns="93170" bIns="46586" anchor="t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DA4BBE-3CC7-803C-71CC-10E69F09DA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B897D6-B210-774F-8B45-B9F6D1B1E6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5356F6-0B74-1D83-3AB8-EB98503E70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A887CA-CBA7-F8B6-CECF-E1AF63593D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7DDAEC-5BB1-D34B-6806-F7F9D1B7B7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53319-0842-DF1F-8161-48E5D1E5CB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F70369-0CC9-961F-91B9-67F4E7F755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BAC74B-7946-D646-50E2-93F94858DC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96AAEE-6306-A343-5814-BDD69EC4B1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40A718-BFA3-C13C-F8C1-5162A034C7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8682D0-3FAE-D72D-B5DD-8A8974951E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6739B5-DBA4-FD1F-0E78-D6F68D72E1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96363-9DED-BF63-F618-A75FC02ED9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A327BA-4DA6-0990-E6BA-3051DDD4C2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11508-517B-BC70-C768-8731F4739F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1D9807-2D8F-3389-DE97-701450CF6B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DF508F-FDD3-6A38-A5EE-A788ADF882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D424E1-0236-CF61-20A6-FB6CF82236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D25C1C-8057-BB4B-8803-17024AAE0A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oleObject" Target="../embeddings/bin_xgqyd2"/><Relationship Id="rId4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60497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38171887" name="Shape 1027"/>
          <p:cNvSpPr>
            <a:spLocks noChangeShapeType="1" noGrp="1"/>
          </p:cNvSpPr>
          <p:nvPr>
            <p:ph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3333CC"/>
              </a:buClr>
              <a:buSzPct val="50000"/>
              <a:buFont typeface="Wingdings"/>
              <a:buChar char="n"/>
              <a:defRPr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lr>
                <a:srgbClr val="FFCF01"/>
              </a:buClr>
              <a:buSzPct val="55000"/>
              <a:buFont typeface="Wingdings"/>
              <a:buChar char="n"/>
              <a:defRPr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lr>
                <a:srgbClr val="00E4A8"/>
              </a:buClr>
              <a:buSzPct val="50000"/>
              <a:buFont typeface="Wingdings"/>
              <a:buChar char="n"/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60252094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endParaRPr lang="en-US" sz="1200"/>
          </a:p>
        </p:txBody>
      </p:sp>
      <p:sp>
        <p:nvSpPr>
          <p:cNvPr id="865948562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200"/>
              <a:t>Data Mining: Concepts and Techniques</a:t>
            </a:r>
            <a:endParaRPr/>
          </a:p>
        </p:txBody>
      </p:sp>
      <p:sp>
        <p:nvSpPr>
          <p:cNvPr id="1545285367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1_Blends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7978040" name="Group 2"/>
          <p:cNvGrpSpPr/>
          <p:nvPr/>
        </p:nvGrpSpPr>
        <p:grpSpPr bwMode="auto">
          <a:xfrm>
            <a:off x="0" y="2438400"/>
            <a:ext cx="9009062" cy="1052512"/>
            <a:chOff x="0" y="1536"/>
            <a:chExt cx="5675" cy="663"/>
          </a:xfrm>
        </p:grpSpPr>
        <p:grpSp>
          <p:nvGrpSpPr>
            <p:cNvPr id="2057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064" name="Rectangle 4"/>
              <p:cNvSpPr>
                <a:spLocks noChangeShapeType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65" name="Rectangle 5"/>
              <p:cNvSpPr>
                <a:spLocks noChangeShapeType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1"/>
              </a:gra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</p:grpSp>
        <p:grpSp>
          <p:nvGrpSpPr>
            <p:cNvPr id="2058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62" name="Rectangle 7"/>
              <p:cNvSpPr>
                <a:spLocks noChangeShapeType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63" name="Rectangle 8"/>
              <p:cNvSpPr>
                <a:spLocks noChangeShapeType="1"/>
              </p:cNvSpPr>
              <p:nvPr/>
            </p:nvSpPr>
            <p:spPr bwMode="auto">
              <a:xfrm>
                <a:off x="1249" y="2640"/>
                <a:ext cx="334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1"/>
              </a:gra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</p:grpSp>
        <p:sp>
          <p:nvSpPr>
            <p:cNvPr id="2059" name="Rectangle 9"/>
            <p:cNvSpPr>
              <a:spLocks noChangeShapeType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1"/>
            </a:gra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60" name="Rectangle 10"/>
            <p:cNvSpPr>
              <a:spLocks noChangeShapeType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61" name="Rectangle 11"/>
            <p:cNvSpPr>
              <a:spLocks noChangeShapeType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1"/>
            </a:gra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</p:grpSp>
      <p:sp>
        <p:nvSpPr>
          <p:cNvPr id="1781956914" name="Rectangle 11"/>
          <p:cNvSpPr>
            <a:spLocks noChangeShapeType="1" noGrp="1"/>
          </p:cNvSpPr>
          <p:nvPr>
            <p:ph type="sldNum"/>
          </p:nvPr>
        </p:nvSpPr>
        <p:spPr bwMode="auto">
          <a:xfrm>
            <a:off x="8694737" y="6553200"/>
            <a:ext cx="449262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>
                <a:solidFill>
                  <a:schemeClr val="lt2"/>
                </a:solidFill>
              </a:rPr>
              <a:t>*</a:t>
            </a:fld>
            <a:endParaRPr/>
          </a:p>
        </p:txBody>
      </p:sp>
      <p:sp>
        <p:nvSpPr>
          <p:cNvPr id="703559691" name="Rectangle 9"/>
          <p:cNvSpPr>
            <a:spLocks noChangeShapeType="1" noGrp="1"/>
          </p:cNvSpPr>
          <p:nvPr>
            <p:ph type="title" idx="0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26521153" name="Rectangle 10"/>
          <p:cNvSpPr>
            <a:spLocks noChangeShapeType="1" noGrp="1"/>
          </p:cNvSpPr>
          <p:nvPr>
            <p:ph type="body"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3333CC"/>
              </a:buClr>
              <a:buSzPct val="50000"/>
              <a:buFont typeface="Wingdings"/>
              <a:buChar char="n"/>
              <a:defRPr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lr>
                <a:srgbClr val="FFCF01"/>
              </a:buClr>
              <a:buSzPct val="55000"/>
              <a:buFont typeface="Wingdings"/>
              <a:buChar char="n"/>
              <a:defRPr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lr>
                <a:srgbClr val="00E4A8"/>
              </a:buClr>
              <a:buSzPct val="50000"/>
              <a:buFont typeface="Wingdings"/>
              <a:buChar char="n"/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61940955" name="Date Placeholder 14"/>
          <p:cNvSpPr>
            <a:spLocks noChangeShapeType="1" noGrp="1"/>
          </p:cNvSpPr>
          <p:nvPr>
            <p:ph type="dt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>
                <a:solidFill>
                  <a:schemeClr val="lt2"/>
                </a:solidFill>
              </a:rPr>
              <a:t>*</a:t>
            </a:r>
            <a:endParaRPr/>
          </a:p>
        </p:txBody>
      </p:sp>
      <p:sp>
        <p:nvSpPr>
          <p:cNvPr id="839722904" name="Footer Placeholder 15"/>
          <p:cNvSpPr>
            <a:spLocks noChangeShapeType="1" noGrp="1"/>
          </p:cNvSpPr>
          <p:nvPr>
            <p:ph type="ft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400">
                <a:solidFill>
                  <a:schemeClr val="lt2"/>
                </a:solidFill>
              </a:rPr>
              <a:t>Data Mining: Concepts and Techniques</a:t>
            </a:r>
            <a:endParaRPr/>
          </a:p>
        </p:txBody>
      </p:sp>
      <p:sp>
        <p:nvSpPr>
          <p:cNvPr id="182495016" name="Slide Number Placeholder 16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>
                <a:solidFill>
                  <a:schemeClr val="lt2"/>
                </a:solidFill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2_Blends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23357418" name="Object 23"/>
          <p:cNvGraphicFramePr>
            <a:graphicFrameLocks xmlns:a="http://schemas.openxmlformats.org/drawingml/2006/main" noChangeAspect="1"/>
          </p:cNvGraphicFramePr>
          <p:nvPr/>
        </p:nvGraphicFramePr>
        <p:xfrm>
          <a:off x="381000" y="1143000"/>
          <a:ext cx="8382000" cy="76200"/>
        </p:xfrm>
        <a:graphic>
          <a:graphicData uri="http://schemas.openxmlformats.org/presentationml/2006/ole">
            <p:oleObj name="oleObj" r:id="rId3" imgW="4708525" imgH="42545" progId="MS_ClipArt_Gallery.5">
              <p:embed/>
              <p:pic>
                <p:nvPicPr>
                  <p:cNvPr id="323357418" name="Object 23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381000" y="1143000"/>
                    <a:ext cx="8382000" cy="76200"/>
                  </a:xfrm>
                  <a:prstGeom prst="rect">
                    <a:avLst/>
                  </a:prstGeom>
                  <a:noFill/>
                </p:spPr>
              </p:pic>
            </p:oleObj>
          </a:graphicData>
        </a:graphic>
      </p:graphicFrame>
      <p:grpSp>
        <p:nvGrpSpPr>
          <p:cNvPr id="1032841274" name="Group 75"/>
          <p:cNvGrpSpPr/>
          <p:nvPr/>
        </p:nvGrpSpPr>
        <p:grpSpPr bwMode="auto">
          <a:xfrm>
            <a:off x="-3175" y="0"/>
            <a:ext cx="9147175" cy="6867524"/>
            <a:chOff x="-2" y="0"/>
            <a:chExt cx="5762" cy="4326"/>
          </a:xfrm>
        </p:grpSpPr>
        <p:grpSp>
          <p:nvGrpSpPr>
            <p:cNvPr id="3083" name="Group 71"/>
            <p:cNvGrpSpPr/>
            <p:nvPr/>
          </p:nvGrpSpPr>
          <p:grpSpPr bwMode="auto">
            <a:xfrm>
              <a:off x="-2" y="0"/>
              <a:ext cx="5712" cy="4326"/>
              <a:chOff x="-2" y="0"/>
              <a:chExt cx="5712" cy="4326"/>
            </a:xfrm>
          </p:grpSpPr>
          <p:sp>
            <p:nvSpPr>
              <p:cNvPr id="3086" name="Rectangle 3"/>
              <p:cNvSpPr>
                <a:spLocks noChangeShapeType="1"/>
              </p:cNvSpPr>
              <p:nvPr/>
            </p:nvSpPr>
            <p:spPr bwMode="auto">
              <a:xfrm>
                <a:off x="-2" y="0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87" name="Rectangle 4"/>
              <p:cNvSpPr>
                <a:spLocks noChangeShapeType="1"/>
              </p:cNvSpPr>
              <p:nvPr/>
            </p:nvSpPr>
            <p:spPr bwMode="auto">
              <a:xfrm>
                <a:off x="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88" name="Rectangle 5"/>
              <p:cNvSpPr>
                <a:spLocks noChangeShapeType="1"/>
              </p:cNvSpPr>
              <p:nvPr/>
            </p:nvSpPr>
            <p:spPr bwMode="auto">
              <a:xfrm>
                <a:off x="1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89" name="Rectangle 6"/>
              <p:cNvSpPr>
                <a:spLocks noChangeShapeType="1"/>
              </p:cNvSpPr>
              <p:nvPr/>
            </p:nvSpPr>
            <p:spPr bwMode="auto">
              <a:xfrm>
                <a:off x="2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0" name="Rectangle 7"/>
              <p:cNvSpPr>
                <a:spLocks noChangeShapeType="1"/>
              </p:cNvSpPr>
              <p:nvPr/>
            </p:nvSpPr>
            <p:spPr bwMode="auto">
              <a:xfrm>
                <a:off x="3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1" name="Rectangle 8"/>
              <p:cNvSpPr>
                <a:spLocks noChangeShapeType="1"/>
              </p:cNvSpPr>
              <p:nvPr/>
            </p:nvSpPr>
            <p:spPr bwMode="auto">
              <a:xfrm>
                <a:off x="4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2" name="Rectangle 9"/>
              <p:cNvSpPr>
                <a:spLocks noChangeShapeType="1"/>
              </p:cNvSpPr>
              <p:nvPr/>
            </p:nvSpPr>
            <p:spPr bwMode="auto">
              <a:xfrm>
                <a:off x="5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3" name="Rectangle 10"/>
              <p:cNvSpPr>
                <a:spLocks noChangeShapeType="1"/>
              </p:cNvSpPr>
              <p:nvPr/>
            </p:nvSpPr>
            <p:spPr bwMode="auto">
              <a:xfrm>
                <a:off x="669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4" name="Rectangle 11"/>
              <p:cNvSpPr>
                <a:spLocks noChangeShapeType="1"/>
              </p:cNvSpPr>
              <p:nvPr/>
            </p:nvSpPr>
            <p:spPr bwMode="auto">
              <a:xfrm>
                <a:off x="7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5" name="Rectangle 12"/>
              <p:cNvSpPr>
                <a:spLocks noChangeShapeType="1"/>
              </p:cNvSpPr>
              <p:nvPr/>
            </p:nvSpPr>
            <p:spPr bwMode="auto">
              <a:xfrm>
                <a:off x="8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6" name="Rectangle 13"/>
              <p:cNvSpPr>
                <a:spLocks noChangeShapeType="1"/>
              </p:cNvSpPr>
              <p:nvPr/>
            </p:nvSpPr>
            <p:spPr bwMode="auto">
              <a:xfrm>
                <a:off x="9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7" name="Rectangle 14"/>
              <p:cNvSpPr>
                <a:spLocks noChangeShapeType="1"/>
              </p:cNvSpPr>
              <p:nvPr/>
            </p:nvSpPr>
            <p:spPr bwMode="auto">
              <a:xfrm>
                <a:off x="10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8" name="Rectangle 15"/>
              <p:cNvSpPr>
                <a:spLocks noChangeShapeType="1"/>
              </p:cNvSpPr>
              <p:nvPr/>
            </p:nvSpPr>
            <p:spPr bwMode="auto">
              <a:xfrm>
                <a:off x="11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9" name="Rectangle 16"/>
              <p:cNvSpPr>
                <a:spLocks noChangeShapeType="1"/>
              </p:cNvSpPr>
              <p:nvPr/>
            </p:nvSpPr>
            <p:spPr bwMode="auto">
              <a:xfrm>
                <a:off x="12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0" name="Rectangle 17"/>
              <p:cNvSpPr>
                <a:spLocks noChangeShapeType="1"/>
              </p:cNvSpPr>
              <p:nvPr/>
            </p:nvSpPr>
            <p:spPr bwMode="auto">
              <a:xfrm>
                <a:off x="13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1" name="Rectangle 18"/>
              <p:cNvSpPr>
                <a:spLocks noChangeShapeType="1"/>
              </p:cNvSpPr>
              <p:nvPr/>
            </p:nvSpPr>
            <p:spPr bwMode="auto">
              <a:xfrm>
                <a:off x="14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2" name="Rectangle 19"/>
              <p:cNvSpPr>
                <a:spLocks noChangeShapeType="1"/>
              </p:cNvSpPr>
              <p:nvPr/>
            </p:nvSpPr>
            <p:spPr bwMode="auto">
              <a:xfrm>
                <a:off x="15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3" name="Rectangle 20"/>
              <p:cNvSpPr>
                <a:spLocks noChangeShapeType="1"/>
              </p:cNvSpPr>
              <p:nvPr/>
            </p:nvSpPr>
            <p:spPr bwMode="auto">
              <a:xfrm>
                <a:off x="16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4" name="Rectangle 21"/>
              <p:cNvSpPr>
                <a:spLocks noChangeShapeType="1"/>
              </p:cNvSpPr>
              <p:nvPr/>
            </p:nvSpPr>
            <p:spPr bwMode="auto">
              <a:xfrm>
                <a:off x="17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5" name="Rectangle 22"/>
              <p:cNvSpPr>
                <a:spLocks noChangeShapeType="1"/>
              </p:cNvSpPr>
              <p:nvPr/>
            </p:nvSpPr>
            <p:spPr bwMode="auto">
              <a:xfrm>
                <a:off x="18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6" name="Rectangle 23"/>
              <p:cNvSpPr>
                <a:spLocks noChangeShapeType="1"/>
              </p:cNvSpPr>
              <p:nvPr/>
            </p:nvSpPr>
            <p:spPr bwMode="auto">
              <a:xfrm>
                <a:off x="19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7" name="Rectangle 24"/>
              <p:cNvSpPr>
                <a:spLocks noChangeShapeType="1"/>
              </p:cNvSpPr>
              <p:nvPr/>
            </p:nvSpPr>
            <p:spPr bwMode="auto">
              <a:xfrm>
                <a:off x="20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8" name="Rectangle 25"/>
              <p:cNvSpPr>
                <a:spLocks noChangeShapeType="1"/>
              </p:cNvSpPr>
              <p:nvPr/>
            </p:nvSpPr>
            <p:spPr bwMode="auto">
              <a:xfrm>
                <a:off x="21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9" name="Rectangle 26"/>
              <p:cNvSpPr>
                <a:spLocks noChangeShapeType="1"/>
              </p:cNvSpPr>
              <p:nvPr/>
            </p:nvSpPr>
            <p:spPr bwMode="auto">
              <a:xfrm>
                <a:off x="22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0" name="Rectangle 27"/>
              <p:cNvSpPr>
                <a:spLocks noChangeShapeType="1"/>
              </p:cNvSpPr>
              <p:nvPr/>
            </p:nvSpPr>
            <p:spPr bwMode="auto">
              <a:xfrm>
                <a:off x="23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1" name="Rectangle 28"/>
              <p:cNvSpPr>
                <a:spLocks noChangeShapeType="1"/>
              </p:cNvSpPr>
              <p:nvPr/>
            </p:nvSpPr>
            <p:spPr bwMode="auto">
              <a:xfrm>
                <a:off x="23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2" name="Rectangle 29"/>
              <p:cNvSpPr>
                <a:spLocks noChangeShapeType="1"/>
              </p:cNvSpPr>
              <p:nvPr/>
            </p:nvSpPr>
            <p:spPr bwMode="auto">
              <a:xfrm>
                <a:off x="24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3" name="Rectangle 30"/>
              <p:cNvSpPr>
                <a:spLocks noChangeShapeType="1"/>
              </p:cNvSpPr>
              <p:nvPr/>
            </p:nvSpPr>
            <p:spPr bwMode="auto">
              <a:xfrm>
                <a:off x="25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4" name="Rectangle 31"/>
              <p:cNvSpPr>
                <a:spLocks noChangeShapeType="1"/>
              </p:cNvSpPr>
              <p:nvPr/>
            </p:nvSpPr>
            <p:spPr bwMode="auto">
              <a:xfrm>
                <a:off x="26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5" name="Rectangle 32"/>
              <p:cNvSpPr>
                <a:spLocks noChangeShapeType="1"/>
              </p:cNvSpPr>
              <p:nvPr/>
            </p:nvSpPr>
            <p:spPr bwMode="auto">
              <a:xfrm>
                <a:off x="27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6" name="Rectangle 33"/>
              <p:cNvSpPr>
                <a:spLocks noChangeShapeType="1"/>
              </p:cNvSpPr>
              <p:nvPr/>
            </p:nvSpPr>
            <p:spPr bwMode="auto">
              <a:xfrm>
                <a:off x="28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7" name="Rectangle 34"/>
              <p:cNvSpPr>
                <a:spLocks noChangeShapeType="1"/>
              </p:cNvSpPr>
              <p:nvPr/>
            </p:nvSpPr>
            <p:spPr bwMode="auto">
              <a:xfrm>
                <a:off x="29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8" name="Rectangle 35"/>
              <p:cNvSpPr>
                <a:spLocks noChangeShapeType="1"/>
              </p:cNvSpPr>
              <p:nvPr/>
            </p:nvSpPr>
            <p:spPr bwMode="auto">
              <a:xfrm>
                <a:off x="30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9" name="Rectangle 36"/>
              <p:cNvSpPr>
                <a:spLocks noChangeShapeType="1"/>
              </p:cNvSpPr>
              <p:nvPr/>
            </p:nvSpPr>
            <p:spPr bwMode="auto">
              <a:xfrm>
                <a:off x="31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0" name="Rectangle 37"/>
              <p:cNvSpPr>
                <a:spLocks noChangeShapeType="1"/>
              </p:cNvSpPr>
              <p:nvPr/>
            </p:nvSpPr>
            <p:spPr bwMode="auto">
              <a:xfrm>
                <a:off x="32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1" name="Rectangle 38"/>
              <p:cNvSpPr>
                <a:spLocks noChangeShapeType="1"/>
              </p:cNvSpPr>
              <p:nvPr/>
            </p:nvSpPr>
            <p:spPr bwMode="auto">
              <a:xfrm>
                <a:off x="33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2" name="Rectangle 39"/>
              <p:cNvSpPr>
                <a:spLocks noChangeShapeType="1"/>
              </p:cNvSpPr>
              <p:nvPr/>
            </p:nvSpPr>
            <p:spPr bwMode="auto">
              <a:xfrm>
                <a:off x="34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3" name="Rectangle 40"/>
              <p:cNvSpPr>
                <a:spLocks noChangeShapeType="1"/>
              </p:cNvSpPr>
              <p:nvPr/>
            </p:nvSpPr>
            <p:spPr bwMode="auto">
              <a:xfrm>
                <a:off x="35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4" name="Rectangle 41"/>
              <p:cNvSpPr>
                <a:spLocks noChangeShapeType="1"/>
              </p:cNvSpPr>
              <p:nvPr/>
            </p:nvSpPr>
            <p:spPr bwMode="auto">
              <a:xfrm>
                <a:off x="36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5" name="Rectangle 42"/>
              <p:cNvSpPr>
                <a:spLocks noChangeShapeType="1"/>
              </p:cNvSpPr>
              <p:nvPr/>
            </p:nvSpPr>
            <p:spPr bwMode="auto">
              <a:xfrm>
                <a:off x="37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6" name="Rectangle 43"/>
              <p:cNvSpPr>
                <a:spLocks noChangeShapeType="1"/>
              </p:cNvSpPr>
              <p:nvPr/>
            </p:nvSpPr>
            <p:spPr bwMode="auto">
              <a:xfrm>
                <a:off x="38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7" name="Rectangle 44"/>
              <p:cNvSpPr>
                <a:spLocks noChangeShapeType="1"/>
              </p:cNvSpPr>
              <p:nvPr/>
            </p:nvSpPr>
            <p:spPr bwMode="auto">
              <a:xfrm>
                <a:off x="39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8" name="Rectangle 45"/>
              <p:cNvSpPr>
                <a:spLocks noChangeShapeType="1"/>
              </p:cNvSpPr>
              <p:nvPr/>
            </p:nvSpPr>
            <p:spPr bwMode="auto">
              <a:xfrm>
                <a:off x="40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9" name="Rectangle 46"/>
              <p:cNvSpPr>
                <a:spLocks noChangeShapeType="1"/>
              </p:cNvSpPr>
              <p:nvPr/>
            </p:nvSpPr>
            <p:spPr bwMode="auto">
              <a:xfrm>
                <a:off x="41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0" name="Rectangle 47"/>
              <p:cNvSpPr>
                <a:spLocks noChangeShapeType="1"/>
              </p:cNvSpPr>
              <p:nvPr/>
            </p:nvSpPr>
            <p:spPr bwMode="auto">
              <a:xfrm>
                <a:off x="42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1" name="Rectangle 48"/>
              <p:cNvSpPr>
                <a:spLocks noChangeShapeType="1"/>
              </p:cNvSpPr>
              <p:nvPr/>
            </p:nvSpPr>
            <p:spPr bwMode="auto">
              <a:xfrm>
                <a:off x="43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2" name="Rectangle 49"/>
              <p:cNvSpPr>
                <a:spLocks noChangeShapeType="1"/>
              </p:cNvSpPr>
              <p:nvPr/>
            </p:nvSpPr>
            <p:spPr bwMode="auto">
              <a:xfrm>
                <a:off x="44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3" name="Rectangle 50"/>
              <p:cNvSpPr>
                <a:spLocks noChangeShapeType="1"/>
              </p:cNvSpPr>
              <p:nvPr/>
            </p:nvSpPr>
            <p:spPr bwMode="auto">
              <a:xfrm>
                <a:off x="45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4" name="Rectangle 51"/>
              <p:cNvSpPr>
                <a:spLocks noChangeShapeType="1"/>
              </p:cNvSpPr>
              <p:nvPr/>
            </p:nvSpPr>
            <p:spPr bwMode="auto">
              <a:xfrm>
                <a:off x="46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5" name="Rectangle 52"/>
              <p:cNvSpPr>
                <a:spLocks noChangeShapeType="1"/>
              </p:cNvSpPr>
              <p:nvPr/>
            </p:nvSpPr>
            <p:spPr bwMode="auto">
              <a:xfrm>
                <a:off x="47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6" name="Rectangle 53"/>
              <p:cNvSpPr>
                <a:spLocks noChangeShapeType="1"/>
              </p:cNvSpPr>
              <p:nvPr/>
            </p:nvSpPr>
            <p:spPr bwMode="auto">
              <a:xfrm>
                <a:off x="47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7" name="Rectangle 54"/>
              <p:cNvSpPr>
                <a:spLocks noChangeShapeType="1"/>
              </p:cNvSpPr>
              <p:nvPr/>
            </p:nvSpPr>
            <p:spPr bwMode="auto">
              <a:xfrm>
                <a:off x="48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8" name="Rectangle 55"/>
              <p:cNvSpPr>
                <a:spLocks noChangeShapeType="1"/>
              </p:cNvSpPr>
              <p:nvPr/>
            </p:nvSpPr>
            <p:spPr bwMode="auto">
              <a:xfrm>
                <a:off x="49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9" name="Rectangle 56"/>
              <p:cNvSpPr>
                <a:spLocks noChangeShapeType="1"/>
              </p:cNvSpPr>
              <p:nvPr/>
            </p:nvSpPr>
            <p:spPr bwMode="auto">
              <a:xfrm>
                <a:off x="50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0" name="Rectangle 57"/>
              <p:cNvSpPr>
                <a:spLocks noChangeShapeType="1"/>
              </p:cNvSpPr>
              <p:nvPr/>
            </p:nvSpPr>
            <p:spPr bwMode="auto">
              <a:xfrm>
                <a:off x="51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1" name="Rectangle 58"/>
              <p:cNvSpPr>
                <a:spLocks noChangeShapeType="1"/>
              </p:cNvSpPr>
              <p:nvPr/>
            </p:nvSpPr>
            <p:spPr bwMode="auto">
              <a:xfrm>
                <a:off x="52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2" name="Rectangle 59"/>
              <p:cNvSpPr>
                <a:spLocks noChangeShapeType="1"/>
              </p:cNvSpPr>
              <p:nvPr/>
            </p:nvSpPr>
            <p:spPr bwMode="auto">
              <a:xfrm>
                <a:off x="53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3" name="Rectangle 60"/>
              <p:cNvSpPr>
                <a:spLocks noChangeShapeType="1"/>
              </p:cNvSpPr>
              <p:nvPr/>
            </p:nvSpPr>
            <p:spPr bwMode="auto">
              <a:xfrm>
                <a:off x="54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4" name="Rectangle 61"/>
              <p:cNvSpPr>
                <a:spLocks noChangeShapeType="1"/>
              </p:cNvSpPr>
              <p:nvPr/>
            </p:nvSpPr>
            <p:spPr bwMode="auto">
              <a:xfrm>
                <a:off x="55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5" name="Rectangle 62"/>
              <p:cNvSpPr>
                <a:spLocks noChangeShapeType="1"/>
              </p:cNvSpPr>
              <p:nvPr/>
            </p:nvSpPr>
            <p:spPr bwMode="auto">
              <a:xfrm>
                <a:off x="56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</p:grpSp>
        <p:sp>
          <p:nvSpPr>
            <p:cNvPr id="3084" name="Rectangle 63"/>
            <p:cNvSpPr>
              <a:spLocks noChangeShapeType="1"/>
            </p:cNvSpPr>
            <p:nvPr/>
          </p:nvSpPr>
          <p:spPr bwMode="auto">
            <a:xfrm>
              <a:off x="429" y="0"/>
              <a:ext cx="5331" cy="4320"/>
            </a:xfrm>
            <a:prstGeom prst="rect">
              <a:avLst/>
            </a:prstGeom>
            <a:solidFill>
              <a:schemeClr val="accent1">
                <a:alpha val="49803"/>
              </a:schemeClr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  <p:sp>
          <p:nvSpPr>
            <p:cNvPr id="3085" name="Rectangle 64"/>
            <p:cNvSpPr>
              <a:spLocks noChangeShapeType="1"/>
            </p:cNvSpPr>
            <p:nvPr/>
          </p:nvSpPr>
          <p:spPr bwMode="auto">
            <a:xfrm>
              <a:off x="0" y="0"/>
              <a:ext cx="5760" cy="321"/>
            </a:xfrm>
            <a:prstGeom prst="rect">
              <a:avLst/>
            </a:prstGeom>
            <a:solidFill>
              <a:schemeClr val="hlink">
                <a:alpha val="49803"/>
              </a:schemeClr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</p:grpSp>
      <p:pic>
        <p:nvPicPr>
          <p:cNvPr id="1511084362" name="Picture 76" descr="buetmono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685800" cy="665162"/>
          </a:xfrm>
          <a:prstGeom prst="rect">
            <a:avLst/>
          </a:prstGeom>
          <a:noFill/>
        </p:spPr>
      </p:pic>
      <p:sp>
        <p:nvSpPr>
          <p:cNvPr id="1111626698" name="Rectangle 77"/>
          <p:cNvSpPr>
            <a:spLocks noChangeShapeType="1" noGrp="1"/>
          </p:cNvSpPr>
          <p:nvPr/>
        </p:nvSpPr>
        <p:spPr bwMode="auto">
          <a:xfrm>
            <a:off x="3505199" y="2362199"/>
            <a:ext cx="4892675" cy="76200"/>
          </a:xfrm>
          <a:prstGeom prst="rect">
            <a:avLst/>
          </a:prstGeom>
          <a:solidFill>
            <a:schemeClr val="hlink">
              <a:alpha val="49803"/>
            </a:schemeClr>
          </a:solidFill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590952426" name="Rectangle 9"/>
          <p:cNvSpPr>
            <a:spLocks noChangeShapeType="1" noGrp="1"/>
          </p:cNvSpPr>
          <p:nvPr>
            <p:ph type="title" idx="0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91400397" name="Rectangle 10"/>
          <p:cNvSpPr>
            <a:spLocks noChangeShapeType="1" noGrp="1"/>
          </p:cNvSpPr>
          <p:nvPr>
            <p:ph type="body"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3333CC"/>
              </a:buClr>
              <a:buSzPct val="50000"/>
              <a:buFont typeface="Wingdings"/>
              <a:buChar char="n"/>
              <a:defRPr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lr>
                <a:srgbClr val="FFCF01"/>
              </a:buClr>
              <a:buSzPct val="55000"/>
              <a:buFont typeface="Wingdings"/>
              <a:buChar char="n"/>
              <a:defRPr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lr>
                <a:srgbClr val="00E4A8"/>
              </a:buClr>
              <a:buSzPct val="50000"/>
              <a:buFont typeface="Wingdings"/>
              <a:buChar char="n"/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86360899" name="Date Placeholder 68"/>
          <p:cNvSpPr>
            <a:spLocks noChangeShapeType="1" noGrp="1"/>
          </p:cNvSpPr>
          <p:nvPr>
            <p:ph type="dt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95452579" name="Footer Placeholder 69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512203889" name="Slide Number Placeholder 7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130896" name="Shape 2051"/>
          <p:cNvSpPr>
            <a:spLocks noChangeShapeType="1" noGrp="1"/>
          </p:cNvSpPr>
          <p:nvPr>
            <p:ph type="sldNum"/>
          </p:nvPr>
        </p:nvSpPr>
        <p:spPr bwMode="auto">
          <a:xfrm>
            <a:off x="8694737" y="6553200"/>
            <a:ext cx="449262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>
                <a:solidFill>
                  <a:schemeClr val="lt2"/>
                </a:solidFill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oleObject" Target="../embeddings/bin_nef4e1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023109" name="Rectangle 9"/>
          <p:cNvSpPr>
            <a:spLocks noChangeShapeType="1" noGrp="1"/>
          </p:cNvSpPr>
          <p:nvPr>
            <p:ph type="title" idx="0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16573407" name="Rectangle 10"/>
          <p:cNvSpPr>
            <a:spLocks noChangeShapeType="1" noGrp="1"/>
          </p:cNvSpPr>
          <p:nvPr>
            <p:ph type="body"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3333CC"/>
              </a:buClr>
              <a:buSzPct val="50000"/>
              <a:buFont typeface="Wingdings"/>
              <a:buChar char="n"/>
              <a:defRPr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lr>
                <a:srgbClr val="FFCF01"/>
              </a:buClr>
              <a:buSzPct val="55000"/>
              <a:buFont typeface="Wingdings"/>
              <a:buChar char="n"/>
              <a:defRPr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lr>
                <a:srgbClr val="00E4A8"/>
              </a:buClr>
              <a:buSzPct val="50000"/>
              <a:buFont typeface="Wingdings"/>
              <a:buChar char="n"/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81186333" name="Rectangle 11"/>
          <p:cNvSpPr>
            <a:spLocks noChangeShapeType="1" noGrp="1"/>
          </p:cNvSpPr>
          <p:nvPr>
            <p:ph type="dt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sz="1200"/>
              <a:t>*</a:t>
            </a:r>
            <a:endParaRPr/>
          </a:p>
        </p:txBody>
      </p:sp>
      <p:sp>
        <p:nvSpPr>
          <p:cNvPr id="757554126" name="Rectangle 12"/>
          <p:cNvSpPr>
            <a:spLocks noChangeShapeType="1" noGrp="1"/>
          </p:cNvSpPr>
          <p:nvPr>
            <p:ph type="ftr" idx="3"/>
          </p:nvPr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200"/>
              <a:t>Data Mining: Concepts and Techniques</a:t>
            </a:r>
            <a:endParaRPr/>
          </a:p>
        </p:txBody>
      </p:sp>
      <p:sp>
        <p:nvSpPr>
          <p:cNvPr id="440905607" name="Rectangle 13"/>
          <p:cNvSpPr>
            <a:spLocks noChangeShapeType="1" noGrp="1"/>
          </p:cNvSpPr>
          <p:nvPr>
            <p:ph type="sldNum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graphicFrame>
        <p:nvGraphicFramePr>
          <p:cNvPr id="1416373283" name="Object 23"/>
          <p:cNvGraphicFramePr>
            <a:graphicFrameLocks xmlns:a="http://schemas.openxmlformats.org/drawingml/2006/main" noChangeAspect="1"/>
          </p:cNvGraphicFramePr>
          <p:nvPr/>
        </p:nvGraphicFramePr>
        <p:xfrm>
          <a:off x="381000" y="1143000"/>
          <a:ext cx="8382000" cy="76200"/>
        </p:xfrm>
        <a:graphic>
          <a:graphicData uri="http://schemas.openxmlformats.org/presentationml/2006/ole">
            <p:oleObj name="oleObj" r:id="rId7" imgW="4708525" imgH="42545" progId="MS_ClipArt_Gallery.5">
              <p:embed/>
              <p:pic>
                <p:nvPicPr>
                  <p:cNvPr id="1416373283" name="Object 23"/>
                  <p:cNvPicPr/>
                  <p:nvPr/>
                </p:nvPicPr>
                <p:blipFill rotWithShape="1">
                  <a:blip r:embed="rId6"/>
                  <a:stretch/>
                </p:blipFill>
                <p:spPr bwMode="auto">
                  <a:xfrm>
                    <a:off x="381000" y="1143000"/>
                    <a:ext cx="8382000" cy="76200"/>
                  </a:xfrm>
                  <a:prstGeom prst="rect">
                    <a:avLst/>
                  </a:prstGeom>
                  <a:noFill/>
                </p:spPr>
              </p:pic>
            </p:oleObj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3333CC"/>
        </a:buClr>
        <a:buSzPct val="60000"/>
        <a:buFont typeface="Wingdings"/>
        <a:buChar char="n"/>
        <a:defRPr lang="en-US" sz="2800" b="0" i="0">
          <a:solidFill>
            <a:schemeClr val="dk1"/>
          </a:solidFill>
          <a:latin typeface="Tahoma"/>
        </a:defRPr>
      </a:lvl1pPr>
      <a:lvl2pPr marL="742950" indent="4572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FF0000"/>
        </a:buClr>
        <a:buSzPct val="55000"/>
        <a:buFont typeface="Wingdings"/>
        <a:buChar char="n"/>
        <a:defRPr lang="en-US" sz="2400" b="0" i="0">
          <a:solidFill>
            <a:schemeClr val="dk1"/>
          </a:solidFill>
          <a:latin typeface="Tahoma"/>
        </a:defRPr>
      </a:lvl2pPr>
      <a:lvl3pPr marL="1143000" indent="9144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3333CC"/>
        </a:buClr>
        <a:buSzPct val="50000"/>
        <a:buFont typeface="Wingdings"/>
        <a:buChar char="n"/>
        <a:defRPr lang="en-US" sz="2400" b="0" i="0">
          <a:solidFill>
            <a:schemeClr val="dk1"/>
          </a:solidFill>
          <a:latin typeface="Tahoma"/>
        </a:defRPr>
      </a:lvl3pPr>
      <a:lvl4pPr marL="1600200" indent="13716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FFCF01"/>
        </a:buClr>
        <a:buSzPct val="55000"/>
        <a:buFont typeface="Wingdings"/>
        <a:buChar char="n"/>
        <a:defRPr lang="en-US" sz="2000" b="0" i="0">
          <a:solidFill>
            <a:schemeClr val="dk1"/>
          </a:solidFill>
          <a:latin typeface="Tahoma"/>
        </a:defRPr>
      </a:lvl4pPr>
      <a:lvl5pPr marL="2057400" indent="18288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00E4A8"/>
        </a:buClr>
        <a:buSzPct val="50000"/>
        <a:buFont typeface="Wingdings"/>
        <a:buChar char="n"/>
        <a:defRPr lang="en-US" sz="2000" b="0" i="0">
          <a:solidFill>
            <a:schemeClr val="dk1"/>
          </a:solidFill>
          <a:latin typeface="Tahom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/>
        </a:defRPr>
      </a:lvl1pPr>
      <a:lvl2pPr marL="457200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/>
        </a:defRPr>
      </a:lvl2pPr>
      <a:lvl3pPr marL="914400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/>
        </a:defRPr>
      </a:lvl3pPr>
      <a:lvl4pPr marL="1371600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/>
        </a:defRPr>
      </a:lvl4pPr>
      <a:lvl5pPr marL="1828800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054146" name="Rectangle 3"/>
          <p:cNvSpPr>
            <a:spLocks noChangeShapeType="1" noGrp="1"/>
          </p:cNvSpPr>
          <p:nvPr>
            <p:ph type="subTitle"/>
          </p:nvPr>
        </p:nvSpPr>
        <p:spPr bwMode="auto">
          <a:xfrm>
            <a:off x="685800" y="4962525"/>
            <a:ext cx="8382000" cy="11334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>
                <a:solidFill>
                  <a:srgbClr val="0000FF"/>
                </a:solidFill>
              </a:rPr>
              <a:t>Institute of Information and Communication Technology (IICT)</a:t>
            </a:r>
            <a:endParaRPr/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>
                <a:solidFill>
                  <a:srgbClr val="0000FF"/>
                </a:solidFill>
              </a:rPr>
              <a:t>Bangladesh University of Engineering and Technology (BUET)</a:t>
            </a:r>
            <a:endParaRPr/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>
                <a:solidFill>
                  <a:srgbClr val="0000FF"/>
                </a:solidFill>
              </a:rPr>
              <a:t>Dhaka 1000, Bangladesh</a:t>
            </a:r>
            <a:endParaRPr/>
          </a:p>
        </p:txBody>
      </p:sp>
      <p:pic>
        <p:nvPicPr>
          <p:cNvPr id="289446054" name="Picture 3" descr="Water lilies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6911975"/>
          </a:xfrm>
          <a:prstGeom prst="rect">
            <a:avLst/>
          </a:prstGeom>
          <a:noFill/>
        </p:spPr>
      </p:pic>
      <p:sp>
        <p:nvSpPr>
          <p:cNvPr id="1783908858" name="Text Box 4"/>
          <p:cNvSpPr txBox="1">
            <a:spLocks noChangeShapeType="1" noGrp="1"/>
          </p:cNvSpPr>
          <p:nvPr/>
        </p:nvSpPr>
        <p:spPr bwMode="auto">
          <a:xfrm>
            <a:off x="76200" y="0"/>
            <a:ext cx="8991600" cy="566261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6000">
                <a:solidFill>
                  <a:srgbClr val="FF0000"/>
                </a:solidFill>
                <a:latin typeface="Arial"/>
                <a:ea typeface="Arial"/>
              </a:rPr>
              <a:t>Warmest Regards 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6000">
                <a:solidFill>
                  <a:srgbClr val="FF0000"/>
                </a:solidFill>
                <a:latin typeface="Arial"/>
                <a:ea typeface="Arial"/>
              </a:rPr>
              <a:t>from 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4400" b="1" i="0" u="none">
                <a:solidFill>
                  <a:srgbClr val="FF0000"/>
                </a:solidFill>
                <a:latin typeface="Arial"/>
                <a:ea typeface="Arial"/>
              </a:rPr>
              <a:t>Golam Md. Muradul Bashir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4400" b="1" i="0" u="none">
                <a:solidFill>
                  <a:srgbClr val="FF0000"/>
                </a:solidFill>
                <a:latin typeface="Arial"/>
                <a:ea typeface="Arial"/>
              </a:rPr>
              <a:t>Professor &amp; Chairman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3200" b="1" i="0" u="none">
                <a:solidFill>
                  <a:srgbClr val="FF0000"/>
                </a:solidFill>
                <a:latin typeface="Arial"/>
                <a:ea typeface="Arial"/>
              </a:rPr>
              <a:t>Dept. of Computer &amp; Communication Engineering</a:t>
            </a:r>
            <a:endParaRPr/>
          </a:p>
        </p:txBody>
      </p:sp>
      <p:sp>
        <p:nvSpPr>
          <p:cNvPr id="1620001911" name="Slide Number Placeholder 4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>
                <a:solidFill>
                  <a:srgbClr val="898989"/>
                </a:solidFill>
                <a:latin typeface="Calibri"/>
                <a:ea typeface="Arial"/>
              </a:rPr>
              <a:t>*</a:t>
            </a:fld>
            <a:endParaRPr/>
          </a:p>
        </p:txBody>
      </p:sp>
      <p:sp>
        <p:nvSpPr>
          <p:cNvPr id="1109788267" name="Rectangle 1"/>
          <p:cNvSpPr>
            <a:spLocks noChangeShapeType="1" noGrp="1"/>
          </p:cNvSpPr>
          <p:nvPr/>
        </p:nvSpPr>
        <p:spPr bwMode="auto">
          <a:xfrm>
            <a:off x="0" y="5611812"/>
            <a:ext cx="9144000" cy="120015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3600" b="1" i="0" u="none">
                <a:solidFill>
                  <a:srgbClr val="FF0000"/>
                </a:solidFill>
              </a:rPr>
              <a:t>Patuakhali Science and Technology University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split orient="vert" dir="out"/>
      </p:transition>
    </mc:Choice>
    <mc:Fallback>
      <p:transition spd="med" advClick="1">
        <p:split orient="vert" dir="ou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870476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405528830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sp>
        <p:nvSpPr>
          <p:cNvPr id="1243312847" name="Rectangle 2"/>
          <p:cNvSpPr>
            <a:spLocks noChangeShapeType="1" noGrp="1"/>
          </p:cNvSpPr>
          <p:nvPr>
            <p:ph type="title"/>
          </p:nvPr>
        </p:nvSpPr>
        <p:spPr bwMode="auto">
          <a:xfrm>
            <a:off x="457200" y="304800"/>
            <a:ext cx="8077200" cy="27432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4800"/>
              <a:t>Optical Fiber</a:t>
            </a:r>
            <a:br>
              <a:rPr lang="en-US" sz="4800"/>
            </a:br>
            <a:r>
              <a:rPr lang="en-US" sz="4800"/>
              <a:t>Communications</a:t>
            </a:r>
            <a:br>
              <a:rPr lang="en-US" sz="4800"/>
            </a:br>
            <a:r>
              <a:rPr lang="en-US" sz="4400"/>
              <a:t> </a:t>
            </a:r>
            <a:r>
              <a:rPr lang="en-US" sz="2400">
                <a:latin typeface="Berlin Sans FB Demi"/>
              </a:rPr>
              <a:t>— Chapter 1 —</a:t>
            </a:r>
            <a:br>
              <a:rPr lang="en-US" sz="2400">
                <a:latin typeface="Berlin Sans FB Demi"/>
              </a:rPr>
            </a:br>
            <a:r>
              <a:rPr lang="en-US" sz="2400">
                <a:latin typeface="Berlin Sans FB Demi"/>
              </a:rPr>
              <a:t>— Introduction —</a:t>
            </a:r>
            <a:endParaRPr/>
          </a:p>
        </p:txBody>
      </p:sp>
      <p:sp>
        <p:nvSpPr>
          <p:cNvPr id="1285106228" name="Rectangle 3"/>
          <p:cNvSpPr>
            <a:spLocks noChangeShapeType="1" noGrp="1"/>
          </p:cNvSpPr>
          <p:nvPr>
            <p:ph type="body"/>
          </p:nvPr>
        </p:nvSpPr>
        <p:spPr bwMode="auto">
          <a:xfrm>
            <a:off x="304800" y="4114800"/>
            <a:ext cx="8305800" cy="2438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73426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Introduction</a:t>
            </a:r>
            <a:endParaRPr/>
          </a:p>
        </p:txBody>
      </p:sp>
      <p:sp>
        <p:nvSpPr>
          <p:cNvPr id="1866083602" name="Content Placeholder 2"/>
          <p:cNvSpPr>
            <a:spLocks noChangeShapeType="1" noGrp="1"/>
          </p:cNvSpPr>
          <p:nvPr>
            <p:ph type="obj"/>
          </p:nvPr>
        </p:nvSpPr>
        <p:spPr bwMode="auto">
          <a:xfrm flipH="0" flipV="0">
            <a:off x="380999" y="1447799"/>
            <a:ext cx="8763719" cy="4102967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Communication may be broadly defined as the </a:t>
            </a:r>
            <a:r>
              <a:rPr lang="en-US">
                <a:solidFill>
                  <a:srgbClr val="FF0000"/>
                </a:solidFill>
              </a:rPr>
              <a:t>transfer of information from one point to another</a:t>
            </a:r>
            <a:r>
              <a:rPr lang="en-US"/>
              <a:t>.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When the information is to be conveyed over any distance a </a:t>
            </a:r>
            <a:r>
              <a:rPr lang="en-US">
                <a:solidFill>
                  <a:srgbClr val="FF0000"/>
                </a:solidFill>
              </a:rPr>
              <a:t>communication system is usually required.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Information transfer is frequently achieved by </a:t>
            </a:r>
            <a:r>
              <a:rPr lang="en-US">
                <a:solidFill>
                  <a:srgbClr val="FF0000"/>
                </a:solidFill>
              </a:rPr>
              <a:t>superimposing or modulating the information onto an electromagnetic wave </a:t>
            </a:r>
            <a:r>
              <a:rPr lang="en-US"/>
              <a:t>which acts as a carrier for the information signal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Sophisticated techniques have been developed for this process</a:t>
            </a:r>
            <a:endParaRPr/>
          </a:p>
        </p:txBody>
      </p:sp>
      <p:sp>
        <p:nvSpPr>
          <p:cNvPr id="2041309311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335869775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083602">
                                            <p:txEl>
                                              <p:pRg st="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66083602">
                                            <p:txEl>
                                              <p:pRg st="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66083602">
                                            <p:txEl>
                                              <p:pRg st="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083602">
                                            <p:txEl>
                                              <p:pRg st="96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66083602">
                                            <p:txEl>
                                              <p:pRg st="96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66083602">
                                            <p:txEl>
                                              <p:pRg st="96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083602">
                                            <p:txEl>
                                              <p:pRg st="198" end="3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66083602">
                                            <p:txEl>
                                              <p:pRg st="198" end="3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66083602">
                                            <p:txEl>
                                              <p:pRg st="198" end="3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083602">
                                            <p:txEl>
                                              <p:pRg st="370" end="4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66083602">
                                            <p:txEl>
                                              <p:pRg st="370" end="4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66083602">
                                            <p:txEl>
                                              <p:pRg st="370" end="4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19285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Historical development</a:t>
            </a:r>
            <a:endParaRPr/>
          </a:p>
        </p:txBody>
      </p:sp>
      <p:sp>
        <p:nvSpPr>
          <p:cNvPr id="1760747615" name="Content Placeholder 2"/>
          <p:cNvSpPr>
            <a:spLocks noChangeShapeType="1" noGrp="1"/>
          </p:cNvSpPr>
          <p:nvPr>
            <p:ph type="obj"/>
          </p:nvPr>
        </p:nvSpPr>
        <p:spPr bwMode="auto">
          <a:xfrm flipH="0" flipV="0">
            <a:off x="380999" y="1447799"/>
            <a:ext cx="8763719" cy="3334871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/>
              <a:t>As early as 1880 </a:t>
            </a:r>
            <a:r>
              <a:rPr>
                <a:solidFill>
                  <a:srgbClr val="FF0000"/>
                </a:solidFill>
              </a:rPr>
              <a:t>Alexander Graham Bell reported the transmission of speech using a light beam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/>
              <a:t>Although some investigation of optical communication continued in </a:t>
            </a:r>
            <a:r>
              <a:rPr>
                <a:solidFill>
                  <a:srgbClr val="FF0000"/>
                </a:solidFill>
              </a:rPr>
              <a:t>the early part of the twentieth century its use was limited to mobile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/>
              <a:t>This was due to both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the </a:t>
            </a:r>
            <a:r>
              <a:rPr b="0" i="0" u="none">
                <a:solidFill>
                  <a:srgbClr val="FF0000"/>
                </a:solidFill>
              </a:rPr>
              <a:t>lack of suitable light sources </a:t>
            </a:r>
            <a:r>
              <a:rPr b="0" i="0" u="none"/>
              <a:t>and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Severely affected by disturbances such as </a:t>
            </a:r>
            <a:r>
              <a:rPr b="0" i="0" u="none">
                <a:solidFill>
                  <a:srgbClr val="FF0000"/>
                </a:solidFill>
              </a:rPr>
              <a:t>rain, snow, fog, dust and atmospheric turbulence </a:t>
            </a:r>
            <a:r>
              <a:rPr b="0" i="0" u="none"/>
              <a:t>(disorder).</a:t>
            </a:r>
            <a:endParaRPr/>
          </a:p>
        </p:txBody>
      </p:sp>
      <p:sp>
        <p:nvSpPr>
          <p:cNvPr id="1419945539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124473288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747615">
                                            <p:txEl>
                                              <p:p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0747615">
                                            <p:txEl>
                                              <p:p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0747615">
                                            <p:txEl>
                                              <p:p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747615">
                                            <p:txEl>
                                              <p:pRg st="94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60747615">
                                            <p:txEl>
                                              <p:pRg st="94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60747615">
                                            <p:txEl>
                                              <p:pRg st="94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747615">
                                            <p:txEl>
                                              <p:pRg st="230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60747615">
                                            <p:txEl>
                                              <p:pRg st="230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60747615">
                                            <p:txEl>
                                              <p:pRg st="230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747615">
                                            <p:txEl>
                                              <p:pRg st="252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60747615">
                                            <p:txEl>
                                              <p:pRg st="252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60747615">
                                            <p:txEl>
                                              <p:pRg st="252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747615">
                                            <p:txEl>
                                              <p:pRg st="292" end="3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60747615">
                                            <p:txEl>
                                              <p:pRg st="292" end="3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60747615">
                                            <p:txEl>
                                              <p:pRg st="292" end="3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226223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Historical development</a:t>
            </a:r>
            <a:endParaRPr/>
          </a:p>
        </p:txBody>
      </p:sp>
      <p:sp>
        <p:nvSpPr>
          <p:cNvPr id="1747712509" name="Content Placeholder 2"/>
          <p:cNvSpPr>
            <a:spLocks noChangeShapeType="1" noGrp="1"/>
          </p:cNvSpPr>
          <p:nvPr>
            <p:ph type="obj"/>
          </p:nvPr>
        </p:nvSpPr>
        <p:spPr bwMode="auto">
          <a:xfrm flipH="0" flipV="0">
            <a:off x="380999" y="1447799"/>
            <a:ext cx="8763719" cy="2993495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A renewed interest in optical communication was stimulated in the </a:t>
            </a:r>
            <a:r>
              <a:rPr lang="en-US">
                <a:solidFill>
                  <a:srgbClr val="FF0000"/>
                </a:solidFill>
              </a:rPr>
              <a:t>early 1960s with the invention of the laser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This device provided a powerful </a:t>
            </a:r>
            <a:r>
              <a:rPr lang="en-US">
                <a:solidFill>
                  <a:srgbClr val="FF0000"/>
                </a:solidFill>
              </a:rPr>
              <a:t>coherent light source, together with the possibility of modulation at high frequency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The use of the laser for free space optical communication proved somewhat limited</a:t>
            </a:r>
            <a:endParaRPr/>
          </a:p>
        </p:txBody>
      </p:sp>
      <p:sp>
        <p:nvSpPr>
          <p:cNvPr id="1085177759" name="Date Placeholder 3"/>
          <p:cNvSpPr txBox="1">
            <a:spLocks noChangeShapeType="1" noGrp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841528033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12509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7712509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7712509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12509">
                                            <p:txEl>
                                              <p:pRg st="110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7712509">
                                            <p:txEl>
                                              <p:pRg st="110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7712509">
                                            <p:txEl>
                                              <p:pRg st="110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12509">
                                            <p:txEl>
                                              <p:pRg st="227" end="3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7712509">
                                            <p:txEl>
                                              <p:pRg st="227" end="30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7712509">
                                            <p:txEl>
                                              <p:pRg st="227" end="30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863076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Historical development</a:t>
            </a:r>
            <a:endParaRPr/>
          </a:p>
        </p:txBody>
      </p:sp>
      <p:sp>
        <p:nvSpPr>
          <p:cNvPr id="1908290566" name="Content Placeholder 2"/>
          <p:cNvSpPr>
            <a:spLocks noChangeShapeType="1" noGrp="1"/>
          </p:cNvSpPr>
          <p:nvPr>
            <p:ph type="obj"/>
          </p:nvPr>
        </p:nvSpPr>
        <p:spPr bwMode="auto">
          <a:xfrm flipH="0" flipV="0">
            <a:off x="380999" y="1395845"/>
            <a:ext cx="8763719" cy="1798679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proposals for optical communication via dielectric waveguides </a:t>
            </a:r>
            <a:r>
              <a:rPr lang="en-US"/>
              <a:t>or optical fibers fabricated from glass to avoid degradation of the optical signal by the atmosphere were made almost simultaneously in </a:t>
            </a:r>
            <a:r>
              <a:rPr lang="en-US">
                <a:solidFill>
                  <a:srgbClr val="FF0000"/>
                </a:solidFill>
              </a:rPr>
              <a:t>1966 by Kao and Hockham</a:t>
            </a:r>
            <a:endParaRPr/>
          </a:p>
        </p:txBody>
      </p:sp>
      <p:sp>
        <p:nvSpPr>
          <p:cNvPr id="188899089" name="Date Placeholder 3"/>
          <p:cNvSpPr txBox="1">
            <a:spLocks noChangeShapeType="1" noGrp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531750025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290566">
                                            <p:txEl>
                                              <p:pRg st="0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08290566">
                                            <p:txEl>
                                              <p:pRg st="0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08290566">
                                            <p:txEl>
                                              <p:pRg st="0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305571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general system</a:t>
            </a:r>
            <a:endParaRPr/>
          </a:p>
        </p:txBody>
      </p:sp>
      <p:sp>
        <p:nvSpPr>
          <p:cNvPr id="965701970" name="Content Placeholder 2"/>
          <p:cNvSpPr>
            <a:spLocks noChangeShapeType="1" noGrp="1"/>
          </p:cNvSpPr>
          <p:nvPr>
            <p:ph type="obj"/>
          </p:nvPr>
        </p:nvSpPr>
        <p:spPr bwMode="auto">
          <a:xfrm flipH="0" flipV="0">
            <a:off x="380999" y="1447799"/>
            <a:ext cx="8763719" cy="3590903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An optical fiber communication system is similar in basic concept to any type of communication system.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In electrical communications the information source provides an electrical signal, usually derived from a message signal which is not electrical </a:t>
            </a:r>
            <a:r>
              <a:rPr lang="en-US">
                <a:solidFill>
                  <a:srgbClr val="FF0000"/>
                </a:solidFill>
              </a:rPr>
              <a:t>(e.g. sound), </a:t>
            </a:r>
            <a:r>
              <a:rPr lang="en-US"/>
              <a:t>to a transmitter comprising electrical and electronic components which converts the </a:t>
            </a:r>
            <a:r>
              <a:rPr lang="en-US">
                <a:solidFill>
                  <a:srgbClr val="FF0000"/>
                </a:solidFill>
              </a:rPr>
              <a:t>signal into a suitable form for propagation over the transmission medium</a:t>
            </a:r>
            <a:r>
              <a:rPr lang="en-US"/>
              <a:t>.</a:t>
            </a:r>
            <a:endParaRPr/>
          </a:p>
        </p:txBody>
      </p:sp>
      <p:sp>
        <p:nvSpPr>
          <p:cNvPr id="1656754328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842266335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701970">
                                            <p:txEl>
                                              <p:pRg st="0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5701970">
                                            <p:txEl>
                                              <p:pRg st="0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5701970">
                                            <p:txEl>
                                              <p:pRg st="0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701970">
                                            <p:txEl>
                                              <p:pRg st="104" end="4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5701970">
                                            <p:txEl>
                                              <p:pRg st="104" end="4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5701970">
                                            <p:txEl>
                                              <p:pRg st="104" end="4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845880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general system</a:t>
            </a:r>
            <a:endParaRPr/>
          </a:p>
        </p:txBody>
      </p:sp>
      <p:sp>
        <p:nvSpPr>
          <p:cNvPr id="743179017" name="Content Placeholder 2"/>
          <p:cNvSpPr>
            <a:spLocks noChangeShapeType="1" noGrp="1"/>
          </p:cNvSpPr>
          <p:nvPr>
            <p:ph type="obj"/>
          </p:nvPr>
        </p:nvSpPr>
        <p:spPr bwMode="auto">
          <a:xfrm flipH="0" flipV="0">
            <a:off x="380999" y="1447799"/>
            <a:ext cx="8763719" cy="4773527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/>
              <a:t>This is often achieved by modulating a carrier, which may be an electromagnetic wave.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/>
              <a:t>The transmission medium can consist of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/>
              <a:t>a pair of wires, 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/>
              <a:t>a coaxial cable or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/>
              <a:t>a radio link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0" u="none"/>
              <a:t>In any transmission medium the signal is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attenuated, or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suffers loss, and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is subject to </a:t>
            </a:r>
            <a:r>
              <a:rPr b="0" i="0" u="none">
                <a:solidFill>
                  <a:srgbClr val="FF0000"/>
                </a:solidFill>
              </a:rPr>
              <a:t>degradations due to contamination (pollution) by random signals and noise</a:t>
            </a:r>
            <a:r>
              <a:rPr b="0" i="0" u="none"/>
              <a:t>, as well as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possible distortions imposed by mechanisms within the medium itself</a:t>
            </a:r>
            <a:endParaRPr/>
          </a:p>
        </p:txBody>
      </p:sp>
      <p:sp>
        <p:nvSpPr>
          <p:cNvPr id="1784781141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502963022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0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3179017">
                                            <p:txEl>
                                              <p:pRg st="0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3179017">
                                            <p:txEl>
                                              <p:pRg st="0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86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3179017">
                                            <p:txEl>
                                              <p:pRg st="86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3179017">
                                            <p:txEl>
                                              <p:pRg st="86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126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3179017">
                                            <p:txEl>
                                              <p:pRg st="126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3179017">
                                            <p:txEl>
                                              <p:pRg st="126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145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3179017">
                                            <p:txEl>
                                              <p:pRg st="145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3179017">
                                            <p:txEl>
                                              <p:pRg st="145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165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3179017">
                                            <p:txEl>
                                              <p:pRg st="165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3179017">
                                            <p:txEl>
                                              <p:pRg st="165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178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3179017">
                                            <p:txEl>
                                              <p:pRg st="178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3179017">
                                            <p:txEl>
                                              <p:pRg st="178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220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43179017">
                                            <p:txEl>
                                              <p:pRg st="220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43179017">
                                            <p:txEl>
                                              <p:pRg st="220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236" end="2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43179017">
                                            <p:txEl>
                                              <p:pRg st="236" end="2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43179017">
                                            <p:txEl>
                                              <p:pRg st="236" end="2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255" end="3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43179017">
                                            <p:txEl>
                                              <p:pRg st="255" end="3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43179017">
                                            <p:txEl>
                                              <p:pRg st="255" end="3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356" end="4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43179017">
                                            <p:txEl>
                                              <p:pRg st="356" end="4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43179017">
                                            <p:txEl>
                                              <p:pRg st="356" end="4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886172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general system</a:t>
            </a:r>
            <a:endParaRPr/>
          </a:p>
        </p:txBody>
      </p:sp>
      <p:sp>
        <p:nvSpPr>
          <p:cNvPr id="1277372452" name="Content Placeholder 2"/>
          <p:cNvSpPr>
            <a:spLocks noChangeShapeType="1" noGrp="1"/>
          </p:cNvSpPr>
          <p:nvPr>
            <p:ph type="obj"/>
          </p:nvPr>
        </p:nvSpPr>
        <p:spPr bwMode="auto">
          <a:xfrm flipH="0" flipV="0">
            <a:off x="380999" y="1447799"/>
            <a:ext cx="8763719" cy="4444344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/>
              <a:t>in any communication system there is a maximum permitted distance between the transmitter and the receiver </a:t>
            </a:r>
            <a:r>
              <a:rPr>
                <a:solidFill>
                  <a:srgbClr val="FF0000"/>
                </a:solidFill>
              </a:rPr>
              <a:t>beyond which the system effectively ceases (ends) to give intelligible communication</a:t>
            </a:r>
            <a:endParaRPr lang="en-US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/>
              <a:t>For long haul applications these factors necessitate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the installation of repeaters or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line amplifiers at intervals,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0" u="none"/>
              <a:t>both to remove signal </a:t>
            </a:r>
            <a:r>
              <a:rPr b="0" i="0" u="none">
                <a:solidFill>
                  <a:srgbClr val="FF0000"/>
                </a:solidFill>
              </a:rPr>
              <a:t>distortion and to increase signal level before transmission is continued down the link</a:t>
            </a:r>
            <a:endParaRPr/>
          </a:p>
        </p:txBody>
      </p:sp>
      <p:sp>
        <p:nvSpPr>
          <p:cNvPr id="1324921968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924544430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372452">
                                            <p:txEl>
                                              <p:pRg st="1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7372452">
                                            <p:txEl>
                                              <p:pRg st="1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7372452">
                                            <p:txEl>
                                              <p:pRg st="1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372452">
                                            <p:txEl>
                                              <p:pRg st="193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7372452">
                                            <p:txEl>
                                              <p:pRg st="193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7372452">
                                            <p:txEl>
                                              <p:pRg st="193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372452">
                                            <p:txEl>
                                              <p:pRg st="247" end="2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77372452">
                                            <p:txEl>
                                              <p:pRg st="247" end="2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77372452">
                                            <p:txEl>
                                              <p:pRg st="247" end="2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372452">
                                            <p:txEl>
                                              <p:pRg st="281" end="3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77372452">
                                            <p:txEl>
                                              <p:pRg st="281" end="3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77372452">
                                            <p:txEl>
                                              <p:pRg st="281" end="3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372452">
                                            <p:txEl>
                                              <p:pRg st="311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77372452">
                                            <p:txEl>
                                              <p:pRg st="311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77372452">
                                            <p:txEl>
                                              <p:pRg st="311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747624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228600" y="228600"/>
            <a:ext cx="86106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800"/>
              <a:t>General  communication system &amp; optical fiber</a:t>
            </a:r>
            <a:br>
              <a:rPr lang="en-US" sz="2800"/>
            </a:br>
            <a:r>
              <a:rPr lang="en-US" sz="2800"/>
              <a:t>communication system</a:t>
            </a:r>
            <a:endParaRPr/>
          </a:p>
        </p:txBody>
      </p:sp>
      <p:sp>
        <p:nvSpPr>
          <p:cNvPr id="634682625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922565623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sp>
        <p:nvSpPr>
          <p:cNvPr id="1598550957" name="Content Placeholder 6"/>
          <p:cNvSpPr>
            <a:spLocks noChangeShapeType="1" noGrp="1"/>
          </p:cNvSpPr>
          <p:nvPr>
            <p:ph type="obj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pic>
        <p:nvPicPr>
          <p:cNvPr id="641938055" name="Picture 3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152400" y="1509712"/>
            <a:ext cx="8686800" cy="511968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506292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80772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br>
              <a:rPr lang="en-US" b="0" i="0" u="none"/>
            </a:br>
            <a:br>
              <a:rPr lang="en-US" b="0" i="0" u="none"/>
            </a:br>
            <a:br>
              <a:rPr lang="en-US" b="0" i="0" u="none"/>
            </a:br>
            <a:br>
              <a:rPr lang="en-US" b="0" i="0" u="none"/>
            </a:br>
            <a:br>
              <a:rPr lang="en-US"/>
            </a:br>
            <a:r>
              <a:rPr lang="en-US" b="0" i="0" u="none"/>
              <a:t>Electrical  Communications</a:t>
            </a:r>
            <a:endParaRPr/>
          </a:p>
        </p:txBody>
      </p:sp>
      <p:sp>
        <p:nvSpPr>
          <p:cNvPr id="290409188" name="Content Placeholder 2"/>
          <p:cNvSpPr>
            <a:spLocks noChangeShapeType="1" noGrp="1"/>
          </p:cNvSpPr>
          <p:nvPr>
            <p:ph type="obj"/>
          </p:nvPr>
        </p:nvSpPr>
        <p:spPr bwMode="auto">
          <a:xfrm flipH="0" flipV="0">
            <a:off x="152399" y="3276599"/>
            <a:ext cx="8992319" cy="3017879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/>
              <a:t>Information source provides an </a:t>
            </a:r>
            <a:r>
              <a:rPr sz="2000">
                <a:solidFill>
                  <a:srgbClr val="FF0000"/>
                </a:solidFill>
              </a:rPr>
              <a:t>electrical signal to a transmitter comprising an electrical stage </a:t>
            </a:r>
            <a:r>
              <a:rPr sz="2000"/>
              <a:t>which drives an optical source to give modulation of the light wave carrier.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/>
              <a:t>The optical source which provides the electrical–optical conversion may be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sz="1800"/>
              <a:t>either a semiconductor laser or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sz="1800"/>
              <a:t>light-emitting diode (LED)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/>
              <a:t>The transmission medium consists of an optical fiber cable and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/>
              <a:t>the receiver consists of an optical detector which drives a further electrical stage and hence provides demodulation of the optical carrier. Photodiodes</a:t>
            </a:r>
            <a:endParaRPr/>
          </a:p>
        </p:txBody>
      </p:sp>
      <p:sp>
        <p:nvSpPr>
          <p:cNvPr id="669137074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663975762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313355961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1049013004" name="Picture 3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609600" y="939800"/>
            <a:ext cx="7924800" cy="22701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09188">
                                            <p:txEl>
                                              <p:pRg st="0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0409188">
                                            <p:txEl>
                                              <p:pRg st="0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0409188">
                                            <p:txEl>
                                              <p:pRg st="0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09188">
                                            <p:txEl>
                                              <p:pRg st="175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0409188">
                                            <p:txEl>
                                              <p:pRg st="175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0409188">
                                            <p:txEl>
                                              <p:pRg st="175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09188">
                                            <p:txEl>
                                              <p:pRg st="251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0409188">
                                            <p:txEl>
                                              <p:pRg st="251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0409188">
                                            <p:txEl>
                                              <p:pRg st="251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09188">
                                            <p:txEl>
                                              <p:pRg st="283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0409188">
                                            <p:txEl>
                                              <p:pRg st="283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0409188">
                                            <p:txEl>
                                              <p:pRg st="283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09188">
                                            <p:txEl>
                                              <p:pRg st="310" end="3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0409188">
                                            <p:txEl>
                                              <p:pRg st="310" end="3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0409188">
                                            <p:txEl>
                                              <p:pRg st="310" end="3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09188">
                                            <p:txEl>
                                              <p:pRg st="374" end="5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0409188">
                                            <p:txEl>
                                              <p:pRg st="374" end="5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0409188">
                                            <p:txEl>
                                              <p:pRg st="374" end="5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175550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80772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optical fiber communications</a:t>
            </a:r>
            <a:endParaRPr/>
          </a:p>
        </p:txBody>
      </p:sp>
      <p:sp>
        <p:nvSpPr>
          <p:cNvPr id="1405085000" name="Content Placeholder 2"/>
          <p:cNvSpPr>
            <a:spLocks noChangeShapeType="1" noGrp="1"/>
          </p:cNvSpPr>
          <p:nvPr>
            <p:ph type="obj"/>
          </p:nvPr>
        </p:nvSpPr>
        <p:spPr bwMode="auto">
          <a:xfrm flipH="0" flipV="0">
            <a:off x="380999" y="3276599"/>
            <a:ext cx="8763719" cy="2853287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/>
              <a:t>The optical carrier may be modulated using either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sz="1800" b="0" i="0" u="none"/>
              <a:t>an analog or digital information signal.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 b="0" i="0" u="none"/>
              <a:t>In analog modulation involves the variation of the light emitted from the optical source in a continuous manner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 b="0" i="0" u="none"/>
              <a:t>With digital modulation, however, discrete changes in the light intensity are obtained </a:t>
            </a:r>
            <a:r>
              <a:rPr sz="2000" b="0" i="0" u="none">
                <a:solidFill>
                  <a:srgbClr val="FF0000"/>
                </a:solidFill>
              </a:rPr>
              <a:t>(i.e. on–off pulses)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 b="0" i="0" u="none"/>
              <a:t>Although often simpler to implement, </a:t>
            </a:r>
            <a:r>
              <a:rPr sz="2000" b="0" i="0" u="none">
                <a:solidFill>
                  <a:srgbClr val="FF0000"/>
                </a:solidFill>
              </a:rPr>
              <a:t>analog modulation with an optical fiber communication system is less efficient,</a:t>
            </a:r>
            <a:r>
              <a:rPr sz="2000" b="0" i="0" u="none"/>
              <a:t> requiring a far higher signal-to-noise ratio at the receiver than digital modulation. </a:t>
            </a:r>
            <a:endParaRPr/>
          </a:p>
        </p:txBody>
      </p:sp>
      <p:sp>
        <p:nvSpPr>
          <p:cNvPr id="1714067556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2027404661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1200527085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1045561528" name="Picture 1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838200" y="1143000"/>
            <a:ext cx="6972300" cy="22717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085000">
                                            <p:txEl>
                                              <p:pRg st="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05085000">
                                            <p:txEl>
                                              <p:pRg st="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05085000">
                                            <p:txEl>
                                              <p:pRg st="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085000">
                                            <p:txEl>
                                              <p:pRg st="52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05085000">
                                            <p:txEl>
                                              <p:pRg st="52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05085000">
                                            <p:txEl>
                                              <p:pRg st="52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085000">
                                            <p:txEl>
                                              <p:pRg st="94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05085000">
                                            <p:txEl>
                                              <p:pRg st="94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05085000">
                                            <p:txEl>
                                              <p:pRg st="94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085000">
                                            <p:txEl>
                                              <p:pRg st="206" end="3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05085000">
                                            <p:txEl>
                                              <p:pRg st="206" end="3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05085000">
                                            <p:txEl>
                                              <p:pRg st="206" end="3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085000">
                                            <p:txEl>
                                              <p:pRg st="314" end="5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05085000">
                                            <p:txEl>
                                              <p:pRg st="314" end="5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05085000">
                                            <p:txEl>
                                              <p:pRg st="314" end="5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630514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80772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optical fiber communications</a:t>
            </a:r>
            <a:endParaRPr/>
          </a:p>
        </p:txBody>
      </p:sp>
      <p:sp>
        <p:nvSpPr>
          <p:cNvPr id="943463877" name="Content Placeholder 2"/>
          <p:cNvSpPr>
            <a:spLocks noChangeShapeType="1" noGrp="1"/>
          </p:cNvSpPr>
          <p:nvPr>
            <p:ph type="obj"/>
          </p:nvPr>
        </p:nvSpPr>
        <p:spPr bwMode="auto">
          <a:xfrm flipH="0" flipV="0">
            <a:off x="380999" y="1219199"/>
            <a:ext cx="8763719" cy="1835255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 b="0" i="0" u="none"/>
              <a:t>For these reasons, </a:t>
            </a:r>
            <a:r>
              <a:rPr lang="en-US" b="0" i="0" u="none">
                <a:solidFill>
                  <a:srgbClr val="FF0000"/>
                </a:solidFill>
              </a:rPr>
              <a:t>analog optical fiber communication links are generally limited to shorter distances and lower bandwidth </a:t>
            </a:r>
            <a:r>
              <a:rPr lang="en-US" b="0" i="0" u="none"/>
              <a:t>operation than digital links</a:t>
            </a:r>
            <a:endParaRPr/>
          </a:p>
        </p:txBody>
      </p:sp>
      <p:sp>
        <p:nvSpPr>
          <p:cNvPr id="179313604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409164636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1368596613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463877">
                                            <p:txEl>
                                              <p:pRg st="1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3463877">
                                            <p:txEl>
                                              <p:pRg st="1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3463877">
                                            <p:txEl>
                                              <p:pRg st="1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189523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/>
              <a:t>A digital optical fiber link using a semiconductor laser source and an</a:t>
            </a:r>
            <a:br>
              <a:rPr lang="en-US" sz="2000"/>
            </a:br>
            <a:r>
              <a:rPr lang="en-US" sz="2000"/>
              <a:t>avalanche photodiode (APD) detector</a:t>
            </a:r>
            <a:endParaRPr/>
          </a:p>
        </p:txBody>
      </p:sp>
      <p:sp>
        <p:nvSpPr>
          <p:cNvPr id="691458608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372077399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1758220851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212683644" name="Picture 2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574472" y="3352799"/>
            <a:ext cx="4952999" cy="3276599"/>
          </a:xfrm>
          <a:prstGeom prst="rect">
            <a:avLst/>
          </a:prstGeom>
          <a:noFill/>
        </p:spPr>
      </p:pic>
      <p:sp>
        <p:nvSpPr>
          <p:cNvPr id="898516627" name="Content Placeholder 6"/>
          <p:cNvSpPr>
            <a:spLocks noChangeShapeType="1" noGrp="1"/>
          </p:cNvSpPr>
          <p:nvPr>
            <p:ph type="obj"/>
          </p:nvPr>
        </p:nvSpPr>
        <p:spPr bwMode="auto">
          <a:xfrm flipH="0" flipV="0">
            <a:off x="51954" y="1243445"/>
            <a:ext cx="9144720" cy="2652119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Initially, the input digital signal from the information source is suitably </a:t>
            </a:r>
            <a:r>
              <a:rPr lang="en-US">
                <a:solidFill>
                  <a:srgbClr val="FF0000"/>
                </a:solidFill>
              </a:rPr>
              <a:t>encoded</a:t>
            </a:r>
            <a:r>
              <a:rPr lang="en-US"/>
              <a:t> for optical transmission.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laser drive circuit</a:t>
            </a:r>
            <a:r>
              <a:rPr lang="en-US"/>
              <a:t> directly modulates the intensity of the semiconductor laser with the encoded digital signal.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Hence a digital optical signal is launched into the optical fiber cable.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516627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8516627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8516627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516627">
                                            <p:txEl>
                                              <p:pRg st="110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8516627">
                                            <p:txEl>
                                              <p:pRg st="110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8516627">
                                            <p:txEl>
                                              <p:pRg st="110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516627">
                                            <p:txEl>
                                              <p:pRg st="228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8516627">
                                            <p:txEl>
                                              <p:pRg st="228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8516627">
                                            <p:txEl>
                                              <p:pRg st="228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97561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/>
              <a:t>A digital optical fiber link using a semiconductor laser source and an</a:t>
            </a:r>
            <a:br>
              <a:rPr lang="en-US" sz="2000"/>
            </a:br>
            <a:r>
              <a:rPr lang="en-US" sz="2000"/>
              <a:t>avalanche photodiode (APD) detector</a:t>
            </a:r>
            <a:endParaRPr/>
          </a:p>
        </p:txBody>
      </p:sp>
      <p:sp>
        <p:nvSpPr>
          <p:cNvPr id="1656469150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709084272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943789234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sp>
        <p:nvSpPr>
          <p:cNvPr id="1151483434" name="Content Placeholder 6"/>
          <p:cNvSpPr>
            <a:spLocks noChangeShapeType="1" noGrp="1"/>
          </p:cNvSpPr>
          <p:nvPr>
            <p:ph type="obj"/>
          </p:nvPr>
        </p:nvSpPr>
        <p:spPr bwMode="auto">
          <a:xfrm flipH="0" flipV="0">
            <a:off x="0" y="1219199"/>
            <a:ext cx="9144719" cy="2615544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The avalanche photodiode (APD) detector is followed by a front-end amplifier and equalizer or filter to provide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n-US"/>
              <a:t>gain as well as linear signal processing and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n-US"/>
              <a:t>noise bandwidth reduction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Finally, the signal obtained is decoded to give the original digital information</a:t>
            </a:r>
            <a:endParaRPr/>
          </a:p>
        </p:txBody>
      </p:sp>
      <p:pic>
        <p:nvPicPr>
          <p:cNvPr id="1739044049" name="Picture 2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695699" y="3550227"/>
            <a:ext cx="5257800" cy="33597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483434">
                                            <p:txEl>
                                              <p:pRg st="0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1483434">
                                            <p:txEl>
                                              <p:pRg st="0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1483434">
                                            <p:txEl>
                                              <p:pRg st="0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483434">
                                            <p:txEl>
                                              <p:pRg st="113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51483434">
                                            <p:txEl>
                                              <p:pRg st="113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1483434">
                                            <p:txEl>
                                              <p:pRg st="113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483434">
                                            <p:txEl>
                                              <p:pRg st="158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51483434">
                                            <p:txEl>
                                              <p:pRg st="158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51483434">
                                            <p:txEl>
                                              <p:pRg st="158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483434">
                                            <p:txEl>
                                              <p:pRg st="184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51483434">
                                            <p:txEl>
                                              <p:pRg st="184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51483434">
                                            <p:txEl>
                                              <p:pRg st="184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552907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/>
              <a:t>A digital optical fiber link using a semiconductor laser source and an</a:t>
            </a:r>
            <a:br>
              <a:rPr lang="en-US" sz="2000"/>
            </a:br>
            <a:r>
              <a:rPr lang="en-US" sz="2000"/>
              <a:t>avalanche photodiode (APD) detector</a:t>
            </a:r>
            <a:endParaRPr/>
          </a:p>
        </p:txBody>
      </p:sp>
      <p:sp>
        <p:nvSpPr>
          <p:cNvPr id="1153488093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902826418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1520634136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2135354374" name="Picture 2"/>
          <p:cNvPicPr>
            <a:picLocks noChangeAspect="1" noGrp="1"/>
          </p:cNvPicPr>
          <p:nvPr>
            <p:ph type="obj"/>
          </p:nvPr>
        </p:nvPicPr>
        <p:blipFill rotWithShape="1">
          <a:blip r:embed="rId3"/>
          <a:srcRect l="0" t="0" r="0" b="0"/>
          <a:stretch/>
        </p:blipFill>
        <p:spPr bwMode="auto">
          <a:xfrm>
            <a:off x="76200" y="1295400"/>
            <a:ext cx="8915400" cy="4648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114992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3200"/>
              <a:t>Advantages of optical fiber communication</a:t>
            </a:r>
            <a:endParaRPr/>
          </a:p>
        </p:txBody>
      </p:sp>
      <p:sp>
        <p:nvSpPr>
          <p:cNvPr id="1545327401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>
                <a:latin typeface="Arial"/>
                <a:ea typeface="Arial"/>
              </a:rPr>
              <a:t>Enormous potential bandwidth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>
                <a:latin typeface="Arial"/>
                <a:ea typeface="Arial"/>
              </a:rPr>
              <a:t>The optical carrier frequency in the range 10</a:t>
            </a:r>
            <a:r>
              <a:rPr baseline="30000">
                <a:latin typeface="Arial"/>
                <a:ea typeface="Arial"/>
              </a:rPr>
              <a:t>13</a:t>
            </a:r>
            <a:r>
              <a:rPr>
                <a:latin typeface="Arial"/>
                <a:ea typeface="Arial"/>
              </a:rPr>
              <a:t> to 10</a:t>
            </a:r>
            <a:r>
              <a:rPr baseline="30000">
                <a:latin typeface="Arial"/>
                <a:ea typeface="Arial"/>
              </a:rPr>
              <a:t>16</a:t>
            </a:r>
            <a:r>
              <a:rPr>
                <a:latin typeface="Arial"/>
                <a:ea typeface="Arial"/>
              </a:rPr>
              <a:t> Hz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>
                <a:latin typeface="Arial"/>
                <a:ea typeface="Arial"/>
              </a:rPr>
              <a:t>Coaxial cable bandwidth typically around 20 MHz over distances up to a maximum of 10 km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Small size and weight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1" u="none"/>
              <a:t>Optical fibers have very small diameters which are often </a:t>
            </a:r>
            <a:r>
              <a:rPr b="0" i="0" u="none"/>
              <a:t>no greater than the diameter of a </a:t>
            </a:r>
            <a:r>
              <a:rPr b="0" i="0" u="none">
                <a:solidFill>
                  <a:srgbClr val="FF0000"/>
                </a:solidFill>
              </a:rPr>
              <a:t>human hair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Even when such fibers are covered with protective coatings they are </a:t>
            </a:r>
            <a:r>
              <a:rPr b="0" i="0" u="none">
                <a:solidFill>
                  <a:srgbClr val="FF0000"/>
                </a:solidFill>
              </a:rPr>
              <a:t>far smaller and much lighter than corresponding copper cables</a:t>
            </a:r>
            <a:r>
              <a:rPr b="0" i="0" u="none"/>
              <a:t>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This is a tremendous advantage towards the improvement of channel congestion in cities</a:t>
            </a:r>
            <a:endParaRPr/>
          </a:p>
        </p:txBody>
      </p:sp>
      <p:sp>
        <p:nvSpPr>
          <p:cNvPr id="1386789008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921906615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849816566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27401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5327401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5327401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27401">
                                            <p:txEl>
                                              <p:pRg st="2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45327401">
                                            <p:txEl>
                                              <p:pRg st="2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45327401">
                                            <p:txEl>
                                              <p:pRg st="2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27401">
                                            <p:txEl>
                                              <p:pRg st="89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5327401">
                                            <p:txEl>
                                              <p:pRg st="89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5327401">
                                            <p:txEl>
                                              <p:pRg st="89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27401">
                                            <p:txEl>
                                              <p:pRg st="177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45327401">
                                            <p:txEl>
                                              <p:pRg st="177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45327401">
                                            <p:txEl>
                                              <p:pRg st="177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27401">
                                            <p:txEl>
                                              <p:pRg st="199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45327401">
                                            <p:txEl>
                                              <p:pRg st="199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45327401">
                                            <p:txEl>
                                              <p:pRg st="199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27401">
                                            <p:txEl>
                                              <p:pRg st="301" end="4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45327401">
                                            <p:txEl>
                                              <p:pRg st="301" end="43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45327401">
                                            <p:txEl>
                                              <p:pRg st="301" end="43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27401">
                                            <p:txEl>
                                              <p:pRg st="433" end="5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45327401">
                                            <p:txEl>
                                              <p:pRg st="433" end="5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45327401">
                                            <p:txEl>
                                              <p:pRg st="433" end="5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618009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3200"/>
              <a:t>Advantages of optical fiber communication</a:t>
            </a:r>
            <a:endParaRPr/>
          </a:p>
        </p:txBody>
      </p:sp>
      <p:sp>
        <p:nvSpPr>
          <p:cNvPr id="1856642885" name="Content Placeholder 2"/>
          <p:cNvSpPr>
            <a:spLocks noChangeShapeType="1" noGrp="1"/>
          </p:cNvSpPr>
          <p:nvPr>
            <p:ph type="obj"/>
          </p:nvPr>
        </p:nvSpPr>
        <p:spPr bwMode="auto">
          <a:xfrm flipH="0" flipV="0">
            <a:off x="380999" y="1447799"/>
            <a:ext cx="8763719" cy="4956408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Electrical isolation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1" u="none"/>
              <a:t>Optical fibers which are fabricated from glass, or sometimes a </a:t>
            </a:r>
            <a:r>
              <a:rPr/>
              <a:t>plastic polymer, are electrical insulators and therefore, unlike their metallic counterparts, they </a:t>
            </a:r>
            <a:r>
              <a:rPr>
                <a:solidFill>
                  <a:srgbClr val="FF0000"/>
                </a:solidFill>
              </a:rPr>
              <a:t>do not exhibit earth loop and interface problems.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/>
              <a:t>This property makes optical fiber transmission ideally suited for communication in </a:t>
            </a:r>
            <a:r>
              <a:rPr>
                <a:solidFill>
                  <a:srgbClr val="FF0000"/>
                </a:solidFill>
              </a:rPr>
              <a:t>electrically hazardous environments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Immunity to interference and crosstalk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1" u="none"/>
              <a:t>Optical fibers </a:t>
            </a:r>
            <a:r>
              <a:rPr b="0" i="0" u="none"/>
              <a:t>free from electromagnetic interference (EMI), radio-frequency interference (RFI), or switching transients giving electromagnetic pulses (EMPs)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Hence the operation of an optical fiber communication system is </a:t>
            </a:r>
            <a:r>
              <a:rPr b="0" i="0" u="none">
                <a:solidFill>
                  <a:srgbClr val="FF0000"/>
                </a:solidFill>
              </a:rPr>
              <a:t>unaffected by transmission through an electrically noisy environment</a:t>
            </a:r>
            <a:endParaRPr/>
          </a:p>
        </p:txBody>
      </p:sp>
      <p:sp>
        <p:nvSpPr>
          <p:cNvPr id="1438763589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780768024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1760650784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642885">
                                            <p:txEl>
                                              <p:p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6642885">
                                            <p:txEl>
                                              <p:p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6642885">
                                            <p:txEl>
                                              <p:p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642885">
                                            <p:txEl>
                                              <p:pRg st="21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56642885">
                                            <p:txEl>
                                              <p:pRg st="21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56642885">
                                            <p:txEl>
                                              <p:pRg st="21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642885">
                                            <p:txEl>
                                              <p:pRg st="234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56642885">
                                            <p:txEl>
                                              <p:pRg st="234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56642885">
                                            <p:txEl>
                                              <p:pRg st="234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642885">
                                            <p:txEl>
                                              <p:pRg st="353" end="3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56642885">
                                            <p:txEl>
                                              <p:pRg st="353" end="3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56642885">
                                            <p:txEl>
                                              <p:pRg st="353" end="3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642885">
                                            <p:txEl>
                                              <p:pRg st="392" end="5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56642885">
                                            <p:txEl>
                                              <p:pRg st="392" end="5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56642885">
                                            <p:txEl>
                                              <p:pRg st="392" end="5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642885">
                                            <p:txEl>
                                              <p:pRg st="550" end="6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56642885">
                                            <p:txEl>
                                              <p:pRg st="550" end="6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56642885">
                                            <p:txEl>
                                              <p:pRg st="550" end="6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617641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3200"/>
              <a:t>Advantages of optical fiber communication</a:t>
            </a:r>
            <a:endParaRPr/>
          </a:p>
        </p:txBody>
      </p:sp>
      <p:sp>
        <p:nvSpPr>
          <p:cNvPr id="260282936" name="Content Placeholder 2"/>
          <p:cNvSpPr>
            <a:spLocks noChangeShapeType="1" noGrp="1"/>
          </p:cNvSpPr>
          <p:nvPr>
            <p:ph type="obj"/>
          </p:nvPr>
        </p:nvSpPr>
        <p:spPr bwMode="auto">
          <a:xfrm flipH="0" flipV="0">
            <a:off x="457200" y="1143000"/>
            <a:ext cx="8687520" cy="5249016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Signal security.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1" u="none"/>
              <a:t>The light from optical fibers </a:t>
            </a:r>
            <a:r>
              <a:rPr b="0" i="1" u="none">
                <a:solidFill>
                  <a:srgbClr val="FF0000"/>
                </a:solidFill>
              </a:rPr>
              <a:t>does not radiate significantly and therefore </a:t>
            </a:r>
            <a:r>
              <a:rPr>
                <a:solidFill>
                  <a:srgbClr val="FF0000"/>
                </a:solidFill>
              </a:rPr>
              <a:t>they provide a high degree of signal security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/>
              <a:t>Unlike the situation with copper cables, a transmitted optical signal cannot be obtained from a fiber in a noninvasive manner (i.e. without drawing optical power from the fiber).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/>
              <a:t>This feature is obviously attractive for military, banking and general data transmission (i.e. computer network) applications.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Low transmission loss.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1" u="none"/>
              <a:t>The development of optical fibers over the last 20 years has </a:t>
            </a:r>
            <a:r>
              <a:rPr b="0" i="0" u="none"/>
              <a:t>resulted in the production of optical fiber cables which exhibit very low attenuation or transmission loss in comparison with the best copper conductors. </a:t>
            </a:r>
            <a:endParaRPr/>
          </a:p>
        </p:txBody>
      </p:sp>
      <p:sp>
        <p:nvSpPr>
          <p:cNvPr id="1798808042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59671143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280246881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82936">
                                            <p:txEl>
                                              <p:p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0282936">
                                            <p:txEl>
                                              <p:p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0282936">
                                            <p:txEl>
                                              <p:p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82936">
                                            <p:txEl>
                                              <p:pRg st="18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0282936">
                                            <p:txEl>
                                              <p:pRg st="18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0282936">
                                            <p:txEl>
                                              <p:pRg st="18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82936">
                                            <p:txEl>
                                              <p:pRg st="139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0282936">
                                            <p:txEl>
                                              <p:pRg st="139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0282936">
                                            <p:txEl>
                                              <p:pRg st="139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82936">
                                            <p:txEl>
                                              <p:pRg st="319" end="4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0282936">
                                            <p:txEl>
                                              <p:pRg st="319" end="4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0282936">
                                            <p:txEl>
                                              <p:pRg st="319" end="4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82936">
                                            <p:txEl>
                                              <p:pRg st="446" end="4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0282936">
                                            <p:txEl>
                                              <p:pRg st="446" end="4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0282936">
                                            <p:txEl>
                                              <p:pRg st="446" end="4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82936">
                                            <p:txEl>
                                              <p:pRg st="470" end="6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0282936">
                                            <p:txEl>
                                              <p:pRg st="470" end="6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0282936">
                                            <p:txEl>
                                              <p:pRg st="470" end="6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123221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0" y="762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3200"/>
              <a:t>Advantages of optical fiber communication</a:t>
            </a:r>
            <a:endParaRPr/>
          </a:p>
        </p:txBody>
      </p:sp>
      <p:sp>
        <p:nvSpPr>
          <p:cNvPr id="853516317" name="Content Placeholder 2"/>
          <p:cNvSpPr>
            <a:spLocks noChangeShapeType="1" noGrp="1"/>
          </p:cNvSpPr>
          <p:nvPr>
            <p:ph type="obj"/>
          </p:nvPr>
        </p:nvSpPr>
        <p:spPr bwMode="auto">
          <a:xfrm flipH="0" flipV="0">
            <a:off x="152399" y="1219199"/>
            <a:ext cx="8992319" cy="5511548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Ruggedness and flexibility.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1" u="none"/>
              <a:t>Although protective coatings are essential, optical fibers </a:t>
            </a:r>
            <a:r>
              <a:rPr lang="bn-BD"/>
              <a:t>may be manufactured with very high tensile প্রসারণসাধ্য strengths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bn-BD"/>
              <a:t>Cable structures have been developed which have proved flexible, compact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System reliability and ease of maintenance.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With fewer optical repeaters or amplifiers, system reliability is generally enhanced in comparison with conventional electrical conductor systems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Potential low cost.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1" u="none"/>
              <a:t>The glass which generally provides the optical fiber transmission </a:t>
            </a:r>
            <a:r>
              <a:rPr b="0" i="0" u="none"/>
              <a:t>medium is </a:t>
            </a:r>
            <a:r>
              <a:rPr b="0" i="0" u="none">
                <a:solidFill>
                  <a:srgbClr val="FF0000"/>
                </a:solidFill>
              </a:rPr>
              <a:t>made from sand – </a:t>
            </a:r>
            <a:r>
              <a:rPr b="0" i="0" u="none">
                <a:solidFill>
                  <a:srgbClr val="FF0000"/>
                </a:solidFill>
              </a:rPr>
              <a:t>not a scarce </a:t>
            </a:r>
            <a:br>
              <a:rPr b="0" i="0" u="none">
                <a:solidFill>
                  <a:srgbClr val="FF0000"/>
                </a:solidFill>
              </a:rPr>
            </a:br>
            <a:r>
              <a:rPr b="0" i="0" u="none">
                <a:solidFill>
                  <a:srgbClr val="FF0000"/>
                </a:solidFill>
              </a:rPr>
              <a:t>দুর্লভ resource.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bn-BD" b="0" i="0" u="none"/>
              <a:t>So, in comparison with copper conductors, optical fibers offer the potential for low-cost line communication</a:t>
            </a:r>
            <a:endParaRPr/>
          </a:p>
        </p:txBody>
      </p:sp>
      <p:sp>
        <p:nvSpPr>
          <p:cNvPr id="75583839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117485646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983931615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3516317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3516317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29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3516317">
                                            <p:txEl>
                                              <p:pRg st="29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3516317">
                                            <p:txEl>
                                              <p:pRg st="29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155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53516317">
                                            <p:txEl>
                                              <p:pRg st="155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3516317">
                                            <p:txEl>
                                              <p:pRg st="155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229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53516317">
                                            <p:txEl>
                                              <p:pRg st="229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53516317">
                                            <p:txEl>
                                              <p:pRg st="229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274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53516317">
                                            <p:txEl>
                                              <p:pRg st="274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53516317">
                                            <p:txEl>
                                              <p:pRg st="274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420" end="4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53516317">
                                            <p:txEl>
                                              <p:pRg st="420" end="4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53516317">
                                            <p:txEl>
                                              <p:pRg st="420" end="4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441" end="5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53516317">
                                            <p:txEl>
                                              <p:pRg st="441" end="5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53516317">
                                            <p:txEl>
                                              <p:pRg st="441" end="5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566" end="6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53516317">
                                            <p:txEl>
                                              <p:pRg st="566" end="6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53516317">
                                            <p:txEl>
                                              <p:pRg st="566" end="6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630739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30363960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360641646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643802709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444116306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724037279" name="Picture 2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0" y="228600"/>
            <a:ext cx="9199562" cy="64008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ends">
  <a:themeElements>
    <a:clrScheme name="Default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FF0000"/>
      </a:hlink>
      <a:folHlink>
        <a:srgbClr val="3333CC"/>
      </a:folHlink>
    </a:clrScheme>
    <a:fontScheme name="default">
      <a:majorFont>
        <a:latin typeface="Tahoma"/>
        <a:ea typeface="Arial"/>
        <a:cs typeface="Arial"/>
      </a:majorFont>
      <a:minorFont>
        <a:latin typeface="Arial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Blends 1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CCCCFF"/>
      </a:hlink>
      <a:folHlink>
        <a:srgbClr val="B2B2B2"/>
      </a:folHlink>
    </a:clrScheme>
    <a:fontScheme name="default">
      <a:majorFont>
        <a:latin typeface="Tahoma"/>
        <a:ea typeface="Arial"/>
        <a:cs typeface="Arial"/>
      </a:majorFont>
      <a:minorFont>
        <a:latin typeface="Arial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0</Words>
  <Application>ONLYOFFICE/9.3.1.8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cs412slides</dc:title>
  <dc:creator>Jiawei Han</dc:creator>
  <cp:lastModifiedBy/>
  <cp:revision>367</cp:revision>
  <dcterms:created xsi:type="dcterms:W3CDTF">1999-12-01T22:01:00Z</dcterms:created>
  <dcterms:modified xsi:type="dcterms:W3CDTF">2026-04-04T11:26:48Z</dcterms:modified>
</cp:coreProperties>
</file>