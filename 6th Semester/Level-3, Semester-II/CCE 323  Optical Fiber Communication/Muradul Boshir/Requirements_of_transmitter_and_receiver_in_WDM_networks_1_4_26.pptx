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7" d="100"/>
          <a:sy n="87" d="100"/>
        </p:scale>
        <p:origin x="528" y="58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B15CB6-F16C-362B-5689-14C553A55D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282E64-6F79-425F-1E72-0DCE477DFD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3ABFCE-CFBC-0CD4-714F-388AD58076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A2413F-0516-A1EB-C5F9-65CE94761C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BF170-E5F2-1620-2DF3-BEEF3D7C3F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241E4D-7742-3691-9D63-0FE4223172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E39CEC-8F1B-3583-2EDA-2E3BC69926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72908-52DE-3D01-3772-6294655EC5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4CFBA0-D264-AE62-2DFB-5B5BC9A54F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ED8841-358C-A386-AC87-9D7249B2BA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C620E-1C5B-9E0E-C2A3-95F2227F7B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0163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553983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9035044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9557502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09307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7443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40971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06357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11282849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4588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05407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0099753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9028188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12172659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577803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9992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5991538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19617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23901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10462218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52344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8570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795115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9671201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1106676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77747331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9491856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82065764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67390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8799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915579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98660031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734201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5202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87487864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379324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24995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9757903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4016740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0138758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70199709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54428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90713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705546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92357364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23964573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13238394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35714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9307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340791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4806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7653821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55153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92018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64201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636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11406036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24741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88116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19183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011398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BC742C-A8E5-4E57-BD43-F0B8F462B862}" type="datetimeFigureOut">
              <a:rPr lang="en-US"/>
              <a:t>4/1/2026</a:t>
            </a:fld>
            <a:endParaRPr lang="en-US"/>
          </a:p>
        </p:txBody>
      </p:sp>
      <p:sp>
        <p:nvSpPr>
          <p:cNvPr id="49599890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005136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D8C485D-1393-4FBB-854E-BDC6A27E3064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12947" name="Title 1"/>
          <p:cNvSpPr>
            <a:spLocks noGrp="1"/>
          </p:cNvSpPr>
          <p:nvPr>
            <p:ph type="ctr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en-US" sz="4400" b="1">
                <a:solidFill>
                  <a:srgbClr val="FF0000"/>
                </a:solidFill>
              </a:rPr>
              <a:t>Requirements of transmitter and receiver in WDM networks, types of tunable lasers, optical amplifiers, SOA and FOA, EDFA and EBFA.</a:t>
            </a:r>
            <a:endParaRPr/>
          </a:p>
        </p:txBody>
      </p:sp>
      <p:sp>
        <p:nvSpPr>
          <p:cNvPr id="27747572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0717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WDM (Wavelength Division Multiplexing)</a:t>
            </a:r>
            <a:r>
              <a:rPr lang="en-US"/>
              <a:t> </a:t>
            </a:r>
            <a:endParaRPr lang="en-US"/>
          </a:p>
        </p:txBody>
      </p:sp>
      <p:sp>
        <p:nvSpPr>
          <p:cNvPr id="174359432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 </a:t>
            </a:r>
            <a:r>
              <a:rPr lang="en-US" b="1"/>
              <a:t>WDM (Wavelength Division Multiplexing)</a:t>
            </a:r>
            <a:r>
              <a:rPr lang="en-US"/>
              <a:t> networks, </a:t>
            </a:r>
            <a:r>
              <a:rPr lang="en-US">
                <a:solidFill>
                  <a:srgbClr val="FF0000"/>
                </a:solidFill>
              </a:rPr>
              <a:t>multiple data signals are sent simultaneously</a:t>
            </a:r>
            <a:r>
              <a:rPr lang="en-US"/>
              <a:t> over a single optical fiber </a:t>
            </a:r>
            <a:r>
              <a:rPr lang="en-US">
                <a:solidFill>
                  <a:srgbClr val="FF0000"/>
                </a:solidFill>
              </a:rPr>
              <a:t>by using different wavelengths (colors) of laser light</a:t>
            </a:r>
            <a:r>
              <a:rPr lang="en-US"/>
              <a:t>. </a:t>
            </a:r>
            <a:endParaRPr/>
          </a:p>
          <a:p>
            <a:pPr>
              <a:defRPr/>
            </a:pPr>
            <a:r>
              <a:rPr lang="en-US"/>
              <a:t>To make this work, the hardware—</a:t>
            </a:r>
            <a:r>
              <a:rPr lang="en-US">
                <a:solidFill>
                  <a:srgbClr val="FF0000"/>
                </a:solidFill>
              </a:rPr>
              <a:t>transmitters, receivers, and amplifiers—must meet specific high-performance requirements</a:t>
            </a:r>
            <a:r>
              <a:rPr lang="en-US"/>
              <a:t>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0600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1. Transmitter and Receiver Requirements</a:t>
            </a:r>
            <a:endParaRPr lang="en-US"/>
          </a:p>
        </p:txBody>
      </p:sp>
      <p:sp>
        <p:nvSpPr>
          <p:cNvPr id="245154868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3600" b="1"/>
              <a:t>Transmitter Requirements:</a:t>
            </a:r>
            <a:endParaRPr/>
          </a:p>
          <a:p>
            <a:pPr lvl="1">
              <a:defRPr/>
            </a:pPr>
            <a:r>
              <a:rPr lang="en-US" sz="3200" b="1"/>
              <a:t>Precision Wavelength:</a:t>
            </a:r>
            <a:r>
              <a:rPr lang="en-US" sz="3200"/>
              <a:t> The laser must emit </a:t>
            </a:r>
            <a:r>
              <a:rPr lang="en-US" sz="3200">
                <a:solidFill>
                  <a:srgbClr val="FF0000"/>
                </a:solidFill>
              </a:rPr>
              <a:t>a very specific wavelength to avoid interfering with adjacent channels </a:t>
            </a:r>
            <a:r>
              <a:rPr lang="en-US" sz="3200"/>
              <a:t>(Crosstalk).</a:t>
            </a:r>
            <a:endParaRPr/>
          </a:p>
          <a:p>
            <a:pPr lvl="1">
              <a:defRPr/>
            </a:pPr>
            <a:r>
              <a:rPr lang="en-US" sz="3200" b="1"/>
              <a:t>Stability:</a:t>
            </a:r>
            <a:r>
              <a:rPr lang="en-US" sz="3200"/>
              <a:t> The wavelength </a:t>
            </a:r>
            <a:r>
              <a:rPr lang="en-US" sz="3200">
                <a:solidFill>
                  <a:srgbClr val="FF0000"/>
                </a:solidFill>
              </a:rPr>
              <a:t>must remain constant regardless of temperature changes </a:t>
            </a:r>
            <a:r>
              <a:rPr lang="en-US" sz="3200"/>
              <a:t>(often using "wavelength lockers").</a:t>
            </a:r>
            <a:endParaRPr/>
          </a:p>
          <a:p>
            <a:pPr lvl="1">
              <a:defRPr/>
            </a:pPr>
            <a:r>
              <a:rPr lang="en-US" sz="3200" b="1"/>
              <a:t>Narrow Linewidth:</a:t>
            </a:r>
            <a:r>
              <a:rPr lang="en-US" sz="3200"/>
              <a:t> The light beam must be </a:t>
            </a:r>
            <a:r>
              <a:rPr lang="en-US" sz="3200">
                <a:solidFill>
                  <a:srgbClr val="FF0000"/>
                </a:solidFill>
              </a:rPr>
              <a:t>"pure" so the signal doesn't spread out (dispersion) over long distances</a:t>
            </a:r>
            <a:r>
              <a:rPr lang="en-US" sz="3200"/>
              <a:t>.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235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wavelength lockers</a:t>
            </a:r>
            <a:endParaRPr lang="en-US" b="1"/>
          </a:p>
        </p:txBody>
      </p:sp>
      <p:sp>
        <p:nvSpPr>
          <p:cNvPr id="177695783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Wavelength lockers </a:t>
            </a:r>
            <a:r>
              <a:rPr lang="as-IN"/>
              <a:t>হলো অপটিক্যাল কমিউনিকেশন সিস্টেমে ব্যবহৃত একটি গুরুত্বপূর্ণ ডিভাইস, যা লেজারের নির্দিষ্ট তরঙ্গদৈর্ঘ্য (</a:t>
            </a:r>
            <a:r>
              <a:rPr lang="en-US"/>
              <a:t>wavelength) </a:t>
            </a:r>
            <a:r>
              <a:rPr lang="as-IN"/>
              <a:t>স্থির রাখতে সাহায্য করে।</a:t>
            </a:r>
            <a:endParaRPr lang="en-US"/>
          </a:p>
          <a:p>
            <a:pPr>
              <a:defRPr/>
            </a:pPr>
            <a:r>
              <a:rPr lang="as-IN"/>
              <a:t>লেজার থেকে যে আলো বের হয়, তার </a:t>
            </a:r>
            <a:r>
              <a:rPr lang="en-US"/>
              <a:t>wavelength </a:t>
            </a:r>
            <a:r>
              <a:rPr lang="as-IN"/>
              <a:t>কখনো কখনো তাপমাত্রা বা অন্য কারণে পরিবর্তিত হতে পারে। কিন্তু </a:t>
            </a:r>
            <a:r>
              <a:rPr lang="en-US" b="1"/>
              <a:t>fiber optic communication</a:t>
            </a:r>
            <a:r>
              <a:rPr lang="en-US"/>
              <a:t>-</a:t>
            </a:r>
            <a:r>
              <a:rPr lang="as-IN"/>
              <a:t>এ নির্দিষ্ট </a:t>
            </a:r>
            <a:r>
              <a:rPr lang="en-US"/>
              <a:t>wavelength </a:t>
            </a:r>
            <a:r>
              <a:rPr lang="as-IN"/>
              <a:t>খুব গুরুত্বপূর্ণ (বিশেষ করে </a:t>
            </a:r>
            <a:r>
              <a:rPr lang="en-US"/>
              <a:t>WDM </a:t>
            </a:r>
            <a:r>
              <a:rPr lang="as-IN"/>
              <a:t>সিস্টেমে)।</a:t>
            </a:r>
            <a:endParaRPr lang="en-US"/>
          </a:p>
          <a:p>
            <a:pPr lvl="1">
              <a:defRPr/>
            </a:pPr>
            <a:r>
              <a:rPr lang="as-IN"/>
              <a:t>এই </a:t>
            </a:r>
            <a:r>
              <a:rPr lang="en-US"/>
              <a:t>wavelength </a:t>
            </a:r>
            <a:r>
              <a:rPr lang="as-IN"/>
              <a:t>ঠিক রাখার কাজই করে </a:t>
            </a:r>
            <a:r>
              <a:rPr lang="en-US" b="1"/>
              <a:t>wavelength locker</a:t>
            </a:r>
            <a:r>
              <a:rPr lang="en-US"/>
              <a:t>।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263198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3600" b="1"/>
              <a:t>Receiver Requirements:</a:t>
            </a:r>
            <a:endParaRPr/>
          </a:p>
          <a:p>
            <a:pPr lvl="1">
              <a:defRPr/>
            </a:pPr>
            <a:r>
              <a:rPr lang="en-US" sz="3200" b="1"/>
              <a:t>Selectivity:</a:t>
            </a:r>
            <a:r>
              <a:rPr lang="en-US" sz="3200"/>
              <a:t> The receiver must be </a:t>
            </a:r>
            <a:r>
              <a:rPr lang="en-US" sz="3200">
                <a:solidFill>
                  <a:srgbClr val="FF0000"/>
                </a:solidFill>
              </a:rPr>
              <a:t>able to pick out one specific wavelength from the many arriving at the end of the fiber</a:t>
            </a:r>
            <a:r>
              <a:rPr lang="en-US" sz="3200"/>
              <a:t>.</a:t>
            </a:r>
            <a:endParaRPr/>
          </a:p>
          <a:p>
            <a:pPr lvl="1">
              <a:defRPr/>
            </a:pPr>
            <a:r>
              <a:rPr lang="en-US" sz="3200" b="1"/>
              <a:t>Sensitivity:</a:t>
            </a:r>
            <a:r>
              <a:rPr lang="en-US" sz="3200"/>
              <a:t> It must be </a:t>
            </a:r>
            <a:r>
              <a:rPr lang="en-US" sz="3200">
                <a:solidFill>
                  <a:srgbClr val="FF0000"/>
                </a:solidFill>
              </a:rPr>
              <a:t>able to detect very weak signals after they have traveled hundreds of kilometers</a:t>
            </a:r>
            <a:r>
              <a:rPr lang="en-US" sz="3200"/>
              <a:t>.</a:t>
            </a:r>
            <a:endParaRPr/>
          </a:p>
          <a:p>
            <a:pPr lvl="1">
              <a:defRPr/>
            </a:pPr>
            <a:r>
              <a:rPr lang="en-US" sz="3200" b="1"/>
              <a:t>Wide Bandwidth:</a:t>
            </a:r>
            <a:r>
              <a:rPr lang="en-US" sz="3200"/>
              <a:t> It </a:t>
            </a:r>
            <a:r>
              <a:rPr lang="en-US" sz="3200">
                <a:solidFill>
                  <a:srgbClr val="FF0000"/>
                </a:solidFill>
              </a:rPr>
              <a:t>needs to handle the high data rates (e.g., 100Gbps or 400Gbps) sent by the transmitter</a:t>
            </a:r>
            <a:r>
              <a:rPr lang="en-US" sz="3200"/>
              <a:t>.</a:t>
            </a:r>
            <a:endParaRPr/>
          </a:p>
          <a:p>
            <a:pPr>
              <a:defRPr/>
            </a:pPr>
            <a:endParaRPr lang="en-US"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9138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2. Types of Tunable Lasers</a:t>
            </a:r>
            <a:br>
              <a:rPr lang="en-US" b="1"/>
            </a:br>
            <a:endParaRPr lang="en-US"/>
          </a:p>
        </p:txBody>
      </p:sp>
      <p:sp>
        <p:nvSpPr>
          <p:cNvPr id="950181500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en-US" sz="3200"/>
              <a:t>A tunable laser </a:t>
            </a:r>
            <a:r>
              <a:rPr lang="en-US" sz="3200">
                <a:solidFill>
                  <a:srgbClr val="FF0000"/>
                </a:solidFill>
              </a:rPr>
              <a:t>can change its operating wavelength</a:t>
            </a:r>
            <a:r>
              <a:rPr lang="en-US" sz="3200"/>
              <a:t>. </a:t>
            </a:r>
            <a:endParaRPr/>
          </a:p>
          <a:p>
            <a:pPr>
              <a:defRPr/>
            </a:pPr>
            <a:r>
              <a:rPr lang="en-US" sz="3200"/>
              <a:t>This is </a:t>
            </a:r>
            <a:r>
              <a:rPr lang="en-US" sz="3200">
                <a:solidFill>
                  <a:srgbClr val="FF0000"/>
                </a:solidFill>
              </a:rPr>
              <a:t>useful because one backup laser can replace any failed laser in a WDM system</a:t>
            </a:r>
            <a:r>
              <a:rPr lang="en-US" sz="3200"/>
              <a:t>.</a:t>
            </a:r>
            <a:endParaRPr/>
          </a:p>
          <a:p>
            <a:pPr lvl="1">
              <a:defRPr/>
            </a:pPr>
            <a:r>
              <a:rPr lang="en-US" sz="2800" b="1"/>
              <a:t>External Cavity Lasers (ECL):</a:t>
            </a:r>
            <a:r>
              <a:rPr lang="en-US" sz="2800"/>
              <a:t> Uses a </a:t>
            </a:r>
            <a:r>
              <a:rPr lang="en-US" sz="2800">
                <a:solidFill>
                  <a:srgbClr val="FF0000"/>
                </a:solidFill>
              </a:rPr>
              <a:t>physical grating that moves to change the color</a:t>
            </a:r>
            <a:r>
              <a:rPr lang="en-US" sz="2800"/>
              <a:t>. Very </a:t>
            </a:r>
            <a:r>
              <a:rPr lang="en-US" sz="2800">
                <a:solidFill>
                  <a:srgbClr val="FF0000"/>
                </a:solidFill>
              </a:rPr>
              <a:t>precise but mechanically complex</a:t>
            </a:r>
            <a:r>
              <a:rPr lang="en-US" sz="2800"/>
              <a:t>.</a:t>
            </a:r>
            <a:endParaRPr/>
          </a:p>
          <a:p>
            <a:pPr lvl="1">
              <a:defRPr/>
            </a:pPr>
            <a:r>
              <a:rPr lang="en-US" sz="2800" b="1"/>
              <a:t>Distributed Bragg Reflector (DBR):</a:t>
            </a:r>
            <a:r>
              <a:rPr lang="en-US" sz="2800"/>
              <a:t> </a:t>
            </a:r>
            <a:r>
              <a:rPr lang="en-US" sz="2800">
                <a:solidFill>
                  <a:srgbClr val="FF0000"/>
                </a:solidFill>
              </a:rPr>
              <a:t>Uses electrical current to change the refractive index of a built-in grating, changing the wavelength</a:t>
            </a:r>
            <a:r>
              <a:rPr lang="en-US" sz="2800"/>
              <a:t>.</a:t>
            </a:r>
            <a:endParaRPr/>
          </a:p>
          <a:p>
            <a:pPr lvl="1">
              <a:defRPr/>
            </a:pPr>
            <a:r>
              <a:rPr lang="en-US" sz="2800" b="1"/>
              <a:t>Vertical Cavity Surface Emitting Lasers (VCSEL):</a:t>
            </a:r>
            <a:r>
              <a:rPr lang="en-US" sz="2800"/>
              <a:t> Small and cheap; </a:t>
            </a:r>
            <a:r>
              <a:rPr lang="en-US" sz="2800">
                <a:solidFill>
                  <a:srgbClr val="FF0000"/>
                </a:solidFill>
              </a:rPr>
              <a:t>they tune by moving a tiny top mirror </a:t>
            </a:r>
            <a:r>
              <a:rPr lang="en-US" sz="2800"/>
              <a:t>using MEMS technology.</a:t>
            </a:r>
            <a:endParaRPr/>
          </a:p>
          <a:p>
            <a:pPr>
              <a:defRPr/>
            </a:pP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5426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MEMS technology</a:t>
            </a:r>
            <a:endParaRPr lang="en-US"/>
          </a:p>
        </p:txBody>
      </p:sp>
      <p:sp>
        <p:nvSpPr>
          <p:cNvPr id="1632898851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MEMS technology </a:t>
            </a:r>
            <a:r>
              <a:rPr lang="as-IN"/>
              <a:t>এর পূর্ণরূপ হলো </a:t>
            </a:r>
            <a:r>
              <a:rPr lang="en-US"/>
              <a:t>Micro-Electro-Mechanical Systems।.</a:t>
            </a:r>
            <a:endParaRPr/>
          </a:p>
          <a:p>
            <a:pPr>
              <a:defRPr/>
            </a:pPr>
            <a:r>
              <a:rPr lang="en-US"/>
              <a:t>MEMS </a:t>
            </a:r>
            <a:r>
              <a:rPr lang="as-IN"/>
              <a:t>হলো এমন একটি প্রযুক্তি যেখানে খুব ছোট (</a:t>
            </a:r>
            <a:r>
              <a:rPr lang="en-US"/>
              <a:t>micro-level) </a:t>
            </a:r>
            <a:r>
              <a:rPr lang="en-US" b="1"/>
              <a:t>mechanical + electrical components</a:t>
            </a:r>
            <a:r>
              <a:rPr lang="en-US"/>
              <a:t> </a:t>
            </a:r>
            <a:r>
              <a:rPr lang="as-IN"/>
              <a:t>একসাথে একটি চিপের মধ্যে তৈরি করা হয়।</a:t>
            </a:r>
            <a:endParaRPr lang="en-US"/>
          </a:p>
          <a:p>
            <a:pPr>
              <a:defRPr/>
            </a:pPr>
            <a:r>
              <a:rPr lang="as-IN" b="1"/>
              <a:t>উদাহরণ:</a:t>
            </a:r>
            <a:endParaRPr/>
          </a:p>
          <a:p>
            <a:pPr lvl="1">
              <a:defRPr/>
            </a:pPr>
            <a:r>
              <a:rPr lang="en-US"/>
              <a:t>Mobile phone-</a:t>
            </a:r>
            <a:r>
              <a:rPr lang="as-IN"/>
              <a:t>এর </a:t>
            </a:r>
            <a:r>
              <a:rPr lang="en-US" b="1"/>
              <a:t>accelerometer</a:t>
            </a:r>
            <a:r>
              <a:rPr lang="en-US"/>
              <a:t> (</a:t>
            </a:r>
            <a:r>
              <a:rPr lang="as-IN"/>
              <a:t>ফোন ঘোরালে </a:t>
            </a:r>
            <a:r>
              <a:rPr lang="en-US"/>
              <a:t>screen rotate </a:t>
            </a:r>
            <a:r>
              <a:rPr lang="as-IN"/>
              <a:t>হয়) </a:t>
            </a:r>
            <a:endParaRPr/>
          </a:p>
          <a:p>
            <a:pPr lvl="1">
              <a:defRPr/>
            </a:pPr>
            <a:r>
              <a:rPr lang="en-US"/>
              <a:t>Car airbag sensor </a:t>
            </a:r>
            <a:endParaRPr/>
          </a:p>
          <a:p>
            <a:pPr lvl="1">
              <a:defRPr/>
            </a:pPr>
            <a:r>
              <a:rPr lang="en-US"/>
              <a:t>Inkjet printer head 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5903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3. Optical Amplifiers</a:t>
            </a:r>
            <a:endParaRPr lang="en-US" b="1"/>
          </a:p>
        </p:txBody>
      </p:sp>
      <p:sp>
        <p:nvSpPr>
          <p:cNvPr id="66449474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 the past, to boost a signal, we </a:t>
            </a:r>
            <a:r>
              <a:rPr lang="en-US">
                <a:solidFill>
                  <a:srgbClr val="FF0000"/>
                </a:solidFill>
              </a:rPr>
              <a:t>had to convert light to electricity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amplify it, and turn it back to light</a:t>
            </a:r>
            <a:r>
              <a:rPr lang="en-US"/>
              <a:t>. </a:t>
            </a:r>
            <a:endParaRPr/>
          </a:p>
          <a:p>
            <a:pPr>
              <a:defRPr/>
            </a:pPr>
            <a:r>
              <a:rPr lang="en-US">
                <a:solidFill>
                  <a:srgbClr val="FF0000"/>
                </a:solidFill>
              </a:rPr>
              <a:t>Modern </a:t>
            </a:r>
            <a:r>
              <a:rPr lang="en-US" b="1">
                <a:solidFill>
                  <a:srgbClr val="FF0000"/>
                </a:solidFill>
              </a:rPr>
              <a:t>Optical Amplifiers</a:t>
            </a:r>
            <a:r>
              <a:rPr lang="en-US">
                <a:solidFill>
                  <a:srgbClr val="FF0000"/>
                </a:solidFill>
              </a:rPr>
              <a:t> boost the light signal directly</a:t>
            </a:r>
            <a:r>
              <a:rPr lang="en-US"/>
              <a:t>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5098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3. Optical Amplifiers</a:t>
            </a:r>
            <a:endParaRPr lang="en-US" b="1"/>
          </a:p>
        </p:txBody>
      </p:sp>
      <p:sp>
        <p:nvSpPr>
          <p:cNvPr id="648860905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b="1"/>
              <a:t>SOA (Semiconductor Optical Amplifier)</a:t>
            </a:r>
            <a:endParaRPr/>
          </a:p>
          <a:p>
            <a:pPr lvl="1">
              <a:defRPr/>
            </a:pPr>
            <a:r>
              <a:rPr lang="en-US" b="1"/>
              <a:t>Mechanism:</a:t>
            </a:r>
            <a:r>
              <a:rPr lang="en-US"/>
              <a:t> Uses a semiconductor chip (</a:t>
            </a:r>
            <a:r>
              <a:rPr lang="en-US">
                <a:solidFill>
                  <a:srgbClr val="FF0000"/>
                </a:solidFill>
              </a:rPr>
              <a:t>similar to a laser but without the mirrors</a:t>
            </a:r>
            <a:r>
              <a:rPr lang="en-US"/>
              <a:t>).</a:t>
            </a:r>
            <a:endParaRPr/>
          </a:p>
          <a:p>
            <a:pPr lvl="1">
              <a:defRPr/>
            </a:pPr>
            <a:r>
              <a:rPr lang="en-US" b="1"/>
              <a:t>Pros: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Small, can be integrated on circuits</a:t>
            </a:r>
            <a:r>
              <a:rPr lang="en-US"/>
              <a:t>.</a:t>
            </a:r>
            <a:endParaRPr/>
          </a:p>
          <a:p>
            <a:pPr lvl="1">
              <a:defRPr/>
            </a:pPr>
            <a:r>
              <a:rPr lang="en-US" b="1"/>
              <a:t>Cons: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Higher noise and lower power than fiber-based amplifiers</a:t>
            </a:r>
            <a:r>
              <a:rPr lang="en-US"/>
              <a:t>.</a:t>
            </a:r>
            <a:endParaRPr/>
          </a:p>
          <a:p>
            <a:pPr>
              <a:defRPr/>
            </a:pPr>
            <a:r>
              <a:rPr lang="en-US" b="1"/>
              <a:t>EDFA (Erbium-Doped Fiber Amplifier)</a:t>
            </a:r>
            <a:endParaRPr/>
          </a:p>
          <a:p>
            <a:pPr lvl="1">
              <a:defRPr/>
            </a:pPr>
            <a:r>
              <a:rPr lang="en-US" b="1"/>
              <a:t>Mechanism: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A piece of glass fiber is "doped" with Erbium ions</a:t>
            </a:r>
            <a:r>
              <a:rPr lang="en-US"/>
              <a:t>. </a:t>
            </a:r>
            <a:endParaRPr/>
          </a:p>
          <a:p>
            <a:pPr lvl="2">
              <a:defRPr/>
            </a:pPr>
            <a:r>
              <a:rPr lang="en-US"/>
              <a:t>A "pump laser" </a:t>
            </a:r>
            <a:r>
              <a:rPr lang="en-US">
                <a:solidFill>
                  <a:srgbClr val="FF0000"/>
                </a:solidFill>
              </a:rPr>
              <a:t>excites these ions, and when the signal passes through, the ions release energy to boost the signal</a:t>
            </a:r>
            <a:r>
              <a:rPr lang="en-US"/>
              <a:t>.</a:t>
            </a:r>
            <a:endParaRPr/>
          </a:p>
          <a:p>
            <a:pPr lvl="1">
              <a:defRPr/>
            </a:pPr>
            <a:r>
              <a:rPr lang="en-US" b="1"/>
              <a:t>Standard:</a:t>
            </a:r>
            <a:r>
              <a:rPr lang="en-US"/>
              <a:t> This is the </a:t>
            </a:r>
            <a:r>
              <a:rPr lang="en-US">
                <a:solidFill>
                  <a:srgbClr val="FF0000"/>
                </a:solidFill>
              </a:rPr>
              <a:t>"gold standard" for long-distance internet because it can amplify many WDM channels at once without distortion.</a:t>
            </a:r>
            <a:endParaRPr/>
          </a:p>
          <a:p>
            <a:pPr>
              <a:defRPr/>
            </a:pPr>
            <a:r>
              <a:rPr lang="en-US" b="1"/>
              <a:t>EBFA (Erbium-Bismuth Fiber Amplifier)</a:t>
            </a:r>
            <a:endParaRPr/>
          </a:p>
          <a:p>
            <a:pPr lvl="1">
              <a:defRPr/>
            </a:pPr>
            <a:r>
              <a:rPr lang="en-US" b="1"/>
              <a:t>Evolution:</a:t>
            </a:r>
            <a:r>
              <a:rPr lang="en-US"/>
              <a:t> Similar to EDFA </a:t>
            </a:r>
            <a:r>
              <a:rPr lang="en-US">
                <a:solidFill>
                  <a:srgbClr val="FF0000"/>
                </a:solidFill>
              </a:rPr>
              <a:t>but uses Bismuth-doped glass to provide a </a:t>
            </a:r>
            <a:r>
              <a:rPr lang="en-US" b="1">
                <a:solidFill>
                  <a:srgbClr val="FF0000"/>
                </a:solidFill>
              </a:rPr>
              <a:t>wider </a:t>
            </a:r>
            <a:r>
              <a:rPr lang="en-US" b="1"/>
              <a:t>bandwidth</a:t>
            </a:r>
            <a:r>
              <a:rPr lang="en-US"/>
              <a:t>, allowing even </a:t>
            </a:r>
            <a:r>
              <a:rPr lang="en-US">
                <a:solidFill>
                  <a:srgbClr val="FF0000"/>
                </a:solidFill>
              </a:rPr>
              <a:t>more WDM channels to be packed into the fiber</a:t>
            </a:r>
            <a:r>
              <a:rPr lang="en-US"/>
              <a:t>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3452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Example: The Highway Analogy</a:t>
            </a:r>
            <a:endParaRPr lang="en-US"/>
          </a:p>
        </p:txBody>
      </p:sp>
      <p:sp>
        <p:nvSpPr>
          <p:cNvPr id="33251022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Imagine a 40-lane highway (WDM Fiber).</a:t>
            </a:r>
            <a:endParaRPr/>
          </a:p>
          <a:p>
            <a:pPr lvl="1">
              <a:defRPr/>
            </a:pPr>
            <a:r>
              <a:rPr lang="en-US" b="1"/>
              <a:t>Transmitter:</a:t>
            </a:r>
            <a:r>
              <a:rPr lang="en-US"/>
              <a:t> A specialized ramp that ensures </a:t>
            </a:r>
            <a:r>
              <a:rPr lang="en-US">
                <a:solidFill>
                  <a:srgbClr val="FF0000"/>
                </a:solidFill>
              </a:rPr>
              <a:t>only Blue cars enter Lane 1 and only Red cars enter Lane 2</a:t>
            </a:r>
            <a:r>
              <a:rPr lang="en-US"/>
              <a:t>.</a:t>
            </a:r>
            <a:endParaRPr/>
          </a:p>
          <a:p>
            <a:pPr lvl="1">
              <a:defRPr/>
            </a:pPr>
            <a:r>
              <a:rPr lang="en-US" b="1"/>
              <a:t>Receiver:</a:t>
            </a:r>
            <a:r>
              <a:rPr lang="en-US"/>
              <a:t> A specialized exit that </a:t>
            </a:r>
            <a:r>
              <a:rPr lang="en-US">
                <a:solidFill>
                  <a:srgbClr val="FF0000"/>
                </a:solidFill>
              </a:rPr>
              <a:t>only lets the Blue cars off at a specific destination</a:t>
            </a:r>
            <a:r>
              <a:rPr lang="en-US"/>
              <a:t>.</a:t>
            </a:r>
            <a:endParaRPr/>
          </a:p>
          <a:p>
            <a:pPr lvl="1">
              <a:defRPr/>
            </a:pPr>
            <a:r>
              <a:rPr lang="en-US" b="1"/>
              <a:t>Amplifier (EDFA):</a:t>
            </a:r>
            <a:r>
              <a:rPr lang="en-US"/>
              <a:t> A "speed boost" zone in the middle of the highway that </a:t>
            </a:r>
            <a:r>
              <a:rPr lang="en-US">
                <a:solidFill>
                  <a:srgbClr val="FF0000"/>
                </a:solidFill>
              </a:rPr>
              <a:t>gives every car more fuel as they drive through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without them having to stop at a gas station</a:t>
            </a:r>
            <a:r>
              <a:rPr lang="en-US"/>
              <a:t>.</a:t>
            </a:r>
            <a:endParaRPr/>
          </a:p>
          <a:p>
            <a:pPr lvl="1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113167" name="Title 1"/>
          <p:cNvSpPr>
            <a:spLocks noGrp="1"/>
          </p:cNvSpPr>
          <p:nvPr>
            <p:ph type="title"/>
          </p:nvPr>
        </p:nvSpPr>
        <p:spPr bwMode="auto">
          <a:xfrm>
            <a:off x="838200" y="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WDM Power Calculation</a:t>
            </a:r>
            <a:endParaRPr lang="en-US"/>
          </a:p>
        </p:txBody>
      </p:sp>
      <p:sp>
        <p:nvSpPr>
          <p:cNvPr id="889408526" name="Content Placeholder 2"/>
          <p:cNvSpPr>
            <a:spLocks noGrp="1"/>
          </p:cNvSpPr>
          <p:nvPr>
            <p:ph idx="1"/>
          </p:nvPr>
        </p:nvSpPr>
        <p:spPr bwMode="auto">
          <a:xfrm>
            <a:off x="741484" y="920017"/>
            <a:ext cx="10515600" cy="4351338"/>
          </a:xfrm>
        </p:spPr>
        <p:txBody>
          <a:bodyPr/>
          <a:lstStyle/>
          <a:p>
            <a:pPr>
              <a:defRPr/>
            </a:pPr>
            <a:r>
              <a:rPr lang="en-US"/>
              <a:t>A WDM system has 8 channels. Each channel enters an EDFA with a power of </a:t>
            </a:r>
            <a:r>
              <a:rPr lang="en-US" b="1"/>
              <a:t>-20 </a:t>
            </a:r>
            <a:r>
              <a:rPr lang="en-US" b="1"/>
              <a:t>dBm</a:t>
            </a:r>
            <a:r>
              <a:rPr lang="en-US"/>
              <a:t>. The </a:t>
            </a:r>
            <a:r>
              <a:rPr lang="en-US">
                <a:solidFill>
                  <a:srgbClr val="FF0000"/>
                </a:solidFill>
              </a:rPr>
              <a:t>EDFA (Erbium-Doped Fiber Amplifier) </a:t>
            </a:r>
            <a:r>
              <a:rPr lang="en-US"/>
              <a:t>has a gain of </a:t>
            </a:r>
            <a:r>
              <a:rPr lang="en-US" b="1"/>
              <a:t>25 </a:t>
            </a:r>
            <a:r>
              <a:rPr lang="en-US" b="1"/>
              <a:t>dB</a:t>
            </a:r>
            <a:r>
              <a:rPr lang="en-US"/>
              <a:t>.</a:t>
            </a:r>
            <a:endParaRPr lang="en-US"/>
          </a:p>
          <a:p>
            <a:pPr lvl="1">
              <a:defRPr/>
            </a:pPr>
            <a:r>
              <a:rPr lang="en-US"/>
              <a:t>Calculate the output power of a single channel in </a:t>
            </a:r>
            <a:r>
              <a:rPr lang="en-US"/>
              <a:t>dBm</a:t>
            </a:r>
            <a:r>
              <a:rPr lang="en-US"/>
              <a:t>.</a:t>
            </a:r>
            <a:endParaRPr/>
          </a:p>
          <a:p>
            <a:pPr lvl="1">
              <a:defRPr/>
            </a:pPr>
            <a:r>
              <a:rPr lang="en-US"/>
              <a:t>Calculate the total output power of the EDFA in </a:t>
            </a:r>
            <a:r>
              <a:rPr lang="en-US"/>
              <a:t>milliwatts</a:t>
            </a:r>
            <a:r>
              <a:rPr lang="en-US"/>
              <a:t> (</a:t>
            </a:r>
            <a:r>
              <a:rPr lang="en-US"/>
              <a:t>mW</a:t>
            </a:r>
            <a:r>
              <a:rPr lang="en-US"/>
              <a:t>).</a:t>
            </a:r>
            <a:endParaRPr/>
          </a:p>
          <a:p>
            <a:pPr lvl="1">
              <a:defRPr/>
            </a:pPr>
            <a:endParaRPr lang="en-US"/>
          </a:p>
        </p:txBody>
      </p:sp>
      <p:pic>
        <p:nvPicPr>
          <p:cNvPr id="922645599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985875" y="2937404"/>
            <a:ext cx="8490643" cy="30501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Requirements of transmitter and receiver in WDM networks, types of tunable lasers, optical amplifiers, SOA and FOA, EDFA and EBFA.</dc:title>
  <dc:creator>Lenovo</dc:creator>
  <cp:lastModifiedBy/>
  <cp:revision>8</cp:revision>
  <dcterms:created xsi:type="dcterms:W3CDTF">2026-04-01T03:44:15Z</dcterms:created>
  <dcterms:modified xsi:type="dcterms:W3CDTF">2026-04-14T07:13:15Z</dcterms:modified>
</cp:coreProperties>
</file>