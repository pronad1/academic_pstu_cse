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 type="screen4x3"/>
  <p:notesSz cx="6797675" cy="9929813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4" d="100"/>
          <a:sy n="104" d="100"/>
        </p:scale>
        <p:origin x="-1236" y="-90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700327" name="Rectangle 2"/>
          <p:cNvSpPr>
            <a:spLocks noChangeShapeType="1" noGrp="1"/>
          </p:cNvSpPr>
          <p:nvPr>
            <p:ph type="hdr" idx="0"/>
          </p:nvPr>
        </p:nvSpPr>
        <p:spPr bwMode="auto">
          <a:xfrm>
            <a:off x="0" y="0"/>
            <a:ext cx="2946400" cy="49688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122851452" name="Rectangle 3"/>
          <p:cNvSpPr>
            <a:spLocks noChangeShapeType="1" noGrp="1"/>
          </p:cNvSpPr>
          <p:nvPr>
            <p:ph type="dt" idx="1"/>
          </p:nvPr>
        </p:nvSpPr>
        <p:spPr bwMode="auto">
          <a:xfrm>
            <a:off x="3851275" y="0"/>
            <a:ext cx="2946400" cy="49688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000408339" name="Rectangle 4"/>
          <p:cNvSpPr>
            <a:spLocks noChangeShapeType="1" noGrp="1"/>
          </p:cNvSpPr>
          <p:nvPr>
            <p:ph type="sldImg" idx="2"/>
          </p:nvPr>
        </p:nvSpPr>
        <p:spPr bwMode="auto">
          <a:xfrm>
            <a:off x="915986" y="744537"/>
            <a:ext cx="4965700" cy="3724275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  <a:headEnd/>
            <a:tailE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456491351" name="Rectangle 5"/>
          <p:cNvSpPr>
            <a:spLocks noChangeShapeType="1" noGrp="1"/>
          </p:cNvSpPr>
          <p:nvPr>
            <p:ph type="body" idx="3"/>
          </p:nvPr>
        </p:nvSpPr>
        <p:spPr bwMode="auto">
          <a:xfrm>
            <a:off x="906462" y="4718050"/>
            <a:ext cx="4984750" cy="4467225"/>
          </a:xfrm>
          <a:prstGeom prst="rect">
            <a:avLst/>
          </a:prstGeom>
          <a:noFill/>
        </p:spPr>
        <p:txBody>
          <a:bodyPr lIns="93170" tIns="46586" rIns="93170" bIns="46586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/>
              <a:t>Click to edit Master text styles</a:t>
            </a:r>
            <a:endParaRPr/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rPr/>
              <a:t>Second level</a:t>
            </a:r>
            <a:endParaRPr/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rPr/>
              <a:t>Third level</a:t>
            </a:r>
            <a:endParaRPr/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rPr/>
              <a:t>Fourth level</a:t>
            </a:r>
            <a:endParaRPr/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72570204" name="Rectangle 6"/>
          <p:cNvSpPr>
            <a:spLocks noChangeShapeType="1" noGrp="1"/>
          </p:cNvSpPr>
          <p:nvPr>
            <p:ph type="ftr" idx="4"/>
          </p:nvPr>
        </p:nvSpPr>
        <p:spPr bwMode="auto">
          <a:xfrm>
            <a:off x="0" y="9432925"/>
            <a:ext cx="2946400" cy="49688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>
              <a:defRPr/>
            </a:pPr>
            <a:endParaRPr sz="1400"/>
          </a:p>
        </p:txBody>
      </p:sp>
      <p:sp>
        <p:nvSpPr>
          <p:cNvPr id="1979152066" name="Rectangle 7"/>
          <p:cNvSpPr>
            <a:spLocks noChangeShapeType="1" noGrp="1"/>
          </p:cNvSpPr>
          <p:nvPr>
            <p:ph type="sldNum" idx="5"/>
          </p:nvPr>
        </p:nvSpPr>
        <p:spPr bwMode="auto">
          <a:xfrm>
            <a:off x="3851275" y="9432925"/>
            <a:ext cx="2946400" cy="496887"/>
          </a:xfrm>
          <a:prstGeom prst="rect">
            <a:avLst/>
          </a:prstGeom>
          <a:noFill/>
        </p:spPr>
        <p:txBody>
          <a:bodyPr lIns="93170" tIns="46586" rIns="93170" bIns="46586" anchor="b"/>
          <a:lstStyle>
            <a:lvl1pPr marL="0" indent="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3186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 defTabSz="931862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/>
              <a:t>*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3566" name="Rectangle 7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3851275" y="9432925"/>
            <a:ext cx="2946400" cy="49688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862">
              <a:defRPr/>
            </a:pPr>
            <a:fld id="{D038279B-FC19-497E-A7D1-5ADD9CAF016F}" type="slidenum">
              <a:rPr lang="en-US" sz="1200"/>
              <a:t>*</a:t>
            </a:fld>
            <a:endParaRPr/>
          </a:p>
        </p:txBody>
      </p:sp>
      <p:sp>
        <p:nvSpPr>
          <p:cNvPr id="1113862036" name="Rectangle 2"/>
          <p:cNvSpPr>
            <a:spLocks noChangeShapeType="1" noGrp="1"/>
          </p:cNvSpPr>
          <p:nvPr>
            <p:ph type="sldImg" idx="0"/>
          </p:nvPr>
        </p:nvSpPr>
        <p:spPr bwMode="auto">
          <a:xfrm>
            <a:off x="915986" y="744537"/>
            <a:ext cx="4965700" cy="3724275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222760000" name="Rectangle 3"/>
          <p:cNvSpPr>
            <a:spLocks noChangeShapeType="1" noGrp="1"/>
          </p:cNvSpPr>
          <p:nvPr>
            <p:ph type="body" idx="1"/>
          </p:nvPr>
        </p:nvSpPr>
        <p:spPr bwMode="auto">
          <a:xfrm>
            <a:off x="906462" y="4718050"/>
            <a:ext cx="4984750" cy="4467225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71E0C-F0A3-AF49-F83B-6375FC16F4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98BF4-F17E-5F24-57A3-AE0732BED8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27296E-6A19-32C7-3FD8-25A6904603F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2A063D-CDC1-8392-491B-E76E48BE2C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C1A599-77DA-486E-8443-9784DD93D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EB977D-BF4C-A961-E9F0-B2A37DDACA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521153-7FDC-4663-7912-84134D61BF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A349CB-EFB5-9E2C-DFE6-31CE35BB6B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CD0A75-DC96-0E8A-5036-E612DA964A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68DAA5-5F00-E9B7-C6E5-49E6D9A653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CDF945-0774-6FE6-5AE5-C612EF8544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47D0F2-7266-AB68-0D81-10924CB8C4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A383CE-84E1-E136-2695-E1BC7C6BC6A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D612BF-5C91-7F71-C7EE-78CD2CF24E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855B16-4E70-F586-FF50-A3807F41D01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900438" name="Shape 1026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46707291" name="Shape 1027"/>
          <p:cNvSpPr>
            <a:spLocks noChangeShapeType="1" noGrp="1"/>
          </p:cNvSpPr>
          <p:nvPr>
            <p:ph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2184318" name="Shape 1028"/>
          <p:cNvSpPr>
            <a:spLocks noChangeShapeType="1" noGrp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14310106" name="Shape 1029"/>
          <p:cNvSpPr>
            <a:spLocks noChangeShapeType="1" noGrp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1627272904" name="Shape 1030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&lt;#&gt;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1_Blends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4212346" name="Group 2"/>
          <p:cNvGrpSpPr/>
          <p:nvPr/>
        </p:nvGrpSpPr>
        <p:grpSpPr bwMode="auto"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2057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64" name="Rectangle 4"/>
              <p:cNvSpPr>
                <a:spLocks noChangeShapeType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5" name="Rectangle 5"/>
              <p:cNvSpPr>
                <a:spLocks noChangeShapeType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grpSp>
          <p:nvGrpSpPr>
            <p:cNvPr id="2058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62" name="Rectangle 7"/>
              <p:cNvSpPr>
                <a:spLocks noChangeShapeType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3" name="Rectangle 8"/>
              <p:cNvSpPr>
                <a:spLocks noChangeShapeType="1"/>
              </p:cNvSpPr>
              <p:nvPr/>
            </p:nvSpPr>
            <p:spPr bwMode="auto">
              <a:xfrm>
                <a:off x="1249" y="2640"/>
                <a:ext cx="334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2059" name="Rectangle 9"/>
            <p:cNvSpPr>
              <a:spLocks noChangeShapeType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0" name="Rectangle 10"/>
            <p:cNvSpPr>
              <a:spLocks noChangeShapeType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1" name="Rectangle 11"/>
            <p:cNvSpPr>
              <a:spLocks noChangeShapeType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sp>
        <p:nvSpPr>
          <p:cNvPr id="402237130" name="Rectangle 17"/>
          <p:cNvSpPr>
            <a:spLocks noChangeShapeType="1" noGrp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*</a:t>
            </a:fld>
            <a:endParaRPr/>
          </a:p>
        </p:txBody>
      </p:sp>
      <p:sp>
        <p:nvSpPr>
          <p:cNvPr id="1841908783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13060455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921073477" name="Date Placeholder 14"/>
          <p:cNvSpPr>
            <a:spLocks noChangeShapeType="1" noGrp="1"/>
          </p:cNvSpPr>
          <p:nvPr>
            <p:ph type="dt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*</a:t>
            </a:r>
            <a:endParaRPr/>
          </a:p>
        </p:txBody>
      </p:sp>
      <p:sp>
        <p:nvSpPr>
          <p:cNvPr id="2016035513" name="Footer Placeholder 15"/>
          <p:cNvSpPr>
            <a:spLocks noChangeShapeType="1" noGrp="1"/>
          </p:cNvSpPr>
          <p:nvPr>
            <p:ph type="ft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Data Mining: Concepts and Techniques</a:t>
            </a:r>
            <a:endParaRPr/>
          </a:p>
        </p:txBody>
      </p:sp>
      <p:sp>
        <p:nvSpPr>
          <p:cNvPr id="155889781" name="Slide Number Placeholder 16"/>
          <p:cNvSpPr>
            <a:spLocks noChangeShapeType="1" noGrp="1"/>
          </p:cNvSpPr>
          <p:nvPr>
            <p:ph type="sldNum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*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93878" name="Shape 2051"/>
          <p:cNvSpPr>
            <a:spLocks noChangeShapeType="1" noGrp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  <a:t>&lt;#&gt;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oleObject" Target="../embeddings/bin_rXSHJx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295084" name="Rectangle 9"/>
          <p:cNvSpPr>
            <a:spLocks noChangeShapeType="1" noGrp="1"/>
          </p:cNvSpPr>
          <p:nvPr>
            <p:ph type="title" idx="0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69386487" name="Rectangle 10"/>
          <p:cNvSpPr>
            <a:spLocks noChangeShapeType="1" noGrp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Click to edit Master text styles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n-US"/>
              <a:t>Second level</a:t>
            </a:r>
            <a:endParaRPr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/>
              <a:buChar char="n"/>
              <a:defRPr/>
            </a:pPr>
            <a:r>
              <a:rPr lang="en-US"/>
              <a:t>Third level</a:t>
            </a:r>
            <a:endParaRPr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/>
              <a:buChar char="n"/>
              <a:defRPr/>
            </a:pPr>
            <a:r>
              <a:rPr lang="en-US"/>
              <a:t>Fourth level</a:t>
            </a:r>
            <a:endParaRPr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/>
              <a:buChar char="n"/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79143214" name="Rectangle 11"/>
          <p:cNvSpPr>
            <a:spLocks noChangeShapeType="1" noGrp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200"/>
              <a:t>*</a:t>
            </a:r>
            <a:endParaRPr/>
          </a:p>
        </p:txBody>
      </p:sp>
      <p:sp>
        <p:nvSpPr>
          <p:cNvPr id="1819064596" name="Rectangle 12"/>
          <p:cNvSpPr>
            <a:spLocks noChangeShapeType="1" noGrp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1950793497" name="Rectangle 13"/>
          <p:cNvSpPr>
            <a:spLocks noChangeShapeType="1" noGrp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graphicFrame>
        <p:nvGraphicFramePr>
          <p:cNvPr id="1915191423" name="Object 23"/>
          <p:cNvGraphicFramePr>
            <a:graphicFrameLocks xmlns:a="http://schemas.openxmlformats.org/drawingml/2006/main" noChangeAspect="1"/>
          </p:cNvGraphicFramePr>
          <p:nvPr/>
        </p:nvGraphicFramePr>
        <p:xfrm>
          <a:off x="381000" y="1143000"/>
          <a:ext cx="8382000" cy="76200"/>
        </p:xfrm>
        <a:graphic>
          <a:graphicData uri="http://schemas.openxmlformats.org/presentationml/2006/ole">
            <p:oleObj name="oleObj" r:id="rId6" imgW="4708525" imgH="42545" progId="MS_ClipArt_Gallery.5">
              <p:embed/>
              <p:pic>
                <p:nvPicPr>
                  <p:cNvPr id="1915191423" name="Object 23"/>
                  <p:cNvPicPr/>
                  <p:nvPr/>
                </p:nvPicPr>
                <p:blipFill rotWithShape="1">
                  <a:blip r:embed="rId5"/>
                  <a:stretch/>
                </p:blipFill>
                <p:spPr bwMode="auto">
                  <a:xfrm>
                    <a:off x="381000" y="1143000"/>
                    <a:ext cx="8382000" cy="76200"/>
                  </a:xfrm>
                  <a:prstGeom prst="rect">
                    <a:avLst/>
                  </a:prstGeom>
                  <a:noFill/>
                </p:spPr>
              </p:pic>
            </p:oleObj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60000"/>
        <a:buFont typeface="Wingdings"/>
        <a:buChar char="n"/>
        <a:defRPr lang="en-US" sz="2800" b="0" i="0">
          <a:solidFill>
            <a:schemeClr val="dk1"/>
          </a:solidFill>
          <a:latin typeface="Tahoma"/>
        </a:defRPr>
      </a:lvl1pPr>
      <a:lvl2pPr marL="742950" indent="4572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0000"/>
        </a:buClr>
        <a:buSzPct val="55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2pPr>
      <a:lvl3pPr marL="1143000" indent="9144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50000"/>
        <a:buFont typeface="Wingdings"/>
        <a:buChar char="n"/>
        <a:defRPr lang="en-US" sz="2400" b="0" i="0">
          <a:solidFill>
            <a:schemeClr val="dk1"/>
          </a:solidFill>
          <a:latin typeface="Tahoma"/>
        </a:defRPr>
      </a:lvl3pPr>
      <a:lvl4pPr marL="1600200" indent="13716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CF01"/>
        </a:buClr>
        <a:buSzPct val="55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4pPr>
      <a:lvl5pPr marL="2057400" indent="18288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00E4A8"/>
        </a:buClr>
        <a:buSzPct val="50000"/>
        <a:buFont typeface="Wingdings"/>
        <a:buChar char="n"/>
        <a:defRPr lang="en-US" sz="20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media1.sv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087450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170232409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696021803" name="Rectangle 2"/>
          <p:cNvSpPr>
            <a:spLocks noChangeShapeType="1" noGrp="1"/>
          </p:cNvSpPr>
          <p:nvPr>
            <p:ph type="title"/>
          </p:nvPr>
        </p:nvSpPr>
        <p:spPr bwMode="auto">
          <a:xfrm>
            <a:off x="457200" y="304800"/>
            <a:ext cx="8077200" cy="27432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4800"/>
              <a:t>Optical Fiber</a:t>
            </a:r>
            <a:br>
              <a:rPr lang="en-US" sz="4800"/>
            </a:br>
            <a:r>
              <a:rPr lang="en-US" sz="4800"/>
              <a:t>Communications</a:t>
            </a:r>
            <a:br>
              <a:rPr lang="en-US" sz="4800"/>
            </a:br>
            <a:r>
              <a:rPr lang="en-US" sz="4400"/>
              <a:t> </a:t>
            </a:r>
            <a:r>
              <a:rPr lang="en-US" sz="2400">
                <a:latin typeface="Berlin Sans FB Demi"/>
              </a:rPr>
              <a:t>— Chapter 2 —</a:t>
            </a:r>
            <a:br>
              <a:rPr lang="en-US" sz="2400">
                <a:latin typeface="Berlin Sans FB Demi"/>
              </a:rPr>
            </a:br>
            <a:r>
              <a:rPr lang="en-US" sz="2400">
                <a:latin typeface="Berlin Sans FB Demi"/>
              </a:rPr>
              <a:t>— </a:t>
            </a:r>
            <a:r>
              <a:rPr lang="en-US" sz="2400"/>
              <a:t>Optical fiber waveguides</a:t>
            </a:r>
            <a:r>
              <a:rPr lang="en-US" sz="2400">
                <a:latin typeface="Berlin Sans FB Demi"/>
              </a:rPr>
              <a:t> —</a:t>
            </a:r>
            <a:endParaRPr/>
          </a:p>
        </p:txBody>
      </p:sp>
      <p:sp>
        <p:nvSpPr>
          <p:cNvPr id="1321636766" name="Rectangle 3"/>
          <p:cNvSpPr>
            <a:spLocks noChangeShapeType="1" noGrp="1"/>
          </p:cNvSpPr>
          <p:nvPr>
            <p:ph type="body"/>
          </p:nvPr>
        </p:nvSpPr>
        <p:spPr bwMode="auto">
          <a:xfrm>
            <a:off x="304800" y="4114800"/>
            <a:ext cx="8305800" cy="2438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658636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Optical fiber waveguides</a:t>
            </a:r>
            <a:endParaRPr/>
          </a:p>
        </p:txBody>
      </p:sp>
      <p:sp>
        <p:nvSpPr>
          <p:cNvPr id="1508035907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84257708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sp>
        <p:nvSpPr>
          <p:cNvPr id="1767159892" name="Content Placeholder 6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pic>
        <p:nvPicPr>
          <p:cNvPr id="1257865088" name="Picture 7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533400" y="1447800"/>
            <a:ext cx="8153399" cy="5029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902404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Total internal reflection</a:t>
            </a:r>
            <a:endParaRPr/>
          </a:p>
        </p:txBody>
      </p:sp>
      <p:sp>
        <p:nvSpPr>
          <p:cNvPr id="1673143987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2286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angles of incidence φ1 and refraction φ2 are related to each other and to the refractive indices of the dielectrics by Snell’s law of refraction which states that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l-GR" b="0" i="1" u="none"/>
              <a:t>n1 sin φ1 = n2 sin φ2</a:t>
            </a:r>
            <a:endParaRPr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/>
              <a:buChar char="n"/>
              <a:defRPr/>
            </a:pPr>
            <a:r>
              <a:rPr lang="el-GR" b="0" i="1" u="none"/>
              <a:t>Or </a:t>
            </a:r>
            <a:endParaRPr/>
          </a:p>
        </p:txBody>
      </p:sp>
      <p:sp>
        <p:nvSpPr>
          <p:cNvPr id="344512524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76673528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876765504" name="Picture 8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1905000" y="3505199"/>
            <a:ext cx="2362199" cy="838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143987">
                                            <p:txEl>
                                              <p:pRg st="0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73143987">
                                            <p:txEl>
                                              <p:pRg st="0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73143987">
                                            <p:txEl>
                                              <p:pRg st="0" end="1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143987">
                                            <p:txEl>
                                              <p:pRg st="167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73143987">
                                            <p:txEl>
                                              <p:pRg st="167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73143987">
                                            <p:txEl>
                                              <p:pRg st="167" end="1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143987">
                                            <p:txEl>
                                              <p:pRg st="18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73143987">
                                            <p:txEl>
                                              <p:pRg st="18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73143987">
                                            <p:txEl>
                                              <p:pRg st="18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74386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400"/>
              <a:t>Light rays incident on a high to low refractive index interface (e.g. glass–air): (a) refraction</a:t>
            </a:r>
            <a:endParaRPr/>
          </a:p>
        </p:txBody>
      </p:sp>
      <p:sp>
        <p:nvSpPr>
          <p:cNvPr id="1966116255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488932979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751861498" name="Picture 7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304800" y="1314450"/>
            <a:ext cx="8477250" cy="501014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937031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-152400" y="228600"/>
            <a:ext cx="9601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l-GR" sz="1600"/>
              <a:t>Light rays incident on a high to low refractive index interface (e.g. glass–air): (b) the limiting case of refraction showing the critical ray</a:t>
            </a:r>
            <a:br>
              <a:rPr lang="el-GR" sz="1600"/>
            </a:br>
            <a:r>
              <a:rPr lang="el-GR" sz="1600"/>
              <a:t>at an angle φc</a:t>
            </a:r>
            <a:endParaRPr/>
          </a:p>
        </p:txBody>
      </p:sp>
      <p:sp>
        <p:nvSpPr>
          <p:cNvPr id="1683265638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04290521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791870930" name="Picture 7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304799" y="1227858"/>
            <a:ext cx="8477250" cy="501014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498467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-152400" y="228600"/>
            <a:ext cx="9601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1600"/>
              <a:t>Light rays incident on a high to low refractive index interface (e.g. glass–air): (c) total internal reflection where φ &gt; φc</a:t>
            </a:r>
            <a:endParaRPr/>
          </a:p>
        </p:txBody>
      </p:sp>
      <p:sp>
        <p:nvSpPr>
          <p:cNvPr id="30925859" name="Date Placeholder 3"/>
          <p:cNvSpPr txBox="1">
            <a:spLocks noChangeShapeType="1"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92691784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766578944" name="Picture 7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304800" y="1314450"/>
            <a:ext cx="8477250" cy="501014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56696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Total internal reflection</a:t>
            </a:r>
            <a:endParaRPr/>
          </a:p>
        </p:txBody>
      </p:sp>
      <p:sp>
        <p:nvSpPr>
          <p:cNvPr id="1005719071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14478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/>
              <a:buChar char="n"/>
              <a:defRPr/>
            </a:pPr>
            <a:r>
              <a:rPr lang="en-US"/>
              <a:t>The value of the critical angle is given by</a:t>
            </a:r>
            <a:endParaRPr/>
          </a:p>
        </p:txBody>
      </p:sp>
      <p:sp>
        <p:nvSpPr>
          <p:cNvPr id="781736768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736770711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35832015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472731727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2895600" y="2133600"/>
            <a:ext cx="2438400" cy="11668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719071">
                                            <p:txEl>
                                              <p:p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05719071">
                                            <p:txEl>
                                              <p:p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05719071">
                                            <p:txEl>
                                              <p:pRg st="0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484226" name="Title 1"/>
          <p:cNvSpPr>
            <a:spLocks noChangeShapeType="1" noGrp="1"/>
          </p:cNvSpPr>
          <p:nvPr>
            <p:ph type="title"/>
          </p:nvPr>
        </p:nvSpPr>
        <p:spPr bwMode="auto">
          <a:xfrm flipH="0" flipV="0">
            <a:off x="761999" y="-45359"/>
            <a:ext cx="7717556" cy="1189079"/>
          </a:xfrm>
          <a:prstGeom prst="rect">
            <a:avLst/>
          </a:prstGeom>
        </p:spPr>
        <p:txBody>
          <a:bodyPr wrap="square"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transmission of a light ray in a perfect optical fiber</a:t>
            </a:r>
            <a:endParaRPr/>
          </a:p>
        </p:txBody>
      </p:sp>
      <p:sp>
        <p:nvSpPr>
          <p:cNvPr id="1514349005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10736705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489529985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2074877944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228600" y="1447800"/>
            <a:ext cx="8763000" cy="2743200"/>
          </a:xfrm>
          <a:prstGeom prst="rect">
            <a:avLst/>
          </a:prstGeom>
          <a:noFill/>
        </p:spPr>
      </p:pic>
      <p:sp>
        <p:nvSpPr>
          <p:cNvPr id="684217702" name="Rectangle 7"/>
          <p:cNvSpPr>
            <a:spLocks noChangeShapeType="1" noGrp="1"/>
          </p:cNvSpPr>
          <p:nvPr/>
        </p:nvSpPr>
        <p:spPr bwMode="auto">
          <a:xfrm>
            <a:off x="0" y="4127500"/>
            <a:ext cx="8915400" cy="181610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/>
              <a:t>At angles of incidence greater than the critical angle the light is reflected back into the originating dielectric medium (total internal reflection) with high efficiency (</a:t>
            </a:r>
            <a:r>
              <a:rPr lang="en-US">
                <a:solidFill>
                  <a:srgbClr val="FF0000"/>
                </a:solidFill>
              </a:rPr>
              <a:t>around 99.9%).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195286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3048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The acceptance angle θa when launching light into an optical fiber</a:t>
            </a:r>
            <a:endParaRPr/>
          </a:p>
        </p:txBody>
      </p:sp>
      <p:sp>
        <p:nvSpPr>
          <p:cNvPr id="39423183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495034251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766667272" name="Picture 2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381000" y="1219200"/>
            <a:ext cx="8534400" cy="3352800"/>
          </a:xfrm>
          <a:prstGeom prst="rect">
            <a:avLst/>
          </a:prstGeom>
          <a:noFill/>
        </p:spPr>
      </p:pic>
      <p:sp>
        <p:nvSpPr>
          <p:cNvPr id="724320998" name="Rectangle 7"/>
          <p:cNvSpPr>
            <a:spLocks noChangeShapeType="1" noGrp="1"/>
          </p:cNvSpPr>
          <p:nvPr/>
        </p:nvSpPr>
        <p:spPr bwMode="auto">
          <a:xfrm>
            <a:off x="304800" y="4373562"/>
            <a:ext cx="8915400" cy="1570037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400"/>
              <a:t>Any rays which are incident into the fiber core at an angle </a:t>
            </a:r>
            <a:r>
              <a:rPr lang="en-US" sz="2400">
                <a:solidFill>
                  <a:srgbClr val="FF0000"/>
                </a:solidFill>
              </a:rPr>
              <a:t>greater than θa will be transmitted to the core–cladding interface at an angle less than φc, and will not be totally internally reflected</a:t>
            </a:r>
            <a:r>
              <a:rPr lang="en-US" sz="2400"/>
              <a:t>.</a:t>
            </a:r>
            <a:endParaRPr/>
          </a:p>
        </p:txBody>
      </p:sp>
      <p:sp>
        <p:nvSpPr>
          <p:cNvPr id="1937915470" name="Rectangle 8"/>
          <p:cNvSpPr>
            <a:spLocks noChangeShapeType="1" noGrp="1"/>
          </p:cNvSpPr>
          <p:nvPr/>
        </p:nvSpPr>
        <p:spPr bwMode="auto">
          <a:xfrm>
            <a:off x="381000" y="5924550"/>
            <a:ext cx="8229600" cy="4000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2000"/>
              <a:t>θa is sometimes referred to as the </a:t>
            </a:r>
            <a:r>
              <a:rPr lang="en-US" sz="2000">
                <a:solidFill>
                  <a:srgbClr val="FF0000"/>
                </a:solidFill>
              </a:rPr>
              <a:t>maximum or total acceptance angle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320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4320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4320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91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37915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37915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4320998" grpId="0" uiExpand="1" build="whole" animBg="0" autoUpdateAnimBg="0" rev="0" advAuto="0"/>
      <p:bldP spid="1937915470" grpId="0" uiExpand="1" build="whole" animBg="0" autoUpdateAnimBg="0" rev="0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414985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b="0" i="0" u="none"/>
              <a:t>meridional rays vs Skew rays</a:t>
            </a:r>
            <a:endParaRPr/>
          </a:p>
        </p:txBody>
      </p:sp>
      <p:sp>
        <p:nvSpPr>
          <p:cNvPr id="1376056713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2362199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619121597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397140211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Optical fiber waveguides</a:t>
            </a:r>
            <a:endParaRPr/>
          </a:p>
        </p:txBody>
      </p:sp>
      <p:sp>
        <p:nvSpPr>
          <p:cNvPr id="108289457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527759129" name="Picture 2" descr="Optical Fiber Waveguides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2895600" y="1624012"/>
            <a:ext cx="5838825" cy="477678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6066193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035169098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464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711186162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387271149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Optical fiber waveguides</a:t>
            </a:r>
            <a:endParaRPr/>
          </a:p>
        </p:txBody>
      </p:sp>
      <p:sp>
        <p:nvSpPr>
          <p:cNvPr id="1798060036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2098713985" name="Picture 6"/>
          <p:cNvPicPr>
            <a:picLocks noChangeAspect="1" noGrp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6200" y="1447800"/>
            <a:ext cx="8937625" cy="50784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4719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48637264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486675440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37322367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76924327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889476501" name="Picture 6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609600" y="0"/>
            <a:ext cx="7772400" cy="668813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05929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659563504" name="Content Placeholder 2"/>
          <p:cNvSpPr>
            <a:spLocks noChangeShapeType="1" noGrp="1"/>
          </p:cNvSpPr>
          <p:nvPr>
            <p:ph type="obj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143783108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fld id="{D7E01130-044F-4930-9A27-C729C70D8524}" type="datetime1">
              <a:rPr sz="1200"/>
              <a:t>*</a:t>
            </a:fld>
            <a:endParaRPr/>
          </a:p>
        </p:txBody>
      </p:sp>
      <p:sp>
        <p:nvSpPr>
          <p:cNvPr id="485430097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ctr"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1177973662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922649986" name="Picture 6"/>
          <p:cNvPicPr>
            <a:picLocks noChangeAspect="1" noGrp="1"/>
          </p:cNvPicPr>
          <p:nvPr/>
        </p:nvPicPr>
        <p:blipFill rotWithShape="1">
          <a:blip r:embed="rId3"/>
          <a:stretch/>
        </p:blipFill>
        <p:spPr bwMode="auto">
          <a:xfrm>
            <a:off x="228600" y="1466849"/>
            <a:ext cx="8374062" cy="414337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1744027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pic>
        <p:nvPicPr>
          <p:cNvPr id="1851475938" name="Content Placeholder 6"/>
          <p:cNvPicPr>
            <a:picLocks noChangeAspect="1" noGrp="1"/>
          </p:cNvPicPr>
          <p:nvPr>
            <p:ph type="obj"/>
          </p:nvPr>
        </p:nvPicPr>
        <p:blipFill rotWithShape="1">
          <a:blip r:embed="rId3"/>
          <a:stretch/>
        </p:blipFill>
        <p:spPr bwMode="auto">
          <a:xfrm>
            <a:off x="20637" y="1828800"/>
            <a:ext cx="8458200" cy="3221036"/>
          </a:xfrm>
          <a:prstGeom prst="rect">
            <a:avLst/>
          </a:prstGeom>
          <a:noFill/>
        </p:spPr>
      </p:pic>
      <p:sp>
        <p:nvSpPr>
          <p:cNvPr id="183481968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fld id="{D7E01130-044F-4930-9A27-C729C70D8524}" type="datetime1">
              <a:rPr sz="1200"/>
              <a:t>*</a:t>
            </a:fld>
            <a:endParaRPr/>
          </a:p>
        </p:txBody>
      </p:sp>
      <p:sp>
        <p:nvSpPr>
          <p:cNvPr id="735738123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ctr">
              <a:defRPr/>
            </a:pPr>
            <a:r>
              <a:rPr sz="1200"/>
              <a:t>Data Mining: Concepts and Techniques</a:t>
            </a:r>
            <a:endParaRPr/>
          </a:p>
        </p:txBody>
      </p:sp>
      <p:sp>
        <p:nvSpPr>
          <p:cNvPr id="760109017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lvl="0" algn="r"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595854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pic>
        <p:nvPicPr>
          <p:cNvPr id="58613161" name="Content Placeholder 6"/>
          <p:cNvPicPr>
            <a:picLocks noChangeAspect="1" noGrp="1"/>
          </p:cNvPicPr>
          <p:nvPr>
            <p:ph type="obj"/>
          </p:nvPr>
        </p:nvPicPr>
        <p:blipFill rotWithShape="1">
          <a:blip r:embed="rId3"/>
          <a:srcRect l="0" t="0" r="0" b="0"/>
          <a:stretch/>
        </p:blipFill>
        <p:spPr bwMode="auto">
          <a:xfrm>
            <a:off x="304800" y="533400"/>
            <a:ext cx="3810000" cy="5105400"/>
          </a:xfrm>
          <a:prstGeom prst="rect">
            <a:avLst/>
          </a:prstGeom>
          <a:noFill/>
        </p:spPr>
      </p:pic>
      <p:sp>
        <p:nvSpPr>
          <p:cNvPr id="299385235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48793100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1828873784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126298867" name="Picture 7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4191000" y="304800"/>
            <a:ext cx="4610100" cy="5410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537820" name="Title 1"/>
          <p:cNvSpPr>
            <a:spLocks noChangeShapeType="1" noGrp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pic>
        <p:nvPicPr>
          <p:cNvPr id="913908247" name="Content Placeholder 7"/>
          <p:cNvPicPr>
            <a:picLocks noChangeAspect="1" noGrp="1"/>
          </p:cNvPicPr>
          <p:nvPr>
            <p:ph type="obj"/>
          </p:nvPr>
        </p:nvPicPr>
        <p:blipFill rotWithShape="1">
          <a:blip r:embed="rId3"/>
          <a:srcRect l="0" t="0" r="0" b="0"/>
          <a:stretch/>
        </p:blipFill>
        <p:spPr bwMode="auto">
          <a:xfrm>
            <a:off x="838200" y="1401762"/>
            <a:ext cx="7391400" cy="5105400"/>
          </a:xfrm>
          <a:prstGeom prst="rect">
            <a:avLst/>
          </a:prstGeom>
          <a:noFill/>
        </p:spPr>
      </p:pic>
      <p:sp>
        <p:nvSpPr>
          <p:cNvPr id="370183469" name="Date Placeholder 3"/>
          <p:cNvSpPr txBox="1">
            <a:spLocks noChangeShapeType="1" noGrp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  <a:t>*</a:t>
            </a:fld>
            <a:endParaRPr/>
          </a:p>
        </p:txBody>
      </p:sp>
      <p:sp>
        <p:nvSpPr>
          <p:cNvPr id="195376636" name="Footer Placeholder 4"/>
          <p:cNvSpPr txBox="1">
            <a:spLocks noChangeShapeType="1" noGrp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/>
          </a:p>
        </p:txBody>
      </p:sp>
      <p:sp>
        <p:nvSpPr>
          <p:cNvPr id="229502997" name="Slide Number Placeholder 5"/>
          <p:cNvSpPr txBox="1">
            <a:spLocks noChangeShapeType="1" noGrp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  <a:t>*</a:t>
            </a:fld>
            <a:endParaRPr/>
          </a:p>
        </p:txBody>
      </p:sp>
      <p:pic>
        <p:nvPicPr>
          <p:cNvPr id="920079096" name="Picture 6"/>
          <p:cNvPicPr>
            <a:picLocks noChangeAspect="1" noGrp="1"/>
          </p:cNvPicPr>
          <p:nvPr/>
        </p:nvPicPr>
        <p:blipFill rotWithShape="1">
          <a:blip r:embed="rId4"/>
          <a:stretch/>
        </p:blipFill>
        <p:spPr bwMode="auto">
          <a:xfrm>
            <a:off x="457200" y="0"/>
            <a:ext cx="7772400" cy="13716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FF0000"/>
      </a:hlink>
      <a:folHlink>
        <a:srgbClr val="3333CC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>
    <a:extraClrScheme>
      <a:clrScheme name="Blends 1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/>
  <cp:revision>356</cp:revision>
  <dcterms:created xsi:type="dcterms:W3CDTF">1999-12-01T22:01:00Z</dcterms:created>
  <dcterms:modified xsi:type="dcterms:W3CDTF">2026-04-02T10:57:56Z</dcterms:modified>
</cp:coreProperties>
</file>