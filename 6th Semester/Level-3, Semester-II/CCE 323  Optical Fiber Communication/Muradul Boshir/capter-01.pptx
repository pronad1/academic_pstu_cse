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7010400" cy="92964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1322429" name="Rectangle 2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391227297" name="Rectangle 3"/>
          <p:cNvSpPr>
            <a:spLocks noChangeShapeType="1" noGrp="1"/>
          </p:cNvSpPr>
          <p:nvPr>
            <p:ph type="dt" idx="1"/>
          </p:nvPr>
        </p:nvSpPr>
        <p:spPr bwMode="auto">
          <a:xfrm>
            <a:off x="3971925" y="0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07161675" name="Rectangle 4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898893243" name="Rectangle 5"/>
          <p:cNvSpPr>
            <a:spLocks noChangeShapeType="1" noGrp="1"/>
          </p:cNvSpPr>
          <p:nvPr>
            <p:ph type="body" idx="3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text styles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Second level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Third level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Fourth level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8412495" name="Rectangle 6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>
              <a:defRPr/>
            </a:pPr>
            <a:endParaRPr sz="1400"/>
          </a:p>
        </p:txBody>
      </p:sp>
      <p:sp>
        <p:nvSpPr>
          <p:cNvPr id="1859913417" name="Rectangle 7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>
            <a:lvl1pPr marL="0" indent="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 defTabSz="931862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265453" name="Slide Image Placeholder 1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92505999" name="Notes Placeholder 2"/>
          <p:cNvSpPr>
            <a:spLocks noChangeShapeType="1" noGrp="1"/>
          </p:cNvSpPr>
          <p:nvPr>
            <p:ph type="body" idx="1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 anchor="t"/>
          <a:lstStyle/>
          <a:p>
            <a:pPr>
              <a:defRPr/>
            </a:pPr>
            <a:endParaRPr sz="1400"/>
          </a:p>
        </p:txBody>
      </p:sp>
      <p:sp>
        <p:nvSpPr>
          <p:cNvPr id="2018560783" name="Slide Number Placeholder 3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 lvl="0" algn="r" defTabSz="931862">
              <a:defRPr/>
            </a:pPr>
            <a:fld id="{D038279B-FC19-497E-A7D1-5ADD9CAF016F}" type="slidenum">
              <a:rPr lang="en-US" sz="1200">
                <a:latin typeface="Calibri"/>
                <a:ea typeface="Arial"/>
              </a:rPr>
              <a:t>*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007482" name="Rectangle 7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 lvl="0" algn="r" defTabSz="931862">
              <a:defRPr/>
            </a:pPr>
            <a:fld id="{D038279B-FC19-497E-A7D1-5ADD9CAF016F}" type="slidenum">
              <a:rPr lang="en-US" sz="1200"/>
              <a:t>*</a:t>
            </a:fld>
            <a:endParaRPr/>
          </a:p>
        </p:txBody>
      </p:sp>
      <p:sp>
        <p:nvSpPr>
          <p:cNvPr id="1761454959" name="Rectangle 2"/>
          <p:cNvSpPr>
            <a:spLocks noChangeShapeType="1" noGrp="1"/>
          </p:cNvSpPr>
          <p:nvPr>
            <p:ph type="sldImg" idx="0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98721631" name="Rectangle 3"/>
          <p:cNvSpPr>
            <a:spLocks noChangeShapeType="1" noGrp="1"/>
          </p:cNvSpPr>
          <p:nvPr>
            <p:ph type="body" idx="1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EC862B-16C4-5699-BAB7-01E4E1D3F2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54731-9421-18B5-2E83-F1A7A5E7F8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83B3AF-1A33-9C40-3EF9-19BDAC0B8F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B6146B-C2CB-0351-F16A-4DB58A3000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283C1F-8970-D88B-4BE6-1509B0172F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D9EC33-6DC5-1644-7DEE-266F6EA54FF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EBE03F-E751-95B3-1760-9581FE64821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FBD8BA-5DDD-243B-AA0A-40C65B415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E3706-1704-F65B-E02E-98CAE43A89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55D319-227A-6C7F-CDDB-FA2628C455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4F65BF-525B-5B1F-F377-AACA9249F7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16C691-67B8-E2A9-6903-B74317C7E6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D961A3-ECB2-54FB-D0C8-F0D1A13D77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77018-91BB-5904-C8B4-6688B77CC3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51D1A7-7C8A-AF2C-F729-BDF2409B2A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7C14B0-E283-9CCF-694F-9A1147318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3171F5-4359-9FE6-0AB0-49E90CF5B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ACBB91-41EA-8B01-E332-C7B6A80961F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C34224-5A5F-CDD8-94FC-7B1245FBB3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oleObject" Target="../embeddings/bin_HZAYzi"/><Relationship Id="rId4" Type="http://schemas.openxmlformats.org/officeDocument/2006/relationships/image" Target="../media/image3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186978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24571709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39964237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2043840677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1527405482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1_Blends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63479452" name="Group 2"/>
          <p:cNvGrpSpPr/>
          <p:nvPr/>
        </p:nvGrpSpPr>
        <p:grpSpPr bwMode="auto"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2057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64" name="Rectangle 4"/>
              <p:cNvSpPr>
                <a:spLocks noChangeShapeType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5" name="Rectangle 5"/>
              <p:cNvSpPr>
                <a:spLocks noChangeShapeType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grpSp>
          <p:nvGrpSpPr>
            <p:cNvPr id="2058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62" name="Rectangle 7"/>
              <p:cNvSpPr>
                <a:spLocks noChangeShapeType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3" name="Rectangle 8"/>
              <p:cNvSpPr>
                <a:spLocks noChangeShapeType="1"/>
              </p:cNvSpPr>
              <p:nvPr/>
            </p:nvSpPr>
            <p:spPr bwMode="auto">
              <a:xfrm>
                <a:off x="1249" y="2640"/>
                <a:ext cx="334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sp>
          <p:nvSpPr>
            <p:cNvPr id="2059" name="Rectangle 9"/>
            <p:cNvSpPr>
              <a:spLocks noChangeShapeType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0" name="Rectangle 10"/>
            <p:cNvSpPr>
              <a:spLocks noChangeShapeType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1" name="Rectangle 11"/>
            <p:cNvSpPr>
              <a:spLocks noChangeShapeType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sp>
        <p:nvSpPr>
          <p:cNvPr id="1450722575" name="Rectangle 11"/>
          <p:cNvSpPr>
            <a:spLocks noChangeShapeType="1" noGrp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*</a:t>
            </a:fld>
            <a:endParaRPr/>
          </a:p>
        </p:txBody>
      </p:sp>
      <p:sp>
        <p:nvSpPr>
          <p:cNvPr id="2142175513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8792578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82013831" name="Date Placeholder 14"/>
          <p:cNvSpPr>
            <a:spLocks noChangeShapeType="1" noGrp="1"/>
          </p:cNvSpPr>
          <p:nvPr>
            <p:ph type="dt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*</a:t>
            </a:r>
            <a:endParaRPr/>
          </a:p>
        </p:txBody>
      </p:sp>
      <p:sp>
        <p:nvSpPr>
          <p:cNvPr id="1117162558" name="Footer Placeholder 15"/>
          <p:cNvSpPr>
            <a:spLocks noChangeShapeType="1" noGrp="1"/>
          </p:cNvSpPr>
          <p:nvPr>
            <p:ph type="ft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Data Mining: Concepts and Techniques</a:t>
            </a:r>
            <a:endParaRPr/>
          </a:p>
        </p:txBody>
      </p:sp>
      <p:sp>
        <p:nvSpPr>
          <p:cNvPr id="929031851" name="Slide Number Placeholder 16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2_Blends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635702068" name="Object 23"/>
          <p:cNvGraphicFramePr>
            <a:graphicFrameLocks xmlns:a="http://schemas.openxmlformats.org/drawingml/2006/main" noChangeAspect="1"/>
          </p:cNvGraphicFramePr>
          <p:nvPr/>
        </p:nvGraphicFramePr>
        <p:xfrm>
          <a:off x="381000" y="1143000"/>
          <a:ext cx="8382000" cy="76200"/>
        </p:xfrm>
        <a:graphic>
          <a:graphicData uri="http://schemas.openxmlformats.org/presentationml/2006/ole">
            <p:oleObj name="oleObj" r:id="rId3" imgW="4708525" imgH="42545" progId="MS_ClipArt_Gallery.5">
              <p:embed/>
              <p:pic>
                <p:nvPicPr>
                  <p:cNvPr id="1635702068" name="Object 23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381000" y="1143000"/>
                    <a:ext cx="8382000" cy="76200"/>
                  </a:xfrm>
                  <a:prstGeom prst="rect">
                    <a:avLst/>
                  </a:prstGeom>
                  <a:noFill/>
                </p:spPr>
              </p:pic>
            </p:oleObj>
          </a:graphicData>
        </a:graphic>
      </p:graphicFrame>
      <p:grpSp>
        <p:nvGrpSpPr>
          <p:cNvPr id="719672325" name="Group 75"/>
          <p:cNvGrpSpPr/>
          <p:nvPr/>
        </p:nvGrpSpPr>
        <p:grpSpPr bwMode="auto">
          <a:xfrm>
            <a:off x="-3175" y="0"/>
            <a:ext cx="9147175" cy="6867524"/>
            <a:chOff x="-2" y="0"/>
            <a:chExt cx="5762" cy="4326"/>
          </a:xfrm>
        </p:grpSpPr>
        <p:grpSp>
          <p:nvGrpSpPr>
            <p:cNvPr id="3083" name="Group 71"/>
            <p:cNvGrpSpPr/>
            <p:nvPr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3086" name="Rectangle 3"/>
              <p:cNvSpPr>
                <a:spLocks noChangeShapeType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7" name="Rectangle 4"/>
              <p:cNvSpPr>
                <a:spLocks noChangeShapeType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8" name="Rectangle 5"/>
              <p:cNvSpPr>
                <a:spLocks noChangeShapeType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9" name="Rectangle 6"/>
              <p:cNvSpPr>
                <a:spLocks noChangeShapeType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0" name="Rectangle 7"/>
              <p:cNvSpPr>
                <a:spLocks noChangeShapeType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1" name="Rectangle 8"/>
              <p:cNvSpPr>
                <a:spLocks noChangeShapeType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2" name="Rectangle 9"/>
              <p:cNvSpPr>
                <a:spLocks noChangeShapeType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3" name="Rectangle 10"/>
              <p:cNvSpPr>
                <a:spLocks noChangeShapeType="1"/>
              </p:cNvSpPr>
              <p:nvPr/>
            </p:nvSpPr>
            <p:spPr bwMode="auto">
              <a:xfrm>
                <a:off x="669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4" name="Rectangle 11"/>
              <p:cNvSpPr>
                <a:spLocks noChangeShapeType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5" name="Rectangle 12"/>
              <p:cNvSpPr>
                <a:spLocks noChangeShapeType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6" name="Rectangle 13"/>
              <p:cNvSpPr>
                <a:spLocks noChangeShapeType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7" name="Rectangle 14"/>
              <p:cNvSpPr>
                <a:spLocks noChangeShapeType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8" name="Rectangle 15"/>
              <p:cNvSpPr>
                <a:spLocks noChangeShapeType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9" name="Rectangle 16"/>
              <p:cNvSpPr>
                <a:spLocks noChangeShapeType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0" name="Rectangle 17"/>
              <p:cNvSpPr>
                <a:spLocks noChangeShapeType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1" name="Rectangle 18"/>
              <p:cNvSpPr>
                <a:spLocks noChangeShapeType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2" name="Rectangle 19"/>
              <p:cNvSpPr>
                <a:spLocks noChangeShapeType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3" name="Rectangle 20"/>
              <p:cNvSpPr>
                <a:spLocks noChangeShapeType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4" name="Rectangle 21"/>
              <p:cNvSpPr>
                <a:spLocks noChangeShapeType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5" name="Rectangle 22"/>
              <p:cNvSpPr>
                <a:spLocks noChangeShapeType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6" name="Rectangle 23"/>
              <p:cNvSpPr>
                <a:spLocks noChangeShapeType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7" name="Rectangle 24"/>
              <p:cNvSpPr>
                <a:spLocks noChangeShapeType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8" name="Rectangle 25"/>
              <p:cNvSpPr>
                <a:spLocks noChangeShapeType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9" name="Rectangle 26"/>
              <p:cNvSpPr>
                <a:spLocks noChangeShapeType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0" name="Rectangle 27"/>
              <p:cNvSpPr>
                <a:spLocks noChangeShapeType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1" name="Rectangle 28"/>
              <p:cNvSpPr>
                <a:spLocks noChangeShapeType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2" name="Rectangle 29"/>
              <p:cNvSpPr>
                <a:spLocks noChangeShapeType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3" name="Rectangle 30"/>
              <p:cNvSpPr>
                <a:spLocks noChangeShapeType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4" name="Rectangle 31"/>
              <p:cNvSpPr>
                <a:spLocks noChangeShapeType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5" name="Rectangle 32"/>
              <p:cNvSpPr>
                <a:spLocks noChangeShapeType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6" name="Rectangle 33"/>
              <p:cNvSpPr>
                <a:spLocks noChangeShapeType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7" name="Rectangle 34"/>
              <p:cNvSpPr>
                <a:spLocks noChangeShapeType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8" name="Rectangle 35"/>
              <p:cNvSpPr>
                <a:spLocks noChangeShapeType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9" name="Rectangle 36"/>
              <p:cNvSpPr>
                <a:spLocks noChangeShapeType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0" name="Rectangle 37"/>
              <p:cNvSpPr>
                <a:spLocks noChangeShapeType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1" name="Rectangle 38"/>
              <p:cNvSpPr>
                <a:spLocks noChangeShapeType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2" name="Rectangle 39"/>
              <p:cNvSpPr>
                <a:spLocks noChangeShapeType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3" name="Rectangle 40"/>
              <p:cNvSpPr>
                <a:spLocks noChangeShapeType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4" name="Rectangle 41"/>
              <p:cNvSpPr>
                <a:spLocks noChangeShapeType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5" name="Rectangle 42"/>
              <p:cNvSpPr>
                <a:spLocks noChangeShapeType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6" name="Rectangle 43"/>
              <p:cNvSpPr>
                <a:spLocks noChangeShapeType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7" name="Rectangle 44"/>
              <p:cNvSpPr>
                <a:spLocks noChangeShapeType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8" name="Rectangle 45"/>
              <p:cNvSpPr>
                <a:spLocks noChangeShapeType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9" name="Rectangle 46"/>
              <p:cNvSpPr>
                <a:spLocks noChangeShapeType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0" name="Rectangle 47"/>
              <p:cNvSpPr>
                <a:spLocks noChangeShapeType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1" name="Rectangle 48"/>
              <p:cNvSpPr>
                <a:spLocks noChangeShapeType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2" name="Rectangle 49"/>
              <p:cNvSpPr>
                <a:spLocks noChangeShapeType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3" name="Rectangle 50"/>
              <p:cNvSpPr>
                <a:spLocks noChangeShapeType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4" name="Rectangle 51"/>
              <p:cNvSpPr>
                <a:spLocks noChangeShapeType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5" name="Rectangle 52"/>
              <p:cNvSpPr>
                <a:spLocks noChangeShapeType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6" name="Rectangle 53"/>
              <p:cNvSpPr>
                <a:spLocks noChangeShapeType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7" name="Rectangle 54"/>
              <p:cNvSpPr>
                <a:spLocks noChangeShapeType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8" name="Rectangle 55"/>
              <p:cNvSpPr>
                <a:spLocks noChangeShapeType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9" name="Rectangle 56"/>
              <p:cNvSpPr>
                <a:spLocks noChangeShapeType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0" name="Rectangle 57"/>
              <p:cNvSpPr>
                <a:spLocks noChangeShapeType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1" name="Rectangle 58"/>
              <p:cNvSpPr>
                <a:spLocks noChangeShapeType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2" name="Rectangle 59"/>
              <p:cNvSpPr>
                <a:spLocks noChangeShapeType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3" name="Rectangle 60"/>
              <p:cNvSpPr>
                <a:spLocks noChangeShapeType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4" name="Rectangle 61"/>
              <p:cNvSpPr>
                <a:spLocks noChangeShapeType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5" name="Rectangle 62"/>
              <p:cNvSpPr>
                <a:spLocks noChangeShapeType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sp>
          <p:nvSpPr>
            <p:cNvPr id="3084" name="Rectangle 63"/>
            <p:cNvSpPr>
              <a:spLocks noChangeShapeType="1"/>
            </p:cNvSpPr>
            <p:nvPr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49803"/>
              </a:schemeClr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3085" name="Rectangle 64"/>
            <p:cNvSpPr>
              <a:spLocks noChangeShapeType="1"/>
            </p:cNvSpPr>
            <p:nvPr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49803"/>
              </a:schemeClr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pic>
        <p:nvPicPr>
          <p:cNvPr id="396595763" name="Picture 76" descr="buetmono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685800" cy="665162"/>
          </a:xfrm>
          <a:prstGeom prst="rect">
            <a:avLst/>
          </a:prstGeom>
          <a:noFill/>
        </p:spPr>
      </p:pic>
      <p:sp>
        <p:nvSpPr>
          <p:cNvPr id="1647730447" name="Rectangle 77"/>
          <p:cNvSpPr>
            <a:spLocks noChangeShapeType="1" noGrp="1"/>
          </p:cNvSpPr>
          <p:nvPr/>
        </p:nvSpPr>
        <p:spPr bwMode="auto">
          <a:xfrm>
            <a:off x="3505199" y="2362199"/>
            <a:ext cx="4892675" cy="76200"/>
          </a:xfrm>
          <a:prstGeom prst="rect">
            <a:avLst/>
          </a:prstGeom>
          <a:solidFill>
            <a:schemeClr val="hlink">
              <a:alpha val="49803"/>
            </a:schemeClr>
          </a:solidFill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302673728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66500605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7180827" name="Date Placeholder 68"/>
          <p:cNvSpPr>
            <a:spLocks noChangeShapeType="1" noGrp="1"/>
          </p:cNvSpPr>
          <p:nvPr>
            <p:ph type="dt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85229650" name="Footer Placeholder 69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327092332" name="Slide Number Placeholder 7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18182" name="Shape 2051"/>
          <p:cNvSpPr>
            <a:spLocks noChangeShapeType="1" noGrp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oleObject" Target="../embeddings/bin_xdgLlW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977649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43984886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69455382" name="Rectangle 11"/>
          <p:cNvSpPr>
            <a:spLocks noChangeShapeType="1" noGrp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729104400" name="Rectangle 12"/>
          <p:cNvSpPr>
            <a:spLocks noChangeShapeType="1" noGrp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1106611713" name="Rectangle 13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graphicFrame>
        <p:nvGraphicFramePr>
          <p:cNvPr id="1705952201" name="Object 23"/>
          <p:cNvGraphicFramePr>
            <a:graphicFrameLocks xmlns:a="http://schemas.openxmlformats.org/drawingml/2006/main" noChangeAspect="1"/>
          </p:cNvGraphicFramePr>
          <p:nvPr/>
        </p:nvGraphicFramePr>
        <p:xfrm>
          <a:off x="381000" y="1143000"/>
          <a:ext cx="8382000" cy="76200"/>
        </p:xfrm>
        <a:graphic>
          <a:graphicData uri="http://schemas.openxmlformats.org/presentationml/2006/ole">
            <p:oleObj name="oleObj" r:id="rId7" imgW="4708525" imgH="42545" progId="MS_ClipArt_Gallery.5">
              <p:embed/>
              <p:pic>
                <p:nvPicPr>
                  <p:cNvPr id="1705952201" name="Object 23"/>
                  <p:cNvPicPr/>
                  <p:nvPr/>
                </p:nvPicPr>
                <p:blipFill rotWithShape="1">
                  <a:blip r:embed="rId6"/>
                  <a:stretch/>
                </p:blipFill>
                <p:spPr bwMode="auto">
                  <a:xfrm>
                    <a:off x="381000" y="1143000"/>
                    <a:ext cx="8382000" cy="76200"/>
                  </a:xfrm>
                  <a:prstGeom prst="rect">
                    <a:avLst/>
                  </a:prstGeom>
                  <a:noFill/>
                </p:spPr>
              </p:pic>
            </p:oleObj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60000"/>
        <a:buFont typeface="Wingdings"/>
        <a:buChar char="n"/>
        <a:defRPr lang="en-US" sz="2800" b="0" i="0">
          <a:solidFill>
            <a:schemeClr val="dk1"/>
          </a:solidFill>
          <a:latin typeface="Tahoma"/>
        </a:defRPr>
      </a:lvl1pPr>
      <a:lvl2pPr marL="742950" indent="4572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0000"/>
        </a:buClr>
        <a:buSzPct val="55000"/>
        <a:buFont typeface="Wingdings"/>
        <a:buChar char="n"/>
        <a:defRPr lang="en-US" sz="2400" b="0" i="0">
          <a:solidFill>
            <a:schemeClr val="dk1"/>
          </a:solidFill>
          <a:latin typeface="Tahoma"/>
        </a:defRPr>
      </a:lvl2pPr>
      <a:lvl3pPr marL="1143000" indent="9144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50000"/>
        <a:buFont typeface="Wingdings"/>
        <a:buChar char="n"/>
        <a:defRPr lang="en-US" sz="2400" b="0" i="0">
          <a:solidFill>
            <a:schemeClr val="dk1"/>
          </a:solidFill>
          <a:latin typeface="Tahoma"/>
        </a:defRPr>
      </a:lvl3pPr>
      <a:lvl4pPr marL="1600200" indent="13716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CF01"/>
        </a:buClr>
        <a:buSzPct val="55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4pPr>
      <a:lvl5pPr marL="2057400" indent="18288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00E4A8"/>
        </a:buClr>
        <a:buSzPct val="50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470318" name="Rectangle 3"/>
          <p:cNvSpPr>
            <a:spLocks noChangeShapeType="1" noGrp="1"/>
          </p:cNvSpPr>
          <p:nvPr>
            <p:ph type="subTitle"/>
          </p:nvPr>
        </p:nvSpPr>
        <p:spPr bwMode="auto">
          <a:xfrm>
            <a:off x="685800" y="4962525"/>
            <a:ext cx="8382000" cy="11334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Institute of Information and Communication Technology (IICT)</a:t>
            </a:r>
            <a:endParaRPr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Bangladesh University of Engineering and Technology (BUET)</a:t>
            </a:r>
            <a:endParaRPr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Dhaka 1000, Bangladesh</a:t>
            </a:r>
            <a:endParaRPr/>
          </a:p>
        </p:txBody>
      </p:sp>
      <p:pic>
        <p:nvPicPr>
          <p:cNvPr id="1722452100" name="Picture 3" descr="Water lilies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9144000" cy="6911975"/>
          </a:xfrm>
          <a:prstGeom prst="rect">
            <a:avLst/>
          </a:prstGeom>
          <a:noFill/>
        </p:spPr>
      </p:pic>
      <p:sp>
        <p:nvSpPr>
          <p:cNvPr id="1124067329" name="Text Box 4"/>
          <p:cNvSpPr txBox="1">
            <a:spLocks noChangeShapeType="1" noGrp="1"/>
          </p:cNvSpPr>
          <p:nvPr/>
        </p:nvSpPr>
        <p:spPr bwMode="auto">
          <a:xfrm>
            <a:off x="76200" y="0"/>
            <a:ext cx="8991600" cy="56626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6000">
                <a:solidFill>
                  <a:srgbClr val="FF0000"/>
                </a:solidFill>
                <a:latin typeface="Arial"/>
                <a:ea typeface="Arial"/>
              </a:rPr>
              <a:t>Warmest Regards 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6000">
                <a:solidFill>
                  <a:srgbClr val="FF0000"/>
                </a:solidFill>
                <a:latin typeface="Arial"/>
                <a:ea typeface="Arial"/>
              </a:rPr>
              <a:t>from 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4400" b="1" i="0" u="none">
                <a:solidFill>
                  <a:srgbClr val="FF0000"/>
                </a:solidFill>
                <a:latin typeface="Arial"/>
                <a:ea typeface="Arial"/>
              </a:rPr>
              <a:t>Golam Md. Muradul Bashir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4400" b="1" i="0" u="none">
                <a:solidFill>
                  <a:srgbClr val="FF0000"/>
                </a:solidFill>
                <a:latin typeface="Arial"/>
                <a:ea typeface="Arial"/>
              </a:rPr>
              <a:t>Professor &amp; Chairman</a:t>
            </a:r>
            <a:endParaRPr/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200" b="1" i="0" u="none">
                <a:solidFill>
                  <a:srgbClr val="FF0000"/>
                </a:solidFill>
                <a:latin typeface="Arial"/>
                <a:ea typeface="Arial"/>
              </a:rPr>
              <a:t>Dept. of Computer &amp; Communication Engineering</a:t>
            </a:r>
            <a:endParaRPr/>
          </a:p>
        </p:txBody>
      </p:sp>
      <p:sp>
        <p:nvSpPr>
          <p:cNvPr id="1415926385" name="Slide Number Placeholder 4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rgbClr val="898989"/>
                </a:solidFill>
                <a:latin typeface="Calibri"/>
                <a:ea typeface="Arial"/>
              </a:rPr>
              <a:t>*</a:t>
            </a:fld>
            <a:endParaRPr/>
          </a:p>
        </p:txBody>
      </p:sp>
      <p:sp>
        <p:nvSpPr>
          <p:cNvPr id="1539280093" name="Rectangle 1"/>
          <p:cNvSpPr>
            <a:spLocks noChangeShapeType="1" noGrp="1"/>
          </p:cNvSpPr>
          <p:nvPr/>
        </p:nvSpPr>
        <p:spPr bwMode="auto">
          <a:xfrm>
            <a:off x="0" y="5611812"/>
            <a:ext cx="9144000" cy="12001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600" b="1" i="0" u="none">
                <a:solidFill>
                  <a:srgbClr val="FF0000"/>
                </a:solidFill>
              </a:rPr>
              <a:t>Patuakhali Science and Technology University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50" advClick="1">
        <p:split orient="vert" dir="out"/>
      </p:transition>
    </mc:Choice>
    <mc:Fallback>
      <p:transition spd="med" advClick="1">
        <p:split orient="vert" dir="ou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766867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2032351746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1918659596" name="Rectangle 2"/>
          <p:cNvSpPr>
            <a:spLocks noChangeShapeType="1" noGrp="1"/>
          </p:cNvSpPr>
          <p:nvPr>
            <p:ph type="title"/>
          </p:nvPr>
        </p:nvSpPr>
        <p:spPr bwMode="auto">
          <a:xfrm>
            <a:off x="457200" y="304800"/>
            <a:ext cx="8077200" cy="27432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4800"/>
              <a:t>Optical Fiber</a:t>
            </a:r>
            <a:br>
              <a:rPr lang="en-US" sz="4800"/>
            </a:br>
            <a:r>
              <a:rPr lang="en-US" sz="4800"/>
              <a:t>Communications</a:t>
            </a:r>
            <a:br>
              <a:rPr lang="en-US" sz="4800"/>
            </a:br>
            <a:r>
              <a:rPr lang="en-US" sz="4400"/>
              <a:t> </a:t>
            </a:r>
            <a:r>
              <a:rPr lang="en-US" sz="2400">
                <a:latin typeface="Berlin Sans FB Demi"/>
              </a:rPr>
              <a:t>— Chapter 1 —</a:t>
            </a:r>
            <a:br>
              <a:rPr lang="en-US" sz="2400">
                <a:latin typeface="Berlin Sans FB Demi"/>
              </a:rPr>
            </a:br>
            <a:r>
              <a:rPr lang="en-US" sz="2400">
                <a:latin typeface="Berlin Sans FB Demi"/>
              </a:rPr>
              <a:t>— Introduction —</a:t>
            </a:r>
            <a:endParaRPr/>
          </a:p>
        </p:txBody>
      </p:sp>
      <p:sp>
        <p:nvSpPr>
          <p:cNvPr id="1126996948" name="Rectangle 3"/>
          <p:cNvSpPr>
            <a:spLocks noChangeShapeType="1" noGrp="1"/>
          </p:cNvSpPr>
          <p:nvPr>
            <p:ph type="body"/>
          </p:nvPr>
        </p:nvSpPr>
        <p:spPr bwMode="auto">
          <a:xfrm>
            <a:off x="304800" y="4114800"/>
            <a:ext cx="8305800" cy="2438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269567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Introduction</a:t>
            </a:r>
            <a:endParaRPr/>
          </a:p>
        </p:txBody>
      </p:sp>
      <p:sp>
        <p:nvSpPr>
          <p:cNvPr id="792943716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447799"/>
            <a:ext cx="8839981" cy="38469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Communication may be broadly defined as the </a:t>
            </a:r>
            <a:br>
              <a:rPr lang="en-US"/>
            </a:br>
            <a:r>
              <a:rPr lang="en-US">
                <a:solidFill>
                  <a:srgbClr val="FF0000"/>
                </a:solidFill>
              </a:rPr>
              <a:t>transfer of information from one point to another</a:t>
            </a:r>
            <a:r>
              <a:rPr lang="en-US"/>
              <a:t>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When the information is to be conveyed over any </a:t>
            </a:r>
            <a:br>
              <a:rPr lang="en-US"/>
            </a:br>
            <a:r>
              <a:rPr lang="en-US"/>
              <a:t>distance a </a:t>
            </a:r>
            <a:r>
              <a:rPr lang="en-US">
                <a:solidFill>
                  <a:srgbClr val="FF0000"/>
                </a:solidFill>
              </a:rPr>
              <a:t>communication system is usually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required.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Information transfer is frequently achieved by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superimposing or modulating the information onto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an electromagnetic wave </a:t>
            </a:r>
            <a:r>
              <a:rPr lang="en-US"/>
              <a:t>which acts as a carrier for</a:t>
            </a:r>
            <a:br>
              <a:rPr lang="en-US"/>
            </a:br>
            <a:r>
              <a:rPr lang="en-US"/>
              <a:t> the information signal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Sophisticated techniques have been developed for </a:t>
            </a:r>
            <a:br>
              <a:rPr lang="en-US"/>
            </a:br>
            <a:r>
              <a:rPr lang="en-US"/>
              <a:t>this process</a:t>
            </a:r>
            <a:endParaRPr/>
          </a:p>
        </p:txBody>
      </p:sp>
      <p:sp>
        <p:nvSpPr>
          <p:cNvPr id="972451927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886515169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43716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2943716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2943716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43716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2943716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2943716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43716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2943716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2943716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43716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2943716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2943716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754185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/>
          </a:p>
        </p:txBody>
      </p:sp>
      <p:sp>
        <p:nvSpPr>
          <p:cNvPr id="1754215046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447799"/>
            <a:ext cx="8490462" cy="335925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As early as 1880 </a:t>
            </a:r>
            <a:r>
              <a:rPr>
                <a:solidFill>
                  <a:srgbClr val="FF0000"/>
                </a:solidFill>
              </a:rPr>
              <a:t>Alexander Graham Bell reported</a:t>
            </a:r>
            <a:br>
              <a:rPr>
                <a:solidFill>
                  <a:srgbClr val="FF0000"/>
                </a:solidFill>
              </a:rPr>
            </a:br>
            <a:r>
              <a:rPr>
                <a:solidFill>
                  <a:srgbClr val="FF0000"/>
                </a:solidFill>
              </a:rPr>
              <a:t> the transmission of speech using a light beam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Although some investigation of optical</a:t>
            </a:r>
            <a:br>
              <a:rPr/>
            </a:br>
            <a:r>
              <a:rPr/>
              <a:t> communication continued in </a:t>
            </a:r>
            <a:r>
              <a:rPr>
                <a:solidFill>
                  <a:srgbClr val="FF0000"/>
                </a:solidFill>
              </a:rPr>
              <a:t>the early part of the</a:t>
            </a:r>
            <a:br>
              <a:rPr>
                <a:solidFill>
                  <a:srgbClr val="FF0000"/>
                </a:solidFill>
              </a:rPr>
            </a:br>
            <a:r>
              <a:rPr>
                <a:solidFill>
                  <a:srgbClr val="FF0000"/>
                </a:solidFill>
              </a:rPr>
              <a:t> twentieth century its use was limited to mobile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This was due to both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the </a:t>
            </a:r>
            <a:r>
              <a:rPr b="0" i="0" u="none">
                <a:solidFill>
                  <a:srgbClr val="FF0000"/>
                </a:solidFill>
              </a:rPr>
              <a:t>lack of suitable light sources </a:t>
            </a:r>
            <a:r>
              <a:rPr b="0" i="0" u="none"/>
              <a:t>and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Severely affected by disturbances such as </a:t>
            </a:r>
            <a:r>
              <a:rPr b="0" i="0" u="none">
                <a:solidFill>
                  <a:srgbClr val="FF0000"/>
                </a:solidFill>
              </a:rPr>
              <a:t>rain, snow, </a:t>
            </a:r>
            <a:br>
              <a:rPr b="0" i="0" u="none">
                <a:solidFill>
                  <a:srgbClr val="FF0000"/>
                </a:solidFill>
              </a:rPr>
            </a:br>
            <a:r>
              <a:rPr b="0" i="0" u="none">
                <a:solidFill>
                  <a:srgbClr val="FF0000"/>
                </a:solidFill>
              </a:rPr>
              <a:t>fog, dust and atmospheric turbulence </a:t>
            </a:r>
            <a:r>
              <a:rPr b="0" i="0" u="none"/>
              <a:t>(disorder).</a:t>
            </a:r>
            <a:endParaRPr/>
          </a:p>
        </p:txBody>
      </p:sp>
      <p:sp>
        <p:nvSpPr>
          <p:cNvPr id="173163226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566320938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215046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54215046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54215046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215046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54215046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54215046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215046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54215046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54215046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215046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54215046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54215046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215046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54215046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54215046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245818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/>
          </a:p>
        </p:txBody>
      </p:sp>
      <p:sp>
        <p:nvSpPr>
          <p:cNvPr id="1849243335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447799"/>
            <a:ext cx="8442885" cy="350555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A renewed interest in optical communication was </a:t>
            </a:r>
            <a:br>
              <a:rPr lang="en-US"/>
            </a:br>
            <a:r>
              <a:rPr lang="en-US"/>
              <a:t>stimulated in the </a:t>
            </a:r>
            <a:r>
              <a:rPr lang="en-US">
                <a:solidFill>
                  <a:srgbClr val="FF0000"/>
                </a:solidFill>
              </a:rPr>
              <a:t>early 1960s with the invention of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the laser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This device provided a powerful </a:t>
            </a:r>
            <a:r>
              <a:rPr lang="en-US">
                <a:solidFill>
                  <a:srgbClr val="FF0000"/>
                </a:solidFill>
              </a:rPr>
              <a:t>coherent light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source, together with the possibility of modulation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at high frequency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use of the laser for free space optical </a:t>
            </a:r>
            <a:br>
              <a:rPr lang="en-US"/>
            </a:br>
            <a:r>
              <a:rPr lang="en-US"/>
              <a:t>communication proved somewhat limited</a:t>
            </a:r>
            <a:endParaRPr/>
          </a:p>
        </p:txBody>
      </p:sp>
      <p:sp>
        <p:nvSpPr>
          <p:cNvPr id="1274065313" name="Date Placeholder 3"/>
          <p:cNvSpPr txBox="1">
            <a:spLocks noChangeShapeType="1"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2170752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43335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9243335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9243335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43335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9243335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9243335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243335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9243335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9243335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2670379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/>
          </a:p>
        </p:txBody>
      </p:sp>
      <p:sp>
        <p:nvSpPr>
          <p:cNvPr id="1630473547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447799"/>
            <a:ext cx="8902140" cy="179867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proposals for optical communication via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dielectric waveguides </a:t>
            </a:r>
            <a:r>
              <a:rPr lang="en-US"/>
              <a:t>or optical fibers fabricated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from glass to avoid degradation of the optical signal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by the atmosphere were made almost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simultaneously in </a:t>
            </a:r>
            <a:r>
              <a:rPr lang="en-US">
                <a:solidFill>
                  <a:srgbClr val="FF0000"/>
                </a:solidFill>
              </a:rPr>
              <a:t>1966 by Kao and Hockham</a:t>
            </a:r>
            <a:endParaRPr/>
          </a:p>
        </p:txBody>
      </p:sp>
      <p:sp>
        <p:nvSpPr>
          <p:cNvPr id="154347391" name="Date Placeholder 3"/>
          <p:cNvSpPr txBox="1">
            <a:spLocks noChangeShapeType="1"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443776496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473547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0473547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0473547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47708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/>
          </a:p>
        </p:txBody>
      </p:sp>
      <p:sp>
        <p:nvSpPr>
          <p:cNvPr id="2133371631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447799"/>
            <a:ext cx="8323077" cy="384693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An optical fiber communication system is similar</a:t>
            </a:r>
            <a:br>
              <a:rPr lang="en-US"/>
            </a:br>
            <a:r>
              <a:rPr lang="en-US"/>
              <a:t> in basic concept to any type of communication </a:t>
            </a:r>
            <a:br>
              <a:rPr lang="en-US"/>
            </a:br>
            <a:r>
              <a:rPr lang="en-US"/>
              <a:t>system.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In electrical communications the information</a:t>
            </a:r>
            <a:br>
              <a:rPr lang="en-US"/>
            </a:br>
            <a:r>
              <a:rPr lang="en-US"/>
              <a:t> source provides an electrical signal, usually </a:t>
            </a:r>
            <a:br>
              <a:rPr lang="en-US"/>
            </a:br>
            <a:r>
              <a:rPr lang="en-US"/>
              <a:t>derived from a message signal which is not </a:t>
            </a:r>
            <a:br>
              <a:rPr lang="en-US"/>
            </a:br>
            <a:r>
              <a:rPr lang="en-US"/>
              <a:t>electrical </a:t>
            </a:r>
            <a:r>
              <a:rPr lang="en-US">
                <a:solidFill>
                  <a:srgbClr val="FF0000"/>
                </a:solidFill>
              </a:rPr>
              <a:t>(e.g. sound), </a:t>
            </a:r>
            <a:r>
              <a:rPr lang="en-US"/>
              <a:t>to a transmitter comprising </a:t>
            </a:r>
            <a:br>
              <a:rPr lang="en-US"/>
            </a:br>
            <a:r>
              <a:rPr lang="en-US"/>
              <a:t>electrical and electronic components which </a:t>
            </a:r>
            <a:br>
              <a:rPr lang="en-US"/>
            </a:br>
            <a:r>
              <a:rPr lang="en-US"/>
              <a:t>converts the </a:t>
            </a:r>
            <a:r>
              <a:rPr lang="en-US">
                <a:solidFill>
                  <a:srgbClr val="FF0000"/>
                </a:solidFill>
              </a:rPr>
              <a:t>signal into a suitable form for </a:t>
            </a:r>
            <a:br>
              <a:rPr lang="en-US">
                <a:solidFill>
                  <a:srgbClr val="FF0000"/>
                </a:solidFill>
              </a:rPr>
            </a:br>
            <a:r>
              <a:rPr lang="en-US">
                <a:solidFill>
                  <a:srgbClr val="FF0000"/>
                </a:solidFill>
              </a:rPr>
              <a:t>propagation over the transmission medium</a:t>
            </a:r>
            <a:r>
              <a:rPr lang="en-US"/>
              <a:t>.</a:t>
            </a:r>
            <a:endParaRPr/>
          </a:p>
        </p:txBody>
      </p:sp>
      <p:sp>
        <p:nvSpPr>
          <p:cNvPr id="1434835726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37746289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371631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33371631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33371631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3371631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33371631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33371631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663687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/>
          </a:p>
        </p:txBody>
      </p:sp>
      <p:sp>
        <p:nvSpPr>
          <p:cNvPr id="206697379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447799"/>
            <a:ext cx="9009617" cy="40907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This is often achieved by modulating a carrier, </a:t>
            </a:r>
            <a:endParaRPr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/>
              <a:t>which may be an electromagnetic wave.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The transmission medium can consist of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a pair of wires, 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a coaxial cable or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a radio link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0" u="none"/>
              <a:t>In any transmission medium the signal is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attenuated, or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suffers loss, and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is subject to </a:t>
            </a:r>
            <a:r>
              <a:rPr b="0" i="0" u="none">
                <a:solidFill>
                  <a:srgbClr val="FF0000"/>
                </a:solidFill>
              </a:rPr>
              <a:t>degradations due to contamination (pollution) </a:t>
            </a:r>
            <a:endParaRPr b="0" i="0" u="none">
              <a:solidFill>
                <a:srgbClr val="FF0000"/>
              </a:solidFill>
            </a:endParaRPr>
          </a:p>
          <a:p>
            <a:pPr marL="457200" lvl="1" indent="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None/>
              <a:defRPr/>
            </a:pPr>
            <a:r>
              <a:rPr b="0" i="0" u="none">
                <a:solidFill>
                  <a:srgbClr val="FF0000"/>
                </a:solidFill>
              </a:rPr>
              <a:t>by random signals and noise</a:t>
            </a:r>
            <a:r>
              <a:rPr b="0" i="0" u="none"/>
              <a:t>, as well as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possible distortions imposed by mechanisms within</a:t>
            </a:r>
            <a:endParaRPr b="0" i="0" u="none"/>
          </a:p>
          <a:p>
            <a:pPr marL="457200" lvl="1" indent="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None/>
              <a:defRPr/>
            </a:pPr>
            <a:r>
              <a:rPr b="0" i="0" u="none"/>
              <a:t> the medium itself</a:t>
            </a:r>
            <a:endParaRPr b="0" i="0" u="none"/>
          </a:p>
        </p:txBody>
      </p:sp>
      <p:sp>
        <p:nvSpPr>
          <p:cNvPr id="1798083073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605466893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697379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697379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697379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697379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6697379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6697379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6697379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6697379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6697379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6697379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6697379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6697379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6697379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6697379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6697379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6697379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6697379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6697379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97379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6697379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6697379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618666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/>
          </a:p>
        </p:txBody>
      </p:sp>
      <p:sp>
        <p:nvSpPr>
          <p:cNvPr id="83428056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447799"/>
            <a:ext cx="8790325" cy="370063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in any communication system there is a maximum </a:t>
            </a:r>
            <a:endParaRPr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/>
              <a:t>permitted distance between the transmitter and the</a:t>
            </a:r>
            <a:endParaRPr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/>
              <a:t>receiver </a:t>
            </a:r>
            <a:r>
              <a:rPr>
                <a:solidFill>
                  <a:srgbClr val="FF0000"/>
                </a:solidFill>
              </a:rPr>
              <a:t>beyond which the system effectively ceases </a:t>
            </a:r>
            <a:endParaRPr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>
                <a:solidFill>
                  <a:srgbClr val="FF0000"/>
                </a:solidFill>
              </a:rPr>
              <a:t>(ends) to give intelligible communication</a:t>
            </a:r>
            <a:endParaRPr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/>
              <a:t>For long haul applications these factors necessitate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the installation of repeaters or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line amplifiers at intervals,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0" u="none"/>
              <a:t>both to remove signal </a:t>
            </a:r>
            <a:r>
              <a:rPr b="0" i="0" u="none">
                <a:solidFill>
                  <a:srgbClr val="FF0000"/>
                </a:solidFill>
              </a:rPr>
              <a:t>distortion and to increase </a:t>
            </a:r>
            <a:endParaRPr b="0" i="0" u="none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b="0" i="0" u="none">
                <a:solidFill>
                  <a:srgbClr val="FF0000"/>
                </a:solidFill>
              </a:rPr>
              <a:t>signal level before transmission is continued down </a:t>
            </a:r>
            <a:endParaRPr b="0" i="0" u="none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b="0" i="0" u="none">
                <a:solidFill>
                  <a:srgbClr val="FF0000"/>
                </a:solidFill>
              </a:rPr>
              <a:t>the link</a:t>
            </a:r>
            <a:endParaRPr/>
          </a:p>
        </p:txBody>
      </p:sp>
      <p:sp>
        <p:nvSpPr>
          <p:cNvPr id="1975900063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768038150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28056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428056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428056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28056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428056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3428056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28056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428056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428056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28056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3428056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3428056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28056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3428056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3428056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433752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228600" y="228600"/>
            <a:ext cx="86106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800"/>
              <a:t>General  communication system &amp; optical fiber</a:t>
            </a:r>
            <a:br>
              <a:rPr lang="en-US" sz="2800"/>
            </a:br>
            <a:r>
              <a:rPr lang="en-US" sz="2800"/>
              <a:t>communication system</a:t>
            </a:r>
            <a:endParaRPr/>
          </a:p>
        </p:txBody>
      </p:sp>
      <p:sp>
        <p:nvSpPr>
          <p:cNvPr id="474163325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201473063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859084527" name="Content Placeholder 6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pic>
        <p:nvPicPr>
          <p:cNvPr id="1227493027" name="Picture 3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152400" y="1509712"/>
            <a:ext cx="8686800" cy="511968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539548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br>
              <a:rPr lang="en-US" b="0" i="0" u="none"/>
            </a:br>
            <a:br>
              <a:rPr lang="en-US" b="0" i="0" u="none"/>
            </a:br>
            <a:br>
              <a:rPr lang="en-US" b="0" i="0" u="none"/>
            </a:br>
            <a:br>
              <a:rPr lang="en-US" b="0" i="0" u="none"/>
            </a:br>
            <a:br>
              <a:rPr lang="en-US"/>
            </a:br>
            <a:r>
              <a:rPr lang="en-US" b="0" i="0" u="none"/>
              <a:t>Electrical  Communications</a:t>
            </a:r>
            <a:endParaRPr/>
          </a:p>
        </p:txBody>
      </p:sp>
      <p:sp>
        <p:nvSpPr>
          <p:cNvPr id="1170540289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152399" y="3276599"/>
            <a:ext cx="9179004" cy="223759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Information source provides an </a:t>
            </a:r>
            <a:r>
              <a:rPr sz="2000">
                <a:solidFill>
                  <a:srgbClr val="FF0000"/>
                </a:solidFill>
              </a:rPr>
              <a:t>electrical signal to a transmitter comprising </a:t>
            </a:r>
            <a:endParaRPr sz="2000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sz="2000">
                <a:solidFill>
                  <a:srgbClr val="FF0000"/>
                </a:solidFill>
              </a:rPr>
              <a:t>an electrical stage </a:t>
            </a:r>
            <a:r>
              <a:rPr sz="2000"/>
              <a:t>which drives an optical source to give modulation of the </a:t>
            </a:r>
            <a:endParaRPr sz="2000"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sz="2000"/>
              <a:t>light wave carrier.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optical source which provides the electrical–optical conversion may be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sz="1800"/>
              <a:t>either a semiconductor laser or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sz="1800"/>
              <a:t>light-emitting diode (LED)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transmission medium consists of an optical fiber cable and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receiver consists of an optical detector which drives a further electrical </a:t>
            </a:r>
            <a:endParaRPr sz="2000"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sz="2000"/>
              <a:t>stage and hence provides demodulation of the optical carrier. Photodiodes</a:t>
            </a:r>
            <a:endParaRPr/>
          </a:p>
        </p:txBody>
      </p:sp>
      <p:sp>
        <p:nvSpPr>
          <p:cNvPr id="1420450923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755249737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34932667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555964808" name="Picture 3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609600" y="939800"/>
            <a:ext cx="7924800" cy="22701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540289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70540289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70540289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540289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0540289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70540289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540289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70540289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0540289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540289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70540289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70540289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540289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70540289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70540289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540289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70540289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70540289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4903694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optical fiber communications</a:t>
            </a:r>
            <a:endParaRPr/>
          </a:p>
        </p:txBody>
      </p:sp>
      <p:sp>
        <p:nvSpPr>
          <p:cNvPr id="921134140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3276599"/>
            <a:ext cx="8835582" cy="255458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/>
              <a:t>The optical carrier may be modulated using either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sz="1800" b="0" i="0" u="none"/>
              <a:t>an analog or digital information signal.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 b="0" i="0" u="none"/>
              <a:t>In analog modulation involves the variation of the light emitted from the </a:t>
            </a:r>
            <a:endParaRPr sz="2000" b="0" i="0" u="none"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sz="2000" b="0" i="0" u="none"/>
              <a:t>optical source in a continuous manner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 b="0" i="0" u="none"/>
              <a:t>With digital modulation, however, discrete changes in the light intensity </a:t>
            </a:r>
            <a:endParaRPr sz="2000" b="0" i="0" u="none"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sz="2000" b="0" i="0" u="none"/>
              <a:t>are obtained </a:t>
            </a:r>
            <a:r>
              <a:rPr sz="2000" b="0" i="0" u="none">
                <a:solidFill>
                  <a:srgbClr val="FF0000"/>
                </a:solidFill>
              </a:rPr>
              <a:t>(i.e. on–off pulses)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sz="2000" b="0" i="0" u="none"/>
              <a:t>Although often simpler to implement, </a:t>
            </a:r>
            <a:r>
              <a:rPr sz="2000" b="0" i="0" u="none">
                <a:solidFill>
                  <a:srgbClr val="FF0000"/>
                </a:solidFill>
              </a:rPr>
              <a:t>analog modulation with an optical </a:t>
            </a:r>
            <a:endParaRPr sz="2000" b="0" i="0" u="none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sz="2000" b="0" i="0" u="none">
                <a:solidFill>
                  <a:srgbClr val="FF0000"/>
                </a:solidFill>
              </a:rPr>
              <a:t>fiber communication system is less efficient,</a:t>
            </a:r>
            <a:r>
              <a:rPr sz="2000" b="0" i="0" u="none"/>
              <a:t> requiring a far higher </a:t>
            </a:r>
            <a:endParaRPr sz="2000" b="0" i="0" u="none"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sz="2000" b="0" i="0" u="none"/>
              <a:t>signal-to-noise ratio at the receiver than digital modulation. </a:t>
            </a:r>
            <a:endParaRPr sz="2000" b="0" i="0" u="none"/>
          </a:p>
        </p:txBody>
      </p:sp>
      <p:sp>
        <p:nvSpPr>
          <p:cNvPr id="1689244627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477242275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46836108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2132786581" name="Picture 1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838200" y="1143000"/>
            <a:ext cx="6972300" cy="22717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13414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13414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13414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13414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113414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13414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13414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13414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13414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13414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13414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13414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13414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113414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113414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334026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optical fiber communications</a:t>
            </a:r>
            <a:endParaRPr/>
          </a:p>
        </p:txBody>
      </p:sp>
      <p:sp>
        <p:nvSpPr>
          <p:cNvPr id="252453892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0999" y="1219199"/>
            <a:ext cx="8736342" cy="174991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 b="0" i="0" u="none"/>
              <a:t>For these reasons, </a:t>
            </a:r>
            <a:r>
              <a:rPr lang="en-US" b="0" i="0" u="none">
                <a:solidFill>
                  <a:srgbClr val="FF0000"/>
                </a:solidFill>
              </a:rPr>
              <a:t>analog optical fiber </a:t>
            </a:r>
            <a:endParaRPr lang="en-US" b="0" i="0" u="none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lang="en-US" b="0" i="0" u="none">
                <a:solidFill>
                  <a:srgbClr val="FF0000"/>
                </a:solidFill>
              </a:rPr>
              <a:t>communication links are generally limited to shorter</a:t>
            </a:r>
            <a:endParaRPr lang="en-US" b="0" i="0" u="none">
              <a:solidFill>
                <a:srgbClr val="FF0000"/>
              </a:solidFill>
            </a:endParaRPr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lang="en-US" b="0" i="0" u="none">
                <a:solidFill>
                  <a:srgbClr val="FF0000"/>
                </a:solidFill>
              </a:rPr>
              <a:t>distances and lower bandwidth </a:t>
            </a:r>
            <a:r>
              <a:rPr lang="en-US" b="0" i="0" u="none"/>
              <a:t>operation than digital </a:t>
            </a:r>
            <a:endParaRPr lang="en-US" b="0" i="0" u="none"/>
          </a:p>
          <a:p>
            <a:pPr marL="0" lvl="0" indent="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None/>
              <a:defRPr/>
            </a:pPr>
            <a:r>
              <a:rPr lang="en-US" b="0" i="0" u="none"/>
              <a:t>links</a:t>
            </a:r>
            <a:endParaRPr/>
          </a:p>
        </p:txBody>
      </p:sp>
      <p:sp>
        <p:nvSpPr>
          <p:cNvPr id="202388360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497382897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90476873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453892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2453892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2453892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09447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/>
          </a:p>
        </p:txBody>
      </p:sp>
      <p:sp>
        <p:nvSpPr>
          <p:cNvPr id="116228707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387101376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86405907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258886160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4035136" y="2209799"/>
            <a:ext cx="4953000" cy="4648200"/>
          </a:xfrm>
          <a:prstGeom prst="rect">
            <a:avLst/>
          </a:prstGeom>
          <a:noFill/>
        </p:spPr>
      </p:pic>
      <p:sp>
        <p:nvSpPr>
          <p:cNvPr id="461935322" name="Content Placeholder 6"/>
          <p:cNvSpPr>
            <a:spLocks noChangeShapeType="1" noGrp="1"/>
          </p:cNvSpPr>
          <p:nvPr>
            <p:ph type="obj"/>
          </p:nvPr>
        </p:nvSpPr>
        <p:spPr bwMode="auto">
          <a:xfrm>
            <a:off x="0" y="1295400"/>
            <a:ext cx="44196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Initially, the input digital signal from the information source is suitably </a:t>
            </a:r>
            <a:r>
              <a:rPr lang="en-US">
                <a:solidFill>
                  <a:srgbClr val="FF0000"/>
                </a:solidFill>
              </a:rPr>
              <a:t>encoded</a:t>
            </a:r>
            <a:r>
              <a:rPr lang="en-US"/>
              <a:t> for optical transmission.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laser drive circuit</a:t>
            </a:r>
            <a:r>
              <a:rPr lang="en-US"/>
              <a:t> directly modulates the intensity of the semiconductor laser with the encoded digital signal.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Hence a digital optical signal is launched into the optical fiber cable.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935322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1935322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1935322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935322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1935322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1935322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935322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1935322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1935322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252104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/>
          </a:p>
        </p:txBody>
      </p:sp>
      <p:sp>
        <p:nvSpPr>
          <p:cNvPr id="490908840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2000849060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498411712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1252537185" name="Content Placeholder 6"/>
          <p:cNvSpPr>
            <a:spLocks noChangeShapeType="1" noGrp="1"/>
          </p:cNvSpPr>
          <p:nvPr>
            <p:ph type="obj"/>
          </p:nvPr>
        </p:nvSpPr>
        <p:spPr bwMode="auto">
          <a:xfrm>
            <a:off x="0" y="1219200"/>
            <a:ext cx="38100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avalanche photodiode (APD) detector is followed by a front-end amplifier and equalizer or filter to provide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gain as well as linear signal processing and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noise bandwidth reduction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Finally, the signal obtained is decoded to give the original digital information</a:t>
            </a:r>
            <a:endParaRPr/>
          </a:p>
        </p:txBody>
      </p:sp>
      <p:pic>
        <p:nvPicPr>
          <p:cNvPr id="1805572880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3886200" y="1295400"/>
            <a:ext cx="5257800" cy="52578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537185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2537185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2537185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537185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52537185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52537185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537185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52537185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52537185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537185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52537185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52537185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993117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/>
          </a:p>
        </p:txBody>
      </p:sp>
      <p:sp>
        <p:nvSpPr>
          <p:cNvPr id="104111489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514747978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951430299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139181350" name="Picture 2"/>
          <p:cNvPicPr>
            <a:picLocks noChangeAspect="1" noGrp="1"/>
          </p:cNvPicPr>
          <p:nvPr>
            <p:ph type="obj"/>
          </p:nvPr>
        </p:nvPicPr>
        <p:blipFill rotWithShape="1">
          <a:blip r:embed="rId3"/>
          <a:srcRect l="0" t="0" r="0" b="0"/>
          <a:stretch/>
        </p:blipFill>
        <p:spPr bwMode="auto">
          <a:xfrm>
            <a:off x="76200" y="1295400"/>
            <a:ext cx="8915400" cy="4648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52410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1612617625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>
                <a:latin typeface="Arial"/>
                <a:ea typeface="Arial"/>
              </a:rPr>
              <a:t>Enormous potential bandwidth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>
                <a:latin typeface="Arial"/>
                <a:ea typeface="Arial"/>
              </a:rPr>
              <a:t>The optical carrier frequency in the range 10</a:t>
            </a:r>
            <a:r>
              <a:rPr baseline="30000">
                <a:latin typeface="Arial"/>
                <a:ea typeface="Arial"/>
              </a:rPr>
              <a:t>13</a:t>
            </a:r>
            <a:r>
              <a:rPr>
                <a:latin typeface="Arial"/>
                <a:ea typeface="Arial"/>
              </a:rPr>
              <a:t> to 10</a:t>
            </a:r>
            <a:r>
              <a:rPr baseline="30000">
                <a:latin typeface="Arial"/>
                <a:ea typeface="Arial"/>
              </a:rPr>
              <a:t>16</a:t>
            </a:r>
            <a:r>
              <a:rPr>
                <a:latin typeface="Arial"/>
                <a:ea typeface="Arial"/>
              </a:rPr>
              <a:t> Hz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>
                <a:latin typeface="Arial"/>
                <a:ea typeface="Arial"/>
              </a:rPr>
              <a:t>Coaxial cable bandwidth typically around 20 MHz over distances up to a maximum of 10 km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Small size and weight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Optical fibers have very small diameters which are often </a:t>
            </a:r>
            <a:r>
              <a:rPr b="0" i="0" u="none"/>
              <a:t>no greater than the diameter of a </a:t>
            </a:r>
            <a:r>
              <a:rPr b="0" i="0" u="none">
                <a:solidFill>
                  <a:srgbClr val="FF0000"/>
                </a:solidFill>
              </a:rPr>
              <a:t>human hair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Even when such fibers are covered with protective coatings they are </a:t>
            </a:r>
            <a:r>
              <a:rPr b="0" i="0" u="none">
                <a:solidFill>
                  <a:srgbClr val="FF0000"/>
                </a:solidFill>
              </a:rPr>
              <a:t>far smaller and much lighter than corresponding copper cables</a:t>
            </a:r>
            <a:r>
              <a:rPr b="0" i="0" u="none"/>
              <a:t>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This is a tremendous advantage towards the improvement of channel congestion in cities</a:t>
            </a:r>
            <a:endParaRPr/>
          </a:p>
        </p:txBody>
      </p:sp>
      <p:sp>
        <p:nvSpPr>
          <p:cNvPr id="110233307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749372660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9247184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617625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2617625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2617625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617625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12617625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12617625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617625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12617625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12617625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617625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12617625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2617625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617625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12617625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12617625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617625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12617625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12617625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617625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12617625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12617625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46626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1157495897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Electrical isolation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Optical fibers which are fabricated from glass, or sometimes a </a:t>
            </a:r>
            <a:r>
              <a:rPr/>
              <a:t>plastic polymer, are electrical insulators and therefore, unlike their metallic counterparts, they </a:t>
            </a:r>
            <a:r>
              <a:rPr>
                <a:solidFill>
                  <a:srgbClr val="FF0000"/>
                </a:solidFill>
              </a:rPr>
              <a:t>do not exhibit earth loop and interface problems.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This property makes optical fiber transmission ideally suited for communication in </a:t>
            </a:r>
            <a:r>
              <a:rPr>
                <a:solidFill>
                  <a:srgbClr val="FF0000"/>
                </a:solidFill>
              </a:rPr>
              <a:t>electrically hazardous environments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Immunity to interference and crosstalk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Optical fibers </a:t>
            </a:r>
            <a:r>
              <a:rPr b="0" i="0" u="none"/>
              <a:t>free from electromagnetic interference (EMI), radio-frequency interference (RFI), or switching transients giving electromagnetic pulses (EMPs)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Hence the operation of an optical fiber communication system is </a:t>
            </a:r>
            <a:r>
              <a:rPr b="0" i="0" u="none">
                <a:solidFill>
                  <a:srgbClr val="FF0000"/>
                </a:solidFill>
              </a:rPr>
              <a:t>unaffected by transmission through an electrically noisy environment</a:t>
            </a:r>
            <a:endParaRPr/>
          </a:p>
        </p:txBody>
      </p:sp>
      <p:sp>
        <p:nvSpPr>
          <p:cNvPr id="2077878154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728987295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689645992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5897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495897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495897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5897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57495897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57495897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5897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57495897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57495897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5897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57495897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57495897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5897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57495897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57495897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495897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57495897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57495897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714989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1289891357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457200" y="11430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Signal security.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The light from optical fibers </a:t>
            </a:r>
            <a:r>
              <a:rPr b="0" i="1" u="none">
                <a:solidFill>
                  <a:srgbClr val="FF0000"/>
                </a:solidFill>
              </a:rPr>
              <a:t>does not radiate significantly and therefore </a:t>
            </a:r>
            <a:r>
              <a:rPr>
                <a:solidFill>
                  <a:srgbClr val="FF0000"/>
                </a:solidFill>
              </a:rPr>
              <a:t>they provide a high degree of signal security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Unlike the situation with copper cables, a transmitted optical signal cannot be obtained from a fiber in a noninvasive manner (i.e. without drawing optical power from the fiber).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/>
              <a:t>This feature is obviously attractive for military, banking and general data transmission (i.e. computer network) applications.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Low transmission loss.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The development of optical fibers over the last 20 years has </a:t>
            </a:r>
            <a:r>
              <a:rPr b="0" i="0" u="none"/>
              <a:t>resulted in the production of optical fiber cables which exhibit very low attenuation or transmission loss in comparison with the best copper conductors. </a:t>
            </a:r>
            <a:endParaRPr/>
          </a:p>
        </p:txBody>
      </p:sp>
      <p:sp>
        <p:nvSpPr>
          <p:cNvPr id="140822113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783968684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619773518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891357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9891357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9891357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891357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89891357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89891357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891357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89891357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89891357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891357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89891357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89891357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891357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89891357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89891357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891357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89891357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89891357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888408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762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/>
          </a:p>
        </p:txBody>
      </p:sp>
      <p:sp>
        <p:nvSpPr>
          <p:cNvPr id="1027460871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152400" y="1219200"/>
            <a:ext cx="88392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Ruggedness and flexibility.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Although protective coatings are essential, optical fibers </a:t>
            </a:r>
            <a:r>
              <a:rPr lang="bn-BD"/>
              <a:t>may be manufactured with very high tensile প্রসারণসাধ্য strengths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bn-BD"/>
              <a:t>Cable structures have been developed which have proved flexible, compact 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System reliability and ease of maintenance.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0" u="none"/>
              <a:t>With fewer optical repeaters or amplifiers, system reliability is generally enhanced in comparison with conventional electrical conductor systems</a:t>
            </a:r>
            <a:endParaRPr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b="0" i="1" u="none"/>
              <a:t>Potential low cost.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b="0" i="1" u="none"/>
              <a:t>The glass which generally provides the optical fiber transmission </a:t>
            </a:r>
            <a:r>
              <a:rPr b="0" i="0" u="none"/>
              <a:t>medium is </a:t>
            </a:r>
            <a:r>
              <a:rPr b="0" i="0" u="none">
                <a:solidFill>
                  <a:srgbClr val="FF0000"/>
                </a:solidFill>
              </a:rPr>
              <a:t>made from sand – </a:t>
            </a:r>
            <a:r>
              <a:rPr b="0" i="0" u="none">
                <a:solidFill>
                  <a:srgbClr val="FF0000"/>
                </a:solidFill>
              </a:rPr>
              <a:t>not a scarce </a:t>
            </a:r>
            <a:br>
              <a:rPr b="0" i="0" u="none">
                <a:solidFill>
                  <a:srgbClr val="FF0000"/>
                </a:solidFill>
              </a:rPr>
            </a:br>
            <a:r>
              <a:rPr b="0" i="0" u="none">
                <a:solidFill>
                  <a:srgbClr val="FF0000"/>
                </a:solidFill>
              </a:rPr>
              <a:t>দুর্লভ resource. 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bn-BD" b="0" i="0" u="none"/>
              <a:t>So, in comparison with copper conductors, optical fibers offer the potential for low-cost line communication</a:t>
            </a:r>
            <a:endParaRPr/>
          </a:p>
        </p:txBody>
      </p:sp>
      <p:sp>
        <p:nvSpPr>
          <p:cNvPr id="189025805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388965334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50555930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46087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46087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7460871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7460871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7460871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7460871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7460871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7460871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7460871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7460871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7460871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7460871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7460871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7460871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60871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27460871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27460871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85969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253260434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744302801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398274121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59716521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551439942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0" y="228600"/>
            <a:ext cx="9199562" cy="64008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ends">
  <a:themeElements>
    <a:clrScheme name="Default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FF0000"/>
      </a:hlink>
      <a:folHlink>
        <a:srgbClr val="3333CC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Blends 1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0</Words>
  <Application>ONLYOFFICE/9.2.1.43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/>
  <cp:revision>367</cp:revision>
  <dcterms:created xsi:type="dcterms:W3CDTF">1999-12-01T22:01:00Z</dcterms:created>
  <dcterms:modified xsi:type="dcterms:W3CDTF">2026-03-07T07:34:58Z</dcterms:modified>
</cp:coreProperties>
</file>