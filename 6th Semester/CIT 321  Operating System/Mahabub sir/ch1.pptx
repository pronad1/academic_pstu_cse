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Lst>
  <p:sldSz cx="9144000" cy="6858000"/>
  <p:notesSz cx="6881495" cy="9296400"/>
  <p:embeddedFontLst>
    <p:embeddedFont>
      <p:font typeface="Helvetica Neue" panose="020B0604020202020204"/>
      <p:regular r:id="rId81"/>
      <p:bold r:id="rId82"/>
      <p:boldItalic r:id="rId83"/>
    </p:embeddedFont>
    <p:embeddedFont>
      <p:font typeface="Verdana" panose="020B0604030504040204"/>
      <p:regular r:id="rId84"/>
      <p:bold r:id="rId85"/>
      <p:italic r:id="rId86"/>
      <p:boldItalic r:id="rId8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816" userDrawn="1">
          <p15:clr>
            <a:srgbClr val="A4A3A4"/>
          </p15:clr>
        </p15:guide>
        <p15:guide id="2" pos="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816"/>
        <p:guide pos="4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7" Type="http://schemas.openxmlformats.org/officeDocument/2006/relationships/font" Target="fonts/font7.fntdata"/><Relationship Id="rId86" Type="http://schemas.openxmlformats.org/officeDocument/2006/relationships/font" Target="fonts/font6.fntdata"/><Relationship Id="rId85" Type="http://schemas.openxmlformats.org/officeDocument/2006/relationships/font" Target="fonts/font5.fntdata"/><Relationship Id="rId84" Type="http://schemas.openxmlformats.org/officeDocument/2006/relationships/font" Target="fonts/font4.fntdata"/><Relationship Id="rId83" Type="http://schemas.openxmlformats.org/officeDocument/2006/relationships/font" Target="fonts/font3.fntdata"/><Relationship Id="rId82" Type="http://schemas.openxmlformats.org/officeDocument/2006/relationships/font" Target="fonts/font2.fntdata"/><Relationship Id="rId81" Type="http://schemas.openxmlformats.org/officeDocument/2006/relationships/font" Target="fonts/font1.fntdata"/><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81325" cy="463550"/>
          </a:xfrm>
          <a:prstGeom prst="rect">
            <a:avLst/>
          </a:prstGeom>
          <a:noFill/>
          <a:ln>
            <a:noFill/>
          </a:ln>
        </p:spPr>
        <p:txBody>
          <a:bodyPr spcFirstLastPara="1" wrap="square" lIns="92425" tIns="46200" rIns="92425" bIns="46200" anchor="ctr" anchorCtr="0">
            <a:noAutofit/>
          </a:bodyPr>
          <a:lstStyle>
            <a:lvl1pPr marR="0" lvl="0" algn="l"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4" name="Google Shape;4;n"/>
          <p:cNvSpPr txBox="1"/>
          <p:nvPr>
            <p:ph type="dt" idx="10"/>
          </p:nvPr>
        </p:nvSpPr>
        <p:spPr>
          <a:xfrm>
            <a:off x="3900488" y="0"/>
            <a:ext cx="2981325" cy="463550"/>
          </a:xfrm>
          <a:prstGeom prst="rect">
            <a:avLst/>
          </a:prstGeom>
          <a:noFill/>
          <a:ln>
            <a:noFill/>
          </a:ln>
        </p:spPr>
        <p:txBody>
          <a:bodyPr spcFirstLastPara="1" wrap="square" lIns="92425" tIns="46200" rIns="92425" bIns="46200" anchor="ctr" anchorCtr="0">
            <a:noAutofit/>
          </a:bodyPr>
          <a:lstStyle>
            <a:lvl1pPr marR="0" lvl="0" algn="r"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5" name="Google Shape;5;n"/>
          <p:cNvSpPr/>
          <p:nvPr>
            <p:ph type="sldImg" idx="3"/>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832850"/>
            <a:ext cx="2981325" cy="463550"/>
          </a:xfrm>
          <a:prstGeom prst="rect">
            <a:avLst/>
          </a:prstGeom>
          <a:noFill/>
          <a:ln>
            <a:noFill/>
          </a:ln>
        </p:spPr>
        <p:txBody>
          <a:bodyPr spcFirstLastPara="1" wrap="square" lIns="92425" tIns="46200" rIns="92425" bIns="462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8" name="Google Shape;8;n"/>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72"/>
        <p:cNvGrpSpPr/>
        <p:nvPr/>
      </p:nvGrpSpPr>
      <p:grpSpPr>
        <a:xfrm>
          <a:off x="0" y="0"/>
          <a:ext cx="0" cy="0"/>
          <a:chOff x="0" y="0"/>
          <a:chExt cx="0" cy="0"/>
        </a:xfrm>
      </p:grpSpPr>
      <p:sp>
        <p:nvSpPr>
          <p:cNvPr id="73" name="Google Shape;73;p1: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 name="Google Shape;74;p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1: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78"/>
        <p:cNvGrpSpPr/>
        <p:nvPr/>
      </p:nvGrpSpPr>
      <p:grpSpPr>
        <a:xfrm>
          <a:off x="0" y="0"/>
          <a:ext cx="0" cy="0"/>
          <a:chOff x="0" y="0"/>
          <a:chExt cx="0" cy="0"/>
        </a:xfrm>
      </p:grpSpPr>
      <p:sp>
        <p:nvSpPr>
          <p:cNvPr id="79" name="Google Shape;79;p2: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 name="Google Shape;80;p2: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3: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 name="Google Shape;86;p3: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p4: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4: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5:notes"/>
          <p:cNvSpPr/>
          <p:nvPr>
            <p:ph type="sldImg" idx="2"/>
          </p:nvPr>
        </p:nvSpPr>
        <p:spPr>
          <a:xfrm>
            <a:off x="1198563" y="701675"/>
            <a:ext cx="4681537" cy="35115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 name="Google Shape;98;p5:notes"/>
          <p:cNvSpPr txBox="1"/>
          <p:nvPr>
            <p:ph type="body" idx="1"/>
          </p:nvPr>
        </p:nvSpPr>
        <p:spPr>
          <a:xfrm>
            <a:off x="708025" y="4448175"/>
            <a:ext cx="5662613" cy="4213225"/>
          </a:xfrm>
          <a:prstGeom prst="rect">
            <a:avLst/>
          </a:prstGeom>
          <a:noFill/>
          <a:ln>
            <a:noFill/>
          </a:ln>
        </p:spPr>
        <p:txBody>
          <a:bodyPr spcFirstLastPara="1" wrap="square" lIns="93925" tIns="46950" rIns="93925" bIns="4695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6: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6: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7: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7: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p8: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116" name="Google Shape;116;p8: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9: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 name="Google Shape;122;p9: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10: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3" name="Google Shape;133;p10: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11: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11: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2" name="Shape 142"/>
        <p:cNvGrpSpPr/>
        <p:nvPr/>
      </p:nvGrpSpPr>
      <p:grpSpPr>
        <a:xfrm>
          <a:off x="0" y="0"/>
          <a:ext cx="0" cy="0"/>
          <a:chOff x="0" y="0"/>
          <a:chExt cx="0" cy="0"/>
        </a:xfrm>
      </p:grpSpPr>
      <p:sp>
        <p:nvSpPr>
          <p:cNvPr id="143" name="Google Shape;143;p12: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 name="Google Shape;144;p12: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p13: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 name="Google Shape;151;p13: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14: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7" name="Google Shape;157;p14: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15: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 name="Google Shape;163;p15: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p16: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 name="Google Shape;169;p16: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p17: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p17: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18: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 name="Google Shape;181;p18: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9: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7" name="Google Shape;187;p19: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20: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3" name="Google Shape;193;p20: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p21: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9" name="Google Shape;199;p21: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2" name="Shape 202"/>
        <p:cNvGrpSpPr/>
        <p:nvPr/>
      </p:nvGrpSpPr>
      <p:grpSpPr>
        <a:xfrm>
          <a:off x="0" y="0"/>
          <a:ext cx="0" cy="0"/>
          <a:chOff x="0" y="0"/>
          <a:chExt cx="0" cy="0"/>
        </a:xfrm>
      </p:grpSpPr>
      <p:sp>
        <p:nvSpPr>
          <p:cNvPr id="203" name="Google Shape;203;p22: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22: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8" name="Shape 208"/>
        <p:cNvGrpSpPr/>
        <p:nvPr/>
      </p:nvGrpSpPr>
      <p:grpSpPr>
        <a:xfrm>
          <a:off x="0" y="0"/>
          <a:ext cx="0" cy="0"/>
          <a:chOff x="0" y="0"/>
          <a:chExt cx="0" cy="0"/>
        </a:xfrm>
      </p:grpSpPr>
      <p:sp>
        <p:nvSpPr>
          <p:cNvPr id="209" name="Google Shape;209;p23: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23: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 name="Shape 214"/>
        <p:cNvGrpSpPr/>
        <p:nvPr/>
      </p:nvGrpSpPr>
      <p:grpSpPr>
        <a:xfrm>
          <a:off x="0" y="0"/>
          <a:ext cx="0" cy="0"/>
          <a:chOff x="0" y="0"/>
          <a:chExt cx="0" cy="0"/>
        </a:xfrm>
      </p:grpSpPr>
      <p:sp>
        <p:nvSpPr>
          <p:cNvPr id="215" name="Google Shape;215;p24: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216" name="Google Shape;216;p2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221"/>
        <p:cNvGrpSpPr/>
        <p:nvPr/>
      </p:nvGrpSpPr>
      <p:grpSpPr>
        <a:xfrm>
          <a:off x="0" y="0"/>
          <a:ext cx="0" cy="0"/>
          <a:chOff x="0" y="0"/>
          <a:chExt cx="0" cy="0"/>
        </a:xfrm>
      </p:grpSpPr>
      <p:sp>
        <p:nvSpPr>
          <p:cNvPr id="222" name="Google Shape;222;p25: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25: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p26: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26: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27: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 name="Google Shape;235;p27: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p28: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2" name="Google Shape;242;p28: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6" name="Shape 246"/>
        <p:cNvGrpSpPr/>
        <p:nvPr/>
      </p:nvGrpSpPr>
      <p:grpSpPr>
        <a:xfrm>
          <a:off x="0" y="0"/>
          <a:ext cx="0" cy="0"/>
          <a:chOff x="0" y="0"/>
          <a:chExt cx="0" cy="0"/>
        </a:xfrm>
      </p:grpSpPr>
      <p:sp>
        <p:nvSpPr>
          <p:cNvPr id="247" name="Google Shape;247;p29: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8" name="Google Shape;248;p29: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2" name="Shape 252"/>
        <p:cNvGrpSpPr/>
        <p:nvPr/>
      </p:nvGrpSpPr>
      <p:grpSpPr>
        <a:xfrm>
          <a:off x="0" y="0"/>
          <a:ext cx="0" cy="0"/>
          <a:chOff x="0" y="0"/>
          <a:chExt cx="0" cy="0"/>
        </a:xfrm>
      </p:grpSpPr>
      <p:sp>
        <p:nvSpPr>
          <p:cNvPr id="253" name="Google Shape;253;p30: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30: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p31: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0" name="Google Shape;260;p31: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4" name="Shape 264"/>
        <p:cNvGrpSpPr/>
        <p:nvPr/>
      </p:nvGrpSpPr>
      <p:grpSpPr>
        <a:xfrm>
          <a:off x="0" y="0"/>
          <a:ext cx="0" cy="0"/>
          <a:chOff x="0" y="0"/>
          <a:chExt cx="0" cy="0"/>
        </a:xfrm>
      </p:grpSpPr>
      <p:sp>
        <p:nvSpPr>
          <p:cNvPr id="265" name="Google Shape;265;p32: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6" name="Google Shape;266;p32: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0" name="Shape 270"/>
        <p:cNvGrpSpPr/>
        <p:nvPr/>
      </p:nvGrpSpPr>
      <p:grpSpPr>
        <a:xfrm>
          <a:off x="0" y="0"/>
          <a:ext cx="0" cy="0"/>
          <a:chOff x="0" y="0"/>
          <a:chExt cx="0" cy="0"/>
        </a:xfrm>
      </p:grpSpPr>
      <p:sp>
        <p:nvSpPr>
          <p:cNvPr id="271" name="Google Shape;271;p33: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p33: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6" name="Shape 276"/>
        <p:cNvGrpSpPr/>
        <p:nvPr/>
      </p:nvGrpSpPr>
      <p:grpSpPr>
        <a:xfrm>
          <a:off x="0" y="0"/>
          <a:ext cx="0" cy="0"/>
          <a:chOff x="0" y="0"/>
          <a:chExt cx="0" cy="0"/>
        </a:xfrm>
      </p:grpSpPr>
      <p:sp>
        <p:nvSpPr>
          <p:cNvPr id="277" name="Google Shape;277;p34: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8" name="Google Shape;278;p34: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p35: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p35: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36: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0" name="Google Shape;290;p36: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p37: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6" name="Google Shape;296;p37: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1" name="Shape 301"/>
        <p:cNvGrpSpPr/>
        <p:nvPr/>
      </p:nvGrpSpPr>
      <p:grpSpPr>
        <a:xfrm>
          <a:off x="0" y="0"/>
          <a:ext cx="0" cy="0"/>
          <a:chOff x="0" y="0"/>
          <a:chExt cx="0" cy="0"/>
        </a:xfrm>
      </p:grpSpPr>
      <p:sp>
        <p:nvSpPr>
          <p:cNvPr id="302" name="Google Shape;302;p38: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38: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7" name="Shape 307"/>
        <p:cNvGrpSpPr/>
        <p:nvPr/>
      </p:nvGrpSpPr>
      <p:grpSpPr>
        <a:xfrm>
          <a:off x="0" y="0"/>
          <a:ext cx="0" cy="0"/>
          <a:chOff x="0" y="0"/>
          <a:chExt cx="0" cy="0"/>
        </a:xfrm>
      </p:grpSpPr>
      <p:sp>
        <p:nvSpPr>
          <p:cNvPr id="308" name="Google Shape;308;p39: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9" name="Google Shape;309;p39: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3" name="Shape 313"/>
        <p:cNvGrpSpPr/>
        <p:nvPr/>
      </p:nvGrpSpPr>
      <p:grpSpPr>
        <a:xfrm>
          <a:off x="0" y="0"/>
          <a:ext cx="0" cy="0"/>
          <a:chOff x="0" y="0"/>
          <a:chExt cx="0" cy="0"/>
        </a:xfrm>
      </p:grpSpPr>
      <p:sp>
        <p:nvSpPr>
          <p:cNvPr id="314" name="Google Shape;314;p40: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p40: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p41: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1" name="Google Shape;321;p41: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5" name="Shape 325"/>
        <p:cNvGrpSpPr/>
        <p:nvPr/>
      </p:nvGrpSpPr>
      <p:grpSpPr>
        <a:xfrm>
          <a:off x="0" y="0"/>
          <a:ext cx="0" cy="0"/>
          <a:chOff x="0" y="0"/>
          <a:chExt cx="0" cy="0"/>
        </a:xfrm>
      </p:grpSpPr>
      <p:sp>
        <p:nvSpPr>
          <p:cNvPr id="326" name="Google Shape;326;p42: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42: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43: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4" name="Google Shape;334;p43: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p44: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44: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5" name="Shape 345"/>
        <p:cNvGrpSpPr/>
        <p:nvPr/>
      </p:nvGrpSpPr>
      <p:grpSpPr>
        <a:xfrm>
          <a:off x="0" y="0"/>
          <a:ext cx="0" cy="0"/>
          <a:chOff x="0" y="0"/>
          <a:chExt cx="0" cy="0"/>
        </a:xfrm>
      </p:grpSpPr>
      <p:sp>
        <p:nvSpPr>
          <p:cNvPr id="346" name="Google Shape;346;p45: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7" name="Google Shape;347;p45: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1" name="Shape 351"/>
        <p:cNvGrpSpPr/>
        <p:nvPr/>
      </p:nvGrpSpPr>
      <p:grpSpPr>
        <a:xfrm>
          <a:off x="0" y="0"/>
          <a:ext cx="0" cy="0"/>
          <a:chOff x="0" y="0"/>
          <a:chExt cx="0" cy="0"/>
        </a:xfrm>
      </p:grpSpPr>
      <p:sp>
        <p:nvSpPr>
          <p:cNvPr id="352" name="Google Shape;352;p46: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46: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7" name="Shape 357"/>
        <p:cNvGrpSpPr/>
        <p:nvPr/>
      </p:nvGrpSpPr>
      <p:grpSpPr>
        <a:xfrm>
          <a:off x="0" y="0"/>
          <a:ext cx="0" cy="0"/>
          <a:chOff x="0" y="0"/>
          <a:chExt cx="0" cy="0"/>
        </a:xfrm>
      </p:grpSpPr>
      <p:sp>
        <p:nvSpPr>
          <p:cNvPr id="358" name="Google Shape;358;p47: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9" name="Google Shape;359;p47: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3" name="Shape 363"/>
        <p:cNvGrpSpPr/>
        <p:nvPr/>
      </p:nvGrpSpPr>
      <p:grpSpPr>
        <a:xfrm>
          <a:off x="0" y="0"/>
          <a:ext cx="0" cy="0"/>
          <a:chOff x="0" y="0"/>
          <a:chExt cx="0" cy="0"/>
        </a:xfrm>
      </p:grpSpPr>
      <p:sp>
        <p:nvSpPr>
          <p:cNvPr id="364" name="Google Shape;364;p48: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5" name="Google Shape;365;p48: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9" name="Shape 369"/>
        <p:cNvGrpSpPr/>
        <p:nvPr/>
      </p:nvGrpSpPr>
      <p:grpSpPr>
        <a:xfrm>
          <a:off x="0" y="0"/>
          <a:ext cx="0" cy="0"/>
          <a:chOff x="0" y="0"/>
          <a:chExt cx="0" cy="0"/>
        </a:xfrm>
      </p:grpSpPr>
      <p:sp>
        <p:nvSpPr>
          <p:cNvPr id="370" name="Google Shape;370;p49: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371" name="Google Shape;371;p49: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5" name="Shape 375"/>
        <p:cNvGrpSpPr/>
        <p:nvPr/>
      </p:nvGrpSpPr>
      <p:grpSpPr>
        <a:xfrm>
          <a:off x="0" y="0"/>
          <a:ext cx="0" cy="0"/>
          <a:chOff x="0" y="0"/>
          <a:chExt cx="0" cy="0"/>
        </a:xfrm>
      </p:grpSpPr>
      <p:sp>
        <p:nvSpPr>
          <p:cNvPr id="376" name="Google Shape;376;p50: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7" name="Google Shape;377;p50: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p51: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2" name="Google Shape;382;p51: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6" name="Shape 386"/>
        <p:cNvGrpSpPr/>
        <p:nvPr/>
      </p:nvGrpSpPr>
      <p:grpSpPr>
        <a:xfrm>
          <a:off x="0" y="0"/>
          <a:ext cx="0" cy="0"/>
          <a:chOff x="0" y="0"/>
          <a:chExt cx="0" cy="0"/>
        </a:xfrm>
      </p:grpSpPr>
      <p:sp>
        <p:nvSpPr>
          <p:cNvPr id="387" name="Google Shape;387;p52: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8" name="Google Shape;388;p52: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2" name="Shape 392"/>
        <p:cNvGrpSpPr/>
        <p:nvPr/>
      </p:nvGrpSpPr>
      <p:grpSpPr>
        <a:xfrm>
          <a:off x="0" y="0"/>
          <a:ext cx="0" cy="0"/>
          <a:chOff x="0" y="0"/>
          <a:chExt cx="0" cy="0"/>
        </a:xfrm>
      </p:grpSpPr>
      <p:sp>
        <p:nvSpPr>
          <p:cNvPr id="393" name="Google Shape;393;p53: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4" name="Google Shape;394;p53: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9" name="Shape 399"/>
        <p:cNvGrpSpPr/>
        <p:nvPr/>
      </p:nvGrpSpPr>
      <p:grpSpPr>
        <a:xfrm>
          <a:off x="0" y="0"/>
          <a:ext cx="0" cy="0"/>
          <a:chOff x="0" y="0"/>
          <a:chExt cx="0" cy="0"/>
        </a:xfrm>
      </p:grpSpPr>
      <p:sp>
        <p:nvSpPr>
          <p:cNvPr id="400" name="Google Shape;400;p54: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401" name="Google Shape;401;p5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5" name="Shape 405"/>
        <p:cNvGrpSpPr/>
        <p:nvPr/>
      </p:nvGrpSpPr>
      <p:grpSpPr>
        <a:xfrm>
          <a:off x="0" y="0"/>
          <a:ext cx="0" cy="0"/>
          <a:chOff x="0" y="0"/>
          <a:chExt cx="0" cy="0"/>
        </a:xfrm>
      </p:grpSpPr>
      <p:sp>
        <p:nvSpPr>
          <p:cNvPr id="406" name="Google Shape;406;p55: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7" name="Google Shape;407;p55: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1" name="Shape 411"/>
        <p:cNvGrpSpPr/>
        <p:nvPr/>
      </p:nvGrpSpPr>
      <p:grpSpPr>
        <a:xfrm>
          <a:off x="0" y="0"/>
          <a:ext cx="0" cy="0"/>
          <a:chOff x="0" y="0"/>
          <a:chExt cx="0" cy="0"/>
        </a:xfrm>
      </p:grpSpPr>
      <p:sp>
        <p:nvSpPr>
          <p:cNvPr id="412" name="Google Shape;412;p56: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413" name="Google Shape;413;p56: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7" name="Shape 417"/>
        <p:cNvGrpSpPr/>
        <p:nvPr/>
      </p:nvGrpSpPr>
      <p:grpSpPr>
        <a:xfrm>
          <a:off x="0" y="0"/>
          <a:ext cx="0" cy="0"/>
          <a:chOff x="0" y="0"/>
          <a:chExt cx="0" cy="0"/>
        </a:xfrm>
      </p:grpSpPr>
      <p:sp>
        <p:nvSpPr>
          <p:cNvPr id="418" name="Google Shape;418;p57: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419" name="Google Shape;419;p57: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3" name="Shape 423"/>
        <p:cNvGrpSpPr/>
        <p:nvPr/>
      </p:nvGrpSpPr>
      <p:grpSpPr>
        <a:xfrm>
          <a:off x="0" y="0"/>
          <a:ext cx="0" cy="0"/>
          <a:chOff x="0" y="0"/>
          <a:chExt cx="0" cy="0"/>
        </a:xfrm>
      </p:grpSpPr>
      <p:sp>
        <p:nvSpPr>
          <p:cNvPr id="424" name="Google Shape;424;p58: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5" name="Google Shape;425;p58: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8" name="Shape 428"/>
        <p:cNvGrpSpPr/>
        <p:nvPr/>
      </p:nvGrpSpPr>
      <p:grpSpPr>
        <a:xfrm>
          <a:off x="0" y="0"/>
          <a:ext cx="0" cy="0"/>
          <a:chOff x="0" y="0"/>
          <a:chExt cx="0" cy="0"/>
        </a:xfrm>
      </p:grpSpPr>
      <p:sp>
        <p:nvSpPr>
          <p:cNvPr id="429" name="Google Shape;429;p59: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430" name="Google Shape;430;p59: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4" name="Shape 434"/>
        <p:cNvGrpSpPr/>
        <p:nvPr/>
      </p:nvGrpSpPr>
      <p:grpSpPr>
        <a:xfrm>
          <a:off x="0" y="0"/>
          <a:ext cx="0" cy="0"/>
          <a:chOff x="0" y="0"/>
          <a:chExt cx="0" cy="0"/>
        </a:xfrm>
      </p:grpSpPr>
      <p:sp>
        <p:nvSpPr>
          <p:cNvPr id="435" name="Google Shape;435;p60: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436" name="Google Shape;436;p60: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0" name="Shape 440"/>
        <p:cNvGrpSpPr/>
        <p:nvPr/>
      </p:nvGrpSpPr>
      <p:grpSpPr>
        <a:xfrm>
          <a:off x="0" y="0"/>
          <a:ext cx="0" cy="0"/>
          <a:chOff x="0" y="0"/>
          <a:chExt cx="0" cy="0"/>
        </a:xfrm>
      </p:grpSpPr>
      <p:sp>
        <p:nvSpPr>
          <p:cNvPr id="441" name="Google Shape;441;p61: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442" name="Google Shape;442;p6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6" name="Shape 446"/>
        <p:cNvGrpSpPr/>
        <p:nvPr/>
      </p:nvGrpSpPr>
      <p:grpSpPr>
        <a:xfrm>
          <a:off x="0" y="0"/>
          <a:ext cx="0" cy="0"/>
          <a:chOff x="0" y="0"/>
          <a:chExt cx="0" cy="0"/>
        </a:xfrm>
      </p:grpSpPr>
      <p:sp>
        <p:nvSpPr>
          <p:cNvPr id="447" name="Google Shape;447;p62: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62: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3" name="Shape 453"/>
        <p:cNvGrpSpPr/>
        <p:nvPr/>
      </p:nvGrpSpPr>
      <p:grpSpPr>
        <a:xfrm>
          <a:off x="0" y="0"/>
          <a:ext cx="0" cy="0"/>
          <a:chOff x="0" y="0"/>
          <a:chExt cx="0" cy="0"/>
        </a:xfrm>
      </p:grpSpPr>
      <p:sp>
        <p:nvSpPr>
          <p:cNvPr id="454" name="Google Shape;454;p63: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5" name="Google Shape;455;p63: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0" name="Shape 460"/>
        <p:cNvGrpSpPr/>
        <p:nvPr/>
      </p:nvGrpSpPr>
      <p:grpSpPr>
        <a:xfrm>
          <a:off x="0" y="0"/>
          <a:ext cx="0" cy="0"/>
          <a:chOff x="0" y="0"/>
          <a:chExt cx="0" cy="0"/>
        </a:xfrm>
      </p:grpSpPr>
      <p:sp>
        <p:nvSpPr>
          <p:cNvPr id="461" name="Google Shape;461;p64: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2" name="Google Shape;462;p64: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6" name="Shape 466"/>
        <p:cNvGrpSpPr/>
        <p:nvPr/>
      </p:nvGrpSpPr>
      <p:grpSpPr>
        <a:xfrm>
          <a:off x="0" y="0"/>
          <a:ext cx="0" cy="0"/>
          <a:chOff x="0" y="0"/>
          <a:chExt cx="0" cy="0"/>
        </a:xfrm>
      </p:grpSpPr>
      <p:sp>
        <p:nvSpPr>
          <p:cNvPr id="467" name="Google Shape;467;p65: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p65: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2" name="Shape 472"/>
        <p:cNvGrpSpPr/>
        <p:nvPr/>
      </p:nvGrpSpPr>
      <p:grpSpPr>
        <a:xfrm>
          <a:off x="0" y="0"/>
          <a:ext cx="0" cy="0"/>
          <a:chOff x="0" y="0"/>
          <a:chExt cx="0" cy="0"/>
        </a:xfrm>
      </p:grpSpPr>
      <p:sp>
        <p:nvSpPr>
          <p:cNvPr id="473" name="Google Shape;473;p66: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4" name="Google Shape;474;p66: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9" name="Shape 479"/>
        <p:cNvGrpSpPr/>
        <p:nvPr/>
      </p:nvGrpSpPr>
      <p:grpSpPr>
        <a:xfrm>
          <a:off x="0" y="0"/>
          <a:ext cx="0" cy="0"/>
          <a:chOff x="0" y="0"/>
          <a:chExt cx="0" cy="0"/>
        </a:xfrm>
      </p:grpSpPr>
      <p:sp>
        <p:nvSpPr>
          <p:cNvPr id="480" name="Google Shape;480;p67: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481" name="Google Shape;481;p67: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5" name="Shape 485"/>
        <p:cNvGrpSpPr/>
        <p:nvPr/>
      </p:nvGrpSpPr>
      <p:grpSpPr>
        <a:xfrm>
          <a:off x="0" y="0"/>
          <a:ext cx="0" cy="0"/>
          <a:chOff x="0" y="0"/>
          <a:chExt cx="0" cy="0"/>
        </a:xfrm>
      </p:grpSpPr>
      <p:sp>
        <p:nvSpPr>
          <p:cNvPr id="486" name="Google Shape;486;p68: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7" name="Google Shape;487;p68: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1" name="Shape 491"/>
        <p:cNvGrpSpPr/>
        <p:nvPr/>
      </p:nvGrpSpPr>
      <p:grpSpPr>
        <a:xfrm>
          <a:off x="0" y="0"/>
          <a:ext cx="0" cy="0"/>
          <a:chOff x="0" y="0"/>
          <a:chExt cx="0" cy="0"/>
        </a:xfrm>
      </p:grpSpPr>
      <p:sp>
        <p:nvSpPr>
          <p:cNvPr id="492" name="Google Shape;492;p69:notes"/>
          <p:cNvSpPr/>
          <p:nvPr>
            <p:ph type="sldImg" idx="2"/>
          </p:nvPr>
        </p:nvSpPr>
        <p:spPr>
          <a:xfrm>
            <a:off x="11176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3" name="Google Shape;493;p69:notes"/>
          <p:cNvSpPr txBox="1"/>
          <p:nvPr>
            <p:ph type="body" idx="1"/>
          </p:nvPr>
        </p:nvSpPr>
        <p:spPr>
          <a:xfrm>
            <a:off x="688975" y="4416425"/>
            <a:ext cx="5505450" cy="4183063"/>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7" name="Shape 497"/>
        <p:cNvGrpSpPr/>
        <p:nvPr/>
      </p:nvGrpSpPr>
      <p:grpSpPr>
        <a:xfrm>
          <a:off x="0" y="0"/>
          <a:ext cx="0" cy="0"/>
          <a:chOff x="0" y="0"/>
          <a:chExt cx="0" cy="0"/>
        </a:xfrm>
      </p:grpSpPr>
      <p:sp>
        <p:nvSpPr>
          <p:cNvPr id="498" name="Google Shape;498;p70: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fld>
            <a:endParaRPr sz="12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99" name="Google Shape;499;p70: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0" name="Google Shape;500;p70:notes"/>
          <p:cNvSpPr txBox="1"/>
          <p:nvPr>
            <p:ph type="body" idx="1"/>
          </p:nvPr>
        </p:nvSpPr>
        <p:spPr>
          <a:xfrm>
            <a:off x="931414" y="4410392"/>
            <a:ext cx="5134874" cy="4175763"/>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5" name="Shape 505"/>
        <p:cNvGrpSpPr/>
        <p:nvPr/>
      </p:nvGrpSpPr>
      <p:grpSpPr>
        <a:xfrm>
          <a:off x="0" y="0"/>
          <a:ext cx="0" cy="0"/>
          <a:chOff x="0" y="0"/>
          <a:chExt cx="0" cy="0"/>
        </a:xfrm>
      </p:grpSpPr>
      <p:sp>
        <p:nvSpPr>
          <p:cNvPr id="506" name="Google Shape;506;p71: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507" name="Google Shape;507;p7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4" name="Shape 514"/>
        <p:cNvGrpSpPr/>
        <p:nvPr/>
      </p:nvGrpSpPr>
      <p:grpSpPr>
        <a:xfrm>
          <a:off x="0" y="0"/>
          <a:ext cx="0" cy="0"/>
          <a:chOff x="0" y="0"/>
          <a:chExt cx="0" cy="0"/>
        </a:xfrm>
      </p:grpSpPr>
      <p:sp>
        <p:nvSpPr>
          <p:cNvPr id="515" name="Google Shape;515;p72: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516" name="Google Shape;516;p72: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1" name="Shape 521"/>
        <p:cNvGrpSpPr/>
        <p:nvPr/>
      </p:nvGrpSpPr>
      <p:grpSpPr>
        <a:xfrm>
          <a:off x="0" y="0"/>
          <a:ext cx="0" cy="0"/>
          <a:chOff x="0" y="0"/>
          <a:chExt cx="0" cy="0"/>
        </a:xfrm>
      </p:grpSpPr>
      <p:sp>
        <p:nvSpPr>
          <p:cNvPr id="522" name="Google Shape;522;p73: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523" name="Google Shape;523;p73: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8" name="Shape 528"/>
        <p:cNvGrpSpPr/>
        <p:nvPr/>
      </p:nvGrpSpPr>
      <p:grpSpPr>
        <a:xfrm>
          <a:off x="0" y="0"/>
          <a:ext cx="0" cy="0"/>
          <a:chOff x="0" y="0"/>
          <a:chExt cx="0" cy="0"/>
        </a:xfrm>
      </p:grpSpPr>
      <p:sp>
        <p:nvSpPr>
          <p:cNvPr id="529" name="Google Shape;529;p74: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0" name="Google Shape;530;p7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1" name="Google Shape;531;p74: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21" name="Shape 21"/>
        <p:cNvGrpSpPr/>
        <p:nvPr/>
      </p:nvGrpSpPr>
      <p:grpSpPr>
        <a:xfrm>
          <a:off x="0" y="0"/>
          <a:ext cx="0" cy="0"/>
          <a:chOff x="0" y="0"/>
          <a:chExt cx="0" cy="0"/>
        </a:xfrm>
      </p:grpSpPr>
      <p:grpSp>
        <p:nvGrpSpPr>
          <p:cNvPr id="22" name="Google Shape;22;p76"/>
          <p:cNvGrpSpPr/>
          <p:nvPr/>
        </p:nvGrpSpPr>
        <p:grpSpPr>
          <a:xfrm>
            <a:off x="198438" y="2960688"/>
            <a:ext cx="8610600" cy="201612"/>
            <a:chOff x="125" y="1865"/>
            <a:chExt cx="5424" cy="127"/>
          </a:xfrm>
        </p:grpSpPr>
        <p:sp>
          <p:nvSpPr>
            <p:cNvPr id="23" name="Google Shape;23;p76"/>
            <p:cNvSpPr/>
            <p:nvPr/>
          </p:nvSpPr>
          <p:spPr>
            <a:xfrm>
              <a:off x="125" y="1865"/>
              <a:ext cx="1808" cy="127"/>
            </a:xfrm>
            <a:prstGeom prst="rect">
              <a:avLst/>
            </a:prstGeom>
            <a:solidFill>
              <a:srgbClr val="33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24" name="Google Shape;24;p76"/>
            <p:cNvSpPr/>
            <p:nvPr/>
          </p:nvSpPr>
          <p:spPr>
            <a:xfrm>
              <a:off x="1933" y="1865"/>
              <a:ext cx="1808" cy="127"/>
            </a:xfrm>
            <a:prstGeom prst="rect">
              <a:avLst/>
            </a:prstGeom>
            <a:solidFill>
              <a:srgbClr val="99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25" name="Google Shape;25;p76"/>
            <p:cNvSpPr/>
            <p:nvPr/>
          </p:nvSpPr>
          <p:spPr>
            <a:xfrm>
              <a:off x="3741" y="1865"/>
              <a:ext cx="1808" cy="127"/>
            </a:xfrm>
            <a:prstGeom prst="rect">
              <a:avLst/>
            </a:prstGeom>
            <a:solidFill>
              <a:srgbClr val="33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grpSp>
      <p:sp>
        <p:nvSpPr>
          <p:cNvPr id="26" name="Google Shape;26;p76"/>
          <p:cNvSpPr txBox="1"/>
          <p:nvPr/>
        </p:nvSpPr>
        <p:spPr>
          <a:xfrm>
            <a:off x="6489700" y="6588125"/>
            <a:ext cx="2713038"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rPr>
              <a:t>Silberschatz, Galvin and Gagne ©2018</a:t>
            </a:r>
            <a:endPar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7" name="Google Shape;27;p76"/>
          <p:cNvSpPr txBox="1"/>
          <p:nvPr/>
        </p:nvSpPr>
        <p:spPr>
          <a:xfrm>
            <a:off x="26988" y="6613525"/>
            <a:ext cx="2701925" cy="2460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rPr>
              <a:t>Operating System Concepts – 10</a:t>
            </a:r>
            <a:r>
              <a:rPr lang="en-US" sz="1000" b="1" i="0" u="none" strike="noStrike" cap="none" baseline="30000">
                <a:solidFill>
                  <a:srgbClr val="336699"/>
                </a:solidFill>
                <a:latin typeface="Helvetica Neue" panose="020B0604020202020204"/>
                <a:ea typeface="Helvetica Neue" panose="020B0604020202020204"/>
                <a:cs typeface="Helvetica Neue" panose="020B0604020202020204"/>
                <a:sym typeface="Helvetica Neue" panose="020B0604020202020204"/>
              </a:rPr>
              <a:t>h</a:t>
            </a:r>
            <a:r>
              <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rPr>
              <a:t> Edition</a:t>
            </a:r>
            <a:endPar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28" name="Google Shape;28;p76" descr="dino_4"/>
          <p:cNvPicPr preferRelativeResize="0"/>
          <p:nvPr/>
        </p:nvPicPr>
        <p:blipFill rotWithShape="1">
          <a:blip r:embed="rId2"/>
          <a:srcRect/>
          <a:stretch>
            <a:fillRect/>
          </a:stretch>
        </p:blipFill>
        <p:spPr>
          <a:xfrm>
            <a:off x="3360738" y="4157663"/>
            <a:ext cx="2062162" cy="1593850"/>
          </a:xfrm>
          <a:prstGeom prst="rect">
            <a:avLst/>
          </a:prstGeom>
          <a:noFill/>
          <a:ln w="76200" cap="flat" cmpd="sng">
            <a:solidFill>
              <a:srgbClr val="336699"/>
            </a:solidFill>
            <a:prstDash val="solid"/>
            <a:miter lim="800000"/>
            <a:headEnd type="none" w="sm" len="sm"/>
            <a:tailEnd type="none" w="sm" len="sm"/>
          </a:ln>
        </p:spPr>
      </p:pic>
      <p:sp>
        <p:nvSpPr>
          <p:cNvPr id="29" name="Google Shape;29;p76"/>
          <p:cNvSpPr/>
          <p:nvPr/>
        </p:nvSpPr>
        <p:spPr>
          <a:xfrm>
            <a:off x="3224213" y="4006850"/>
            <a:ext cx="2336800" cy="1887538"/>
          </a:xfrm>
          <a:prstGeom prst="rect">
            <a:avLst/>
          </a:prstGeom>
          <a:noFill/>
          <a:ln w="57150" cap="flat" cmpd="thinThick">
            <a:solidFill>
              <a:srgbClr val="66CC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30" name="Google Shape;30;p76"/>
          <p:cNvSpPr txBox="1"/>
          <p:nvPr>
            <p:ph type="ctrTitle"/>
          </p:nvPr>
        </p:nvSpPr>
        <p:spPr>
          <a:xfrm>
            <a:off x="685800" y="685800"/>
            <a:ext cx="7772400" cy="21272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31" name="Shape 3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2" name="Shape 32"/>
        <p:cNvGrpSpPr/>
        <p:nvPr/>
      </p:nvGrpSpPr>
      <p:grpSpPr>
        <a:xfrm>
          <a:off x="0" y="0"/>
          <a:ext cx="0" cy="0"/>
          <a:chOff x="0" y="0"/>
          <a:chExt cx="0" cy="0"/>
        </a:xfrm>
      </p:grpSpPr>
      <p:sp>
        <p:nvSpPr>
          <p:cNvPr id="33" name="Google Shape;33;p78"/>
          <p:cNvSpPr txBox="1"/>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 name="Google Shape;34;p78"/>
          <p:cNvSpPr txBox="1"/>
          <p:nvPr>
            <p:ph type="body" idx="1"/>
          </p:nvPr>
        </p:nvSpPr>
        <p:spPr>
          <a:xfrm>
            <a:off x="806450" y="1233488"/>
            <a:ext cx="8229600" cy="4530725"/>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5" name="Shape 35"/>
        <p:cNvGrpSpPr/>
        <p:nvPr/>
      </p:nvGrpSpPr>
      <p:grpSpPr>
        <a:xfrm>
          <a:off x="0" y="0"/>
          <a:ext cx="0" cy="0"/>
          <a:chOff x="0" y="0"/>
          <a:chExt cx="0" cy="0"/>
        </a:xfrm>
      </p:grpSpPr>
      <p:sp>
        <p:nvSpPr>
          <p:cNvPr id="36" name="Google Shape;36;p79"/>
          <p:cNvSpPr txBox="1"/>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79"/>
          <p:cNvSpPr txBox="1"/>
          <p:nvPr>
            <p:ph type="body" idx="1"/>
          </p:nvPr>
        </p:nvSpPr>
        <p:spPr>
          <a:xfrm>
            <a:off x="806450" y="1233488"/>
            <a:ext cx="4038600" cy="4530725"/>
          </a:xfrm>
          <a:prstGeom prst="rect">
            <a:avLst/>
          </a:prstGeom>
          <a:noFill/>
          <a:ln>
            <a:noFill/>
          </a:ln>
        </p:spPr>
        <p:txBody>
          <a:bodyPr spcFirstLastPara="1" wrap="square" lIns="91425" tIns="45700" rIns="91425" bIns="45700" anchor="t" anchorCtr="0">
            <a:noAutofit/>
          </a:bodyPr>
          <a:lstStyle>
            <a:lvl1pPr marL="457200" lvl="0" indent="-424180" algn="l">
              <a:spcBef>
                <a:spcPts val="980"/>
              </a:spcBef>
              <a:spcAft>
                <a:spcPts val="0"/>
              </a:spcAft>
              <a:buSzPts val="3080"/>
              <a:buChar char="▪"/>
              <a:defRPr sz="2800"/>
            </a:lvl1pPr>
            <a:lvl2pPr marL="914400" lvl="1" indent="-396240" algn="l">
              <a:spcBef>
                <a:spcPts val="840"/>
              </a:spcBef>
              <a:spcAft>
                <a:spcPts val="0"/>
              </a:spcAft>
              <a:buSzPts val="2640"/>
              <a:buChar char="•"/>
              <a:defRPr sz="2400"/>
            </a:lvl2pPr>
            <a:lvl3pPr marL="1371600" lvl="2" indent="-323850" algn="l">
              <a:spcBef>
                <a:spcPts val="700"/>
              </a:spcBef>
              <a:spcAft>
                <a:spcPts val="0"/>
              </a:spcAft>
              <a:buSzPts val="1500"/>
              <a:buChar char="4"/>
              <a:defRPr sz="2000"/>
            </a:lvl3pPr>
            <a:lvl4pPr marL="1828800" lvl="3" indent="-314325" algn="l">
              <a:spcBef>
                <a:spcPts val="630"/>
              </a:spcBef>
              <a:spcAft>
                <a:spcPts val="0"/>
              </a:spcAft>
              <a:buSzPts val="1350"/>
              <a:buFont typeface="Helvetica Neue" panose="020B0604020202020204"/>
              <a:buChar char="–"/>
              <a:defRPr sz="1800"/>
            </a:lvl4pPr>
            <a:lvl5pPr marL="2286000" lvl="4" indent="-314325" algn="l">
              <a:spcBef>
                <a:spcPts val="630"/>
              </a:spcBef>
              <a:spcAft>
                <a:spcPts val="0"/>
              </a:spcAft>
              <a:buSzPts val="1350"/>
              <a:buFont typeface="Helvetica Neue" panose="020B0604020202020204"/>
              <a:buChar char="»"/>
              <a:defRPr sz="1800"/>
            </a:lvl5pPr>
            <a:lvl6pPr marL="2743200" lvl="5" indent="-314325" algn="l">
              <a:spcBef>
                <a:spcPts val="630"/>
              </a:spcBef>
              <a:spcAft>
                <a:spcPts val="0"/>
              </a:spcAft>
              <a:buSzPts val="1350"/>
              <a:buFont typeface="Helvetica Neue" panose="020B0604020202020204"/>
              <a:buChar char="»"/>
              <a:defRPr sz="1800"/>
            </a:lvl6pPr>
            <a:lvl7pPr marL="3200400" lvl="6" indent="-314325" algn="l">
              <a:spcBef>
                <a:spcPts val="630"/>
              </a:spcBef>
              <a:spcAft>
                <a:spcPts val="0"/>
              </a:spcAft>
              <a:buSzPts val="1350"/>
              <a:buFont typeface="Helvetica Neue" panose="020B0604020202020204"/>
              <a:buChar char="»"/>
              <a:defRPr sz="1800"/>
            </a:lvl7pPr>
            <a:lvl8pPr marL="3657600" lvl="7" indent="-314325" algn="l">
              <a:spcBef>
                <a:spcPts val="630"/>
              </a:spcBef>
              <a:spcAft>
                <a:spcPts val="0"/>
              </a:spcAft>
              <a:buSzPts val="1350"/>
              <a:buFont typeface="Helvetica Neue" panose="020B0604020202020204"/>
              <a:buChar char="»"/>
              <a:defRPr sz="1800"/>
            </a:lvl8pPr>
            <a:lvl9pPr marL="4114800" lvl="8" indent="-314325" algn="l">
              <a:spcBef>
                <a:spcPts val="630"/>
              </a:spcBef>
              <a:spcAft>
                <a:spcPts val="0"/>
              </a:spcAft>
              <a:buSzPts val="1350"/>
              <a:buFont typeface="Helvetica Neue" panose="020B0604020202020204"/>
              <a:buChar char="»"/>
              <a:defRPr sz="1800"/>
            </a:lvl9pPr>
          </a:lstStyle>
          <a:p/>
        </p:txBody>
      </p:sp>
      <p:sp>
        <p:nvSpPr>
          <p:cNvPr id="38" name="Google Shape;38;p79"/>
          <p:cNvSpPr txBox="1"/>
          <p:nvPr>
            <p:ph type="body" idx="2"/>
          </p:nvPr>
        </p:nvSpPr>
        <p:spPr>
          <a:xfrm>
            <a:off x="4997450" y="1233488"/>
            <a:ext cx="4038600" cy="4530725"/>
          </a:xfrm>
          <a:prstGeom prst="rect">
            <a:avLst/>
          </a:prstGeom>
          <a:noFill/>
          <a:ln>
            <a:noFill/>
          </a:ln>
        </p:spPr>
        <p:txBody>
          <a:bodyPr spcFirstLastPara="1" wrap="square" lIns="91425" tIns="45700" rIns="91425" bIns="45700" anchor="t" anchorCtr="0">
            <a:noAutofit/>
          </a:bodyPr>
          <a:lstStyle>
            <a:lvl1pPr marL="457200" lvl="0" indent="-424180" algn="l">
              <a:spcBef>
                <a:spcPts val="980"/>
              </a:spcBef>
              <a:spcAft>
                <a:spcPts val="0"/>
              </a:spcAft>
              <a:buSzPts val="3080"/>
              <a:buChar char="▪"/>
              <a:defRPr sz="2800"/>
            </a:lvl1pPr>
            <a:lvl2pPr marL="914400" lvl="1" indent="-396240" algn="l">
              <a:spcBef>
                <a:spcPts val="840"/>
              </a:spcBef>
              <a:spcAft>
                <a:spcPts val="0"/>
              </a:spcAft>
              <a:buSzPts val="2640"/>
              <a:buChar char="•"/>
              <a:defRPr sz="2400"/>
            </a:lvl2pPr>
            <a:lvl3pPr marL="1371600" lvl="2" indent="-323850" algn="l">
              <a:spcBef>
                <a:spcPts val="700"/>
              </a:spcBef>
              <a:spcAft>
                <a:spcPts val="0"/>
              </a:spcAft>
              <a:buSzPts val="1500"/>
              <a:buChar char="4"/>
              <a:defRPr sz="2000"/>
            </a:lvl3pPr>
            <a:lvl4pPr marL="1828800" lvl="3" indent="-314325" algn="l">
              <a:spcBef>
                <a:spcPts val="630"/>
              </a:spcBef>
              <a:spcAft>
                <a:spcPts val="0"/>
              </a:spcAft>
              <a:buSzPts val="1350"/>
              <a:buFont typeface="Helvetica Neue" panose="020B0604020202020204"/>
              <a:buChar char="–"/>
              <a:defRPr sz="1800"/>
            </a:lvl4pPr>
            <a:lvl5pPr marL="2286000" lvl="4" indent="-314325" algn="l">
              <a:spcBef>
                <a:spcPts val="630"/>
              </a:spcBef>
              <a:spcAft>
                <a:spcPts val="0"/>
              </a:spcAft>
              <a:buSzPts val="1350"/>
              <a:buFont typeface="Helvetica Neue" panose="020B0604020202020204"/>
              <a:buChar char="»"/>
              <a:defRPr sz="1800"/>
            </a:lvl5pPr>
            <a:lvl6pPr marL="2743200" lvl="5" indent="-314325" algn="l">
              <a:spcBef>
                <a:spcPts val="630"/>
              </a:spcBef>
              <a:spcAft>
                <a:spcPts val="0"/>
              </a:spcAft>
              <a:buSzPts val="1350"/>
              <a:buFont typeface="Helvetica Neue" panose="020B0604020202020204"/>
              <a:buChar char="»"/>
              <a:defRPr sz="1800"/>
            </a:lvl6pPr>
            <a:lvl7pPr marL="3200400" lvl="6" indent="-314325" algn="l">
              <a:spcBef>
                <a:spcPts val="630"/>
              </a:spcBef>
              <a:spcAft>
                <a:spcPts val="0"/>
              </a:spcAft>
              <a:buSzPts val="1350"/>
              <a:buFont typeface="Helvetica Neue" panose="020B0604020202020204"/>
              <a:buChar char="»"/>
              <a:defRPr sz="1800"/>
            </a:lvl7pPr>
            <a:lvl8pPr marL="3657600" lvl="7" indent="-314325" algn="l">
              <a:spcBef>
                <a:spcPts val="630"/>
              </a:spcBef>
              <a:spcAft>
                <a:spcPts val="0"/>
              </a:spcAft>
              <a:buSzPts val="1350"/>
              <a:buFont typeface="Helvetica Neue" panose="020B0604020202020204"/>
              <a:buChar char="»"/>
              <a:defRPr sz="1800"/>
            </a:lvl8pPr>
            <a:lvl9pPr marL="4114800" lvl="8" indent="-314325" algn="l">
              <a:spcBef>
                <a:spcPts val="630"/>
              </a:spcBef>
              <a:spcAft>
                <a:spcPts val="0"/>
              </a:spcAft>
              <a:buSzPts val="1350"/>
              <a:buFont typeface="Helvetica Neue" panose="020B0604020202020204"/>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9" name="Shape 39"/>
        <p:cNvGrpSpPr/>
        <p:nvPr/>
      </p:nvGrpSpPr>
      <p:grpSpPr>
        <a:xfrm>
          <a:off x="0" y="0"/>
          <a:ext cx="0" cy="0"/>
          <a:chOff x="0" y="0"/>
          <a:chExt cx="0" cy="0"/>
        </a:xfrm>
      </p:grpSpPr>
      <p:sp>
        <p:nvSpPr>
          <p:cNvPr id="40" name="Google Shape;40;p80"/>
          <p:cNvSpPr txBox="1"/>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41" name="Shape 41"/>
        <p:cNvGrpSpPr/>
        <p:nvPr/>
      </p:nvGrpSpPr>
      <p:grpSpPr>
        <a:xfrm>
          <a:off x="0" y="0"/>
          <a:ext cx="0" cy="0"/>
          <a:chOff x="0" y="0"/>
          <a:chExt cx="0" cy="0"/>
        </a:xfrm>
      </p:grpSpPr>
      <p:sp>
        <p:nvSpPr>
          <p:cNvPr id="42" name="Google Shape;42;p81"/>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81"/>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700"/>
              </a:spcBef>
              <a:spcAft>
                <a:spcPts val="0"/>
              </a:spcAft>
              <a:buSzPts val="2200"/>
              <a:buNone/>
              <a:defRPr sz="2000"/>
            </a:lvl1pPr>
            <a:lvl2pPr marL="914400" lvl="1" indent="-228600" algn="l">
              <a:spcBef>
                <a:spcPts val="630"/>
              </a:spcBef>
              <a:spcAft>
                <a:spcPts val="0"/>
              </a:spcAft>
              <a:buSzPts val="1980"/>
              <a:buNone/>
              <a:defRPr sz="1800"/>
            </a:lvl2pPr>
            <a:lvl3pPr marL="1371600" lvl="2" indent="-228600" algn="l">
              <a:spcBef>
                <a:spcPts val="560"/>
              </a:spcBef>
              <a:spcAft>
                <a:spcPts val="0"/>
              </a:spcAft>
              <a:buSzPts val="1200"/>
              <a:buNone/>
              <a:defRPr sz="1600"/>
            </a:lvl3pPr>
            <a:lvl4pPr marL="1828800" lvl="3" indent="-228600" algn="l">
              <a:spcBef>
                <a:spcPts val="490"/>
              </a:spcBef>
              <a:spcAft>
                <a:spcPts val="0"/>
              </a:spcAft>
              <a:buSzPts val="1050"/>
              <a:buFont typeface="Helvetica Neue" panose="020B0604020202020204"/>
              <a:buNone/>
              <a:defRPr sz="1400"/>
            </a:lvl4pPr>
            <a:lvl5pPr marL="2286000" lvl="4" indent="-228600" algn="l">
              <a:spcBef>
                <a:spcPts val="490"/>
              </a:spcBef>
              <a:spcAft>
                <a:spcPts val="0"/>
              </a:spcAft>
              <a:buSzPts val="1050"/>
              <a:buFont typeface="Helvetica Neue" panose="020B0604020202020204"/>
              <a:buNone/>
              <a:defRPr sz="1400"/>
            </a:lvl5pPr>
            <a:lvl6pPr marL="2743200" lvl="5" indent="-228600" algn="l">
              <a:spcBef>
                <a:spcPts val="490"/>
              </a:spcBef>
              <a:spcAft>
                <a:spcPts val="0"/>
              </a:spcAft>
              <a:buSzPts val="1050"/>
              <a:buFont typeface="Helvetica Neue" panose="020B0604020202020204"/>
              <a:buNone/>
              <a:defRPr sz="1400"/>
            </a:lvl6pPr>
            <a:lvl7pPr marL="3200400" lvl="6" indent="-228600" algn="l">
              <a:spcBef>
                <a:spcPts val="490"/>
              </a:spcBef>
              <a:spcAft>
                <a:spcPts val="0"/>
              </a:spcAft>
              <a:buSzPts val="1050"/>
              <a:buFont typeface="Helvetica Neue" panose="020B0604020202020204"/>
              <a:buNone/>
              <a:defRPr sz="1400"/>
            </a:lvl7pPr>
            <a:lvl8pPr marL="3657600" lvl="7" indent="-228600" algn="l">
              <a:spcBef>
                <a:spcPts val="490"/>
              </a:spcBef>
              <a:spcAft>
                <a:spcPts val="0"/>
              </a:spcAft>
              <a:buSzPts val="1050"/>
              <a:buFont typeface="Helvetica Neue" panose="020B0604020202020204"/>
              <a:buNone/>
              <a:defRPr sz="1400"/>
            </a:lvl8pPr>
            <a:lvl9pPr marL="4114800" lvl="8" indent="-228600" algn="l">
              <a:spcBef>
                <a:spcPts val="490"/>
              </a:spcBef>
              <a:spcAft>
                <a:spcPts val="0"/>
              </a:spcAft>
              <a:buSzPts val="1050"/>
              <a:buFont typeface="Helvetica Neue" panose="020B0604020202020204"/>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82"/>
          <p:cNvSpPr txBox="1"/>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82"/>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640"/>
              <a:buNone/>
              <a:defRPr sz="2400" b="1"/>
            </a:lvl1pPr>
            <a:lvl2pPr marL="914400" lvl="1" indent="-228600" algn="l">
              <a:spcBef>
                <a:spcPts val="700"/>
              </a:spcBef>
              <a:spcAft>
                <a:spcPts val="0"/>
              </a:spcAft>
              <a:buSzPts val="22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200"/>
              <a:buFont typeface="Helvetica Neue" panose="020B0604020202020204"/>
              <a:buNone/>
              <a:defRPr sz="1600" b="1"/>
            </a:lvl4pPr>
            <a:lvl5pPr marL="2286000" lvl="4" indent="-228600" algn="l">
              <a:spcBef>
                <a:spcPts val="560"/>
              </a:spcBef>
              <a:spcAft>
                <a:spcPts val="0"/>
              </a:spcAft>
              <a:buSzPts val="1200"/>
              <a:buFont typeface="Helvetica Neue" panose="020B0604020202020204"/>
              <a:buNone/>
              <a:defRPr sz="1600" b="1"/>
            </a:lvl5pPr>
            <a:lvl6pPr marL="2743200" lvl="5" indent="-228600" algn="l">
              <a:spcBef>
                <a:spcPts val="560"/>
              </a:spcBef>
              <a:spcAft>
                <a:spcPts val="0"/>
              </a:spcAft>
              <a:buSzPts val="1200"/>
              <a:buFont typeface="Helvetica Neue" panose="020B0604020202020204"/>
              <a:buNone/>
              <a:defRPr sz="1600" b="1"/>
            </a:lvl6pPr>
            <a:lvl7pPr marL="3200400" lvl="6" indent="-228600" algn="l">
              <a:spcBef>
                <a:spcPts val="560"/>
              </a:spcBef>
              <a:spcAft>
                <a:spcPts val="0"/>
              </a:spcAft>
              <a:buSzPts val="1200"/>
              <a:buFont typeface="Helvetica Neue" panose="020B0604020202020204"/>
              <a:buNone/>
              <a:defRPr sz="1600" b="1"/>
            </a:lvl7pPr>
            <a:lvl8pPr marL="3657600" lvl="7" indent="-228600" algn="l">
              <a:spcBef>
                <a:spcPts val="560"/>
              </a:spcBef>
              <a:spcAft>
                <a:spcPts val="0"/>
              </a:spcAft>
              <a:buSzPts val="1200"/>
              <a:buFont typeface="Helvetica Neue" panose="020B0604020202020204"/>
              <a:buNone/>
              <a:defRPr sz="1600" b="1"/>
            </a:lvl8pPr>
            <a:lvl9pPr marL="4114800" lvl="8" indent="-228600" algn="l">
              <a:spcBef>
                <a:spcPts val="560"/>
              </a:spcBef>
              <a:spcAft>
                <a:spcPts val="0"/>
              </a:spcAft>
              <a:buSzPts val="1200"/>
              <a:buFont typeface="Helvetica Neue" panose="020B0604020202020204"/>
              <a:buNone/>
              <a:defRPr sz="1600" b="1"/>
            </a:lvl9pPr>
          </a:lstStyle>
          <a:p/>
        </p:txBody>
      </p:sp>
      <p:sp>
        <p:nvSpPr>
          <p:cNvPr id="47" name="Google Shape;47;p82"/>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96240" algn="l">
              <a:spcBef>
                <a:spcPts val="840"/>
              </a:spcBef>
              <a:spcAft>
                <a:spcPts val="0"/>
              </a:spcAft>
              <a:buSzPts val="2640"/>
              <a:buChar char="▪"/>
              <a:defRPr sz="2400"/>
            </a:lvl1pPr>
            <a:lvl2pPr marL="914400" lvl="1" indent="-368300" algn="l">
              <a:spcBef>
                <a:spcPts val="700"/>
              </a:spcBef>
              <a:spcAft>
                <a:spcPts val="0"/>
              </a:spcAft>
              <a:buSzPts val="2200"/>
              <a:buChar char="•"/>
              <a:defRPr sz="2000"/>
            </a:lvl2pPr>
            <a:lvl3pPr marL="1371600" lvl="2" indent="-314325" algn="l">
              <a:spcBef>
                <a:spcPts val="630"/>
              </a:spcBef>
              <a:spcAft>
                <a:spcPts val="0"/>
              </a:spcAft>
              <a:buSzPts val="1350"/>
              <a:buChar char="4"/>
              <a:defRPr sz="1800"/>
            </a:lvl3pPr>
            <a:lvl4pPr marL="1828800" lvl="3" indent="-304800" algn="l">
              <a:spcBef>
                <a:spcPts val="560"/>
              </a:spcBef>
              <a:spcAft>
                <a:spcPts val="0"/>
              </a:spcAft>
              <a:buSzPts val="1200"/>
              <a:buFont typeface="Helvetica Neue" panose="020B0604020202020204"/>
              <a:buChar char="–"/>
              <a:defRPr sz="1600"/>
            </a:lvl4pPr>
            <a:lvl5pPr marL="2286000" lvl="4" indent="-304800" algn="l">
              <a:spcBef>
                <a:spcPts val="560"/>
              </a:spcBef>
              <a:spcAft>
                <a:spcPts val="0"/>
              </a:spcAft>
              <a:buSzPts val="1200"/>
              <a:buFont typeface="Helvetica Neue" panose="020B0604020202020204"/>
              <a:buChar char="»"/>
              <a:defRPr sz="1600"/>
            </a:lvl5pPr>
            <a:lvl6pPr marL="2743200" lvl="5" indent="-304800" algn="l">
              <a:spcBef>
                <a:spcPts val="560"/>
              </a:spcBef>
              <a:spcAft>
                <a:spcPts val="0"/>
              </a:spcAft>
              <a:buSzPts val="1200"/>
              <a:buFont typeface="Helvetica Neue" panose="020B0604020202020204"/>
              <a:buChar char="»"/>
              <a:defRPr sz="1600"/>
            </a:lvl6pPr>
            <a:lvl7pPr marL="3200400" lvl="6" indent="-304800" algn="l">
              <a:spcBef>
                <a:spcPts val="560"/>
              </a:spcBef>
              <a:spcAft>
                <a:spcPts val="0"/>
              </a:spcAft>
              <a:buSzPts val="1200"/>
              <a:buFont typeface="Helvetica Neue" panose="020B0604020202020204"/>
              <a:buChar char="»"/>
              <a:defRPr sz="1600"/>
            </a:lvl7pPr>
            <a:lvl8pPr marL="3657600" lvl="7" indent="-304800" algn="l">
              <a:spcBef>
                <a:spcPts val="560"/>
              </a:spcBef>
              <a:spcAft>
                <a:spcPts val="0"/>
              </a:spcAft>
              <a:buSzPts val="1200"/>
              <a:buFont typeface="Helvetica Neue" panose="020B0604020202020204"/>
              <a:buChar char="»"/>
              <a:defRPr sz="1600"/>
            </a:lvl8pPr>
            <a:lvl9pPr marL="4114800" lvl="8" indent="-304800" algn="l">
              <a:spcBef>
                <a:spcPts val="560"/>
              </a:spcBef>
              <a:spcAft>
                <a:spcPts val="0"/>
              </a:spcAft>
              <a:buSzPts val="1200"/>
              <a:buFont typeface="Helvetica Neue" panose="020B0604020202020204"/>
              <a:buChar char="»"/>
              <a:defRPr sz="1600"/>
            </a:lvl9pPr>
          </a:lstStyle>
          <a:p/>
        </p:txBody>
      </p:sp>
      <p:sp>
        <p:nvSpPr>
          <p:cNvPr id="48" name="Google Shape;48;p82"/>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640"/>
              <a:buNone/>
              <a:defRPr sz="2400" b="1"/>
            </a:lvl1pPr>
            <a:lvl2pPr marL="914400" lvl="1" indent="-228600" algn="l">
              <a:spcBef>
                <a:spcPts val="700"/>
              </a:spcBef>
              <a:spcAft>
                <a:spcPts val="0"/>
              </a:spcAft>
              <a:buSzPts val="22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200"/>
              <a:buFont typeface="Helvetica Neue" panose="020B0604020202020204"/>
              <a:buNone/>
              <a:defRPr sz="1600" b="1"/>
            </a:lvl4pPr>
            <a:lvl5pPr marL="2286000" lvl="4" indent="-228600" algn="l">
              <a:spcBef>
                <a:spcPts val="560"/>
              </a:spcBef>
              <a:spcAft>
                <a:spcPts val="0"/>
              </a:spcAft>
              <a:buSzPts val="1200"/>
              <a:buFont typeface="Helvetica Neue" panose="020B0604020202020204"/>
              <a:buNone/>
              <a:defRPr sz="1600" b="1"/>
            </a:lvl5pPr>
            <a:lvl6pPr marL="2743200" lvl="5" indent="-228600" algn="l">
              <a:spcBef>
                <a:spcPts val="560"/>
              </a:spcBef>
              <a:spcAft>
                <a:spcPts val="0"/>
              </a:spcAft>
              <a:buSzPts val="1200"/>
              <a:buFont typeface="Helvetica Neue" panose="020B0604020202020204"/>
              <a:buNone/>
              <a:defRPr sz="1600" b="1"/>
            </a:lvl6pPr>
            <a:lvl7pPr marL="3200400" lvl="6" indent="-228600" algn="l">
              <a:spcBef>
                <a:spcPts val="560"/>
              </a:spcBef>
              <a:spcAft>
                <a:spcPts val="0"/>
              </a:spcAft>
              <a:buSzPts val="1200"/>
              <a:buFont typeface="Helvetica Neue" panose="020B0604020202020204"/>
              <a:buNone/>
              <a:defRPr sz="1600" b="1"/>
            </a:lvl7pPr>
            <a:lvl8pPr marL="3657600" lvl="7" indent="-228600" algn="l">
              <a:spcBef>
                <a:spcPts val="560"/>
              </a:spcBef>
              <a:spcAft>
                <a:spcPts val="0"/>
              </a:spcAft>
              <a:buSzPts val="1200"/>
              <a:buFont typeface="Helvetica Neue" panose="020B0604020202020204"/>
              <a:buNone/>
              <a:defRPr sz="1600" b="1"/>
            </a:lvl8pPr>
            <a:lvl9pPr marL="4114800" lvl="8" indent="-228600" algn="l">
              <a:spcBef>
                <a:spcPts val="560"/>
              </a:spcBef>
              <a:spcAft>
                <a:spcPts val="0"/>
              </a:spcAft>
              <a:buSzPts val="1200"/>
              <a:buFont typeface="Helvetica Neue" panose="020B0604020202020204"/>
              <a:buNone/>
              <a:defRPr sz="1600" b="1"/>
            </a:lvl9pPr>
          </a:lstStyle>
          <a:p/>
        </p:txBody>
      </p:sp>
      <p:sp>
        <p:nvSpPr>
          <p:cNvPr id="49" name="Google Shape;49;p82"/>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96240" algn="l">
              <a:spcBef>
                <a:spcPts val="840"/>
              </a:spcBef>
              <a:spcAft>
                <a:spcPts val="0"/>
              </a:spcAft>
              <a:buSzPts val="2640"/>
              <a:buChar char="▪"/>
              <a:defRPr sz="2400"/>
            </a:lvl1pPr>
            <a:lvl2pPr marL="914400" lvl="1" indent="-368300" algn="l">
              <a:spcBef>
                <a:spcPts val="700"/>
              </a:spcBef>
              <a:spcAft>
                <a:spcPts val="0"/>
              </a:spcAft>
              <a:buSzPts val="2200"/>
              <a:buChar char="•"/>
              <a:defRPr sz="2000"/>
            </a:lvl2pPr>
            <a:lvl3pPr marL="1371600" lvl="2" indent="-314325" algn="l">
              <a:spcBef>
                <a:spcPts val="630"/>
              </a:spcBef>
              <a:spcAft>
                <a:spcPts val="0"/>
              </a:spcAft>
              <a:buSzPts val="1350"/>
              <a:buChar char="4"/>
              <a:defRPr sz="1800"/>
            </a:lvl3pPr>
            <a:lvl4pPr marL="1828800" lvl="3" indent="-304800" algn="l">
              <a:spcBef>
                <a:spcPts val="560"/>
              </a:spcBef>
              <a:spcAft>
                <a:spcPts val="0"/>
              </a:spcAft>
              <a:buSzPts val="1200"/>
              <a:buFont typeface="Helvetica Neue" panose="020B0604020202020204"/>
              <a:buChar char="–"/>
              <a:defRPr sz="1600"/>
            </a:lvl4pPr>
            <a:lvl5pPr marL="2286000" lvl="4" indent="-304800" algn="l">
              <a:spcBef>
                <a:spcPts val="560"/>
              </a:spcBef>
              <a:spcAft>
                <a:spcPts val="0"/>
              </a:spcAft>
              <a:buSzPts val="1200"/>
              <a:buFont typeface="Helvetica Neue" panose="020B0604020202020204"/>
              <a:buChar char="»"/>
              <a:defRPr sz="1600"/>
            </a:lvl5pPr>
            <a:lvl6pPr marL="2743200" lvl="5" indent="-304800" algn="l">
              <a:spcBef>
                <a:spcPts val="560"/>
              </a:spcBef>
              <a:spcAft>
                <a:spcPts val="0"/>
              </a:spcAft>
              <a:buSzPts val="1200"/>
              <a:buFont typeface="Helvetica Neue" panose="020B0604020202020204"/>
              <a:buChar char="»"/>
              <a:defRPr sz="1600"/>
            </a:lvl6pPr>
            <a:lvl7pPr marL="3200400" lvl="6" indent="-304800" algn="l">
              <a:spcBef>
                <a:spcPts val="560"/>
              </a:spcBef>
              <a:spcAft>
                <a:spcPts val="0"/>
              </a:spcAft>
              <a:buSzPts val="1200"/>
              <a:buFont typeface="Helvetica Neue" panose="020B0604020202020204"/>
              <a:buChar char="»"/>
              <a:defRPr sz="1600"/>
            </a:lvl7pPr>
            <a:lvl8pPr marL="3657600" lvl="7" indent="-304800" algn="l">
              <a:spcBef>
                <a:spcPts val="560"/>
              </a:spcBef>
              <a:spcAft>
                <a:spcPts val="0"/>
              </a:spcAft>
              <a:buSzPts val="1200"/>
              <a:buFont typeface="Helvetica Neue" panose="020B0604020202020204"/>
              <a:buChar char="»"/>
              <a:defRPr sz="1600"/>
            </a:lvl8pPr>
            <a:lvl9pPr marL="4114800" lvl="8" indent="-304800" algn="l">
              <a:spcBef>
                <a:spcPts val="560"/>
              </a:spcBef>
              <a:spcAft>
                <a:spcPts val="0"/>
              </a:spcAft>
              <a:buSzPts val="1200"/>
              <a:buFont typeface="Helvetica Neue" panose="020B0604020202020204"/>
              <a:buChar char="»"/>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0" name="Shape 50"/>
        <p:cNvGrpSpPr/>
        <p:nvPr/>
      </p:nvGrpSpPr>
      <p:grpSpPr>
        <a:xfrm>
          <a:off x="0" y="0"/>
          <a:ext cx="0" cy="0"/>
          <a:chOff x="0" y="0"/>
          <a:chExt cx="0" cy="0"/>
        </a:xfrm>
      </p:grpSpPr>
      <p:sp>
        <p:nvSpPr>
          <p:cNvPr id="51" name="Google Shape;51;p83"/>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83"/>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52120" algn="l">
              <a:spcBef>
                <a:spcPts val="1120"/>
              </a:spcBef>
              <a:spcAft>
                <a:spcPts val="0"/>
              </a:spcAft>
              <a:buSzPts val="3520"/>
              <a:buChar char="▪"/>
              <a:defRPr sz="3200"/>
            </a:lvl1pPr>
            <a:lvl2pPr marL="914400" lvl="1" indent="-424180" algn="l">
              <a:spcBef>
                <a:spcPts val="980"/>
              </a:spcBef>
              <a:spcAft>
                <a:spcPts val="0"/>
              </a:spcAft>
              <a:buSzPts val="3080"/>
              <a:buFont typeface="Noto Sans Symbols"/>
              <a:buChar char="▪"/>
              <a:defRPr sz="2800"/>
            </a:lvl2pPr>
            <a:lvl3pPr marL="1371600" lvl="2" indent="-342900" algn="l">
              <a:spcBef>
                <a:spcPts val="840"/>
              </a:spcBef>
              <a:spcAft>
                <a:spcPts val="0"/>
              </a:spcAft>
              <a:buSzPts val="1800"/>
              <a:buChar char="4"/>
              <a:defRPr sz="2400"/>
            </a:lvl3pPr>
            <a:lvl4pPr marL="1828800" lvl="3" indent="-323850" algn="l">
              <a:spcBef>
                <a:spcPts val="700"/>
              </a:spcBef>
              <a:spcAft>
                <a:spcPts val="0"/>
              </a:spcAft>
              <a:buSzPts val="1500"/>
              <a:buFont typeface="Helvetica Neue" panose="020B0604020202020204"/>
              <a:buChar char="–"/>
              <a:defRPr sz="2000"/>
            </a:lvl4pPr>
            <a:lvl5pPr marL="2286000" lvl="4" indent="-323850" algn="l">
              <a:spcBef>
                <a:spcPts val="700"/>
              </a:spcBef>
              <a:spcAft>
                <a:spcPts val="0"/>
              </a:spcAft>
              <a:buSzPts val="1500"/>
              <a:buFont typeface="Helvetica Neue" panose="020B0604020202020204"/>
              <a:buChar char="»"/>
              <a:defRPr sz="2000"/>
            </a:lvl5pPr>
            <a:lvl6pPr marL="2743200" lvl="5" indent="-323850" algn="l">
              <a:spcBef>
                <a:spcPts val="700"/>
              </a:spcBef>
              <a:spcAft>
                <a:spcPts val="0"/>
              </a:spcAft>
              <a:buSzPts val="1500"/>
              <a:buFont typeface="Helvetica Neue" panose="020B0604020202020204"/>
              <a:buChar char="»"/>
              <a:defRPr sz="2000"/>
            </a:lvl6pPr>
            <a:lvl7pPr marL="3200400" lvl="6" indent="-323850" algn="l">
              <a:spcBef>
                <a:spcPts val="700"/>
              </a:spcBef>
              <a:spcAft>
                <a:spcPts val="0"/>
              </a:spcAft>
              <a:buSzPts val="1500"/>
              <a:buFont typeface="Helvetica Neue" panose="020B0604020202020204"/>
              <a:buChar char="»"/>
              <a:defRPr sz="2000"/>
            </a:lvl7pPr>
            <a:lvl8pPr marL="3657600" lvl="7" indent="-323850" algn="l">
              <a:spcBef>
                <a:spcPts val="700"/>
              </a:spcBef>
              <a:spcAft>
                <a:spcPts val="0"/>
              </a:spcAft>
              <a:buSzPts val="1500"/>
              <a:buFont typeface="Helvetica Neue" panose="020B0604020202020204"/>
              <a:buChar char="»"/>
              <a:defRPr sz="2000"/>
            </a:lvl8pPr>
            <a:lvl9pPr marL="4114800" lvl="8" indent="-323850" algn="l">
              <a:spcBef>
                <a:spcPts val="700"/>
              </a:spcBef>
              <a:spcAft>
                <a:spcPts val="0"/>
              </a:spcAft>
              <a:buSzPts val="1500"/>
              <a:buFont typeface="Helvetica Neue" panose="020B0604020202020204"/>
              <a:buChar char="»"/>
              <a:defRPr sz="2000"/>
            </a:lvl9pPr>
          </a:lstStyle>
          <a:p/>
        </p:txBody>
      </p:sp>
      <p:sp>
        <p:nvSpPr>
          <p:cNvPr id="53" name="Google Shape;53;p83"/>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540"/>
              <a:buNone/>
              <a:defRPr sz="1400"/>
            </a:lvl1pPr>
            <a:lvl2pPr marL="914400" lvl="1" indent="-228600" algn="l">
              <a:spcBef>
                <a:spcPts val="420"/>
              </a:spcBef>
              <a:spcAft>
                <a:spcPts val="0"/>
              </a:spcAft>
              <a:buSzPts val="132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675"/>
              <a:buFont typeface="Helvetica Neue" panose="020B0604020202020204"/>
              <a:buNone/>
              <a:defRPr sz="900"/>
            </a:lvl4pPr>
            <a:lvl5pPr marL="2286000" lvl="4" indent="-228600" algn="l">
              <a:spcBef>
                <a:spcPts val="315"/>
              </a:spcBef>
              <a:spcAft>
                <a:spcPts val="0"/>
              </a:spcAft>
              <a:buSzPts val="675"/>
              <a:buFont typeface="Helvetica Neue" panose="020B0604020202020204"/>
              <a:buNone/>
              <a:defRPr sz="900"/>
            </a:lvl5pPr>
            <a:lvl6pPr marL="2743200" lvl="5" indent="-228600" algn="l">
              <a:spcBef>
                <a:spcPts val="315"/>
              </a:spcBef>
              <a:spcAft>
                <a:spcPts val="0"/>
              </a:spcAft>
              <a:buSzPts val="675"/>
              <a:buFont typeface="Helvetica Neue" panose="020B0604020202020204"/>
              <a:buNone/>
              <a:defRPr sz="900"/>
            </a:lvl6pPr>
            <a:lvl7pPr marL="3200400" lvl="6" indent="-228600" algn="l">
              <a:spcBef>
                <a:spcPts val="315"/>
              </a:spcBef>
              <a:spcAft>
                <a:spcPts val="0"/>
              </a:spcAft>
              <a:buSzPts val="675"/>
              <a:buFont typeface="Helvetica Neue" panose="020B0604020202020204"/>
              <a:buNone/>
              <a:defRPr sz="900"/>
            </a:lvl7pPr>
            <a:lvl8pPr marL="3657600" lvl="7" indent="-228600" algn="l">
              <a:spcBef>
                <a:spcPts val="315"/>
              </a:spcBef>
              <a:spcAft>
                <a:spcPts val="0"/>
              </a:spcAft>
              <a:buSzPts val="675"/>
              <a:buFont typeface="Helvetica Neue" panose="020B0604020202020204"/>
              <a:buNone/>
              <a:defRPr sz="900"/>
            </a:lvl8pPr>
            <a:lvl9pPr marL="4114800" lvl="8" indent="-228600" algn="l">
              <a:spcBef>
                <a:spcPts val="315"/>
              </a:spcBef>
              <a:spcAft>
                <a:spcPts val="0"/>
              </a:spcAft>
              <a:buSzPts val="675"/>
              <a:buFont typeface="Helvetica Neue" panose="020B060402020202020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54" name="Shape 54"/>
        <p:cNvGrpSpPr/>
        <p:nvPr/>
      </p:nvGrpSpPr>
      <p:grpSpPr>
        <a:xfrm>
          <a:off x="0" y="0"/>
          <a:ext cx="0" cy="0"/>
          <a:chOff x="0" y="0"/>
          <a:chExt cx="0" cy="0"/>
        </a:xfrm>
      </p:grpSpPr>
      <p:sp>
        <p:nvSpPr>
          <p:cNvPr id="55" name="Google Shape;55;p84"/>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84"/>
          <p:cNvSpPr/>
          <p:nvPr>
            <p:ph type="pic" idx="2"/>
          </p:nvPr>
        </p:nvSpPr>
        <p:spPr>
          <a:xfrm>
            <a:off x="1792288" y="612775"/>
            <a:ext cx="5486400" cy="4114800"/>
          </a:xfrm>
          <a:prstGeom prst="rect">
            <a:avLst/>
          </a:prstGeom>
          <a:noFill/>
          <a:ln>
            <a:noFill/>
          </a:ln>
        </p:spPr>
      </p:sp>
      <p:sp>
        <p:nvSpPr>
          <p:cNvPr id="57" name="Google Shape;57;p84"/>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540"/>
              <a:buNone/>
              <a:defRPr sz="1400"/>
            </a:lvl1pPr>
            <a:lvl2pPr marL="914400" lvl="1" indent="-228600" algn="l">
              <a:spcBef>
                <a:spcPts val="420"/>
              </a:spcBef>
              <a:spcAft>
                <a:spcPts val="0"/>
              </a:spcAft>
              <a:buSzPts val="132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675"/>
              <a:buFont typeface="Helvetica Neue" panose="020B0604020202020204"/>
              <a:buNone/>
              <a:defRPr sz="900"/>
            </a:lvl4pPr>
            <a:lvl5pPr marL="2286000" lvl="4" indent="-228600" algn="l">
              <a:spcBef>
                <a:spcPts val="315"/>
              </a:spcBef>
              <a:spcAft>
                <a:spcPts val="0"/>
              </a:spcAft>
              <a:buSzPts val="675"/>
              <a:buFont typeface="Helvetica Neue" panose="020B0604020202020204"/>
              <a:buNone/>
              <a:defRPr sz="900"/>
            </a:lvl5pPr>
            <a:lvl6pPr marL="2743200" lvl="5" indent="-228600" algn="l">
              <a:spcBef>
                <a:spcPts val="315"/>
              </a:spcBef>
              <a:spcAft>
                <a:spcPts val="0"/>
              </a:spcAft>
              <a:buSzPts val="675"/>
              <a:buFont typeface="Helvetica Neue" panose="020B0604020202020204"/>
              <a:buNone/>
              <a:defRPr sz="900"/>
            </a:lvl6pPr>
            <a:lvl7pPr marL="3200400" lvl="6" indent="-228600" algn="l">
              <a:spcBef>
                <a:spcPts val="315"/>
              </a:spcBef>
              <a:spcAft>
                <a:spcPts val="0"/>
              </a:spcAft>
              <a:buSzPts val="675"/>
              <a:buFont typeface="Helvetica Neue" panose="020B0604020202020204"/>
              <a:buNone/>
              <a:defRPr sz="900"/>
            </a:lvl7pPr>
            <a:lvl8pPr marL="3657600" lvl="7" indent="-228600" algn="l">
              <a:spcBef>
                <a:spcPts val="315"/>
              </a:spcBef>
              <a:spcAft>
                <a:spcPts val="0"/>
              </a:spcAft>
              <a:buSzPts val="675"/>
              <a:buFont typeface="Helvetica Neue" panose="020B0604020202020204"/>
              <a:buNone/>
              <a:defRPr sz="900"/>
            </a:lvl8pPr>
            <a:lvl9pPr marL="4114800" lvl="8" indent="-228600" algn="l">
              <a:spcBef>
                <a:spcPts val="315"/>
              </a:spcBef>
              <a:spcAft>
                <a:spcPts val="0"/>
              </a:spcAft>
              <a:buSzPts val="675"/>
              <a:buFont typeface="Helvetica Neue" panose="020B0604020202020204"/>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58" name="Shape 58"/>
        <p:cNvGrpSpPr/>
        <p:nvPr/>
      </p:nvGrpSpPr>
      <p:grpSpPr>
        <a:xfrm>
          <a:off x="0" y="0"/>
          <a:ext cx="0" cy="0"/>
          <a:chOff x="0" y="0"/>
          <a:chExt cx="0" cy="0"/>
        </a:xfrm>
      </p:grpSpPr>
      <p:sp>
        <p:nvSpPr>
          <p:cNvPr id="59" name="Google Shape;59;p85"/>
          <p:cNvSpPr txBox="1"/>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85"/>
          <p:cNvSpPr txBox="1"/>
          <p:nvPr>
            <p:ph type="body" idx="1"/>
          </p:nvPr>
        </p:nvSpPr>
        <p:spPr>
          <a:xfrm rot="5400000">
            <a:off x="2655888" y="-615950"/>
            <a:ext cx="4530725" cy="8229600"/>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61" name="Shape 61"/>
        <p:cNvGrpSpPr/>
        <p:nvPr/>
      </p:nvGrpSpPr>
      <p:grpSpPr>
        <a:xfrm>
          <a:off x="0" y="0"/>
          <a:ext cx="0" cy="0"/>
          <a:chOff x="0" y="0"/>
          <a:chExt cx="0" cy="0"/>
        </a:xfrm>
      </p:grpSpPr>
      <p:sp>
        <p:nvSpPr>
          <p:cNvPr id="62" name="Google Shape;62;p86"/>
          <p:cNvSpPr txBox="1"/>
          <p:nvPr>
            <p:ph type="title"/>
          </p:nvPr>
        </p:nvSpPr>
        <p:spPr>
          <a:xfrm rot="5400000">
            <a:off x="5220494" y="1948657"/>
            <a:ext cx="5486400" cy="214471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86"/>
          <p:cNvSpPr txBox="1"/>
          <p:nvPr>
            <p:ph type="body" idx="1"/>
          </p:nvPr>
        </p:nvSpPr>
        <p:spPr>
          <a:xfrm rot="5400000">
            <a:off x="854869" y="-119856"/>
            <a:ext cx="5486400" cy="6281738"/>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AUTOLAYOUT">
    <p:spTree>
      <p:nvGrpSpPr>
        <p:cNvPr id="64" name="Shape 64"/>
        <p:cNvGrpSpPr/>
        <p:nvPr/>
      </p:nvGrpSpPr>
      <p:grpSpPr>
        <a:xfrm>
          <a:off x="0" y="0"/>
          <a:ext cx="0" cy="0"/>
          <a:chOff x="0" y="0"/>
          <a:chExt cx="0" cy="0"/>
        </a:xfrm>
      </p:grpSpPr>
      <p:sp>
        <p:nvSpPr>
          <p:cNvPr id="65" name="Google Shape;65;g12cf8383360_0_123"/>
          <p:cNvSpPr/>
          <p:nvPr/>
        </p:nvSpPr>
        <p:spPr>
          <a:xfrm>
            <a:off x="0" y="0"/>
            <a:ext cx="9144000"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g12cf8383360_0_123"/>
          <p:cNvSpPr/>
          <p:nvPr/>
        </p:nvSpPr>
        <p:spPr>
          <a:xfrm>
            <a:off x="0" y="0"/>
            <a:ext cx="9144000" cy="2471100"/>
          </a:xfrm>
          <a:prstGeom prst="rect">
            <a:avLst/>
          </a:prstGeom>
          <a:gradFill>
            <a:gsLst>
              <a:gs pos="0">
                <a:srgbClr val="696969"/>
              </a:gs>
              <a:gs pos="100000">
                <a:srgbClr val="1D1D1D"/>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g12cf8383360_0_123"/>
          <p:cNvSpPr/>
          <p:nvPr/>
        </p:nvSpPr>
        <p:spPr>
          <a:xfrm rot="-5400000">
            <a:off x="8218350" y="5831650"/>
            <a:ext cx="1056900" cy="792600"/>
          </a:xfrm>
          <a:prstGeom prst="rtTriangl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g12cf8383360_0_123"/>
          <p:cNvSpPr/>
          <p:nvPr/>
        </p:nvSpPr>
        <p:spPr>
          <a:xfrm rot="-5400000">
            <a:off x="6980850" y="308950"/>
            <a:ext cx="2471100" cy="1853400"/>
          </a:xfrm>
          <a:prstGeom prst="rtTriangle">
            <a:avLst/>
          </a:prstGeom>
          <a:solidFill>
            <a:srgbClr val="3366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 name="Google Shape;69;g12cf8383360_0_123"/>
          <p:cNvSpPr txBox="1"/>
          <p:nvPr>
            <p:ph type="title"/>
          </p:nvPr>
        </p:nvSpPr>
        <p:spPr>
          <a:xfrm>
            <a:off x="311700" y="1002267"/>
            <a:ext cx="6721500" cy="1343100"/>
          </a:xfrm>
          <a:prstGeom prst="rect">
            <a:avLst/>
          </a:prstGeom>
          <a:noFill/>
        </p:spPr>
        <p:txBody>
          <a:bodyPr spcFirstLastPara="1" wrap="square" lIns="91425" tIns="45700" rIns="91425" bIns="45700" anchor="b" anchorCtr="0">
            <a:noAutofit/>
          </a:bodyPr>
          <a:lstStyle>
            <a:lvl1pPr lvl="0" algn="l">
              <a:lnSpc>
                <a:spcPct val="100000"/>
              </a:lnSpc>
              <a:spcBef>
                <a:spcPts val="0"/>
              </a:spcBef>
              <a:spcAft>
                <a:spcPts val="0"/>
              </a:spcAft>
              <a:buClr>
                <a:srgbClr val="FFFFFF"/>
              </a:buClr>
              <a:buSzPts val="2800"/>
              <a:buNone/>
              <a:defRPr sz="2800">
                <a:solidFill>
                  <a:srgbClr val="FFFFFF"/>
                </a:solidFill>
              </a:defRPr>
            </a:lvl1pPr>
            <a:lvl2pPr lvl="1" algn="l">
              <a:lnSpc>
                <a:spcPct val="100000"/>
              </a:lnSpc>
              <a:spcBef>
                <a:spcPts val="0"/>
              </a:spcBef>
              <a:spcAft>
                <a:spcPts val="0"/>
              </a:spcAft>
              <a:buClr>
                <a:srgbClr val="FFFFFF"/>
              </a:buClr>
              <a:buSzPts val="2800"/>
              <a:buNone/>
              <a:defRPr sz="2800">
                <a:solidFill>
                  <a:srgbClr val="FFFFFF"/>
                </a:solidFill>
              </a:defRPr>
            </a:lvl2pPr>
            <a:lvl3pPr lvl="2" algn="l">
              <a:lnSpc>
                <a:spcPct val="100000"/>
              </a:lnSpc>
              <a:spcBef>
                <a:spcPts val="0"/>
              </a:spcBef>
              <a:spcAft>
                <a:spcPts val="0"/>
              </a:spcAft>
              <a:buClr>
                <a:srgbClr val="FFFFFF"/>
              </a:buClr>
              <a:buSzPts val="2800"/>
              <a:buNone/>
              <a:defRPr sz="2800">
                <a:solidFill>
                  <a:srgbClr val="FFFFFF"/>
                </a:solidFill>
              </a:defRPr>
            </a:lvl3pPr>
            <a:lvl4pPr lvl="3" algn="l">
              <a:lnSpc>
                <a:spcPct val="100000"/>
              </a:lnSpc>
              <a:spcBef>
                <a:spcPts val="0"/>
              </a:spcBef>
              <a:spcAft>
                <a:spcPts val="0"/>
              </a:spcAft>
              <a:buClr>
                <a:srgbClr val="FFFFFF"/>
              </a:buClr>
              <a:buSzPts val="2800"/>
              <a:buNone/>
              <a:defRPr sz="2800">
                <a:solidFill>
                  <a:srgbClr val="FFFFFF"/>
                </a:solidFill>
              </a:defRPr>
            </a:lvl4pPr>
            <a:lvl5pPr lvl="4" algn="l">
              <a:lnSpc>
                <a:spcPct val="100000"/>
              </a:lnSpc>
              <a:spcBef>
                <a:spcPts val="0"/>
              </a:spcBef>
              <a:spcAft>
                <a:spcPts val="0"/>
              </a:spcAft>
              <a:buClr>
                <a:srgbClr val="FFFFFF"/>
              </a:buClr>
              <a:buSzPts val="2800"/>
              <a:buNone/>
              <a:defRPr sz="2800">
                <a:solidFill>
                  <a:srgbClr val="FFFFFF"/>
                </a:solidFill>
              </a:defRPr>
            </a:lvl5pPr>
            <a:lvl6pPr lvl="5" algn="l">
              <a:lnSpc>
                <a:spcPct val="100000"/>
              </a:lnSpc>
              <a:spcBef>
                <a:spcPts val="0"/>
              </a:spcBef>
              <a:spcAft>
                <a:spcPts val="0"/>
              </a:spcAft>
              <a:buClr>
                <a:srgbClr val="FFFFFF"/>
              </a:buClr>
              <a:buSzPts val="2800"/>
              <a:buNone/>
              <a:defRPr sz="2800">
                <a:solidFill>
                  <a:srgbClr val="FFFFFF"/>
                </a:solidFill>
              </a:defRPr>
            </a:lvl6pPr>
            <a:lvl7pPr lvl="6" algn="l">
              <a:lnSpc>
                <a:spcPct val="100000"/>
              </a:lnSpc>
              <a:spcBef>
                <a:spcPts val="0"/>
              </a:spcBef>
              <a:spcAft>
                <a:spcPts val="0"/>
              </a:spcAft>
              <a:buClr>
                <a:srgbClr val="FFFFFF"/>
              </a:buClr>
              <a:buSzPts val="2800"/>
              <a:buNone/>
              <a:defRPr sz="2800">
                <a:solidFill>
                  <a:srgbClr val="FFFFFF"/>
                </a:solidFill>
              </a:defRPr>
            </a:lvl7pPr>
            <a:lvl8pPr lvl="7" algn="l">
              <a:lnSpc>
                <a:spcPct val="100000"/>
              </a:lnSpc>
              <a:spcBef>
                <a:spcPts val="0"/>
              </a:spcBef>
              <a:spcAft>
                <a:spcPts val="0"/>
              </a:spcAft>
              <a:buClr>
                <a:srgbClr val="FFFFFF"/>
              </a:buClr>
              <a:buSzPts val="2800"/>
              <a:buNone/>
              <a:defRPr sz="2800">
                <a:solidFill>
                  <a:srgbClr val="FFFFFF"/>
                </a:solidFill>
              </a:defRPr>
            </a:lvl8pPr>
            <a:lvl9pPr lvl="8" algn="l">
              <a:lnSpc>
                <a:spcPct val="100000"/>
              </a:lnSpc>
              <a:spcBef>
                <a:spcPts val="0"/>
              </a:spcBef>
              <a:spcAft>
                <a:spcPts val="0"/>
              </a:spcAft>
              <a:buClr>
                <a:srgbClr val="FFFFFF"/>
              </a:buClr>
              <a:buSzPts val="2800"/>
              <a:buNone/>
              <a:defRPr sz="2800">
                <a:solidFill>
                  <a:srgbClr val="FFFFFF"/>
                </a:solidFill>
              </a:defRPr>
            </a:lvl9pPr>
          </a:lstStyle>
          <a:p/>
        </p:txBody>
      </p:sp>
      <p:sp>
        <p:nvSpPr>
          <p:cNvPr id="70" name="Google Shape;70;g12cf8383360_0_123"/>
          <p:cNvSpPr txBox="1"/>
          <p:nvPr>
            <p:ph type="body" idx="1"/>
          </p:nvPr>
        </p:nvSpPr>
        <p:spPr>
          <a:xfrm>
            <a:off x="311700" y="2759667"/>
            <a:ext cx="8520600" cy="3332400"/>
          </a:xfrm>
          <a:prstGeom prst="rect">
            <a:avLst/>
          </a:prstGeom>
          <a:noFill/>
        </p:spPr>
        <p:txBody>
          <a:bodyPr spcFirstLastPara="1" wrap="square" lIns="91425" tIns="45700" rIns="91425" bIns="45700" anchor="t" anchorCtr="0">
            <a:noAutofit/>
          </a:bodyPr>
          <a:lstStyle>
            <a:lvl1pPr marL="457200" lvl="0" indent="-342900" algn="l">
              <a:lnSpc>
                <a:spcPct val="115000"/>
              </a:lnSpc>
              <a:spcBef>
                <a:spcPts val="630"/>
              </a:spcBef>
              <a:spcAft>
                <a:spcPts val="0"/>
              </a:spcAft>
              <a:buClr>
                <a:schemeClr val="dk2"/>
              </a:buClr>
              <a:buSzPts val="1800"/>
              <a:buChar char="▪"/>
              <a:defRPr sz="1800">
                <a:solidFill>
                  <a:schemeClr val="dk2"/>
                </a:solidFill>
              </a:defRPr>
            </a:lvl1pPr>
            <a:lvl2pPr marL="914400" lvl="1" indent="-354330" algn="l">
              <a:lnSpc>
                <a:spcPct val="115000"/>
              </a:lnSpc>
              <a:spcBef>
                <a:spcPts val="1600"/>
              </a:spcBef>
              <a:spcAft>
                <a:spcPts val="0"/>
              </a:spcAft>
              <a:buClr>
                <a:schemeClr val="dk2"/>
              </a:buClr>
              <a:buSzPts val="1980"/>
              <a:buChar char="•"/>
              <a:defRPr sz="1400">
                <a:solidFill>
                  <a:schemeClr val="dk2"/>
                </a:solidFill>
              </a:defRPr>
            </a:lvl2pPr>
            <a:lvl3pPr marL="1371600" lvl="2" indent="-314325" algn="l">
              <a:lnSpc>
                <a:spcPct val="115000"/>
              </a:lnSpc>
              <a:spcBef>
                <a:spcPts val="1600"/>
              </a:spcBef>
              <a:spcAft>
                <a:spcPts val="0"/>
              </a:spcAft>
              <a:buClr>
                <a:schemeClr val="dk2"/>
              </a:buClr>
              <a:buSzPts val="1350"/>
              <a:buChar char="4"/>
              <a:defRPr sz="1400">
                <a:solidFill>
                  <a:schemeClr val="dk2"/>
                </a:solidFill>
              </a:defRPr>
            </a:lvl3pPr>
            <a:lvl4pPr marL="1828800" lvl="3" indent="-314325" algn="l">
              <a:lnSpc>
                <a:spcPct val="115000"/>
              </a:lnSpc>
              <a:spcBef>
                <a:spcPts val="1600"/>
              </a:spcBef>
              <a:spcAft>
                <a:spcPts val="0"/>
              </a:spcAft>
              <a:buClr>
                <a:schemeClr val="dk2"/>
              </a:buClr>
              <a:buSzPts val="1350"/>
              <a:buChar char="–"/>
              <a:defRPr sz="1400">
                <a:solidFill>
                  <a:schemeClr val="dk2"/>
                </a:solidFill>
              </a:defRPr>
            </a:lvl4pPr>
            <a:lvl5pPr marL="2286000" lvl="4" indent="-314325" algn="l">
              <a:lnSpc>
                <a:spcPct val="115000"/>
              </a:lnSpc>
              <a:spcBef>
                <a:spcPts val="1600"/>
              </a:spcBef>
              <a:spcAft>
                <a:spcPts val="0"/>
              </a:spcAft>
              <a:buClr>
                <a:schemeClr val="dk2"/>
              </a:buClr>
              <a:buSzPts val="1350"/>
              <a:buChar char="»"/>
              <a:defRPr sz="1400">
                <a:solidFill>
                  <a:schemeClr val="dk2"/>
                </a:solidFill>
              </a:defRPr>
            </a:lvl5pPr>
            <a:lvl6pPr marL="2743200" lvl="5" indent="-314325" algn="l">
              <a:lnSpc>
                <a:spcPct val="115000"/>
              </a:lnSpc>
              <a:spcBef>
                <a:spcPts val="1600"/>
              </a:spcBef>
              <a:spcAft>
                <a:spcPts val="0"/>
              </a:spcAft>
              <a:buClr>
                <a:schemeClr val="dk2"/>
              </a:buClr>
              <a:buSzPts val="1350"/>
              <a:buChar char="»"/>
              <a:defRPr sz="1400">
                <a:solidFill>
                  <a:schemeClr val="dk2"/>
                </a:solidFill>
              </a:defRPr>
            </a:lvl6pPr>
            <a:lvl7pPr marL="3200400" lvl="6" indent="-314325" algn="l">
              <a:lnSpc>
                <a:spcPct val="115000"/>
              </a:lnSpc>
              <a:spcBef>
                <a:spcPts val="1600"/>
              </a:spcBef>
              <a:spcAft>
                <a:spcPts val="0"/>
              </a:spcAft>
              <a:buClr>
                <a:schemeClr val="dk2"/>
              </a:buClr>
              <a:buSzPts val="1350"/>
              <a:buChar char="»"/>
              <a:defRPr sz="1400">
                <a:solidFill>
                  <a:schemeClr val="dk2"/>
                </a:solidFill>
              </a:defRPr>
            </a:lvl7pPr>
            <a:lvl8pPr marL="3657600" lvl="7" indent="-314325" algn="l">
              <a:lnSpc>
                <a:spcPct val="115000"/>
              </a:lnSpc>
              <a:spcBef>
                <a:spcPts val="1600"/>
              </a:spcBef>
              <a:spcAft>
                <a:spcPts val="0"/>
              </a:spcAft>
              <a:buClr>
                <a:schemeClr val="dk2"/>
              </a:buClr>
              <a:buSzPts val="1350"/>
              <a:buChar char="»"/>
              <a:defRPr sz="1400">
                <a:solidFill>
                  <a:schemeClr val="dk2"/>
                </a:solidFill>
              </a:defRPr>
            </a:lvl8pPr>
            <a:lvl9pPr marL="4114800" lvl="8" indent="-314325" algn="l">
              <a:lnSpc>
                <a:spcPct val="115000"/>
              </a:lnSpc>
              <a:spcBef>
                <a:spcPts val="1600"/>
              </a:spcBef>
              <a:spcAft>
                <a:spcPts val="1600"/>
              </a:spcAft>
              <a:buClr>
                <a:schemeClr val="dk2"/>
              </a:buClr>
              <a:buSzPts val="1350"/>
              <a:buChar char="»"/>
              <a:defRPr sz="1400">
                <a:solidFill>
                  <a:schemeClr val="dk2"/>
                </a:solidFill>
              </a:defRPr>
            </a:lvl9pPr>
          </a:lstStyle>
          <a:p/>
        </p:txBody>
      </p:sp>
      <p:sp>
        <p:nvSpPr>
          <p:cNvPr id="71" name="Google Shape;71;g12cf8383360_0_123"/>
          <p:cNvSpPr txBox="1"/>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pic>
        <p:nvPicPr>
          <p:cNvPr id="10" name="Google Shape;10;p75" descr="dino_3"/>
          <p:cNvPicPr preferRelativeResize="0"/>
          <p:nvPr/>
        </p:nvPicPr>
        <p:blipFill rotWithShape="1">
          <a:blip r:embed="rId13"/>
          <a:srcRect/>
          <a:stretch>
            <a:fillRect/>
          </a:stretch>
        </p:blipFill>
        <p:spPr>
          <a:xfrm>
            <a:off x="285750" y="0"/>
            <a:ext cx="1195388" cy="908050"/>
          </a:xfrm>
          <a:prstGeom prst="rect">
            <a:avLst/>
          </a:prstGeom>
          <a:noFill/>
          <a:ln>
            <a:noFill/>
          </a:ln>
        </p:spPr>
      </p:pic>
      <p:sp>
        <p:nvSpPr>
          <p:cNvPr id="11" name="Google Shape;11;p75"/>
          <p:cNvSpPr txBox="1"/>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5pPr>
            <a:lvl6pPr marR="0" lvl="5"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6pPr>
            <a:lvl7pPr marR="0" lvl="6"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7pPr>
            <a:lvl8pPr marR="0" lvl="7"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8pPr>
            <a:lvl9pPr marR="0" lvl="8"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75"/>
          <p:cNvSpPr txBox="1"/>
          <p:nvPr>
            <p:ph type="body" idx="1"/>
          </p:nvPr>
        </p:nvSpPr>
        <p:spPr>
          <a:xfrm>
            <a:off x="806450" y="1233488"/>
            <a:ext cx="8229600" cy="4530725"/>
          </a:xfrm>
          <a:prstGeom prst="rect">
            <a:avLst/>
          </a:prstGeom>
          <a:noFill/>
          <a:ln>
            <a:noFill/>
          </a:ln>
        </p:spPr>
        <p:txBody>
          <a:bodyPr spcFirstLastPara="1" wrap="square" lIns="91425" tIns="45700" rIns="91425" bIns="45700" anchor="t" anchorCtr="0">
            <a:noAutofit/>
          </a:bodyPr>
          <a:lstStyle>
            <a:lvl1pPr marL="457200" marR="0" lvl="0" indent="-354330" algn="l" rtl="0">
              <a:spcBef>
                <a:spcPts val="630"/>
              </a:spcBef>
              <a:spcAft>
                <a:spcPts val="0"/>
              </a:spcAft>
              <a:buClr>
                <a:srgbClr val="993300"/>
              </a:buClr>
              <a:buSzPts val="1980"/>
              <a:buFont typeface="Noto Sans Symbols"/>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1pPr>
            <a:lvl2pPr marL="914400" marR="0" lvl="1" indent="-354330" algn="l" rtl="0">
              <a:spcBef>
                <a:spcPts val="630"/>
              </a:spcBef>
              <a:spcAft>
                <a:spcPts val="0"/>
              </a:spcAft>
              <a:buClr>
                <a:srgbClr val="CC6600"/>
              </a:buClr>
              <a:buSzPts val="1980"/>
              <a:buFont typeface="Arial"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2pPr>
            <a:lvl3pPr marL="1371600" marR="0" lvl="2" indent="-314325" algn="l" rtl="0">
              <a:spcBef>
                <a:spcPts val="630"/>
              </a:spcBef>
              <a:spcAft>
                <a:spcPts val="0"/>
              </a:spcAft>
              <a:buClr>
                <a:srgbClr val="009900"/>
              </a:buClr>
              <a:buSzPts val="1350"/>
              <a:buFont typeface="Arimo"/>
              <a:buChar char="4"/>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3pPr>
            <a:lvl4pPr marL="1828800" marR="0" lvl="3" indent="-314325" algn="l" rtl="0">
              <a:spcBef>
                <a:spcPts val="630"/>
              </a:spcBef>
              <a:spcAft>
                <a:spcPts val="0"/>
              </a:spcAft>
              <a:buClr>
                <a:schemeClr val="hlink"/>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4pPr>
            <a:lvl5pPr marL="2286000" marR="0" lvl="4"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5pPr>
            <a:lvl6pPr marL="2743200" marR="0" lvl="5"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6pPr>
            <a:lvl7pPr marL="3200400" marR="0" lvl="6"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7pPr>
            <a:lvl8pPr marL="3657600" marR="0" lvl="7"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8pPr>
            <a:lvl9pPr marL="4114800" marR="0" lvl="8"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9pPr>
          </a:lstStyle>
          <a:p/>
        </p:txBody>
      </p:sp>
      <p:sp>
        <p:nvSpPr>
          <p:cNvPr id="13" name="Google Shape;13;p75"/>
          <p:cNvSpPr/>
          <p:nvPr/>
        </p:nvSpPr>
        <p:spPr>
          <a:xfrm>
            <a:off x="0" y="0"/>
            <a:ext cx="228600" cy="2286000"/>
          </a:xfrm>
          <a:prstGeom prst="rect">
            <a:avLst/>
          </a:prstGeom>
          <a:solidFill>
            <a:srgbClr val="33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4" name="Google Shape;14;p75"/>
          <p:cNvCxnSpPr/>
          <p:nvPr/>
        </p:nvCxnSpPr>
        <p:spPr>
          <a:xfrm>
            <a:off x="457200" y="860425"/>
            <a:ext cx="8077200" cy="0"/>
          </a:xfrm>
          <a:prstGeom prst="straightConnector1">
            <a:avLst/>
          </a:prstGeom>
          <a:noFill/>
          <a:ln w="19050" cap="flat" cmpd="sng">
            <a:solidFill>
              <a:srgbClr val="336699"/>
            </a:solidFill>
            <a:prstDash val="solid"/>
            <a:round/>
            <a:headEnd type="none" w="med" len="med"/>
            <a:tailEnd type="none" w="med" len="med"/>
          </a:ln>
        </p:spPr>
      </p:cxnSp>
      <p:sp>
        <p:nvSpPr>
          <p:cNvPr id="15" name="Google Shape;15;p75"/>
          <p:cNvSpPr/>
          <p:nvPr/>
        </p:nvSpPr>
        <p:spPr>
          <a:xfrm>
            <a:off x="0" y="2286000"/>
            <a:ext cx="228600" cy="2286000"/>
          </a:xfrm>
          <a:prstGeom prst="rect">
            <a:avLst/>
          </a:prstGeom>
          <a:solidFill>
            <a:srgbClr val="99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75"/>
          <p:cNvSpPr/>
          <p:nvPr/>
        </p:nvSpPr>
        <p:spPr>
          <a:xfrm>
            <a:off x="0" y="4572000"/>
            <a:ext cx="228600" cy="2286000"/>
          </a:xfrm>
          <a:prstGeom prst="rect">
            <a:avLst/>
          </a:prstGeom>
          <a:solidFill>
            <a:srgbClr val="33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 name="Google Shape;17;p75"/>
          <p:cNvSpPr txBox="1"/>
          <p:nvPr/>
        </p:nvSpPr>
        <p:spPr>
          <a:xfrm>
            <a:off x="4257675" y="6613525"/>
            <a:ext cx="444500"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t>1.</a:t>
            </a:r>
            <a:fld id="{00000000-1234-1234-1234-123412341234}" type="slidenum">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fld>
            <a:endParaRPr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8" name="Google Shape;18;p75"/>
          <p:cNvSpPr txBox="1"/>
          <p:nvPr/>
        </p:nvSpPr>
        <p:spPr>
          <a:xfrm>
            <a:off x="6489700" y="6588125"/>
            <a:ext cx="2713038"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t>Silberschatz, Galvin and Gagne ©2018</a:t>
            </a:r>
            <a:endPar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9" name="Google Shape;19;p75"/>
          <p:cNvSpPr txBox="1"/>
          <p:nvPr/>
        </p:nvSpPr>
        <p:spPr>
          <a:xfrm>
            <a:off x="185738" y="6621463"/>
            <a:ext cx="2730500" cy="2460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t>Operating System Concepts – 10</a:t>
            </a:r>
            <a:r>
              <a:rPr lang="en-US" sz="1000" b="1" i="0" u="none" strike="noStrike" cap="none" baseline="30000">
                <a:solidFill>
                  <a:srgbClr val="006699"/>
                </a:solidFill>
                <a:latin typeface="Helvetica Neue" panose="020B0604020202020204"/>
                <a:ea typeface="Helvetica Neue" panose="020B0604020202020204"/>
                <a:cs typeface="Helvetica Neue" panose="020B0604020202020204"/>
                <a:sym typeface="Helvetica Neue" panose="020B0604020202020204"/>
              </a:rPr>
              <a:t>th</a:t>
            </a:r>
            <a:r>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t> Edition</a:t>
            </a:r>
            <a:endPar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20" name="Google Shape;20;p75" descr="dino_6"/>
          <p:cNvPicPr preferRelativeResize="0"/>
          <p:nvPr/>
        </p:nvPicPr>
        <p:blipFill rotWithShape="1">
          <a:blip r:embed="rId14"/>
          <a:srcRect/>
          <a:stretch>
            <a:fillRect/>
          </a:stretch>
        </p:blipFill>
        <p:spPr>
          <a:xfrm>
            <a:off x="7773988" y="5849938"/>
            <a:ext cx="1284287" cy="7921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image" Target="../media/image17.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image" Target="../media/image18.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71.xml"/><Relationship Id="rId4" Type="http://schemas.openxmlformats.org/officeDocument/2006/relationships/slideLayout" Target="../slideLayouts/slideLayout3.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6" name="Shape 76"/>
        <p:cNvGrpSpPr/>
        <p:nvPr/>
      </p:nvGrpSpPr>
      <p:grpSpPr>
        <a:xfrm>
          <a:off x="0" y="0"/>
          <a:ext cx="0" cy="0"/>
          <a:chOff x="0" y="0"/>
          <a:chExt cx="0" cy="0"/>
        </a:xfrm>
      </p:grpSpPr>
      <p:sp>
        <p:nvSpPr>
          <p:cNvPr id="77" name="Google Shape;77;p1"/>
          <p:cNvSpPr txBox="1"/>
          <p:nvPr>
            <p:ph type="ctrTitle"/>
          </p:nvPr>
        </p:nvSpPr>
        <p:spPr>
          <a:xfrm>
            <a:off x="371475" y="1900238"/>
            <a:ext cx="8458200" cy="1143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Chapter 1:  Introduction</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1" name="Shape 81"/>
        <p:cNvGrpSpPr/>
        <p:nvPr/>
      </p:nvGrpSpPr>
      <p:grpSpPr>
        <a:xfrm>
          <a:off x="0" y="0"/>
          <a:ext cx="0" cy="0"/>
          <a:chOff x="0" y="0"/>
          <a:chExt cx="0" cy="0"/>
        </a:xfrm>
      </p:grpSpPr>
      <p:sp>
        <p:nvSpPr>
          <p:cNvPr id="82" name="Google Shape;82;p2"/>
          <p:cNvSpPr txBox="1"/>
          <p:nvPr>
            <p:ph type="title" idx="4294967295"/>
          </p:nvPr>
        </p:nvSpPr>
        <p:spPr>
          <a:xfrm>
            <a:off x="457200" y="203200"/>
            <a:ext cx="8034338"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Chapter 1: Introduction</a:t>
            </a:r>
            <a:endParaRPr lang="en-US"/>
          </a:p>
        </p:txBody>
      </p:sp>
      <p:sp>
        <p:nvSpPr>
          <p:cNvPr id="83" name="Google Shape;83;p2"/>
          <p:cNvSpPr txBox="1"/>
          <p:nvPr>
            <p:ph type="body" idx="4294967295"/>
          </p:nvPr>
        </p:nvSpPr>
        <p:spPr>
          <a:xfrm>
            <a:off x="806450" y="1233488"/>
            <a:ext cx="822960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What Operating Systems Do</a:t>
            </a:r>
            <a:endParaRPr lang="en-US"/>
          </a:p>
          <a:p>
            <a:pPr marL="342900" lvl="0" indent="-342900" algn="l" rtl="0">
              <a:spcBef>
                <a:spcPts val="630"/>
              </a:spcBef>
              <a:spcAft>
                <a:spcPts val="0"/>
              </a:spcAft>
              <a:buSzPts val="1980"/>
              <a:buChar char="▪"/>
            </a:pPr>
            <a:r>
              <a:rPr lang="en-US"/>
              <a:t>Computer-System Organization</a:t>
            </a:r>
            <a:endParaRPr lang="en-US"/>
          </a:p>
          <a:p>
            <a:pPr marL="342900" lvl="0" indent="-342900" algn="l" rtl="0">
              <a:spcBef>
                <a:spcPts val="630"/>
              </a:spcBef>
              <a:spcAft>
                <a:spcPts val="0"/>
              </a:spcAft>
              <a:buSzPts val="1980"/>
              <a:buChar char="▪"/>
            </a:pPr>
            <a:r>
              <a:rPr lang="en-US"/>
              <a:t>Computer-System Architecture</a:t>
            </a:r>
            <a:endParaRPr lang="en-US"/>
          </a:p>
          <a:p>
            <a:pPr marL="342900" lvl="0" indent="-342900" algn="l" rtl="0">
              <a:spcBef>
                <a:spcPts val="630"/>
              </a:spcBef>
              <a:spcAft>
                <a:spcPts val="0"/>
              </a:spcAft>
              <a:buSzPts val="1980"/>
              <a:buChar char="▪"/>
            </a:pPr>
            <a:r>
              <a:rPr lang="en-US"/>
              <a:t>Operating-System Operations</a:t>
            </a:r>
            <a:endParaRPr lang="en-US"/>
          </a:p>
          <a:p>
            <a:pPr marL="342900" lvl="0" indent="-342900" algn="l" rtl="0">
              <a:spcBef>
                <a:spcPts val="630"/>
              </a:spcBef>
              <a:spcAft>
                <a:spcPts val="0"/>
              </a:spcAft>
              <a:buSzPts val="1980"/>
              <a:buChar char="▪"/>
            </a:pPr>
            <a:r>
              <a:rPr lang="en-US"/>
              <a:t>Resource Management</a:t>
            </a:r>
            <a:endParaRPr lang="en-US"/>
          </a:p>
          <a:p>
            <a:pPr marL="342900" lvl="0" indent="-342900" algn="l" rtl="0">
              <a:spcBef>
                <a:spcPts val="630"/>
              </a:spcBef>
              <a:spcAft>
                <a:spcPts val="0"/>
              </a:spcAft>
              <a:buSzPts val="1980"/>
              <a:buChar char="▪"/>
            </a:pPr>
            <a:r>
              <a:rPr lang="en-US"/>
              <a:t>Security and Protection</a:t>
            </a:r>
            <a:endParaRPr lang="en-US"/>
          </a:p>
          <a:p>
            <a:pPr marL="342900" lvl="0" indent="-342900" algn="l" rtl="0">
              <a:spcBef>
                <a:spcPts val="630"/>
              </a:spcBef>
              <a:spcAft>
                <a:spcPts val="0"/>
              </a:spcAft>
              <a:buSzPts val="1980"/>
              <a:buChar char="▪"/>
            </a:pPr>
            <a:r>
              <a:rPr lang="en-US"/>
              <a:t>Virtualization</a:t>
            </a:r>
            <a:endParaRPr lang="en-US"/>
          </a:p>
          <a:p>
            <a:pPr marL="342900" lvl="0" indent="-342900" algn="l" rtl="0">
              <a:spcBef>
                <a:spcPts val="630"/>
              </a:spcBef>
              <a:spcAft>
                <a:spcPts val="0"/>
              </a:spcAft>
              <a:buSzPts val="1980"/>
              <a:buChar char="▪"/>
            </a:pPr>
            <a:r>
              <a:rPr lang="en-US"/>
              <a:t>Distributed Systems</a:t>
            </a:r>
            <a:endParaRPr lang="en-US"/>
          </a:p>
          <a:p>
            <a:pPr marL="342900" lvl="0" indent="-342900" algn="l" rtl="0">
              <a:spcBef>
                <a:spcPts val="630"/>
              </a:spcBef>
              <a:spcAft>
                <a:spcPts val="0"/>
              </a:spcAft>
              <a:buSzPts val="1980"/>
              <a:buChar char="▪"/>
            </a:pPr>
            <a:r>
              <a:rPr lang="en-US"/>
              <a:t>Kernel Data Structures</a:t>
            </a:r>
            <a:endParaRPr lang="en-US"/>
          </a:p>
          <a:p>
            <a:pPr marL="342900" lvl="0" indent="-342900" algn="l" rtl="0">
              <a:spcBef>
                <a:spcPts val="630"/>
              </a:spcBef>
              <a:spcAft>
                <a:spcPts val="0"/>
              </a:spcAft>
              <a:buSzPts val="1980"/>
              <a:buChar char="▪"/>
            </a:pPr>
            <a:r>
              <a:rPr lang="en-US"/>
              <a:t>Computing Environments</a:t>
            </a:r>
            <a:endParaRPr lang="en-US"/>
          </a:p>
          <a:p>
            <a:pPr marL="342900" lvl="0" indent="-342900" algn="l" rtl="0">
              <a:spcBef>
                <a:spcPts val="630"/>
              </a:spcBef>
              <a:spcAft>
                <a:spcPts val="0"/>
              </a:spcAft>
              <a:buSzPts val="1980"/>
              <a:buChar char="▪"/>
            </a:pPr>
            <a:r>
              <a:rPr lang="en-US"/>
              <a:t>Free/Libre and Open-Source Operating Systems</a:t>
            </a:r>
            <a:endParaRPr lang="en-US"/>
          </a:p>
          <a:p>
            <a:pPr marL="342900" lvl="0" indent="-34290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3"/>
          <p:cNvSpPr txBox="1"/>
          <p:nvPr>
            <p:ph type="title" idx="4294967295"/>
          </p:nvPr>
        </p:nvSpPr>
        <p:spPr>
          <a:xfrm>
            <a:off x="457200" y="166688"/>
            <a:ext cx="8015288" cy="6175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Objectives</a:t>
            </a:r>
            <a:endParaRPr lang="en-US"/>
          </a:p>
        </p:txBody>
      </p:sp>
      <p:sp>
        <p:nvSpPr>
          <p:cNvPr id="89" name="Google Shape;89;p3"/>
          <p:cNvSpPr txBox="1"/>
          <p:nvPr>
            <p:ph type="body" idx="4294967295"/>
          </p:nvPr>
        </p:nvSpPr>
        <p:spPr>
          <a:xfrm>
            <a:off x="806450" y="1233488"/>
            <a:ext cx="7666038"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Describe the general organization of a computer system and the role of interrupts</a:t>
            </a:r>
            <a:endParaRPr lang="en-US"/>
          </a:p>
          <a:p>
            <a:pPr marL="342900" lvl="0" indent="-342900" algn="l" rtl="0">
              <a:spcBef>
                <a:spcPts val="630"/>
              </a:spcBef>
              <a:spcAft>
                <a:spcPts val="0"/>
              </a:spcAft>
              <a:buSzPts val="1980"/>
              <a:buChar char="▪"/>
            </a:pPr>
            <a:r>
              <a:rPr lang="en-US"/>
              <a:t>Describe the components in a modern, multiprocessor computer system</a:t>
            </a:r>
            <a:endParaRPr lang="en-US"/>
          </a:p>
          <a:p>
            <a:pPr marL="342900" lvl="0" indent="-342900" algn="l" rtl="0">
              <a:spcBef>
                <a:spcPts val="630"/>
              </a:spcBef>
              <a:spcAft>
                <a:spcPts val="0"/>
              </a:spcAft>
              <a:buSzPts val="1980"/>
              <a:buChar char="▪"/>
            </a:pPr>
            <a:r>
              <a:rPr lang="en-US"/>
              <a:t>Illustrate the transition from user mode to kernel mode</a:t>
            </a:r>
            <a:endParaRPr lang="en-US"/>
          </a:p>
          <a:p>
            <a:pPr marL="342900" lvl="0" indent="-342900" algn="l" rtl="0">
              <a:spcBef>
                <a:spcPts val="630"/>
              </a:spcBef>
              <a:spcAft>
                <a:spcPts val="0"/>
              </a:spcAft>
              <a:buSzPts val="1980"/>
              <a:buChar char="▪"/>
            </a:pPr>
            <a:r>
              <a:rPr lang="en-US"/>
              <a:t>Discuss how operating systems are used in various computing environments</a:t>
            </a:r>
            <a:endParaRPr lang="en-US"/>
          </a:p>
          <a:p>
            <a:pPr marL="342900" lvl="0" indent="-342900" algn="l" rtl="0">
              <a:spcBef>
                <a:spcPts val="630"/>
              </a:spcBef>
              <a:spcAft>
                <a:spcPts val="0"/>
              </a:spcAft>
              <a:buSzPts val="1980"/>
              <a:buChar char="▪"/>
            </a:pPr>
            <a:r>
              <a:rPr lang="en-US"/>
              <a:t>Provide examples of free and open-source operating systems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4"/>
          <p:cNvSpPr txBox="1"/>
          <p:nvPr>
            <p:ph type="title" idx="4294967295"/>
          </p:nvPr>
        </p:nvSpPr>
        <p:spPr>
          <a:xfrm>
            <a:off x="1251856" y="123144"/>
            <a:ext cx="8015288" cy="6175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600"/>
              <a:t>What Does the Term Operating System Mean?</a:t>
            </a:r>
            <a:endParaRPr lang="en-US" sz="2600"/>
          </a:p>
        </p:txBody>
      </p:sp>
      <p:sp>
        <p:nvSpPr>
          <p:cNvPr id="95" name="Google Shape;95;p4"/>
          <p:cNvSpPr txBox="1"/>
          <p:nvPr>
            <p:ph type="body" idx="4294967295"/>
          </p:nvPr>
        </p:nvSpPr>
        <p:spPr>
          <a:xfrm>
            <a:off x="806450" y="1233488"/>
            <a:ext cx="7666038"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An operating system is “fill in the blanks”</a:t>
            </a:r>
            <a:endParaRPr lang="en-US"/>
          </a:p>
          <a:p>
            <a:pPr marL="342900" lvl="0" indent="-342900" algn="l" rtl="0">
              <a:spcBef>
                <a:spcPts val="630"/>
              </a:spcBef>
              <a:spcAft>
                <a:spcPts val="0"/>
              </a:spcAft>
              <a:buSzPts val="1980"/>
              <a:buChar char="▪"/>
            </a:pPr>
            <a:r>
              <a:rPr lang="en-US"/>
              <a:t>What about:</a:t>
            </a:r>
            <a:endParaRPr lang="en-US"/>
          </a:p>
          <a:p>
            <a:pPr marL="742950" lvl="1" indent="-285750" algn="l" rtl="0">
              <a:spcBef>
                <a:spcPts val="630"/>
              </a:spcBef>
              <a:spcAft>
                <a:spcPts val="0"/>
              </a:spcAft>
              <a:buSzPts val="1980"/>
              <a:buChar char="•"/>
            </a:pPr>
            <a:r>
              <a:rPr lang="en-US"/>
              <a:t>Car </a:t>
            </a:r>
            <a:endParaRPr lang="en-US"/>
          </a:p>
          <a:p>
            <a:pPr marL="742950" lvl="1" indent="-285750" algn="l" rtl="0">
              <a:spcBef>
                <a:spcPts val="630"/>
              </a:spcBef>
              <a:spcAft>
                <a:spcPts val="0"/>
              </a:spcAft>
              <a:buSzPts val="1980"/>
              <a:buChar char="•"/>
            </a:pPr>
            <a:r>
              <a:rPr lang="en-US"/>
              <a:t>Airplane</a:t>
            </a:r>
            <a:endParaRPr lang="en-US"/>
          </a:p>
          <a:p>
            <a:pPr marL="742950" lvl="1" indent="-285750" algn="l" rtl="0">
              <a:spcBef>
                <a:spcPts val="630"/>
              </a:spcBef>
              <a:spcAft>
                <a:spcPts val="0"/>
              </a:spcAft>
              <a:buSzPts val="1980"/>
              <a:buChar char="•"/>
            </a:pPr>
            <a:r>
              <a:rPr lang="en-US"/>
              <a:t>Printer</a:t>
            </a:r>
            <a:endParaRPr lang="en-US"/>
          </a:p>
          <a:p>
            <a:pPr marL="742950" lvl="1" indent="-285750" algn="l" rtl="0">
              <a:spcBef>
                <a:spcPts val="630"/>
              </a:spcBef>
              <a:spcAft>
                <a:spcPts val="0"/>
              </a:spcAft>
              <a:buSzPts val="1980"/>
              <a:buChar char="•"/>
            </a:pPr>
            <a:r>
              <a:rPr lang="en-US"/>
              <a:t>Washing Machine</a:t>
            </a:r>
            <a:endParaRPr lang="en-US"/>
          </a:p>
          <a:p>
            <a:pPr marL="742950" lvl="1" indent="-285750" algn="l" rtl="0">
              <a:spcBef>
                <a:spcPts val="630"/>
              </a:spcBef>
              <a:spcAft>
                <a:spcPts val="0"/>
              </a:spcAft>
              <a:buSzPts val="1980"/>
              <a:buChar char="•"/>
            </a:pPr>
            <a:r>
              <a:rPr lang="en-US"/>
              <a:t>Toaster</a:t>
            </a:r>
            <a:endParaRPr lang="en-US"/>
          </a:p>
          <a:p>
            <a:pPr marL="742950" lvl="1" indent="-285750" algn="l" rtl="0">
              <a:spcBef>
                <a:spcPts val="630"/>
              </a:spcBef>
              <a:spcAft>
                <a:spcPts val="0"/>
              </a:spcAft>
              <a:buSzPts val="1980"/>
              <a:buChar char="•"/>
            </a:pPr>
            <a:r>
              <a:rPr lang="en-US"/>
              <a:t>Compiler</a:t>
            </a:r>
            <a:endParaRPr lang="en-US"/>
          </a:p>
          <a:p>
            <a:pPr marL="742950" lvl="1" indent="-285750" algn="l" rtl="0">
              <a:spcBef>
                <a:spcPts val="630"/>
              </a:spcBef>
              <a:spcAft>
                <a:spcPts val="0"/>
              </a:spcAft>
              <a:buSzPts val="1980"/>
              <a:buChar char="•"/>
            </a:pPr>
            <a:r>
              <a:rPr lang="en-US"/>
              <a:t>Etc.</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5"/>
          <p:cNvSpPr txBox="1"/>
          <p:nvPr>
            <p:ph type="title" idx="4294967295"/>
          </p:nvPr>
        </p:nvSpPr>
        <p:spPr>
          <a:xfrm>
            <a:off x="963613" y="198438"/>
            <a:ext cx="77231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What is an Operating System?</a:t>
            </a:r>
            <a:endParaRPr lang="en-US"/>
          </a:p>
        </p:txBody>
      </p:sp>
      <p:sp>
        <p:nvSpPr>
          <p:cNvPr id="101" name="Google Shape;101;p5"/>
          <p:cNvSpPr txBox="1"/>
          <p:nvPr>
            <p:ph type="body" idx="4294967295"/>
          </p:nvPr>
        </p:nvSpPr>
        <p:spPr>
          <a:xfrm>
            <a:off x="925513" y="1277938"/>
            <a:ext cx="7121525" cy="41592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A program that acts as an intermediary between a user of a computer and the computer hardware</a:t>
            </a:r>
            <a:endParaRPr lang="en-US"/>
          </a:p>
          <a:p>
            <a:pPr marL="342900" lvl="0" indent="-342900" algn="l" rtl="0">
              <a:spcBef>
                <a:spcPts val="630"/>
              </a:spcBef>
              <a:spcAft>
                <a:spcPts val="0"/>
              </a:spcAft>
              <a:buSzPts val="1980"/>
              <a:buChar char="▪"/>
            </a:pPr>
            <a:r>
              <a:rPr lang="en-US"/>
              <a:t>Operating system goals:</a:t>
            </a:r>
            <a:endParaRPr lang="en-US"/>
          </a:p>
          <a:p>
            <a:pPr marL="742950" lvl="1" indent="-285750" algn="l" rtl="0">
              <a:spcBef>
                <a:spcPts val="630"/>
              </a:spcBef>
              <a:spcAft>
                <a:spcPts val="0"/>
              </a:spcAft>
              <a:buSzPts val="1980"/>
              <a:buChar char="•"/>
            </a:pPr>
            <a:r>
              <a:rPr lang="en-US"/>
              <a:t>Execute user programs and make solving user problems easier</a:t>
            </a:r>
            <a:endParaRPr lang="en-US"/>
          </a:p>
          <a:p>
            <a:pPr marL="742950" lvl="1" indent="-285750" algn="l" rtl="0">
              <a:spcBef>
                <a:spcPts val="630"/>
              </a:spcBef>
              <a:spcAft>
                <a:spcPts val="0"/>
              </a:spcAft>
              <a:buSzPts val="1980"/>
              <a:buChar char="•"/>
            </a:pPr>
            <a:r>
              <a:rPr lang="en-US"/>
              <a:t>Make the computer system convenient to use</a:t>
            </a:r>
            <a:endParaRPr lang="en-US"/>
          </a:p>
          <a:p>
            <a:pPr marL="742950" lvl="1" indent="-285750" algn="l" rtl="0">
              <a:spcBef>
                <a:spcPts val="630"/>
              </a:spcBef>
              <a:spcAft>
                <a:spcPts val="0"/>
              </a:spcAft>
              <a:buSzPts val="1980"/>
              <a:buChar char="•"/>
            </a:pPr>
            <a:r>
              <a:rPr lang="en-US"/>
              <a:t>Use the computer hardware in an efficient manner</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sp>
        <p:nvSpPr>
          <p:cNvPr id="106" name="Google Shape;106;p6"/>
          <p:cNvSpPr txBox="1"/>
          <p:nvPr>
            <p:ph type="title" idx="4294967295"/>
          </p:nvPr>
        </p:nvSpPr>
        <p:spPr>
          <a:xfrm>
            <a:off x="1041400" y="201613"/>
            <a:ext cx="753268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Computer System Structure</a:t>
            </a:r>
            <a:endParaRPr lang="en-US"/>
          </a:p>
        </p:txBody>
      </p:sp>
      <p:sp>
        <p:nvSpPr>
          <p:cNvPr id="107" name="Google Shape;107;p6"/>
          <p:cNvSpPr txBox="1"/>
          <p:nvPr>
            <p:ph type="body" idx="4294967295"/>
          </p:nvPr>
        </p:nvSpPr>
        <p:spPr>
          <a:xfrm>
            <a:off x="801688" y="1204913"/>
            <a:ext cx="7772400" cy="44831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Computer system can be divided into four components:</a:t>
            </a:r>
            <a:endParaRPr lang="en-US"/>
          </a:p>
          <a:p>
            <a:pPr marL="742950" lvl="1" indent="-285750" algn="l" rtl="0">
              <a:spcBef>
                <a:spcPts val="630"/>
              </a:spcBef>
              <a:spcAft>
                <a:spcPts val="0"/>
              </a:spcAft>
              <a:buSzPts val="1980"/>
              <a:buChar char="•"/>
            </a:pPr>
            <a:r>
              <a:rPr lang="en-US"/>
              <a:t>Hardware – provides basic computing resources</a:t>
            </a:r>
            <a:endParaRPr lang="en-US"/>
          </a:p>
          <a:p>
            <a:pPr marL="1085850" lvl="2" indent="-228600" algn="l" rtl="0">
              <a:spcBef>
                <a:spcPts val="630"/>
              </a:spcBef>
              <a:spcAft>
                <a:spcPts val="0"/>
              </a:spcAft>
              <a:buSzPts val="1350"/>
              <a:buChar char="4"/>
            </a:pPr>
            <a:r>
              <a:rPr lang="en-US"/>
              <a:t>CPU, memory, I/O devices</a:t>
            </a:r>
            <a:endParaRPr lang="en-US"/>
          </a:p>
          <a:p>
            <a:pPr marL="742950" lvl="1" indent="-285750" algn="l" rtl="0">
              <a:spcBef>
                <a:spcPts val="630"/>
              </a:spcBef>
              <a:spcAft>
                <a:spcPts val="0"/>
              </a:spcAft>
              <a:buSzPts val="1980"/>
              <a:buChar char="•"/>
            </a:pPr>
            <a:r>
              <a:rPr lang="en-US"/>
              <a:t>Operating system</a:t>
            </a:r>
            <a:endParaRPr lang="en-US"/>
          </a:p>
          <a:p>
            <a:pPr marL="1085850" lvl="2" indent="-228600" algn="l" rtl="0">
              <a:spcBef>
                <a:spcPts val="630"/>
              </a:spcBef>
              <a:spcAft>
                <a:spcPts val="0"/>
              </a:spcAft>
              <a:buSzPts val="1350"/>
              <a:buChar char="4"/>
            </a:pPr>
            <a:r>
              <a:rPr lang="en-US"/>
              <a:t>Controls and coordinates use of hardware among various   applications and users</a:t>
            </a:r>
            <a:endParaRPr lang="en-US"/>
          </a:p>
          <a:p>
            <a:pPr marL="742950" lvl="1" indent="-285750" algn="l" rtl="0">
              <a:spcBef>
                <a:spcPts val="630"/>
              </a:spcBef>
              <a:spcAft>
                <a:spcPts val="0"/>
              </a:spcAft>
              <a:buSzPts val="1980"/>
              <a:buChar char="•"/>
            </a:pPr>
            <a:r>
              <a:rPr lang="en-US"/>
              <a:t>Application programs – define the ways in which the system resources are used to solve the computing problems of the users</a:t>
            </a:r>
            <a:endParaRPr lang="en-US"/>
          </a:p>
          <a:p>
            <a:pPr marL="1085850" lvl="2" indent="-228600" algn="l" rtl="0">
              <a:spcBef>
                <a:spcPts val="630"/>
              </a:spcBef>
              <a:spcAft>
                <a:spcPts val="0"/>
              </a:spcAft>
              <a:buSzPts val="1350"/>
              <a:buChar char="4"/>
            </a:pPr>
            <a:r>
              <a:rPr lang="en-US"/>
              <a:t>Word processors, compilers, web browsers, database systems, video games</a:t>
            </a:r>
            <a:endParaRPr lang="en-US"/>
          </a:p>
          <a:p>
            <a:pPr marL="742950" lvl="1" indent="-285750" algn="l" rtl="0">
              <a:spcBef>
                <a:spcPts val="630"/>
              </a:spcBef>
              <a:spcAft>
                <a:spcPts val="0"/>
              </a:spcAft>
              <a:buSzPts val="1980"/>
              <a:buChar char="•"/>
            </a:pPr>
            <a:r>
              <a:rPr lang="en-US"/>
              <a:t>Users</a:t>
            </a:r>
            <a:endParaRPr lang="en-US"/>
          </a:p>
          <a:p>
            <a:pPr marL="1085850" lvl="2" indent="-228600" algn="l" rtl="0">
              <a:spcBef>
                <a:spcPts val="630"/>
              </a:spcBef>
              <a:spcAft>
                <a:spcPts val="0"/>
              </a:spcAft>
              <a:buSzPts val="1350"/>
              <a:buChar char="4"/>
            </a:pPr>
            <a:r>
              <a:rPr lang="en-US"/>
              <a:t>People, machines, other computers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7"/>
          <p:cNvSpPr txBox="1"/>
          <p:nvPr>
            <p:ph type="title" idx="4294967295"/>
          </p:nvPr>
        </p:nvSpPr>
        <p:spPr>
          <a:xfrm>
            <a:off x="1041400" y="182563"/>
            <a:ext cx="76454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Abstract View of Components of Computer</a:t>
            </a:r>
            <a:endParaRPr lang="en-US" sz="2800"/>
          </a:p>
        </p:txBody>
      </p:sp>
      <p:pic>
        <p:nvPicPr>
          <p:cNvPr id="113" name="Google Shape;113;p7"/>
          <p:cNvPicPr preferRelativeResize="0"/>
          <p:nvPr/>
        </p:nvPicPr>
        <p:blipFill rotWithShape="1">
          <a:blip r:embed="rId1"/>
          <a:srcRect/>
          <a:stretch>
            <a:fillRect/>
          </a:stretch>
        </p:blipFill>
        <p:spPr>
          <a:xfrm>
            <a:off x="2427288" y="1871663"/>
            <a:ext cx="4621212" cy="3276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7" name="Shape 117"/>
        <p:cNvGrpSpPr/>
        <p:nvPr/>
      </p:nvGrpSpPr>
      <p:grpSpPr>
        <a:xfrm>
          <a:off x="0" y="0"/>
          <a:ext cx="0" cy="0"/>
          <a:chOff x="0" y="0"/>
          <a:chExt cx="0" cy="0"/>
        </a:xfrm>
      </p:grpSpPr>
      <p:sp>
        <p:nvSpPr>
          <p:cNvPr id="118" name="Google Shape;118;p8"/>
          <p:cNvSpPr txBox="1"/>
          <p:nvPr>
            <p:ph type="title" idx="4294967295"/>
          </p:nvPr>
        </p:nvSpPr>
        <p:spPr>
          <a:xfrm>
            <a:off x="457200" y="201613"/>
            <a:ext cx="8126413"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What Operating Systems Do</a:t>
            </a:r>
            <a:endParaRPr lang="en-US"/>
          </a:p>
        </p:txBody>
      </p:sp>
      <p:sp>
        <p:nvSpPr>
          <p:cNvPr id="119" name="Google Shape;119;p8"/>
          <p:cNvSpPr txBox="1"/>
          <p:nvPr>
            <p:ph type="body" idx="4294967295"/>
          </p:nvPr>
        </p:nvSpPr>
        <p:spPr>
          <a:xfrm>
            <a:off x="746125" y="1120775"/>
            <a:ext cx="7940675"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Depends on the point of view</a:t>
            </a:r>
            <a:endParaRPr lang="en-US"/>
          </a:p>
          <a:p>
            <a:pPr marL="342900" lvl="0" indent="-342900" algn="l" rtl="0">
              <a:spcBef>
                <a:spcPts val="630"/>
              </a:spcBef>
              <a:spcAft>
                <a:spcPts val="0"/>
              </a:spcAft>
              <a:buSzPts val="1980"/>
              <a:buChar char="▪"/>
            </a:pPr>
            <a:r>
              <a:rPr lang="en-US"/>
              <a:t>Users want convenience, </a:t>
            </a:r>
            <a:r>
              <a:rPr lang="en-US" b="1">
                <a:solidFill>
                  <a:srgbClr val="006699"/>
                </a:solidFill>
                <a:latin typeface="Arial" panose="020B0604020202020204"/>
                <a:ea typeface="Arial" panose="020B0604020202020204"/>
                <a:cs typeface="Arial" panose="020B0604020202020204"/>
                <a:sym typeface="Arial" panose="020B0604020202020204"/>
              </a:rPr>
              <a:t>ease of use </a:t>
            </a:r>
            <a:r>
              <a:rPr lang="en-US"/>
              <a:t>and</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good performance </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a:t>Don’t care about </a:t>
            </a:r>
            <a:r>
              <a:rPr lang="en-US" b="1">
                <a:solidFill>
                  <a:srgbClr val="006699"/>
                </a:solidFill>
                <a:latin typeface="Arial" panose="020B0604020202020204"/>
                <a:ea typeface="Arial" panose="020B0604020202020204"/>
                <a:cs typeface="Arial" panose="020B0604020202020204"/>
                <a:sym typeface="Arial" panose="020B0604020202020204"/>
              </a:rPr>
              <a:t>resource utilization</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t>But shared computer such as </a:t>
            </a:r>
            <a:r>
              <a:rPr lang="en-US" b="1">
                <a:solidFill>
                  <a:srgbClr val="006699"/>
                </a:solidFill>
                <a:latin typeface="Arial" panose="020B0604020202020204"/>
                <a:ea typeface="Arial" panose="020B0604020202020204"/>
                <a:cs typeface="Arial" panose="020B0604020202020204"/>
                <a:sym typeface="Arial" panose="020B0604020202020204"/>
              </a:rPr>
              <a:t>mainframe</a:t>
            </a:r>
            <a:r>
              <a:rPr lang="en-US"/>
              <a:t> or </a:t>
            </a:r>
            <a:r>
              <a:rPr lang="en-US" b="1">
                <a:solidFill>
                  <a:srgbClr val="006699"/>
                </a:solidFill>
                <a:latin typeface="Arial" panose="020B0604020202020204"/>
                <a:ea typeface="Arial" panose="020B0604020202020204"/>
                <a:cs typeface="Arial" panose="020B0604020202020204"/>
                <a:sym typeface="Arial" panose="020B0604020202020204"/>
              </a:rPr>
              <a:t>minicomputer</a:t>
            </a:r>
            <a:r>
              <a:rPr lang="en-US"/>
              <a:t> must keep all users happy</a:t>
            </a:r>
            <a:endParaRPr lang="en-US"/>
          </a:p>
          <a:p>
            <a:pPr marL="742950" lvl="1" indent="-285750" algn="l" rtl="0">
              <a:spcBef>
                <a:spcPts val="630"/>
              </a:spcBef>
              <a:spcAft>
                <a:spcPts val="0"/>
              </a:spcAft>
              <a:buSzPts val="1980"/>
              <a:buChar char="•"/>
            </a:pPr>
            <a:r>
              <a:rPr lang="en-US"/>
              <a:t>Operating system is a </a:t>
            </a:r>
            <a:r>
              <a:rPr lang="en-US" b="1">
                <a:solidFill>
                  <a:srgbClr val="006699"/>
                </a:solidFill>
                <a:latin typeface="Arial" panose="020B0604020202020204"/>
                <a:ea typeface="Arial" panose="020B0604020202020204"/>
                <a:cs typeface="Arial" panose="020B0604020202020204"/>
                <a:sym typeface="Arial" panose="020B0604020202020204"/>
              </a:rPr>
              <a:t>resource allocator </a:t>
            </a:r>
            <a:r>
              <a:rPr lang="en-US"/>
              <a:t>and </a:t>
            </a:r>
            <a:r>
              <a:rPr lang="en-US" b="1">
                <a:solidFill>
                  <a:srgbClr val="006699"/>
                </a:solidFill>
                <a:latin typeface="Arial" panose="020B0604020202020204"/>
                <a:ea typeface="Arial" panose="020B0604020202020204"/>
                <a:cs typeface="Arial" panose="020B0604020202020204"/>
                <a:sym typeface="Arial" panose="020B0604020202020204"/>
              </a:rPr>
              <a:t>control program </a:t>
            </a:r>
            <a:r>
              <a:rPr lang="en-US"/>
              <a:t>making efficient use of HW and managing execution of user programs</a:t>
            </a:r>
            <a:endParaRPr lang="en-US"/>
          </a:p>
          <a:p>
            <a:pPr marL="342900" lvl="0" indent="-342900" algn="l" rtl="0">
              <a:spcBef>
                <a:spcPts val="630"/>
              </a:spcBef>
              <a:spcAft>
                <a:spcPts val="0"/>
              </a:spcAft>
              <a:buSzPts val="1980"/>
              <a:buChar char="▪"/>
            </a:pPr>
            <a:r>
              <a:rPr lang="en-US"/>
              <a:t>Users of dedicate systems such as </a:t>
            </a:r>
            <a:r>
              <a:rPr lang="en-US" b="1">
                <a:solidFill>
                  <a:srgbClr val="006699"/>
                </a:solidFill>
                <a:latin typeface="Arial" panose="020B0604020202020204"/>
                <a:ea typeface="Arial" panose="020B0604020202020204"/>
                <a:cs typeface="Arial" panose="020B0604020202020204"/>
                <a:sym typeface="Arial" panose="020B0604020202020204"/>
              </a:rPr>
              <a:t>workstations</a:t>
            </a:r>
            <a:r>
              <a:rPr lang="en-US"/>
              <a:t> have dedicated resources but frequently use shared resources from </a:t>
            </a:r>
            <a:r>
              <a:rPr lang="en-US" b="1">
                <a:solidFill>
                  <a:srgbClr val="006699"/>
                </a:solidFill>
                <a:latin typeface="Arial" panose="020B0604020202020204"/>
                <a:ea typeface="Arial" panose="020B0604020202020204"/>
                <a:cs typeface="Arial" panose="020B0604020202020204"/>
                <a:sym typeface="Arial" panose="020B0604020202020204"/>
              </a:rPr>
              <a:t>servers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solidFill>
                  <a:srgbClr val="000000"/>
                </a:solidFill>
              </a:rPr>
              <a:t>Mobile devices like smartphones and tables are resource poor,  optimized for usability and battery life</a:t>
            </a:r>
            <a:endParaRPr lang="en-US">
              <a:solidFill>
                <a:srgbClr val="000000"/>
              </a:solidFill>
            </a:endParaRPr>
          </a:p>
          <a:p>
            <a:pPr marL="742950" lvl="1" indent="-285750" algn="l" rtl="0">
              <a:spcBef>
                <a:spcPts val="630"/>
              </a:spcBef>
              <a:spcAft>
                <a:spcPts val="0"/>
              </a:spcAft>
              <a:buSzPts val="1980"/>
              <a:buChar char="•"/>
            </a:pPr>
            <a:r>
              <a:rPr lang="en-US">
                <a:solidFill>
                  <a:srgbClr val="000000"/>
                </a:solidFill>
              </a:rPr>
              <a:t>Mobile user interfaces such as touch screens, voice recognition</a:t>
            </a:r>
            <a:endParaRPr lang="en-US">
              <a:solidFill>
                <a:srgbClr val="000000"/>
              </a:solidFill>
            </a:endParaRPr>
          </a:p>
          <a:p>
            <a:pPr marL="342900" lvl="0" indent="-342900" algn="l" rtl="0">
              <a:spcBef>
                <a:spcPts val="630"/>
              </a:spcBef>
              <a:spcAft>
                <a:spcPts val="0"/>
              </a:spcAft>
              <a:buSzPts val="1980"/>
              <a:buChar char="▪"/>
            </a:pPr>
            <a:r>
              <a:rPr lang="en-US">
                <a:solidFill>
                  <a:srgbClr val="000000"/>
                </a:solidFill>
              </a:rPr>
              <a:t>Some computers have little or no user interface, such as embedded computers in devices and automobiles</a:t>
            </a:r>
            <a:endParaRPr lang="en-US">
              <a:solidFill>
                <a:srgbClr val="000000"/>
              </a:solidFill>
            </a:endParaRPr>
          </a:p>
          <a:p>
            <a:pPr marL="742950" lvl="1" indent="-285750" algn="l" rtl="0">
              <a:spcBef>
                <a:spcPts val="630"/>
              </a:spcBef>
              <a:spcAft>
                <a:spcPts val="0"/>
              </a:spcAft>
              <a:buSzPts val="1980"/>
              <a:buChar char="•"/>
            </a:pPr>
            <a:r>
              <a:rPr lang="en-US">
                <a:solidFill>
                  <a:srgbClr val="000000"/>
                </a:solidFill>
              </a:rPr>
              <a:t>Run primarily without user intervention</a:t>
            </a:r>
            <a:endParaRPr lang="en-US">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9"/>
          <p:cNvSpPr txBox="1"/>
          <p:nvPr>
            <p:ph type="title" idx="4294967295"/>
          </p:nvPr>
        </p:nvSpPr>
        <p:spPr>
          <a:xfrm>
            <a:off x="1176338" y="195263"/>
            <a:ext cx="73421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Defining Operating Systems</a:t>
            </a:r>
            <a:endParaRPr lang="en-US"/>
          </a:p>
        </p:txBody>
      </p:sp>
      <p:sp>
        <p:nvSpPr>
          <p:cNvPr id="125" name="Google Shape;125;p9"/>
          <p:cNvSpPr txBox="1"/>
          <p:nvPr>
            <p:ph type="body" idx="4294967295"/>
          </p:nvPr>
        </p:nvSpPr>
        <p:spPr>
          <a:xfrm>
            <a:off x="755650" y="1028700"/>
            <a:ext cx="7441293" cy="419644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Font typeface="Arial" panose="020B0604020202020204"/>
              <a:buNone/>
            </a:pPr>
          </a:p>
          <a:p>
            <a:pPr marL="342900" lvl="0" indent="-342900" algn="l" rtl="0">
              <a:spcBef>
                <a:spcPts val="630"/>
              </a:spcBef>
              <a:spcAft>
                <a:spcPts val="0"/>
              </a:spcAft>
              <a:buSzPts val="1980"/>
              <a:buChar char="▪"/>
            </a:pPr>
            <a:r>
              <a:rPr lang="en-US"/>
              <a:t>Term OS covers many roles</a:t>
            </a:r>
            <a:endParaRPr lang="en-US"/>
          </a:p>
          <a:p>
            <a:pPr marL="742950" lvl="1" indent="-285750" algn="l" rtl="0">
              <a:spcBef>
                <a:spcPts val="630"/>
              </a:spcBef>
              <a:spcAft>
                <a:spcPts val="0"/>
              </a:spcAft>
              <a:buSzPts val="1980"/>
              <a:buChar char="•"/>
            </a:pPr>
            <a:r>
              <a:rPr lang="en-US"/>
              <a:t>Because of myriad designs and uses of OSes</a:t>
            </a:r>
            <a:endParaRPr lang="en-US"/>
          </a:p>
          <a:p>
            <a:pPr marL="742950" lvl="1" indent="-285750" algn="l" rtl="0">
              <a:spcBef>
                <a:spcPts val="630"/>
              </a:spcBef>
              <a:spcAft>
                <a:spcPts val="0"/>
              </a:spcAft>
              <a:buSzPts val="1980"/>
              <a:buChar char="•"/>
            </a:pPr>
            <a:r>
              <a:rPr lang="en-US"/>
              <a:t>Present in toasters through ships, spacecraft, game machines, TVs and industrial control systems</a:t>
            </a:r>
            <a:endParaRPr lang="en-US"/>
          </a:p>
          <a:p>
            <a:pPr marL="742950" lvl="1" indent="-285750" algn="l" rtl="0">
              <a:spcBef>
                <a:spcPts val="630"/>
              </a:spcBef>
              <a:spcAft>
                <a:spcPts val="0"/>
              </a:spcAft>
              <a:buSzPts val="1980"/>
              <a:buChar char="•"/>
            </a:pPr>
            <a:r>
              <a:rPr lang="en-US"/>
              <a:t>Born when fixed use computers for military became more general purpose and needed resource management and program control</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10"/>
          <p:cNvSpPr txBox="1"/>
          <p:nvPr>
            <p:ph type="title" idx="4294967295"/>
          </p:nvPr>
        </p:nvSpPr>
        <p:spPr>
          <a:xfrm>
            <a:off x="1033463" y="198438"/>
            <a:ext cx="75326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Operating System Definition</a:t>
            </a:r>
            <a:endParaRPr lang="en-US"/>
          </a:p>
        </p:txBody>
      </p:sp>
      <p:sp>
        <p:nvSpPr>
          <p:cNvPr id="136" name="Google Shape;136;p10"/>
          <p:cNvSpPr txBox="1"/>
          <p:nvPr>
            <p:ph type="body" idx="4294967295"/>
          </p:nvPr>
        </p:nvSpPr>
        <p:spPr>
          <a:xfrm>
            <a:off x="784225" y="1247775"/>
            <a:ext cx="7989661" cy="472848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No universally accepted definition</a:t>
            </a:r>
            <a:endParaRPr lang="en-US"/>
          </a:p>
          <a:p>
            <a:pPr marL="342900" lvl="0" indent="-342900" algn="l" rtl="0">
              <a:spcBef>
                <a:spcPts val="630"/>
              </a:spcBef>
              <a:spcAft>
                <a:spcPts val="0"/>
              </a:spcAft>
              <a:buSzPts val="1980"/>
              <a:buChar char="▪"/>
            </a:pPr>
            <a:r>
              <a:rPr lang="en-US"/>
              <a:t>“Everything a vendor ships when you order an operating system” is a good approximation</a:t>
            </a:r>
            <a:endParaRPr lang="en-US"/>
          </a:p>
          <a:p>
            <a:pPr marL="742950" lvl="1" indent="-285750" algn="l" rtl="0">
              <a:spcBef>
                <a:spcPts val="630"/>
              </a:spcBef>
              <a:spcAft>
                <a:spcPts val="0"/>
              </a:spcAft>
              <a:buSzPts val="1980"/>
              <a:buChar char="•"/>
            </a:pPr>
            <a:r>
              <a:rPr lang="en-US"/>
              <a:t>But varies wildly</a:t>
            </a:r>
            <a:endParaRPr lang="en-US"/>
          </a:p>
          <a:p>
            <a:pPr marL="342900" lvl="0" indent="-342900" algn="l" rtl="0">
              <a:spcBef>
                <a:spcPts val="630"/>
              </a:spcBef>
              <a:spcAft>
                <a:spcPts val="0"/>
              </a:spcAft>
              <a:buSzPts val="1980"/>
              <a:buChar char="▪"/>
            </a:pPr>
            <a:r>
              <a:rPr lang="en-US"/>
              <a:t>“The one program running at all times on the computer” is the </a:t>
            </a:r>
            <a:r>
              <a:rPr lang="en-US" b="1">
                <a:solidFill>
                  <a:srgbClr val="006699"/>
                </a:solidFill>
                <a:latin typeface="Arial" panose="020B0604020202020204"/>
                <a:ea typeface="Arial" panose="020B0604020202020204"/>
                <a:cs typeface="Arial" panose="020B0604020202020204"/>
                <a:sym typeface="Arial" panose="020B0604020202020204"/>
              </a:rPr>
              <a:t>kernel, </a:t>
            </a:r>
            <a:r>
              <a:rPr lang="en-US"/>
              <a:t>part of the operating system</a:t>
            </a:r>
            <a:endParaRPr lang="en-US"/>
          </a:p>
          <a:p>
            <a:pPr marL="342900" lvl="0" indent="-342900" algn="l" rtl="0">
              <a:spcBef>
                <a:spcPts val="630"/>
              </a:spcBef>
              <a:spcAft>
                <a:spcPts val="0"/>
              </a:spcAft>
              <a:buSzPts val="1980"/>
              <a:buChar char="▪"/>
            </a:pPr>
            <a:r>
              <a:rPr lang="en-US"/>
              <a:t>Everything else is either</a:t>
            </a:r>
            <a:endParaRPr lang="en-US"/>
          </a:p>
          <a:p>
            <a:pPr marL="742950" lvl="1" indent="-285750" algn="l" rtl="0">
              <a:spcBef>
                <a:spcPts val="630"/>
              </a:spcBef>
              <a:spcAft>
                <a:spcPts val="0"/>
              </a:spcAft>
              <a:buSzPts val="1980"/>
              <a:buChar char="•"/>
            </a:pPr>
            <a:r>
              <a:rPr lang="en-US"/>
              <a:t>A </a:t>
            </a:r>
            <a:r>
              <a:rPr lang="en-US" b="1" i="1">
                <a:solidFill>
                  <a:srgbClr val="006699"/>
                </a:solidFill>
                <a:latin typeface="Arial" panose="020B0604020202020204"/>
                <a:ea typeface="Arial" panose="020B0604020202020204"/>
                <a:cs typeface="Arial" panose="020B0604020202020204"/>
                <a:sym typeface="Arial" panose="020B0604020202020204"/>
              </a:rPr>
              <a:t>system program</a:t>
            </a:r>
            <a:r>
              <a:rPr lang="en-US" b="1">
                <a:solidFill>
                  <a:srgbClr val="3366FF"/>
                </a:solidFill>
              </a:rPr>
              <a:t> </a:t>
            </a:r>
            <a:r>
              <a:rPr lang="en-US"/>
              <a:t>(ships with the operating system, but not part of the kernel) , or</a:t>
            </a:r>
            <a:endParaRPr lang="en-US"/>
          </a:p>
          <a:p>
            <a:pPr marL="742950" lvl="1" indent="-285750" algn="l" rtl="0">
              <a:spcBef>
                <a:spcPts val="630"/>
              </a:spcBef>
              <a:spcAft>
                <a:spcPts val="0"/>
              </a:spcAft>
              <a:buSzPts val="1980"/>
              <a:buChar char="•"/>
            </a:pPr>
            <a:r>
              <a:rPr lang="en-US"/>
              <a:t>An </a:t>
            </a:r>
            <a:r>
              <a:rPr lang="en-US" b="1" i="1">
                <a:solidFill>
                  <a:srgbClr val="006699"/>
                </a:solidFill>
                <a:latin typeface="Arial" panose="020B0604020202020204"/>
                <a:ea typeface="Arial" panose="020B0604020202020204"/>
                <a:cs typeface="Arial" panose="020B0604020202020204"/>
                <a:sym typeface="Arial" panose="020B0604020202020204"/>
              </a:rPr>
              <a:t>application program</a:t>
            </a:r>
            <a:r>
              <a:rPr lang="en-US"/>
              <a:t>, all programs not associated with the operating system</a:t>
            </a:r>
            <a:endParaRPr lang="en-US"/>
          </a:p>
          <a:p>
            <a:pPr marL="342900" lvl="0" indent="-342900" algn="l" rtl="0">
              <a:spcBef>
                <a:spcPts val="630"/>
              </a:spcBef>
              <a:spcAft>
                <a:spcPts val="0"/>
              </a:spcAft>
              <a:buSzPts val="1980"/>
              <a:buChar char="▪"/>
            </a:pPr>
            <a:r>
              <a:rPr lang="en-US"/>
              <a:t>Today’s OSes for general purpose and mobile computing also include </a:t>
            </a:r>
            <a:r>
              <a:rPr lang="en-US" b="1" i="1">
                <a:solidFill>
                  <a:srgbClr val="006699"/>
                </a:solidFill>
                <a:latin typeface="Arial" panose="020B0604020202020204"/>
                <a:ea typeface="Arial" panose="020B0604020202020204"/>
                <a:cs typeface="Arial" panose="020B0604020202020204"/>
                <a:sym typeface="Arial" panose="020B0604020202020204"/>
              </a:rPr>
              <a:t>middleware</a:t>
            </a:r>
            <a:r>
              <a:rPr lang="en-US"/>
              <a:t> – a set of software frameworks that provide addition services to application developers such as databases, multimedia, graphics </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11"/>
          <p:cNvSpPr txBox="1"/>
          <p:nvPr>
            <p:ph type="body" idx="4294967295"/>
          </p:nvPr>
        </p:nvSpPr>
        <p:spPr>
          <a:xfrm>
            <a:off x="292100" y="2897302"/>
            <a:ext cx="8813800" cy="1063396"/>
          </a:xfrm>
          <a:prstGeom prst="rect">
            <a:avLst/>
          </a:prstGeom>
          <a:noFill/>
          <a:ln>
            <a:noFill/>
          </a:ln>
        </p:spPr>
        <p:txBody>
          <a:bodyPr spcFirstLastPara="1" wrap="square" lIns="91425" tIns="45700" rIns="91425" bIns="45700" anchor="t" anchorCtr="0">
            <a:noAutofit/>
          </a:bodyPr>
          <a:lstStyle/>
          <a:p>
            <a:pPr marL="457200" lvl="1" indent="0" algn="l" rtl="0">
              <a:spcBef>
                <a:spcPts val="0"/>
              </a:spcBef>
              <a:spcAft>
                <a:spcPts val="0"/>
              </a:spcAft>
              <a:buSzPts val="3520"/>
              <a:buNone/>
            </a:pPr>
            <a:r>
              <a:rPr lang="en-US" sz="3200" b="1">
                <a:solidFill>
                  <a:srgbClr val="006699"/>
                </a:solidFill>
                <a:latin typeface="Arial" panose="020B0604020202020204"/>
                <a:ea typeface="Arial" panose="020B0604020202020204"/>
                <a:cs typeface="Arial" panose="020B0604020202020204"/>
                <a:sym typeface="Arial" panose="020B0604020202020204"/>
              </a:rPr>
              <a:t>Overview of Computer System Structure </a:t>
            </a:r>
            <a:endParaRPr lang="en-US" sz="3200" b="1">
              <a:solidFill>
                <a:srgbClr val="006699"/>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5" name="Shape 145"/>
        <p:cNvGrpSpPr/>
        <p:nvPr/>
      </p:nvGrpSpPr>
      <p:grpSpPr>
        <a:xfrm>
          <a:off x="0" y="0"/>
          <a:ext cx="0" cy="0"/>
          <a:chOff x="0" y="0"/>
          <a:chExt cx="0" cy="0"/>
        </a:xfrm>
      </p:grpSpPr>
      <p:sp>
        <p:nvSpPr>
          <p:cNvPr id="146" name="Google Shape;146;p12"/>
          <p:cNvSpPr txBox="1"/>
          <p:nvPr>
            <p:ph type="title" idx="4294967295"/>
          </p:nvPr>
        </p:nvSpPr>
        <p:spPr>
          <a:xfrm>
            <a:off x="868363" y="214313"/>
            <a:ext cx="76390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Computer System Organization</a:t>
            </a:r>
            <a:endParaRPr lang="en-US"/>
          </a:p>
        </p:txBody>
      </p:sp>
      <p:sp>
        <p:nvSpPr>
          <p:cNvPr id="147" name="Google Shape;147;p12"/>
          <p:cNvSpPr txBox="1"/>
          <p:nvPr>
            <p:ph type="body" idx="4294967295"/>
          </p:nvPr>
        </p:nvSpPr>
        <p:spPr>
          <a:xfrm>
            <a:off x="774700" y="1233488"/>
            <a:ext cx="763905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Computer-system operation</a:t>
            </a:r>
            <a:endParaRPr lang="en-US"/>
          </a:p>
          <a:p>
            <a:pPr marL="742950" lvl="1" indent="-285750" algn="l" rtl="0">
              <a:spcBef>
                <a:spcPts val="630"/>
              </a:spcBef>
              <a:spcAft>
                <a:spcPts val="0"/>
              </a:spcAft>
              <a:buSzPts val="1980"/>
              <a:buChar char="•"/>
            </a:pPr>
            <a:r>
              <a:rPr lang="en-US"/>
              <a:t>One or more CPUs, device controllers connect through common </a:t>
            </a:r>
            <a:r>
              <a:rPr lang="en-US" b="1">
                <a:solidFill>
                  <a:srgbClr val="006699"/>
                </a:solidFill>
                <a:latin typeface="Arial" panose="020B0604020202020204"/>
                <a:ea typeface="Arial" panose="020B0604020202020204"/>
                <a:cs typeface="Arial" panose="020B0604020202020204"/>
                <a:sym typeface="Arial" panose="020B0604020202020204"/>
              </a:rPr>
              <a:t>bus</a:t>
            </a:r>
            <a:r>
              <a:rPr lang="en-US"/>
              <a:t> providing access to shared memory</a:t>
            </a:r>
            <a:endParaRPr lang="en-US"/>
          </a:p>
          <a:p>
            <a:pPr marL="742950" lvl="1" indent="-285750" algn="l" rtl="0">
              <a:spcBef>
                <a:spcPts val="630"/>
              </a:spcBef>
              <a:spcAft>
                <a:spcPts val="0"/>
              </a:spcAft>
              <a:buSzPts val="1980"/>
              <a:buChar char="•"/>
            </a:pPr>
            <a:r>
              <a:rPr lang="en-US"/>
              <a:t>Concurrent execution of CPUs and devices competing for memory cycles</a:t>
            </a:r>
            <a:endParaRPr lang="en-US"/>
          </a:p>
          <a:p>
            <a:pPr marL="742950" lvl="1" indent="-160020" algn="l" rtl="0">
              <a:spcBef>
                <a:spcPts val="630"/>
              </a:spcBef>
              <a:spcAft>
                <a:spcPts val="0"/>
              </a:spcAft>
              <a:buSzPts val="1980"/>
              <a:buNone/>
            </a:pPr>
          </a:p>
        </p:txBody>
      </p:sp>
      <p:pic>
        <p:nvPicPr>
          <p:cNvPr id="148" name="Google Shape;148;p12"/>
          <p:cNvPicPr preferRelativeResize="0"/>
          <p:nvPr/>
        </p:nvPicPr>
        <p:blipFill rotWithShape="1">
          <a:blip r:embed="rId1"/>
          <a:srcRect/>
          <a:stretch>
            <a:fillRect/>
          </a:stretch>
        </p:blipFill>
        <p:spPr>
          <a:xfrm>
            <a:off x="1716088" y="3098800"/>
            <a:ext cx="6216650" cy="3032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2" name="Shape 152"/>
        <p:cNvGrpSpPr/>
        <p:nvPr/>
      </p:nvGrpSpPr>
      <p:grpSpPr>
        <a:xfrm>
          <a:off x="0" y="0"/>
          <a:ext cx="0" cy="0"/>
          <a:chOff x="0" y="0"/>
          <a:chExt cx="0" cy="0"/>
        </a:xfrm>
      </p:grpSpPr>
      <p:sp>
        <p:nvSpPr>
          <p:cNvPr id="153" name="Google Shape;153;p13"/>
          <p:cNvSpPr txBox="1"/>
          <p:nvPr>
            <p:ph type="title" idx="4294967295"/>
          </p:nvPr>
        </p:nvSpPr>
        <p:spPr>
          <a:xfrm>
            <a:off x="885825" y="220663"/>
            <a:ext cx="7605713"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Computer-System Operation</a:t>
            </a:r>
            <a:endParaRPr lang="en-US"/>
          </a:p>
        </p:txBody>
      </p:sp>
      <p:sp>
        <p:nvSpPr>
          <p:cNvPr id="154" name="Google Shape;154;p13"/>
          <p:cNvSpPr txBox="1"/>
          <p:nvPr>
            <p:ph type="body" idx="4294967295"/>
          </p:nvPr>
        </p:nvSpPr>
        <p:spPr>
          <a:xfrm>
            <a:off x="806450" y="1233489"/>
            <a:ext cx="7390099" cy="4528334"/>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I</a:t>
            </a:r>
            <a:r>
              <a:rPr lang="en-US"/>
              <a:t>/O devices and the CPU </a:t>
            </a:r>
            <a:r>
              <a:rPr lang="en-US"/>
              <a:t>can execute concurrently</a:t>
            </a:r>
            <a:endParaRPr sz="800"/>
          </a:p>
          <a:p>
            <a:pPr marL="342900" lvl="0" indent="-342900" algn="l" rtl="0">
              <a:spcBef>
                <a:spcPts val="630"/>
              </a:spcBef>
              <a:spcAft>
                <a:spcPts val="0"/>
              </a:spcAft>
              <a:buSzPts val="1980"/>
              <a:buChar char="▪"/>
            </a:pPr>
            <a:r>
              <a:rPr lang="en-US"/>
              <a:t>Each device controller is in charge of a particular device type</a:t>
            </a:r>
            <a:endParaRPr sz="800"/>
          </a:p>
          <a:p>
            <a:pPr marL="342900" lvl="0" indent="-342900" algn="l" rtl="0">
              <a:spcBef>
                <a:spcPts val="630"/>
              </a:spcBef>
              <a:spcAft>
                <a:spcPts val="0"/>
              </a:spcAft>
              <a:buSzPts val="1980"/>
              <a:buChar char="▪"/>
            </a:pPr>
            <a:r>
              <a:rPr lang="en-US"/>
              <a:t>Each device controller has a local buffer</a:t>
            </a:r>
            <a:endParaRPr lang="en-US"/>
          </a:p>
          <a:p>
            <a:pPr marL="342900" lvl="0" indent="-342900" algn="l" rtl="0">
              <a:spcBef>
                <a:spcPts val="630"/>
              </a:spcBef>
              <a:spcAft>
                <a:spcPts val="0"/>
              </a:spcAft>
              <a:buSzPts val="1980"/>
              <a:buChar char="▪"/>
            </a:pPr>
            <a:r>
              <a:rPr lang="en-US"/>
              <a:t>Each device controller type has an operating system </a:t>
            </a:r>
            <a:r>
              <a:rPr lang="en-US" b="1">
                <a:solidFill>
                  <a:srgbClr val="006699"/>
                </a:solidFill>
                <a:latin typeface="Arial" panose="020B0604020202020204"/>
                <a:ea typeface="Arial" panose="020B0604020202020204"/>
                <a:cs typeface="Arial" panose="020B0604020202020204"/>
                <a:sym typeface="Arial" panose="020B0604020202020204"/>
              </a:rPr>
              <a:t>device driver</a:t>
            </a:r>
            <a:r>
              <a:rPr lang="en-US"/>
              <a:t> to manage it</a:t>
            </a:r>
            <a:endParaRPr sz="800"/>
          </a:p>
          <a:p>
            <a:pPr marL="342900" lvl="0" indent="-342900" algn="l" rtl="0">
              <a:spcBef>
                <a:spcPts val="630"/>
              </a:spcBef>
              <a:spcAft>
                <a:spcPts val="0"/>
              </a:spcAft>
              <a:buSzPts val="1980"/>
              <a:buChar char="▪"/>
            </a:pPr>
            <a:r>
              <a:rPr lang="en-US"/>
              <a:t>CPU moves data from/to main memory to/from local buffers</a:t>
            </a:r>
            <a:endParaRPr sz="800"/>
          </a:p>
          <a:p>
            <a:pPr marL="342900" lvl="0" indent="-342900" algn="l" rtl="0">
              <a:spcBef>
                <a:spcPts val="630"/>
              </a:spcBef>
              <a:spcAft>
                <a:spcPts val="0"/>
              </a:spcAft>
              <a:buSzPts val="1980"/>
              <a:buChar char="▪"/>
            </a:pPr>
            <a:r>
              <a:rPr lang="en-US"/>
              <a:t>I/O is from the device to local buffer of controller</a:t>
            </a:r>
            <a:endParaRPr sz="800"/>
          </a:p>
          <a:p>
            <a:pPr marL="342900" lvl="0" indent="-342900" algn="l" rtl="0">
              <a:spcBef>
                <a:spcPts val="630"/>
              </a:spcBef>
              <a:spcAft>
                <a:spcPts val="0"/>
              </a:spcAft>
              <a:buSzPts val="1980"/>
              <a:buChar char="▪"/>
            </a:pPr>
            <a:r>
              <a:rPr lang="en-US"/>
              <a:t>Device controller informs CPU that it has finished its operation by causing an </a:t>
            </a:r>
            <a:r>
              <a:rPr lang="en-US" b="1">
                <a:solidFill>
                  <a:srgbClr val="006699"/>
                </a:solidFill>
                <a:latin typeface="Arial" panose="020B0604020202020204"/>
                <a:ea typeface="Arial" panose="020B0604020202020204"/>
                <a:cs typeface="Arial" panose="020B0604020202020204"/>
                <a:sym typeface="Arial" panose="020B0604020202020204"/>
              </a:rPr>
              <a:t>interrupt</a:t>
            </a:r>
            <a:endParaRPr lang="en-US" b="1">
              <a:solidFill>
                <a:srgbClr val="006699"/>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sp>
        <p:nvSpPr>
          <p:cNvPr id="159" name="Google Shape;159;p14"/>
          <p:cNvSpPr txBox="1"/>
          <p:nvPr>
            <p:ph type="title" idx="4294967295"/>
          </p:nvPr>
        </p:nvSpPr>
        <p:spPr>
          <a:xfrm>
            <a:off x="946150" y="195263"/>
            <a:ext cx="75914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Common Functions of Interrupts</a:t>
            </a:r>
            <a:endParaRPr lang="en-US"/>
          </a:p>
        </p:txBody>
      </p:sp>
      <p:sp>
        <p:nvSpPr>
          <p:cNvPr id="160" name="Google Shape;160;p14"/>
          <p:cNvSpPr txBox="1"/>
          <p:nvPr>
            <p:ph type="body" idx="4294967295"/>
          </p:nvPr>
        </p:nvSpPr>
        <p:spPr>
          <a:xfrm>
            <a:off x="806451" y="1233489"/>
            <a:ext cx="6993492" cy="4385114"/>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Interrupt transfers control to the interrupt service routine generally, through the </a:t>
            </a:r>
            <a:r>
              <a:rPr lang="en-US" b="1">
                <a:solidFill>
                  <a:srgbClr val="006699"/>
                </a:solidFill>
                <a:latin typeface="Arial" panose="020B0604020202020204"/>
                <a:ea typeface="Arial" panose="020B0604020202020204"/>
                <a:cs typeface="Arial" panose="020B0604020202020204"/>
                <a:sym typeface="Arial" panose="020B0604020202020204"/>
              </a:rPr>
              <a:t>interrupt vector</a:t>
            </a:r>
            <a:r>
              <a:rPr lang="en-US"/>
              <a:t>, which contains the addresses of all the service routines</a:t>
            </a:r>
            <a:endParaRPr sz="800"/>
          </a:p>
          <a:p>
            <a:pPr marL="342900" lvl="0" indent="-342900" algn="l" rtl="0">
              <a:spcBef>
                <a:spcPts val="630"/>
              </a:spcBef>
              <a:spcAft>
                <a:spcPts val="0"/>
              </a:spcAft>
              <a:buSzPts val="1980"/>
              <a:buChar char="▪"/>
            </a:pPr>
            <a:r>
              <a:rPr lang="en-US"/>
              <a:t>Interrupt architecture must save the address of the interrupted instruction</a:t>
            </a:r>
            <a:endParaRPr sz="800" i="1"/>
          </a:p>
          <a:p>
            <a:pPr marL="342900" lvl="0" indent="-342900" algn="l" rtl="0">
              <a:spcBef>
                <a:spcPts val="630"/>
              </a:spcBef>
              <a:spcAft>
                <a:spcPts val="0"/>
              </a:spcAft>
              <a:buSzPts val="1980"/>
              <a:buChar char="▪"/>
            </a:pPr>
            <a:r>
              <a:rPr lang="en-US"/>
              <a:t>A </a:t>
            </a:r>
            <a:r>
              <a:rPr lang="en-US" b="1">
                <a:solidFill>
                  <a:srgbClr val="006699"/>
                </a:solidFill>
                <a:latin typeface="Arial" panose="020B0604020202020204"/>
                <a:ea typeface="Arial" panose="020B0604020202020204"/>
                <a:cs typeface="Arial" panose="020B0604020202020204"/>
                <a:sym typeface="Arial" panose="020B0604020202020204"/>
              </a:rPr>
              <a:t>trap</a:t>
            </a:r>
            <a:r>
              <a:rPr lang="en-US"/>
              <a:t> or </a:t>
            </a:r>
            <a:r>
              <a:rPr lang="en-US" b="1">
                <a:solidFill>
                  <a:srgbClr val="006699"/>
                </a:solidFill>
                <a:latin typeface="Arial" panose="020B0604020202020204"/>
                <a:ea typeface="Arial" panose="020B0604020202020204"/>
                <a:cs typeface="Arial" panose="020B0604020202020204"/>
                <a:sym typeface="Arial" panose="020B0604020202020204"/>
              </a:rPr>
              <a:t>exception </a:t>
            </a:r>
            <a:r>
              <a:rPr lang="en-US"/>
              <a:t>is a software-generated interrupt caused either by an error or a user request</a:t>
            </a:r>
            <a:endParaRPr sz="800"/>
          </a:p>
          <a:p>
            <a:pPr marL="342900" lvl="0" indent="-342900" algn="l" rtl="0">
              <a:spcBef>
                <a:spcPts val="630"/>
              </a:spcBef>
              <a:spcAft>
                <a:spcPts val="0"/>
              </a:spcAft>
              <a:buSzPts val="1980"/>
              <a:buChar char="▪"/>
            </a:pPr>
            <a:r>
              <a:rPr lang="en-US"/>
              <a:t>An operating system is </a:t>
            </a:r>
            <a:r>
              <a:rPr lang="en-US" b="1">
                <a:solidFill>
                  <a:srgbClr val="006699"/>
                </a:solidFill>
                <a:latin typeface="Arial" panose="020B0604020202020204"/>
                <a:ea typeface="Arial" panose="020B0604020202020204"/>
                <a:cs typeface="Arial" panose="020B0604020202020204"/>
                <a:sym typeface="Arial" panose="020B0604020202020204"/>
              </a:rPr>
              <a:t>interrupt driven</a:t>
            </a:r>
            <a:endParaRPr lang="en-US" b="1">
              <a:solidFill>
                <a:srgbClr val="006699"/>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15"/>
          <p:cNvSpPr txBox="1"/>
          <p:nvPr>
            <p:ph type="title" idx="4294967295"/>
          </p:nvPr>
        </p:nvSpPr>
        <p:spPr>
          <a:xfrm>
            <a:off x="457200" y="195263"/>
            <a:ext cx="80518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Interrupt Timeline</a:t>
            </a:r>
            <a:endParaRPr lang="en-US"/>
          </a:p>
        </p:txBody>
      </p:sp>
      <p:pic>
        <p:nvPicPr>
          <p:cNvPr id="166" name="Google Shape;166;p15"/>
          <p:cNvPicPr preferRelativeResize="0"/>
          <p:nvPr/>
        </p:nvPicPr>
        <p:blipFill rotWithShape="1">
          <a:blip r:embed="rId1"/>
          <a:srcRect/>
          <a:stretch>
            <a:fillRect/>
          </a:stretch>
        </p:blipFill>
        <p:spPr>
          <a:xfrm>
            <a:off x="563563" y="1908175"/>
            <a:ext cx="8355012" cy="3648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311700" y="1002267"/>
            <a:ext cx="6721500" cy="13431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n-US"/>
              <a:t>Interrupt Handling</a:t>
            </a:r>
            <a:endParaRPr lang="en-US"/>
          </a:p>
        </p:txBody>
      </p:sp>
      <p:sp>
        <p:nvSpPr>
          <p:cNvPr id="172" name="Google Shape;172;p16"/>
          <p:cNvSpPr txBox="1"/>
          <p:nvPr>
            <p:ph type="body" idx="1"/>
          </p:nvPr>
        </p:nvSpPr>
        <p:spPr>
          <a:xfrm>
            <a:off x="311700" y="2759667"/>
            <a:ext cx="8520600" cy="3332400"/>
          </a:xfrm>
          <a:prstGeom prst="rect">
            <a:avLst/>
          </a:prstGeom>
        </p:spPr>
        <p:txBody>
          <a:bodyPr spcFirstLastPara="1" wrap="square" lIns="91425" tIns="45700" rIns="91425" bIns="45700" anchor="t" anchorCtr="0">
            <a:noAutofit/>
          </a:bodyPr>
          <a:lstStyle/>
          <a:p>
            <a:pPr marL="342900" lvl="0" indent="-331470" algn="l" rtl="0">
              <a:spcBef>
                <a:spcPts val="630"/>
              </a:spcBef>
              <a:spcAft>
                <a:spcPts val="0"/>
              </a:spcAft>
              <a:buSzPts val="1800"/>
              <a:buChar char="▪"/>
            </a:pPr>
            <a:r>
              <a:rPr lang="en-US"/>
              <a:t>The operating system preserves the state of the CPU by storing the registers and the program counter</a:t>
            </a:r>
            <a:endParaRPr lang="en-US"/>
          </a:p>
          <a:p>
            <a:pPr marL="342900" lvl="0" indent="-331470" algn="l" rtl="0">
              <a:spcBef>
                <a:spcPts val="1600"/>
              </a:spcBef>
              <a:spcAft>
                <a:spcPts val="0"/>
              </a:spcAft>
              <a:buSzPts val="1800"/>
              <a:buChar char="▪"/>
            </a:pPr>
            <a:r>
              <a:rPr lang="en-US"/>
              <a:t>Determines which type of interrupt has occurred:</a:t>
            </a:r>
            <a:endParaRPr lang="en-US"/>
          </a:p>
          <a:p>
            <a:pPr marL="342900" lvl="0" indent="-331470" algn="l" rtl="0">
              <a:spcBef>
                <a:spcPts val="1600"/>
              </a:spcBef>
              <a:spcAft>
                <a:spcPts val="1600"/>
              </a:spcAft>
              <a:buSzPts val="1800"/>
              <a:buChar char="▪"/>
            </a:pPr>
            <a:r>
              <a:rPr lang="en-US"/>
              <a:t>Separate segments of code determine what action should be taken for each type of interrupt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76" name="Shape 176"/>
        <p:cNvGrpSpPr/>
        <p:nvPr/>
      </p:nvGrpSpPr>
      <p:grpSpPr>
        <a:xfrm>
          <a:off x="0" y="0"/>
          <a:ext cx="0" cy="0"/>
          <a:chOff x="0" y="0"/>
          <a:chExt cx="0" cy="0"/>
        </a:xfrm>
      </p:grpSpPr>
      <p:sp>
        <p:nvSpPr>
          <p:cNvPr id="177" name="Google Shape;177;p17"/>
          <p:cNvSpPr txBox="1"/>
          <p:nvPr>
            <p:ph type="title" idx="4294967295"/>
          </p:nvPr>
        </p:nvSpPr>
        <p:spPr>
          <a:xfrm>
            <a:off x="457200" y="214313"/>
            <a:ext cx="811688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Interrupt-drive I/O Cycle</a:t>
            </a:r>
            <a:endParaRPr lang="en-US"/>
          </a:p>
        </p:txBody>
      </p:sp>
      <p:pic>
        <p:nvPicPr>
          <p:cNvPr id="178" name="Google Shape;178;p17"/>
          <p:cNvPicPr preferRelativeResize="0"/>
          <p:nvPr/>
        </p:nvPicPr>
        <p:blipFill rotWithShape="1">
          <a:blip r:embed="rId1"/>
          <a:srcRect/>
          <a:stretch>
            <a:fillRect/>
          </a:stretch>
        </p:blipFill>
        <p:spPr>
          <a:xfrm>
            <a:off x="2090738" y="1179513"/>
            <a:ext cx="5084762" cy="50117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18"/>
          <p:cNvSpPr txBox="1"/>
          <p:nvPr>
            <p:ph type="title" idx="4294967295"/>
          </p:nvPr>
        </p:nvSpPr>
        <p:spPr>
          <a:xfrm>
            <a:off x="457200" y="212725"/>
            <a:ext cx="809942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I/O Structure</a:t>
            </a:r>
            <a:endParaRPr lang="en-US"/>
          </a:p>
        </p:txBody>
      </p:sp>
      <p:sp>
        <p:nvSpPr>
          <p:cNvPr id="184" name="Google Shape;184;p18"/>
          <p:cNvSpPr txBox="1"/>
          <p:nvPr>
            <p:ph type="body" idx="4294967295"/>
          </p:nvPr>
        </p:nvSpPr>
        <p:spPr>
          <a:xfrm>
            <a:off x="895351" y="1244600"/>
            <a:ext cx="6618153" cy="435196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a:t>Two methods for handling I/O</a:t>
            </a:r>
            <a:endParaRPr lang="en-US"/>
          </a:p>
          <a:p>
            <a:pPr marL="742950" lvl="1" indent="-285750" algn="l" rtl="0">
              <a:lnSpc>
                <a:spcPct val="90000"/>
              </a:lnSpc>
              <a:spcBef>
                <a:spcPts val="630"/>
              </a:spcBef>
              <a:spcAft>
                <a:spcPts val="0"/>
              </a:spcAft>
              <a:buSzPts val="1980"/>
              <a:buChar char="•"/>
            </a:pPr>
            <a:r>
              <a:rPr lang="en-US"/>
              <a:t>After I/O starts, control returns to user program only upon I/O completion</a:t>
            </a:r>
            <a:endParaRPr lang="en-US"/>
          </a:p>
          <a:p>
            <a:pPr marL="742950" lvl="1" indent="-285750" algn="l" rtl="0">
              <a:lnSpc>
                <a:spcPct val="90000"/>
              </a:lnSpc>
              <a:spcBef>
                <a:spcPts val="630"/>
              </a:spcBef>
              <a:spcAft>
                <a:spcPts val="0"/>
              </a:spcAft>
              <a:buSzPts val="1980"/>
              <a:buChar char="•"/>
            </a:pPr>
            <a:r>
              <a:rPr lang="en-US"/>
              <a:t>After I/O starts, control returns to user program without waiting for I/O completion</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19"/>
          <p:cNvSpPr txBox="1"/>
          <p:nvPr>
            <p:ph type="title" idx="4294967295"/>
          </p:nvPr>
        </p:nvSpPr>
        <p:spPr>
          <a:xfrm>
            <a:off x="457200" y="212725"/>
            <a:ext cx="809942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I/O Structure (Cont.)</a:t>
            </a:r>
            <a:endParaRPr lang="en-US"/>
          </a:p>
        </p:txBody>
      </p:sp>
      <p:sp>
        <p:nvSpPr>
          <p:cNvPr id="190" name="Google Shape;190;p19"/>
          <p:cNvSpPr txBox="1"/>
          <p:nvPr>
            <p:ph type="body" idx="4294967295"/>
          </p:nvPr>
        </p:nvSpPr>
        <p:spPr>
          <a:xfrm>
            <a:off x="895351" y="1244600"/>
            <a:ext cx="7202048" cy="452823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a:t>After I/O starts, control returns to user program only upon I/O completion</a:t>
            </a:r>
            <a:endParaRPr lang="en-US"/>
          </a:p>
          <a:p>
            <a:pPr marL="742950" lvl="1" indent="-285750" algn="l" rtl="0">
              <a:lnSpc>
                <a:spcPct val="90000"/>
              </a:lnSpc>
              <a:spcBef>
                <a:spcPts val="630"/>
              </a:spcBef>
              <a:spcAft>
                <a:spcPts val="0"/>
              </a:spcAft>
              <a:buSzPts val="1980"/>
              <a:buChar char="•"/>
            </a:pPr>
            <a:r>
              <a:rPr lang="en-US"/>
              <a:t>Wait instruction idles the CPU until the next interrupt</a:t>
            </a:r>
            <a:endParaRPr lang="en-US"/>
          </a:p>
          <a:p>
            <a:pPr marL="742950" lvl="1" indent="-285750" algn="l" rtl="0">
              <a:lnSpc>
                <a:spcPct val="90000"/>
              </a:lnSpc>
              <a:spcBef>
                <a:spcPts val="630"/>
              </a:spcBef>
              <a:spcAft>
                <a:spcPts val="0"/>
              </a:spcAft>
              <a:buSzPts val="1980"/>
              <a:buChar char="•"/>
            </a:pPr>
            <a:r>
              <a:rPr lang="en-US"/>
              <a:t>Wait loop (contention for memory access)</a:t>
            </a:r>
            <a:endParaRPr lang="en-US"/>
          </a:p>
          <a:p>
            <a:pPr marL="742950" lvl="1" indent="-285750" algn="l" rtl="0">
              <a:lnSpc>
                <a:spcPct val="90000"/>
              </a:lnSpc>
              <a:spcBef>
                <a:spcPts val="630"/>
              </a:spcBef>
              <a:spcAft>
                <a:spcPts val="0"/>
              </a:spcAft>
              <a:buSzPts val="1980"/>
              <a:buChar char="•"/>
            </a:pPr>
            <a:r>
              <a:rPr lang="en-US"/>
              <a:t>At most one I/O request is outstanding at a time, no simultaneous I/O processing</a:t>
            </a:r>
            <a:endParaRPr lang="en-US"/>
          </a:p>
          <a:p>
            <a:pPr marL="342900" lvl="0" indent="-342900" algn="l" rtl="0">
              <a:lnSpc>
                <a:spcPct val="90000"/>
              </a:lnSpc>
              <a:spcBef>
                <a:spcPts val="630"/>
              </a:spcBef>
              <a:spcAft>
                <a:spcPts val="0"/>
              </a:spcAft>
              <a:buSzPts val="1980"/>
              <a:buChar char="▪"/>
            </a:pPr>
            <a:r>
              <a:rPr lang="en-US"/>
              <a:t>After I/O starts, control returns to user program without waiting for I/O completion</a:t>
            </a:r>
            <a:endParaRPr lang="en-US"/>
          </a:p>
          <a:p>
            <a:pPr marL="742950" lvl="1" indent="-285750" algn="l" rtl="0">
              <a:lnSpc>
                <a:spcPct val="90000"/>
              </a:lnSpc>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System call </a:t>
            </a:r>
            <a:r>
              <a:rPr lang="en-US"/>
              <a:t>– request to the OS to allow user to wait for I/O completion</a:t>
            </a:r>
            <a:endParaRPr lang="en-US"/>
          </a:p>
          <a:p>
            <a:pPr marL="742950" lvl="1" indent="-285750" algn="l" rtl="0">
              <a:lnSpc>
                <a:spcPct val="90000"/>
              </a:lnSpc>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Device-status table </a:t>
            </a:r>
            <a:r>
              <a:rPr lang="en-US"/>
              <a:t>contains entry for each I/O device indicating its type, address, and state</a:t>
            </a:r>
            <a:endParaRPr lang="en-US"/>
          </a:p>
          <a:p>
            <a:pPr marL="742950" lvl="1" indent="-285750" algn="l" rtl="0">
              <a:lnSpc>
                <a:spcPct val="90000"/>
              </a:lnSpc>
              <a:spcBef>
                <a:spcPts val="630"/>
              </a:spcBef>
              <a:spcAft>
                <a:spcPts val="0"/>
              </a:spcAft>
              <a:buSzPts val="1980"/>
              <a:buChar char="•"/>
            </a:pPr>
            <a:r>
              <a:rPr lang="en-US"/>
              <a:t>OS indexes into I/O device table to determine device status and to modify table entry to include interrupt</a:t>
            </a:r>
            <a:endParaRPr lang="en-US"/>
          </a:p>
          <a:p>
            <a:pPr marL="742950" lvl="1" indent="-160020" algn="l" rtl="0">
              <a:lnSpc>
                <a:spcPct val="90000"/>
              </a:lnSpc>
              <a:spcBef>
                <a:spcPts val="630"/>
              </a:spcBef>
              <a:spcAft>
                <a:spcPts val="0"/>
              </a:spcAft>
              <a:buSzPts val="1980"/>
              <a:buNone/>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94" name="Shape 194"/>
        <p:cNvGrpSpPr/>
        <p:nvPr/>
      </p:nvGrpSpPr>
      <p:grpSpPr>
        <a:xfrm>
          <a:off x="0" y="0"/>
          <a:ext cx="0" cy="0"/>
          <a:chOff x="0" y="0"/>
          <a:chExt cx="0" cy="0"/>
        </a:xfrm>
      </p:grpSpPr>
      <p:sp>
        <p:nvSpPr>
          <p:cNvPr id="195" name="Google Shape;195;p20"/>
          <p:cNvSpPr txBox="1"/>
          <p:nvPr>
            <p:ph type="title" idx="4294967295"/>
          </p:nvPr>
        </p:nvSpPr>
        <p:spPr>
          <a:xfrm>
            <a:off x="457200" y="201613"/>
            <a:ext cx="80613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Computer Startup</a:t>
            </a:r>
            <a:endParaRPr lang="en-US"/>
          </a:p>
        </p:txBody>
      </p:sp>
      <p:sp>
        <p:nvSpPr>
          <p:cNvPr id="196" name="Google Shape;196;p20"/>
          <p:cNvSpPr txBox="1"/>
          <p:nvPr>
            <p:ph type="body" idx="4294967295"/>
          </p:nvPr>
        </p:nvSpPr>
        <p:spPr>
          <a:xfrm>
            <a:off x="806451" y="1233489"/>
            <a:ext cx="6432550" cy="441619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Bootstrap program </a:t>
            </a:r>
            <a:r>
              <a:rPr lang="en-US"/>
              <a:t>is loaded at power-up or reboot</a:t>
            </a:r>
            <a:endParaRPr lang="en-US"/>
          </a:p>
          <a:p>
            <a:pPr marL="742950" lvl="1" indent="-285750" algn="l" rtl="0">
              <a:spcBef>
                <a:spcPts val="630"/>
              </a:spcBef>
              <a:spcAft>
                <a:spcPts val="0"/>
              </a:spcAft>
              <a:buSzPts val="1980"/>
              <a:buChar char="•"/>
            </a:pPr>
            <a:r>
              <a:rPr lang="en-US"/>
              <a:t>Typically stored in ROM or EPROM, generally known as </a:t>
            </a:r>
            <a:r>
              <a:rPr lang="en-US" b="1">
                <a:solidFill>
                  <a:srgbClr val="006699"/>
                </a:solidFill>
                <a:latin typeface="Arial" panose="020B0604020202020204"/>
                <a:ea typeface="Arial" panose="020B0604020202020204"/>
                <a:cs typeface="Arial" panose="020B0604020202020204"/>
                <a:sym typeface="Arial" panose="020B0604020202020204"/>
              </a:rPr>
              <a:t>firmware</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a:t>Initializes all aspects of system</a:t>
            </a:r>
            <a:endParaRPr lang="en-US"/>
          </a:p>
          <a:p>
            <a:pPr marL="742950" lvl="1" indent="-285750" algn="l" rtl="0">
              <a:spcBef>
                <a:spcPts val="630"/>
              </a:spcBef>
              <a:spcAft>
                <a:spcPts val="0"/>
              </a:spcAft>
              <a:buSzPts val="1980"/>
              <a:buChar char="•"/>
            </a:pPr>
            <a:r>
              <a:rPr lang="en-US"/>
              <a:t>Loads operating system kernel and starts execution</a:t>
            </a:r>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21"/>
          <p:cNvSpPr txBox="1"/>
          <p:nvPr>
            <p:ph type="body" idx="4294967295"/>
          </p:nvPr>
        </p:nvSpPr>
        <p:spPr>
          <a:xfrm>
            <a:off x="2144488" y="2888119"/>
            <a:ext cx="5116286" cy="1030738"/>
          </a:xfrm>
          <a:prstGeom prst="rect">
            <a:avLst/>
          </a:prstGeom>
          <a:noFill/>
          <a:ln>
            <a:noFill/>
          </a:ln>
        </p:spPr>
        <p:txBody>
          <a:bodyPr spcFirstLastPara="1" wrap="square" lIns="91425" tIns="45700" rIns="91425" bIns="45700" anchor="t" anchorCtr="0">
            <a:noAutofit/>
          </a:bodyPr>
          <a:lstStyle/>
          <a:p>
            <a:pPr marL="457200" lvl="1" indent="0" algn="l" rtl="0">
              <a:spcBef>
                <a:spcPts val="0"/>
              </a:spcBef>
              <a:spcAft>
                <a:spcPts val="0"/>
              </a:spcAft>
              <a:buSzPts val="3520"/>
              <a:buNone/>
            </a:pPr>
            <a:r>
              <a:rPr lang="en-US" sz="3200" b="1">
                <a:solidFill>
                  <a:srgbClr val="006699"/>
                </a:solidFill>
                <a:latin typeface="Arial" panose="020B0604020202020204"/>
                <a:ea typeface="Arial" panose="020B0604020202020204"/>
                <a:cs typeface="Arial" panose="020B0604020202020204"/>
                <a:sym typeface="Arial" panose="020B0604020202020204"/>
              </a:rPr>
              <a:t>Storage Structure</a:t>
            </a:r>
            <a:endParaRPr lang="en-US" sz="3200" b="1">
              <a:solidFill>
                <a:srgbClr val="006699"/>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05" name="Shape 205"/>
        <p:cNvGrpSpPr/>
        <p:nvPr/>
      </p:nvGrpSpPr>
      <p:grpSpPr>
        <a:xfrm>
          <a:off x="0" y="0"/>
          <a:ext cx="0" cy="0"/>
          <a:chOff x="0" y="0"/>
          <a:chExt cx="0" cy="0"/>
        </a:xfrm>
      </p:grpSpPr>
      <p:sp>
        <p:nvSpPr>
          <p:cNvPr id="206" name="Google Shape;206;p22"/>
          <p:cNvSpPr txBox="1"/>
          <p:nvPr>
            <p:ph type="title" idx="4294967295"/>
          </p:nvPr>
        </p:nvSpPr>
        <p:spPr>
          <a:xfrm>
            <a:off x="457200" y="198438"/>
            <a:ext cx="80803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Storage Structure</a:t>
            </a:r>
            <a:endParaRPr lang="en-US"/>
          </a:p>
        </p:txBody>
      </p:sp>
      <p:sp>
        <p:nvSpPr>
          <p:cNvPr id="207" name="Google Shape;207;p22"/>
          <p:cNvSpPr txBox="1"/>
          <p:nvPr>
            <p:ph type="body" idx="4294967295"/>
          </p:nvPr>
        </p:nvSpPr>
        <p:spPr>
          <a:xfrm>
            <a:off x="801688" y="1143002"/>
            <a:ext cx="6744624" cy="439364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870"/>
              <a:buChar char="▪"/>
            </a:pPr>
            <a:r>
              <a:rPr lang="en-US" sz="1700"/>
              <a:t>Main memory – only large storage media that the CPU can access directly</a:t>
            </a:r>
            <a:endParaRPr lang="en-US" sz="1700"/>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Random access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760"/>
              <a:buChar char="•"/>
            </a:pPr>
            <a:r>
              <a:rPr lang="en-US" sz="1600"/>
              <a:t>Typically </a:t>
            </a:r>
            <a:r>
              <a:rPr lang="en-US" b="1">
                <a:solidFill>
                  <a:srgbClr val="006699"/>
                </a:solidFill>
                <a:latin typeface="Arial" panose="020B0604020202020204"/>
                <a:ea typeface="Arial" panose="020B0604020202020204"/>
                <a:cs typeface="Arial" panose="020B0604020202020204"/>
                <a:sym typeface="Arial" panose="020B0604020202020204"/>
              </a:rPr>
              <a:t>volatile</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a:t>Typically</a:t>
            </a:r>
            <a:r>
              <a:rPr lang="en-US" sz="1600"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random-access</a:t>
            </a:r>
            <a:r>
              <a:rPr lang="en-US" sz="1600"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memory</a:t>
            </a:r>
            <a:r>
              <a:rPr lang="en-US" sz="1600" b="1">
                <a:solidFill>
                  <a:srgbClr val="3366FF"/>
                </a:solidFill>
              </a:rPr>
              <a:t> </a:t>
            </a:r>
            <a:r>
              <a:rPr lang="en-US"/>
              <a:t>in the form of </a:t>
            </a:r>
            <a:r>
              <a:rPr lang="en-US" b="1">
                <a:solidFill>
                  <a:srgbClr val="006699"/>
                </a:solidFill>
                <a:latin typeface="Arial" panose="020B0604020202020204"/>
                <a:ea typeface="Arial" panose="020B0604020202020204"/>
                <a:cs typeface="Arial" panose="020B0604020202020204"/>
                <a:sym typeface="Arial" panose="020B0604020202020204"/>
              </a:rPr>
              <a:t>Dynamic Random-access Memory (DRAM)</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870"/>
              <a:buChar char="▪"/>
            </a:pPr>
            <a:r>
              <a:rPr lang="en-US" sz="1700"/>
              <a:t>Secondary storage – extension of main memory that provides large </a:t>
            </a:r>
            <a:r>
              <a:rPr lang="en-US" b="1">
                <a:solidFill>
                  <a:srgbClr val="006699"/>
                </a:solidFill>
                <a:latin typeface="Arial" panose="020B0604020202020204"/>
                <a:ea typeface="Arial" panose="020B0604020202020204"/>
                <a:cs typeface="Arial" panose="020B0604020202020204"/>
                <a:sym typeface="Arial" panose="020B0604020202020204"/>
              </a:rPr>
              <a:t>nonvolatile </a:t>
            </a:r>
            <a:r>
              <a:rPr lang="en-US" sz="1700"/>
              <a:t>storage capacity</a:t>
            </a:r>
            <a:endParaRPr lang="en-US" sz="17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11" name="Shape 211"/>
        <p:cNvGrpSpPr/>
        <p:nvPr/>
      </p:nvGrpSpPr>
      <p:grpSpPr>
        <a:xfrm>
          <a:off x="0" y="0"/>
          <a:ext cx="0" cy="0"/>
          <a:chOff x="0" y="0"/>
          <a:chExt cx="0" cy="0"/>
        </a:xfrm>
      </p:grpSpPr>
      <p:sp>
        <p:nvSpPr>
          <p:cNvPr id="212" name="Google Shape;212;p23"/>
          <p:cNvSpPr txBox="1"/>
          <p:nvPr>
            <p:ph type="title" idx="4294967295"/>
          </p:nvPr>
        </p:nvSpPr>
        <p:spPr>
          <a:xfrm>
            <a:off x="457200" y="198438"/>
            <a:ext cx="80803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Storage Structure (Cont.)</a:t>
            </a:r>
            <a:endParaRPr lang="en-US"/>
          </a:p>
        </p:txBody>
      </p:sp>
      <p:sp>
        <p:nvSpPr>
          <p:cNvPr id="213" name="Google Shape;213;p23"/>
          <p:cNvSpPr txBox="1"/>
          <p:nvPr>
            <p:ph type="body" idx="4294967295"/>
          </p:nvPr>
        </p:nvSpPr>
        <p:spPr>
          <a:xfrm>
            <a:off x="801688" y="1099455"/>
            <a:ext cx="6905398" cy="444137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Hard Disk Drives </a:t>
            </a:r>
            <a:r>
              <a:rPr lang="en-US" sz="1700"/>
              <a:t>(</a:t>
            </a:r>
            <a:r>
              <a:rPr lang="en-US" b="1">
                <a:solidFill>
                  <a:srgbClr val="006699"/>
                </a:solidFill>
                <a:latin typeface="Arial" panose="020B0604020202020204"/>
                <a:ea typeface="Arial" panose="020B0604020202020204"/>
                <a:cs typeface="Arial" panose="020B0604020202020204"/>
                <a:sym typeface="Arial" panose="020B0604020202020204"/>
              </a:rPr>
              <a:t>HDD</a:t>
            </a:r>
            <a:r>
              <a:rPr lang="en-US" sz="1700"/>
              <a:t>) – rigid metal or glass platters covered with magnetic recording material </a:t>
            </a:r>
            <a:endParaRPr lang="en-US" sz="1700"/>
          </a:p>
          <a:p>
            <a:pPr marL="742950" lvl="1" indent="-285750" algn="l" rtl="0">
              <a:spcBef>
                <a:spcPts val="630"/>
              </a:spcBef>
              <a:spcAft>
                <a:spcPts val="0"/>
              </a:spcAft>
              <a:buSzPts val="1760"/>
              <a:buChar char="•"/>
            </a:pPr>
            <a:r>
              <a:rPr lang="en-US" sz="1600"/>
              <a:t>Disk surface is logically divided into</a:t>
            </a:r>
            <a:r>
              <a:rPr lang="en-US" b="1">
                <a:solidFill>
                  <a:srgbClr val="006699"/>
                </a:solidFill>
                <a:latin typeface="Arial" panose="020B0604020202020204"/>
                <a:ea typeface="Arial" panose="020B0604020202020204"/>
                <a:cs typeface="Arial" panose="020B0604020202020204"/>
                <a:sym typeface="Arial" panose="020B0604020202020204"/>
              </a:rPr>
              <a:t> tracks</a:t>
            </a:r>
            <a:r>
              <a:rPr lang="en-US" sz="1600"/>
              <a:t>, which are subdivided into </a:t>
            </a:r>
            <a:r>
              <a:rPr lang="en-US" b="1">
                <a:solidFill>
                  <a:srgbClr val="006699"/>
                </a:solidFill>
                <a:latin typeface="Arial" panose="020B0604020202020204"/>
                <a:ea typeface="Arial" panose="020B0604020202020204"/>
                <a:cs typeface="Arial" panose="020B0604020202020204"/>
                <a:sym typeface="Arial" panose="020B0604020202020204"/>
              </a:rPr>
              <a:t>sectors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760"/>
              <a:buChar char="•"/>
            </a:pPr>
            <a:r>
              <a:rPr lang="en-US" sz="1600"/>
              <a:t>The </a:t>
            </a:r>
            <a:r>
              <a:rPr lang="en-US" b="1">
                <a:solidFill>
                  <a:srgbClr val="006699"/>
                </a:solidFill>
                <a:latin typeface="Arial" panose="020B0604020202020204"/>
                <a:ea typeface="Arial" panose="020B0604020202020204"/>
                <a:cs typeface="Arial" panose="020B0604020202020204"/>
                <a:sym typeface="Arial" panose="020B0604020202020204"/>
              </a:rPr>
              <a:t>disk controller </a:t>
            </a:r>
            <a:r>
              <a:rPr lang="en-US" sz="1600"/>
              <a:t>determines the logical interaction between the device and the computer </a:t>
            </a:r>
            <a:endParaRPr lang="en-US" sz="1600"/>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Non-volatile memory</a:t>
            </a:r>
            <a:r>
              <a:rPr lang="en-US" sz="1700"/>
              <a:t> (</a:t>
            </a:r>
            <a:r>
              <a:rPr lang="en-US" b="1">
                <a:solidFill>
                  <a:srgbClr val="006699"/>
                </a:solidFill>
                <a:latin typeface="Arial" panose="020B0604020202020204"/>
                <a:ea typeface="Arial" panose="020B0604020202020204"/>
                <a:cs typeface="Arial" panose="020B0604020202020204"/>
                <a:sym typeface="Arial" panose="020B0604020202020204"/>
              </a:rPr>
              <a:t>NVM</a:t>
            </a:r>
            <a:r>
              <a:rPr lang="en-US" sz="1700"/>
              <a:t>)</a:t>
            </a:r>
            <a:r>
              <a:rPr lang="en-US" b="1">
                <a:solidFill>
                  <a:srgbClr val="006699"/>
                </a:solidFill>
                <a:latin typeface="Arial" panose="020B0604020202020204"/>
                <a:ea typeface="Arial" panose="020B0604020202020204"/>
                <a:cs typeface="Arial" panose="020B0604020202020204"/>
                <a:sym typeface="Arial" panose="020B0604020202020204"/>
              </a:rPr>
              <a:t> </a:t>
            </a:r>
            <a:r>
              <a:rPr lang="en-US" sz="1700"/>
              <a:t>devices– faster than hard disks, nonvolatile</a:t>
            </a:r>
            <a:endParaRPr lang="en-US" sz="1700"/>
          </a:p>
          <a:p>
            <a:pPr marL="742950" lvl="1" indent="-285750" algn="l" rtl="0">
              <a:spcBef>
                <a:spcPts val="560"/>
              </a:spcBef>
              <a:spcAft>
                <a:spcPts val="0"/>
              </a:spcAft>
              <a:buSzPts val="1760"/>
              <a:buChar char="•"/>
            </a:pPr>
            <a:r>
              <a:rPr lang="en-US" sz="1600"/>
              <a:t>Various technologies</a:t>
            </a:r>
            <a:endParaRPr lang="en-US" sz="1600"/>
          </a:p>
          <a:p>
            <a:pPr marL="742950" lvl="1" indent="-285750" algn="l" rtl="0">
              <a:spcBef>
                <a:spcPts val="560"/>
              </a:spcBef>
              <a:spcAft>
                <a:spcPts val="0"/>
              </a:spcAft>
              <a:buSzPts val="1760"/>
              <a:buChar char="•"/>
            </a:pPr>
            <a:r>
              <a:rPr lang="en-US" sz="1600"/>
              <a:t>Becoming more popular as capacity and performance increases, price drops</a:t>
            </a:r>
            <a:endParaRPr lang="en-US"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17" name="Shape 217"/>
        <p:cNvGrpSpPr/>
        <p:nvPr/>
      </p:nvGrpSpPr>
      <p:grpSpPr>
        <a:xfrm>
          <a:off x="0" y="0"/>
          <a:ext cx="0" cy="0"/>
          <a:chOff x="0" y="0"/>
          <a:chExt cx="0" cy="0"/>
        </a:xfrm>
      </p:grpSpPr>
      <p:sp>
        <p:nvSpPr>
          <p:cNvPr id="218" name="Google Shape;218;p24"/>
          <p:cNvSpPr txBox="1"/>
          <p:nvPr>
            <p:ph type="title"/>
          </p:nvPr>
        </p:nvSpPr>
        <p:spPr>
          <a:xfrm>
            <a:off x="947738" y="203200"/>
            <a:ext cx="785177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000"/>
              <a:t>Storage Definitions and Notation Review</a:t>
            </a:r>
            <a:endParaRPr lang="en-US" sz="3000"/>
          </a:p>
        </p:txBody>
      </p:sp>
      <p:pic>
        <p:nvPicPr>
          <p:cNvPr id="219" name="Google Shape;219;p24"/>
          <p:cNvPicPr preferRelativeResize="0"/>
          <p:nvPr/>
        </p:nvPicPr>
        <p:blipFill rotWithShape="1">
          <a:blip r:embed="rId1"/>
          <a:srcRect/>
          <a:stretch>
            <a:fillRect/>
          </a:stretch>
        </p:blipFill>
        <p:spPr>
          <a:xfrm>
            <a:off x="947738" y="1079500"/>
            <a:ext cx="7353300" cy="4953000"/>
          </a:xfrm>
          <a:prstGeom prst="rect">
            <a:avLst/>
          </a:prstGeom>
          <a:noFill/>
          <a:ln>
            <a:noFill/>
          </a:ln>
        </p:spPr>
      </p:pic>
      <p:sp>
        <p:nvSpPr>
          <p:cNvPr id="220" name="Google Shape;220;p24"/>
          <p:cNvSpPr/>
          <p:nvPr/>
        </p:nvSpPr>
        <p:spPr>
          <a:xfrm>
            <a:off x="842962" y="1079500"/>
            <a:ext cx="8039100" cy="4953000"/>
          </a:xfrm>
          <a:prstGeom prst="rect">
            <a:avLst/>
          </a:prstGeom>
          <a:solidFill>
            <a:srgbClr val="CEEBFA"/>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The basic unit of computer storage is the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bit</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A bit can contain one of two</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values, 0 and 1. All other storage in a computer is based on collections of bits.</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Given enough bits, it is amazing how many things a computer can represent:</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numbers, letters, images, movies, sounds, documents, and programs, to name</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a few. A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byte</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is 8 bits, and on most computers it is the smallest convenient</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chunk of storage. For example, most computers don’t have an instruction to</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move a bit but do have one to move a byte. A less common term is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word</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which is a given computer architecture’s native unit of data. A word is made</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up of one or more bytes. For example, a computer that has 64-bit registers and</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64-bit memory addressing typically has 64-bit (8-byte) words. A computer</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executes many operations in its native word size rather than a byte at a time.</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endParaRPr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Computer storage, along with most computer throughput, is generally</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measured and manipulated in bytes and collections of bytes. A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kilobyte</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or</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KB , is 1,024 bytes; a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megabyte</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or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MB</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is 1,024</a:t>
            </a:r>
            <a:r>
              <a:rPr lang="en-US" sz="1400" b="0" i="0" u="none" strike="noStrike" cap="none" baseline="30000">
                <a:solidFill>
                  <a:schemeClr val="dk1"/>
                </a:solidFill>
                <a:latin typeface="Verdana" panose="020B0604030504040204"/>
                <a:ea typeface="Verdana" panose="020B0604030504040204"/>
                <a:cs typeface="Verdana" panose="020B0604030504040204"/>
                <a:sym typeface="Verdana" panose="020B0604030504040204"/>
              </a:rPr>
              <a:t>2</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bytes; a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gigabyte</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or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GB</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is</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1,024</a:t>
            </a:r>
            <a:r>
              <a:rPr lang="en-US" sz="1400" b="0" i="0" u="none" strike="noStrike" cap="none" baseline="30000">
                <a:solidFill>
                  <a:schemeClr val="dk1"/>
                </a:solidFill>
                <a:latin typeface="Verdana" panose="020B0604030504040204"/>
                <a:ea typeface="Verdana" panose="020B0604030504040204"/>
                <a:cs typeface="Verdana" panose="020B0604030504040204"/>
                <a:sym typeface="Verdana" panose="020B0604030504040204"/>
              </a:rPr>
              <a:t>3</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bytes; a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terabyte</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or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TB</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is 1,024</a:t>
            </a:r>
            <a:r>
              <a:rPr lang="en-US" sz="1400" b="0" i="0" u="none" strike="noStrike" cap="none" baseline="30000">
                <a:solidFill>
                  <a:schemeClr val="dk1"/>
                </a:solidFill>
                <a:latin typeface="Verdana" panose="020B0604030504040204"/>
                <a:ea typeface="Verdana" panose="020B0604030504040204"/>
                <a:cs typeface="Verdana" panose="020B0604030504040204"/>
                <a:sym typeface="Verdana" panose="020B0604030504040204"/>
              </a:rPr>
              <a:t>4</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bytes; and a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petabyte</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or </a:t>
            </a:r>
            <a:r>
              <a:rPr lang="en-US" sz="1500" b="1" i="0" u="none" strike="noStrike" cap="none">
                <a:solidFill>
                  <a:srgbClr val="006699"/>
                </a:solidFill>
                <a:latin typeface="Arial" panose="020B0604020202020204"/>
                <a:ea typeface="Arial" panose="020B0604020202020204"/>
                <a:cs typeface="Arial" panose="020B0604020202020204"/>
                <a:sym typeface="Arial" panose="020B0604020202020204"/>
              </a:rPr>
              <a:t>PB</a:t>
            </a: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 is 1,024</a:t>
            </a:r>
            <a:r>
              <a:rPr lang="en-US" sz="1400" b="0" i="0" u="none" strike="noStrike" cap="none" baseline="30000">
                <a:solidFill>
                  <a:schemeClr val="dk1"/>
                </a:solidFill>
                <a:latin typeface="Verdana" panose="020B0604030504040204"/>
                <a:ea typeface="Verdana" panose="020B0604030504040204"/>
                <a:cs typeface="Verdana" panose="020B0604030504040204"/>
                <a:sym typeface="Verdana" panose="020B0604030504040204"/>
              </a:rPr>
              <a:t>5</a:t>
            </a:r>
            <a:endParaRPr lang="en-US" sz="1400" b="0" i="0" u="none" strike="noStrike" cap="none" baseline="30000">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bytes. Computer manufacturers often round off these numbers and say that</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a megabyte is 1 million bytes and a gigabyte is 1 billion bytes. Networking</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measurements are an exception to this general rule; they are given in bits</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r>
              <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rPr>
              <a:t>(because networks move data a bit at a time).</a:t>
            </a:r>
            <a:endParaRPr lang="en-US"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None/>
            </a:pPr>
            <a:endParaRPr sz="14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24" name="Shape 224"/>
        <p:cNvGrpSpPr/>
        <p:nvPr/>
      </p:nvGrpSpPr>
      <p:grpSpPr>
        <a:xfrm>
          <a:off x="0" y="0"/>
          <a:ext cx="0" cy="0"/>
          <a:chOff x="0" y="0"/>
          <a:chExt cx="0" cy="0"/>
        </a:xfrm>
      </p:grpSpPr>
      <p:sp>
        <p:nvSpPr>
          <p:cNvPr id="225" name="Google Shape;225;p25"/>
          <p:cNvSpPr txBox="1"/>
          <p:nvPr>
            <p:ph type="title" idx="4294967295"/>
          </p:nvPr>
        </p:nvSpPr>
        <p:spPr>
          <a:xfrm>
            <a:off x="876300" y="211138"/>
            <a:ext cx="76612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Storage Hierarchy</a:t>
            </a:r>
            <a:endParaRPr lang="en-US"/>
          </a:p>
        </p:txBody>
      </p:sp>
      <p:sp>
        <p:nvSpPr>
          <p:cNvPr id="226" name="Google Shape;226;p25"/>
          <p:cNvSpPr txBox="1"/>
          <p:nvPr>
            <p:ph type="body" idx="4294967295"/>
          </p:nvPr>
        </p:nvSpPr>
        <p:spPr>
          <a:xfrm>
            <a:off x="806450" y="1124628"/>
            <a:ext cx="781050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Storage systems organized in hierarchy</a:t>
            </a:r>
            <a:endParaRPr lang="en-US"/>
          </a:p>
          <a:p>
            <a:pPr marL="742950" lvl="1" indent="-285750" algn="l" rtl="0">
              <a:spcBef>
                <a:spcPts val="630"/>
              </a:spcBef>
              <a:spcAft>
                <a:spcPts val="0"/>
              </a:spcAft>
              <a:buSzPts val="1980"/>
              <a:buChar char="•"/>
            </a:pPr>
            <a:r>
              <a:rPr lang="en-US"/>
              <a:t>Speed</a:t>
            </a:r>
            <a:endParaRPr lang="en-US"/>
          </a:p>
          <a:p>
            <a:pPr marL="742950" lvl="1" indent="-285750" algn="l" rtl="0">
              <a:spcBef>
                <a:spcPts val="630"/>
              </a:spcBef>
              <a:spcAft>
                <a:spcPts val="0"/>
              </a:spcAft>
              <a:buSzPts val="1980"/>
              <a:buChar char="•"/>
            </a:pPr>
            <a:r>
              <a:rPr lang="en-US"/>
              <a:t>Cost</a:t>
            </a:r>
            <a:endParaRPr lang="en-US"/>
          </a:p>
          <a:p>
            <a:pPr marL="742950" lvl="1" indent="-285750" algn="l" rtl="0">
              <a:spcBef>
                <a:spcPts val="630"/>
              </a:spcBef>
              <a:spcAft>
                <a:spcPts val="0"/>
              </a:spcAft>
              <a:buSzPts val="1980"/>
              <a:buChar char="•"/>
            </a:pPr>
            <a:r>
              <a:rPr lang="en-US"/>
              <a:t>Volatility</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Caching</a:t>
            </a:r>
            <a:r>
              <a:rPr lang="en-US"/>
              <a:t> – copying information into faster storage system; main memory can be viewed as a cache for secondary storage</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Device Driver </a:t>
            </a:r>
            <a:r>
              <a:rPr lang="en-US"/>
              <a:t>for each device controller to manage I/O</a:t>
            </a:r>
            <a:endParaRPr lang="en-US"/>
          </a:p>
          <a:p>
            <a:pPr marL="742950" lvl="1" indent="-285750" algn="l" rtl="0">
              <a:spcBef>
                <a:spcPts val="630"/>
              </a:spcBef>
              <a:spcAft>
                <a:spcPts val="0"/>
              </a:spcAft>
              <a:buSzPts val="1980"/>
              <a:buChar char="•"/>
            </a:pPr>
            <a:r>
              <a:rPr lang="en-US"/>
              <a:t>Provides uniform interface between controller and kernel</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30" name="Shape 230"/>
        <p:cNvGrpSpPr/>
        <p:nvPr/>
      </p:nvGrpSpPr>
      <p:grpSpPr>
        <a:xfrm>
          <a:off x="0" y="0"/>
          <a:ext cx="0" cy="0"/>
          <a:chOff x="0" y="0"/>
          <a:chExt cx="0" cy="0"/>
        </a:xfrm>
      </p:grpSpPr>
      <p:sp>
        <p:nvSpPr>
          <p:cNvPr id="231" name="Google Shape;231;p26"/>
          <p:cNvSpPr txBox="1"/>
          <p:nvPr>
            <p:ph type="title" idx="4294967295"/>
          </p:nvPr>
        </p:nvSpPr>
        <p:spPr>
          <a:xfrm>
            <a:off x="457200" y="198438"/>
            <a:ext cx="8126413"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Storage-Device Hierarchy</a:t>
            </a:r>
            <a:endParaRPr lang="en-US"/>
          </a:p>
        </p:txBody>
      </p:sp>
      <p:pic>
        <p:nvPicPr>
          <p:cNvPr id="232" name="Google Shape;232;p26"/>
          <p:cNvPicPr preferRelativeResize="0"/>
          <p:nvPr/>
        </p:nvPicPr>
        <p:blipFill rotWithShape="1">
          <a:blip r:embed="rId1"/>
          <a:srcRect/>
          <a:stretch>
            <a:fillRect/>
          </a:stretch>
        </p:blipFill>
        <p:spPr>
          <a:xfrm>
            <a:off x="963613" y="1455738"/>
            <a:ext cx="7483475" cy="43449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36" name="Shape 236"/>
        <p:cNvGrpSpPr/>
        <p:nvPr/>
      </p:nvGrpSpPr>
      <p:grpSpPr>
        <a:xfrm>
          <a:off x="0" y="0"/>
          <a:ext cx="0" cy="0"/>
          <a:chOff x="0" y="0"/>
          <a:chExt cx="0" cy="0"/>
        </a:xfrm>
      </p:grpSpPr>
      <p:sp>
        <p:nvSpPr>
          <p:cNvPr id="237" name="Google Shape;237;p27"/>
          <p:cNvSpPr txBox="1"/>
          <p:nvPr>
            <p:ph type="title" idx="4294967295"/>
          </p:nvPr>
        </p:nvSpPr>
        <p:spPr>
          <a:xfrm>
            <a:off x="835025" y="212725"/>
            <a:ext cx="770255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How a Modern Computer Works</a:t>
            </a:r>
            <a:endParaRPr lang="en-US"/>
          </a:p>
        </p:txBody>
      </p:sp>
      <p:sp>
        <p:nvSpPr>
          <p:cNvPr id="238" name="Google Shape;238;p27"/>
          <p:cNvSpPr txBox="1"/>
          <p:nvPr/>
        </p:nvSpPr>
        <p:spPr>
          <a:xfrm>
            <a:off x="4595495" y="5637213"/>
            <a:ext cx="2874963"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Noto Sans Symbols"/>
              <a:buNone/>
            </a:pPr>
            <a:r>
              <a:rPr lang="en-US" sz="1400" b="0" i="1" u="none" strike="noStrike" cap="none">
                <a:solidFill>
                  <a:schemeClr val="dk1"/>
                </a:solidFill>
                <a:latin typeface="Verdana" panose="020B0604030504040204"/>
                <a:ea typeface="Verdana" panose="020B0604030504040204"/>
                <a:cs typeface="Verdana" panose="020B0604030504040204"/>
                <a:sym typeface="Verdana" panose="020B0604030504040204"/>
              </a:rPr>
              <a:t>A von Neumann architecture</a:t>
            </a:r>
            <a:endParaRPr lang="en-US" sz="1400" b="0" i="1"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pic>
        <p:nvPicPr>
          <p:cNvPr id="239" name="Google Shape;239;p27"/>
          <p:cNvPicPr preferRelativeResize="0"/>
          <p:nvPr/>
        </p:nvPicPr>
        <p:blipFill rotWithShape="1">
          <a:blip r:embed="rId1"/>
          <a:srcRect/>
          <a:stretch>
            <a:fillRect/>
          </a:stretch>
        </p:blipFill>
        <p:spPr>
          <a:xfrm>
            <a:off x="1978025" y="1352550"/>
            <a:ext cx="5122863" cy="4086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43" name="Shape 243"/>
        <p:cNvGrpSpPr/>
        <p:nvPr/>
      </p:nvGrpSpPr>
      <p:grpSpPr>
        <a:xfrm>
          <a:off x="0" y="0"/>
          <a:ext cx="0" cy="0"/>
          <a:chOff x="0" y="0"/>
          <a:chExt cx="0" cy="0"/>
        </a:xfrm>
      </p:grpSpPr>
      <p:sp>
        <p:nvSpPr>
          <p:cNvPr id="244" name="Google Shape;244;p28"/>
          <p:cNvSpPr txBox="1"/>
          <p:nvPr>
            <p:ph type="title" idx="4294967295"/>
          </p:nvPr>
        </p:nvSpPr>
        <p:spPr>
          <a:xfrm>
            <a:off x="1020763" y="212725"/>
            <a:ext cx="755332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Direct Memory Access Structure</a:t>
            </a:r>
            <a:endParaRPr lang="en-US"/>
          </a:p>
        </p:txBody>
      </p:sp>
      <p:sp>
        <p:nvSpPr>
          <p:cNvPr id="245" name="Google Shape;245;p28"/>
          <p:cNvSpPr txBox="1"/>
          <p:nvPr>
            <p:ph type="body" idx="4294967295"/>
          </p:nvPr>
        </p:nvSpPr>
        <p:spPr>
          <a:xfrm>
            <a:off x="806450" y="1233488"/>
            <a:ext cx="6813550" cy="405696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Used for high-speed I/O devices able to transmit information at close to memory speeds</a:t>
            </a:r>
            <a:endParaRPr lang="en-US"/>
          </a:p>
          <a:p>
            <a:pPr marL="342900" lvl="0" indent="-342900" algn="l" rtl="0">
              <a:spcBef>
                <a:spcPts val="630"/>
              </a:spcBef>
              <a:spcAft>
                <a:spcPts val="0"/>
              </a:spcAft>
              <a:buSzPts val="1980"/>
              <a:buChar char="▪"/>
            </a:pPr>
            <a:r>
              <a:rPr lang="en-US"/>
              <a:t>Device controller transfers blocks of data from buffer storage directly to main memory without CPU intervention</a:t>
            </a:r>
            <a:endParaRPr lang="en-US"/>
          </a:p>
          <a:p>
            <a:pPr marL="342900" lvl="0" indent="-342900" algn="l" rtl="0">
              <a:spcBef>
                <a:spcPts val="630"/>
              </a:spcBef>
              <a:spcAft>
                <a:spcPts val="0"/>
              </a:spcAft>
              <a:buSzPts val="1980"/>
              <a:buChar char="▪"/>
            </a:pPr>
            <a:r>
              <a:rPr lang="en-US"/>
              <a:t>Only one interrupt is generated per block, rather than the one interrupt per byte</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49" name="Shape 249"/>
        <p:cNvGrpSpPr/>
        <p:nvPr/>
      </p:nvGrpSpPr>
      <p:grpSpPr>
        <a:xfrm>
          <a:off x="0" y="0"/>
          <a:ext cx="0" cy="0"/>
          <a:chOff x="0" y="0"/>
          <a:chExt cx="0" cy="0"/>
        </a:xfrm>
      </p:grpSpPr>
      <p:sp>
        <p:nvSpPr>
          <p:cNvPr id="250" name="Google Shape;250;p29"/>
          <p:cNvSpPr txBox="1"/>
          <p:nvPr>
            <p:ph type="title" idx="4294967295"/>
          </p:nvPr>
        </p:nvSpPr>
        <p:spPr>
          <a:xfrm>
            <a:off x="895350" y="195263"/>
            <a:ext cx="76708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Operating-System Operations</a:t>
            </a:r>
            <a:endParaRPr lang="en-US"/>
          </a:p>
        </p:txBody>
      </p:sp>
      <p:sp>
        <p:nvSpPr>
          <p:cNvPr id="251" name="Google Shape;251;p29"/>
          <p:cNvSpPr txBox="1"/>
          <p:nvPr>
            <p:ph type="body" idx="4294967295"/>
          </p:nvPr>
        </p:nvSpPr>
        <p:spPr>
          <a:xfrm>
            <a:off x="838200" y="1154113"/>
            <a:ext cx="7670800" cy="493871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a:t>Bootstrap program – simple code to initialize the system, load the kernel</a:t>
            </a:r>
            <a:endParaRPr lang="en-US"/>
          </a:p>
          <a:p>
            <a:pPr marL="342900" lvl="0" indent="-342900" algn="l" rtl="0">
              <a:lnSpc>
                <a:spcPct val="90000"/>
              </a:lnSpc>
              <a:spcBef>
                <a:spcPts val="630"/>
              </a:spcBef>
              <a:spcAft>
                <a:spcPts val="0"/>
              </a:spcAft>
              <a:buSzPts val="1980"/>
              <a:buChar char="▪"/>
            </a:pPr>
            <a:r>
              <a:rPr lang="en-US"/>
              <a:t>Kernel loads</a:t>
            </a:r>
            <a:endParaRPr lang="en-US"/>
          </a:p>
          <a:p>
            <a:pPr marL="342900" lvl="0" indent="-342900" algn="l" rtl="0">
              <a:lnSpc>
                <a:spcPct val="90000"/>
              </a:lnSpc>
              <a:spcBef>
                <a:spcPts val="630"/>
              </a:spcBef>
              <a:spcAft>
                <a:spcPts val="0"/>
              </a:spcAft>
              <a:buSzPts val="1980"/>
              <a:buChar char="▪"/>
            </a:pPr>
            <a:r>
              <a:rPr lang="en-US"/>
              <a:t>Starts </a:t>
            </a:r>
            <a:r>
              <a:rPr lang="en-US" b="1">
                <a:solidFill>
                  <a:srgbClr val="006699"/>
                </a:solidFill>
                <a:latin typeface="Arial" panose="020B0604020202020204"/>
                <a:ea typeface="Arial" panose="020B0604020202020204"/>
                <a:cs typeface="Arial" panose="020B0604020202020204"/>
                <a:sym typeface="Arial" panose="020B0604020202020204"/>
              </a:rPr>
              <a:t>system daemons </a:t>
            </a:r>
            <a:r>
              <a:rPr lang="en-US"/>
              <a:t>(services provided outside of the kernel)</a:t>
            </a:r>
            <a:endParaRPr lang="en-US"/>
          </a:p>
          <a:p>
            <a:pPr marL="342900" lvl="0" indent="-342900" algn="l" rtl="0">
              <a:lnSpc>
                <a:spcPct val="90000"/>
              </a:lnSpc>
              <a:spcBef>
                <a:spcPts val="630"/>
              </a:spcBef>
              <a:spcAft>
                <a:spcPts val="0"/>
              </a:spcAft>
              <a:buSzPts val="1980"/>
              <a:buChar char="▪"/>
            </a:pPr>
            <a:r>
              <a:rPr lang="en-US"/>
              <a:t>Kernel</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interrupt driven </a:t>
            </a:r>
            <a:r>
              <a:rPr lang="en-US"/>
              <a:t>(hardware and software)</a:t>
            </a:r>
            <a:endParaRPr lang="en-US"/>
          </a:p>
          <a:p>
            <a:pPr marL="742950" lvl="1" indent="-285750" algn="l" rtl="0">
              <a:lnSpc>
                <a:spcPct val="90000"/>
              </a:lnSpc>
              <a:spcBef>
                <a:spcPts val="630"/>
              </a:spcBef>
              <a:spcAft>
                <a:spcPts val="0"/>
              </a:spcAft>
              <a:buSzPts val="1980"/>
              <a:buChar char="•"/>
            </a:pPr>
            <a:r>
              <a:rPr lang="en-US"/>
              <a:t>Hardware interrupt by one of the devices </a:t>
            </a:r>
            <a:endParaRPr lang="en-US"/>
          </a:p>
          <a:p>
            <a:pPr marL="742950" lvl="1" indent="-285750" algn="l" rtl="0">
              <a:lnSpc>
                <a:spcPct val="90000"/>
              </a:lnSpc>
              <a:spcBef>
                <a:spcPts val="630"/>
              </a:spcBef>
              <a:spcAft>
                <a:spcPts val="0"/>
              </a:spcAft>
              <a:buSzPts val="1980"/>
              <a:buChar char="•"/>
            </a:pPr>
            <a:r>
              <a:rPr lang="en-US"/>
              <a:t>Software interrupt (</a:t>
            </a:r>
            <a:r>
              <a:rPr lang="en-US" b="1">
                <a:solidFill>
                  <a:srgbClr val="006699"/>
                </a:solidFill>
                <a:latin typeface="Arial" panose="020B0604020202020204"/>
                <a:ea typeface="Arial" panose="020B0604020202020204"/>
                <a:cs typeface="Arial" panose="020B0604020202020204"/>
                <a:sym typeface="Arial" panose="020B0604020202020204"/>
              </a:rPr>
              <a:t>exception</a:t>
            </a:r>
            <a:r>
              <a:rPr lang="en-US" b="1">
                <a:solidFill>
                  <a:srgbClr val="3366FF"/>
                </a:solidFill>
              </a:rPr>
              <a:t> </a:t>
            </a:r>
            <a:r>
              <a:rPr lang="en-US"/>
              <a:t>or </a:t>
            </a:r>
            <a:r>
              <a:rPr lang="en-US" b="1">
                <a:solidFill>
                  <a:srgbClr val="006699"/>
                </a:solidFill>
                <a:latin typeface="Arial" panose="020B0604020202020204"/>
                <a:ea typeface="Arial" panose="020B0604020202020204"/>
                <a:cs typeface="Arial" panose="020B0604020202020204"/>
                <a:sym typeface="Arial" panose="020B0604020202020204"/>
              </a:rPr>
              <a:t>trap</a:t>
            </a:r>
            <a:r>
              <a:rPr lang="en-US"/>
              <a:t>):</a:t>
            </a:r>
            <a:endParaRPr lang="en-US"/>
          </a:p>
          <a:p>
            <a:pPr marL="1085850" lvl="2" indent="-228600" algn="l" rtl="0">
              <a:lnSpc>
                <a:spcPct val="90000"/>
              </a:lnSpc>
              <a:spcBef>
                <a:spcPts val="630"/>
              </a:spcBef>
              <a:spcAft>
                <a:spcPts val="0"/>
              </a:spcAft>
              <a:buSzPts val="1350"/>
              <a:buChar char="4"/>
            </a:pPr>
            <a:r>
              <a:rPr lang="en-US"/>
              <a:t>Software error (e.g., division by zero)</a:t>
            </a:r>
            <a:endParaRPr b="1">
              <a:solidFill>
                <a:srgbClr val="3366FF"/>
              </a:solidFill>
            </a:endParaRPr>
          </a:p>
          <a:p>
            <a:pPr marL="1085850" lvl="2" indent="-228600" algn="l" rtl="0">
              <a:lnSpc>
                <a:spcPct val="90000"/>
              </a:lnSpc>
              <a:spcBef>
                <a:spcPts val="630"/>
              </a:spcBef>
              <a:spcAft>
                <a:spcPts val="0"/>
              </a:spcAft>
              <a:buSzPts val="1350"/>
              <a:buChar char="4"/>
            </a:pPr>
            <a:r>
              <a:rPr lang="en-US"/>
              <a:t>Request for operating system service – </a:t>
            </a:r>
            <a:r>
              <a:rPr lang="en-US" b="1">
                <a:solidFill>
                  <a:srgbClr val="006699"/>
                </a:solidFill>
                <a:latin typeface="Arial" panose="020B0604020202020204"/>
                <a:ea typeface="Arial" panose="020B0604020202020204"/>
                <a:cs typeface="Arial" panose="020B0604020202020204"/>
                <a:sym typeface="Arial" panose="020B0604020202020204"/>
              </a:rPr>
              <a:t>system call</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1085850" lvl="2" indent="-228600" algn="l" rtl="0">
              <a:lnSpc>
                <a:spcPct val="90000"/>
              </a:lnSpc>
              <a:spcBef>
                <a:spcPts val="630"/>
              </a:spcBef>
              <a:spcAft>
                <a:spcPts val="0"/>
              </a:spcAft>
              <a:buSzPts val="1350"/>
              <a:buChar char="4"/>
            </a:pPr>
            <a:r>
              <a:rPr lang="en-US"/>
              <a:t>Other process problems include infinite loop, processes modifying each other or the operating system</a:t>
            </a:r>
            <a:endParaRPr lang="en-US"/>
          </a:p>
          <a:p>
            <a:pPr marL="742950" lvl="1" indent="-160020" algn="l" rtl="0">
              <a:lnSpc>
                <a:spcPct val="90000"/>
              </a:lnSpc>
              <a:spcBef>
                <a:spcPts val="630"/>
              </a:spcBef>
              <a:spcAft>
                <a:spcPts val="0"/>
              </a:spcAft>
              <a:buSzPts val="1980"/>
              <a:buNone/>
            </a:p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55" name="Shape 255"/>
        <p:cNvGrpSpPr/>
        <p:nvPr/>
      </p:nvGrpSpPr>
      <p:grpSpPr>
        <a:xfrm>
          <a:off x="0" y="0"/>
          <a:ext cx="0" cy="0"/>
          <a:chOff x="0" y="0"/>
          <a:chExt cx="0" cy="0"/>
        </a:xfrm>
      </p:grpSpPr>
      <p:sp>
        <p:nvSpPr>
          <p:cNvPr id="256" name="Google Shape;256;p30"/>
          <p:cNvSpPr txBox="1"/>
          <p:nvPr>
            <p:ph type="title" idx="4294967295"/>
          </p:nvPr>
        </p:nvSpPr>
        <p:spPr>
          <a:xfrm>
            <a:off x="1069975" y="204788"/>
            <a:ext cx="76168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Multiprogramming (Batch system)</a:t>
            </a:r>
            <a:endParaRPr lang="en-US"/>
          </a:p>
        </p:txBody>
      </p:sp>
      <p:sp>
        <p:nvSpPr>
          <p:cNvPr id="257" name="Google Shape;257;p30"/>
          <p:cNvSpPr txBox="1"/>
          <p:nvPr>
            <p:ph type="body" idx="4294967295"/>
          </p:nvPr>
        </p:nvSpPr>
        <p:spPr>
          <a:xfrm>
            <a:off x="827088" y="835025"/>
            <a:ext cx="6337387" cy="5193986"/>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760"/>
              <a:buFont typeface="Arial" panose="020B0604020202020204"/>
              <a:buNone/>
            </a:pPr>
            <a:endParaRPr sz="1600"/>
          </a:p>
          <a:p>
            <a:pPr marL="342900" lvl="0" indent="-342900" algn="l" rtl="0">
              <a:lnSpc>
                <a:spcPct val="90000"/>
              </a:lnSpc>
              <a:spcBef>
                <a:spcPts val="560"/>
              </a:spcBef>
              <a:spcAft>
                <a:spcPts val="0"/>
              </a:spcAft>
              <a:buSzPts val="1760"/>
              <a:buChar char="▪"/>
            </a:pPr>
            <a:r>
              <a:rPr lang="en-US" sz="1600"/>
              <a:t>Single user cannot always keep CPU and I/O devices busy </a:t>
            </a:r>
            <a:endParaRPr lang="en-US" sz="1600"/>
          </a:p>
          <a:p>
            <a:pPr marL="342900" lvl="0" indent="-342900" algn="l" rtl="0">
              <a:lnSpc>
                <a:spcPct val="90000"/>
              </a:lnSpc>
              <a:spcBef>
                <a:spcPts val="560"/>
              </a:spcBef>
              <a:spcAft>
                <a:spcPts val="0"/>
              </a:spcAft>
              <a:buSzPts val="1760"/>
              <a:buChar char="▪"/>
            </a:pPr>
            <a:r>
              <a:rPr lang="en-US" sz="1600"/>
              <a:t>Multiprogramming organizes jobs (code and data) so CPU always has one to execute</a:t>
            </a:r>
            <a:endParaRPr lang="en-US" sz="1600"/>
          </a:p>
          <a:p>
            <a:pPr marL="342900" lvl="0" indent="-342900" algn="l" rtl="0">
              <a:lnSpc>
                <a:spcPct val="90000"/>
              </a:lnSpc>
              <a:spcBef>
                <a:spcPts val="560"/>
              </a:spcBef>
              <a:spcAft>
                <a:spcPts val="0"/>
              </a:spcAft>
              <a:buSzPts val="1760"/>
              <a:buChar char="▪"/>
            </a:pPr>
            <a:r>
              <a:rPr lang="en-US" sz="1600"/>
              <a:t>A subset of total jobs in system is kept in memory</a:t>
            </a:r>
            <a:endParaRPr lang="en-US" sz="1600"/>
          </a:p>
          <a:p>
            <a:pPr marL="342900" lvl="0" indent="-342900" algn="l" rtl="0">
              <a:lnSpc>
                <a:spcPct val="90000"/>
              </a:lnSpc>
              <a:spcBef>
                <a:spcPts val="630"/>
              </a:spcBef>
              <a:spcAft>
                <a:spcPts val="0"/>
              </a:spcAft>
              <a:buSzPts val="1760"/>
              <a:buChar char="▪"/>
            </a:pPr>
            <a:r>
              <a:rPr lang="en-US" sz="1600"/>
              <a:t>One job selected and run via </a:t>
            </a:r>
            <a:r>
              <a:rPr lang="en-US" b="1">
                <a:solidFill>
                  <a:srgbClr val="006699"/>
                </a:solidFill>
                <a:latin typeface="Arial" panose="020B0604020202020204"/>
                <a:ea typeface="Arial" panose="020B0604020202020204"/>
                <a:cs typeface="Arial" panose="020B0604020202020204"/>
                <a:sym typeface="Arial" panose="020B0604020202020204"/>
              </a:rPr>
              <a:t>job scheduling</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lnSpc>
                <a:spcPct val="90000"/>
              </a:lnSpc>
              <a:spcBef>
                <a:spcPts val="560"/>
              </a:spcBef>
              <a:spcAft>
                <a:spcPts val="0"/>
              </a:spcAft>
              <a:buSzPts val="1760"/>
              <a:buChar char="▪"/>
            </a:pPr>
            <a:r>
              <a:rPr lang="en-US" sz="1600"/>
              <a:t>When job has to wait (for I/O for example), OS switches to another job</a:t>
            </a:r>
            <a:endParaRPr lang="en-US" sz="1600"/>
          </a:p>
          <a:p>
            <a:pPr marL="742950" lvl="1" indent="-229870" algn="l" rtl="0">
              <a:lnSpc>
                <a:spcPct val="90000"/>
              </a:lnSpc>
              <a:spcBef>
                <a:spcPts val="280"/>
              </a:spcBef>
              <a:spcAft>
                <a:spcPts val="0"/>
              </a:spcAft>
              <a:buSzPts val="880"/>
              <a:buNone/>
            </a:pPr>
            <a:endParaRPr sz="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61" name="Shape 261"/>
        <p:cNvGrpSpPr/>
        <p:nvPr/>
      </p:nvGrpSpPr>
      <p:grpSpPr>
        <a:xfrm>
          <a:off x="0" y="0"/>
          <a:ext cx="0" cy="0"/>
          <a:chOff x="0" y="0"/>
          <a:chExt cx="0" cy="0"/>
        </a:xfrm>
      </p:grpSpPr>
      <p:sp>
        <p:nvSpPr>
          <p:cNvPr id="262" name="Google Shape;262;p31"/>
          <p:cNvSpPr txBox="1"/>
          <p:nvPr>
            <p:ph type="title" idx="4294967295"/>
          </p:nvPr>
        </p:nvSpPr>
        <p:spPr>
          <a:xfrm>
            <a:off x="1069975" y="204788"/>
            <a:ext cx="76168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Multitasking (Timesharing)</a:t>
            </a:r>
            <a:endParaRPr lang="en-US"/>
          </a:p>
        </p:txBody>
      </p:sp>
      <p:sp>
        <p:nvSpPr>
          <p:cNvPr id="263" name="Google Shape;263;p31"/>
          <p:cNvSpPr txBox="1"/>
          <p:nvPr>
            <p:ph type="body" idx="4294967295"/>
          </p:nvPr>
        </p:nvSpPr>
        <p:spPr>
          <a:xfrm>
            <a:off x="827088" y="835026"/>
            <a:ext cx="6207218" cy="487250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760"/>
              <a:buFont typeface="Arial" panose="020B0604020202020204"/>
              <a:buNone/>
            </a:pPr>
            <a:endParaRPr sz="1600"/>
          </a:p>
          <a:p>
            <a:pPr marL="742950" lvl="1" indent="-229870" algn="l" rtl="0">
              <a:lnSpc>
                <a:spcPct val="90000"/>
              </a:lnSpc>
              <a:spcBef>
                <a:spcPts val="280"/>
              </a:spcBef>
              <a:spcAft>
                <a:spcPts val="0"/>
              </a:spcAft>
              <a:buSzPts val="880"/>
              <a:buNone/>
            </a:pPr>
            <a:endParaRPr sz="800"/>
          </a:p>
          <a:p>
            <a:pPr marL="342900" lvl="0" indent="-342900" algn="l" rtl="0">
              <a:lnSpc>
                <a:spcPct val="90000"/>
              </a:lnSpc>
              <a:spcBef>
                <a:spcPts val="630"/>
              </a:spcBef>
              <a:spcAft>
                <a:spcPts val="0"/>
              </a:spcAft>
              <a:buSzPts val="1760"/>
              <a:buChar char="▪"/>
            </a:pPr>
            <a:r>
              <a:rPr lang="en-US" sz="1600"/>
              <a:t>A logical extension of Batch systems– the CPU switches jobs so frequently that users can interact with each job while it is running, creating </a:t>
            </a:r>
            <a:r>
              <a:rPr lang="en-US" b="1">
                <a:solidFill>
                  <a:srgbClr val="006699"/>
                </a:solidFill>
                <a:latin typeface="Arial" panose="020B0604020202020204"/>
                <a:ea typeface="Arial" panose="020B0604020202020204"/>
                <a:cs typeface="Arial" panose="020B0604020202020204"/>
                <a:sym typeface="Arial" panose="020B0604020202020204"/>
              </a:rPr>
              <a:t>interactive</a:t>
            </a:r>
            <a:r>
              <a:rPr lang="en-US" sz="1600"/>
              <a:t> computing</a:t>
            </a:r>
            <a:endParaRPr lang="en-US" sz="1600"/>
          </a:p>
          <a:p>
            <a:pPr marL="742950" lvl="1" indent="-285750" algn="l" rtl="0">
              <a:lnSpc>
                <a:spcPct val="90000"/>
              </a:lnSpc>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Response time </a:t>
            </a:r>
            <a:r>
              <a:rPr lang="en-US" sz="1600"/>
              <a:t>should be &lt; 1 second</a:t>
            </a:r>
            <a:endParaRPr lang="en-US" sz="1600"/>
          </a:p>
          <a:p>
            <a:pPr marL="742950" lvl="1" indent="-285750" algn="l" rtl="0">
              <a:lnSpc>
                <a:spcPct val="90000"/>
              </a:lnSpc>
              <a:spcBef>
                <a:spcPts val="630"/>
              </a:spcBef>
              <a:spcAft>
                <a:spcPts val="0"/>
              </a:spcAft>
              <a:buSzPts val="1760"/>
              <a:buChar char="•"/>
            </a:pPr>
            <a:r>
              <a:rPr lang="en-US" sz="1600"/>
              <a:t>Each user has at least one program executing in memory 🢡 </a:t>
            </a:r>
            <a:r>
              <a:rPr lang="en-US" b="1">
                <a:solidFill>
                  <a:srgbClr val="006699"/>
                </a:solidFill>
                <a:latin typeface="Arial" panose="020B0604020202020204"/>
                <a:ea typeface="Arial" panose="020B0604020202020204"/>
                <a:cs typeface="Arial" panose="020B0604020202020204"/>
                <a:sym typeface="Arial" panose="020B0604020202020204"/>
              </a:rPr>
              <a:t>process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lnSpc>
                <a:spcPct val="90000"/>
              </a:lnSpc>
              <a:spcBef>
                <a:spcPts val="630"/>
              </a:spcBef>
              <a:spcAft>
                <a:spcPts val="0"/>
              </a:spcAft>
              <a:buSzPts val="1760"/>
              <a:buChar char="•"/>
            </a:pPr>
            <a:r>
              <a:rPr lang="en-US" sz="1600"/>
              <a:t>If several jobs ready to run at the same time 🢡 </a:t>
            </a:r>
            <a:r>
              <a:rPr lang="en-US" b="1">
                <a:solidFill>
                  <a:srgbClr val="006699"/>
                </a:solidFill>
                <a:latin typeface="Arial" panose="020B0604020202020204"/>
                <a:ea typeface="Arial" panose="020B0604020202020204"/>
                <a:cs typeface="Arial" panose="020B0604020202020204"/>
                <a:sym typeface="Arial" panose="020B0604020202020204"/>
              </a:rPr>
              <a:t>CPU scheduling</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lnSpc>
                <a:spcPct val="90000"/>
              </a:lnSpc>
              <a:spcBef>
                <a:spcPts val="630"/>
              </a:spcBef>
              <a:spcAft>
                <a:spcPts val="0"/>
              </a:spcAft>
              <a:buSzPts val="1760"/>
              <a:buChar char="•"/>
            </a:pPr>
            <a:r>
              <a:rPr lang="en-US" sz="1600"/>
              <a:t>If processes don’t fit in memory, </a:t>
            </a:r>
            <a:r>
              <a:rPr lang="en-US" b="1">
                <a:solidFill>
                  <a:srgbClr val="006699"/>
                </a:solidFill>
                <a:latin typeface="Arial" panose="020B0604020202020204"/>
                <a:ea typeface="Arial" panose="020B0604020202020204"/>
                <a:cs typeface="Arial" panose="020B0604020202020204"/>
                <a:sym typeface="Arial" panose="020B0604020202020204"/>
              </a:rPr>
              <a:t>swapping</a:t>
            </a:r>
            <a:r>
              <a:rPr lang="en-US" sz="1600"/>
              <a:t> moves them in and out to run</a:t>
            </a:r>
            <a:endParaRPr lang="en-US" sz="1600"/>
          </a:p>
          <a:p>
            <a:pPr marL="742950" lvl="1" indent="-285750" algn="l" rtl="0">
              <a:lnSpc>
                <a:spcPct val="90000"/>
              </a:lnSpc>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Virtual memory </a:t>
            </a:r>
            <a:r>
              <a:rPr lang="en-US" sz="1600"/>
              <a:t>allows execution of processes not completely in memory</a:t>
            </a:r>
            <a:endParaRPr lang="en-US" sz="1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67" name="Shape 267"/>
        <p:cNvGrpSpPr/>
        <p:nvPr/>
      </p:nvGrpSpPr>
      <p:grpSpPr>
        <a:xfrm>
          <a:off x="0" y="0"/>
          <a:ext cx="0" cy="0"/>
          <a:chOff x="0" y="0"/>
          <a:chExt cx="0" cy="0"/>
        </a:xfrm>
      </p:grpSpPr>
      <p:sp>
        <p:nvSpPr>
          <p:cNvPr id="268" name="Google Shape;268;p32"/>
          <p:cNvSpPr txBox="1"/>
          <p:nvPr>
            <p:ph type="title" idx="4294967295"/>
          </p:nvPr>
        </p:nvSpPr>
        <p:spPr>
          <a:xfrm>
            <a:off x="1033463" y="198438"/>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Memory Layout for Multiprogrammed System</a:t>
            </a:r>
            <a:endParaRPr lang="en-US" sz="2800"/>
          </a:p>
        </p:txBody>
      </p:sp>
      <p:pic>
        <p:nvPicPr>
          <p:cNvPr id="269" name="Google Shape;269;p32"/>
          <p:cNvPicPr preferRelativeResize="0"/>
          <p:nvPr/>
        </p:nvPicPr>
        <p:blipFill rotWithShape="1">
          <a:blip r:embed="rId1"/>
          <a:srcRect/>
          <a:stretch>
            <a:fillRect/>
          </a:stretch>
        </p:blipFill>
        <p:spPr>
          <a:xfrm>
            <a:off x="3265488" y="1327603"/>
            <a:ext cx="2270125" cy="35893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73" name="Shape 273"/>
        <p:cNvGrpSpPr/>
        <p:nvPr/>
      </p:nvGrpSpPr>
      <p:grpSpPr>
        <a:xfrm>
          <a:off x="0" y="0"/>
          <a:ext cx="0" cy="0"/>
          <a:chOff x="0" y="0"/>
          <a:chExt cx="0" cy="0"/>
        </a:xfrm>
      </p:grpSpPr>
      <p:sp>
        <p:nvSpPr>
          <p:cNvPr id="274" name="Google Shape;274;p33"/>
          <p:cNvSpPr txBox="1"/>
          <p:nvPr>
            <p:ph type="title" idx="4294967295"/>
          </p:nvPr>
        </p:nvSpPr>
        <p:spPr>
          <a:xfrm>
            <a:off x="1179513" y="198438"/>
            <a:ext cx="77914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Dual-mode Operation</a:t>
            </a:r>
            <a:endParaRPr lang="en-US"/>
          </a:p>
        </p:txBody>
      </p:sp>
      <p:sp>
        <p:nvSpPr>
          <p:cNvPr id="275" name="Google Shape;275;p33"/>
          <p:cNvSpPr txBox="1"/>
          <p:nvPr>
            <p:ph type="body" idx="4294967295"/>
          </p:nvPr>
        </p:nvSpPr>
        <p:spPr>
          <a:xfrm>
            <a:off x="806451" y="1233488"/>
            <a:ext cx="7011168" cy="4624701"/>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Dual-mode</a:t>
            </a:r>
            <a:r>
              <a:rPr lang="en-US" b="1">
                <a:solidFill>
                  <a:srgbClr val="3366FF"/>
                </a:solidFill>
              </a:rPr>
              <a:t> </a:t>
            </a:r>
            <a:r>
              <a:rPr lang="en-US"/>
              <a:t>operation allows OS to protect itself and other system components</a:t>
            </a:r>
            <a:endParaRPr lang="en-US"/>
          </a:p>
          <a:p>
            <a:pPr marL="742950" lvl="1" indent="-285750" algn="l" rtl="0">
              <a:lnSpc>
                <a:spcPct val="90000"/>
              </a:lnSpc>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User mode </a:t>
            </a:r>
            <a:r>
              <a:rPr lang="en-US"/>
              <a:t>and </a:t>
            </a:r>
            <a:r>
              <a:rPr lang="en-US" b="1">
                <a:solidFill>
                  <a:srgbClr val="006699"/>
                </a:solidFill>
                <a:latin typeface="Arial" panose="020B0604020202020204"/>
                <a:ea typeface="Arial" panose="020B0604020202020204"/>
                <a:cs typeface="Arial" panose="020B0604020202020204"/>
                <a:sym typeface="Arial" panose="020B0604020202020204"/>
              </a:rPr>
              <a:t>kernel mode </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lnSpc>
                <a:spcPct val="90000"/>
              </a:lnSpc>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Mode bit </a:t>
            </a:r>
            <a:r>
              <a:rPr lang="en-US"/>
              <a:t>provided by hardware </a:t>
            </a:r>
            <a:endParaRPr lang="en-US"/>
          </a:p>
          <a:p>
            <a:pPr marL="742950" lvl="1" indent="-285750" algn="l" rtl="0">
              <a:lnSpc>
                <a:spcPct val="90000"/>
              </a:lnSpc>
              <a:spcBef>
                <a:spcPts val="630"/>
              </a:spcBef>
              <a:spcAft>
                <a:spcPts val="0"/>
              </a:spcAft>
              <a:buSzPts val="1980"/>
              <a:buChar char="•"/>
            </a:pPr>
            <a:r>
              <a:rPr lang="en-US"/>
              <a:t>Provides ability to distinguish when system is running user code or kernel code.</a:t>
            </a:r>
            <a:endParaRPr lang="en-US"/>
          </a:p>
          <a:p>
            <a:pPr marL="742950" lvl="1" indent="-285750" algn="l" rtl="0">
              <a:lnSpc>
                <a:spcPct val="90000"/>
              </a:lnSpc>
              <a:spcBef>
                <a:spcPts val="630"/>
              </a:spcBef>
              <a:spcAft>
                <a:spcPts val="0"/>
              </a:spcAft>
              <a:buSzPts val="1980"/>
              <a:buChar char="•"/>
            </a:pPr>
            <a:r>
              <a:rPr lang="en-US"/>
              <a:t>When a user is running 🢡 mode bit is “user”</a:t>
            </a:r>
            <a:endParaRPr lang="en-US"/>
          </a:p>
          <a:p>
            <a:pPr marL="742950" lvl="1" indent="-285750" algn="l" rtl="0">
              <a:lnSpc>
                <a:spcPct val="90000"/>
              </a:lnSpc>
              <a:spcBef>
                <a:spcPts val="630"/>
              </a:spcBef>
              <a:spcAft>
                <a:spcPts val="0"/>
              </a:spcAft>
              <a:buSzPts val="1980"/>
              <a:buChar char="•"/>
            </a:pPr>
            <a:r>
              <a:rPr lang="en-US"/>
              <a:t>When kernel code is executing 🢡 mode bit is “kernel”</a:t>
            </a:r>
            <a:endParaRPr lang="en-US"/>
          </a:p>
          <a:p>
            <a:pPr marL="342900" lvl="0" indent="-342900" algn="l" rtl="0">
              <a:lnSpc>
                <a:spcPct val="90000"/>
              </a:lnSpc>
              <a:spcBef>
                <a:spcPts val="630"/>
              </a:spcBef>
              <a:spcAft>
                <a:spcPts val="0"/>
              </a:spcAft>
              <a:buSzPts val="1980"/>
              <a:buChar char="▪"/>
            </a:pPr>
            <a:r>
              <a:rPr lang="en-US"/>
              <a:t>How do we guarantee that user does not explicitly set the mode bit to “kernel”?</a:t>
            </a:r>
            <a:endParaRPr lang="en-US"/>
          </a:p>
          <a:p>
            <a:pPr marL="742950" lvl="1" indent="-285750" algn="l" rtl="0">
              <a:lnSpc>
                <a:spcPct val="90000"/>
              </a:lnSpc>
              <a:spcBef>
                <a:spcPts val="630"/>
              </a:spcBef>
              <a:spcAft>
                <a:spcPts val="0"/>
              </a:spcAft>
              <a:buSzPts val="1980"/>
              <a:buChar char="•"/>
            </a:pPr>
            <a:r>
              <a:rPr lang="en-US"/>
              <a:t>System call changes mode to kernel, return from call resets it to user</a:t>
            </a:r>
            <a:endParaRPr lang="en-US"/>
          </a:p>
          <a:p>
            <a:pPr marL="342900" lvl="0" indent="-342900" algn="l" rtl="0">
              <a:lnSpc>
                <a:spcPct val="90000"/>
              </a:lnSpc>
              <a:spcBef>
                <a:spcPts val="630"/>
              </a:spcBef>
              <a:spcAft>
                <a:spcPts val="0"/>
              </a:spcAft>
              <a:buSzPts val="1980"/>
              <a:buChar char="▪"/>
            </a:pPr>
            <a:r>
              <a:rPr lang="en-US"/>
              <a:t>Some instructions designated as </a:t>
            </a:r>
            <a:r>
              <a:rPr lang="en-US" b="1">
                <a:solidFill>
                  <a:srgbClr val="006699"/>
                </a:solidFill>
                <a:latin typeface="Arial" panose="020B0604020202020204"/>
                <a:ea typeface="Arial" panose="020B0604020202020204"/>
                <a:cs typeface="Arial" panose="020B0604020202020204"/>
                <a:sym typeface="Arial" panose="020B0604020202020204"/>
              </a:rPr>
              <a:t>privileged</a:t>
            </a:r>
            <a:r>
              <a:rPr lang="en-US"/>
              <a:t>, only executable in kernel mode</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79" name="Shape 279"/>
        <p:cNvGrpSpPr/>
        <p:nvPr/>
      </p:nvGrpSpPr>
      <p:grpSpPr>
        <a:xfrm>
          <a:off x="0" y="0"/>
          <a:ext cx="0" cy="0"/>
          <a:chOff x="0" y="0"/>
          <a:chExt cx="0" cy="0"/>
        </a:xfrm>
      </p:grpSpPr>
      <p:sp>
        <p:nvSpPr>
          <p:cNvPr id="280" name="Google Shape;280;p34"/>
          <p:cNvSpPr txBox="1"/>
          <p:nvPr>
            <p:ph type="title" idx="4294967295"/>
          </p:nvPr>
        </p:nvSpPr>
        <p:spPr>
          <a:xfrm>
            <a:off x="882650" y="136525"/>
            <a:ext cx="7924800" cy="6477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Transition from User to Kernel Mode</a:t>
            </a:r>
            <a:endParaRPr lang="en-US"/>
          </a:p>
        </p:txBody>
      </p:sp>
      <p:pic>
        <p:nvPicPr>
          <p:cNvPr id="281" name="Google Shape;281;p34"/>
          <p:cNvPicPr preferRelativeResize="0"/>
          <p:nvPr/>
        </p:nvPicPr>
        <p:blipFill rotWithShape="1">
          <a:blip r:embed="rId1"/>
          <a:srcRect/>
          <a:stretch>
            <a:fillRect/>
          </a:stretch>
        </p:blipFill>
        <p:spPr>
          <a:xfrm>
            <a:off x="1318512" y="1305890"/>
            <a:ext cx="7053262" cy="20939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285" name="Shape 285"/>
        <p:cNvGrpSpPr/>
        <p:nvPr/>
      </p:nvGrpSpPr>
      <p:grpSpPr>
        <a:xfrm>
          <a:off x="0" y="0"/>
          <a:ext cx="0" cy="0"/>
          <a:chOff x="0" y="0"/>
          <a:chExt cx="0" cy="0"/>
        </a:xfrm>
      </p:grpSpPr>
      <p:sp>
        <p:nvSpPr>
          <p:cNvPr id="286" name="Google Shape;286;p35"/>
          <p:cNvSpPr txBox="1"/>
          <p:nvPr>
            <p:ph type="title" idx="4294967295"/>
          </p:nvPr>
        </p:nvSpPr>
        <p:spPr>
          <a:xfrm>
            <a:off x="882650" y="136525"/>
            <a:ext cx="7924800" cy="6477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Timer</a:t>
            </a:r>
            <a:endParaRPr lang="en-US"/>
          </a:p>
        </p:txBody>
      </p:sp>
      <p:sp>
        <p:nvSpPr>
          <p:cNvPr id="287" name="Google Shape;287;p35"/>
          <p:cNvSpPr txBox="1"/>
          <p:nvPr>
            <p:ph type="body" idx="4294967295"/>
          </p:nvPr>
        </p:nvSpPr>
        <p:spPr>
          <a:xfrm>
            <a:off x="793750" y="1060450"/>
            <a:ext cx="7781925" cy="281781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Timer to prevent infinite loop (or process hogging resources)</a:t>
            </a:r>
            <a:endParaRPr lang="en-US"/>
          </a:p>
          <a:p>
            <a:pPr marL="742950" lvl="1" indent="-285750" algn="l" rtl="0">
              <a:spcBef>
                <a:spcPts val="630"/>
              </a:spcBef>
              <a:spcAft>
                <a:spcPts val="0"/>
              </a:spcAft>
              <a:buSzPts val="1980"/>
              <a:buChar char="•"/>
            </a:pPr>
            <a:r>
              <a:rPr lang="en-US"/>
              <a:t>Timer is set to interrupt the computer after some time period</a:t>
            </a:r>
            <a:endParaRPr lang="en-US"/>
          </a:p>
          <a:p>
            <a:pPr marL="742950" lvl="1" indent="-285750" algn="l" rtl="0">
              <a:spcBef>
                <a:spcPts val="630"/>
              </a:spcBef>
              <a:spcAft>
                <a:spcPts val="0"/>
              </a:spcAft>
              <a:buSzPts val="1980"/>
              <a:buChar char="•"/>
            </a:pPr>
            <a:r>
              <a:rPr lang="en-US"/>
              <a:t>Keep a counter that is decremented by the physical clock</a:t>
            </a:r>
            <a:endParaRPr lang="en-US"/>
          </a:p>
          <a:p>
            <a:pPr marL="742950" lvl="1" indent="-285750" algn="l" rtl="0">
              <a:spcBef>
                <a:spcPts val="630"/>
              </a:spcBef>
              <a:spcAft>
                <a:spcPts val="0"/>
              </a:spcAft>
              <a:buSzPts val="1980"/>
              <a:buChar char="•"/>
            </a:pPr>
            <a:r>
              <a:rPr lang="en-US"/>
              <a:t>Operating system set the counter (privileged instruction)</a:t>
            </a:r>
            <a:endParaRPr lang="en-US"/>
          </a:p>
          <a:p>
            <a:pPr marL="742950" lvl="1" indent="-285750" algn="l" rtl="0">
              <a:spcBef>
                <a:spcPts val="630"/>
              </a:spcBef>
              <a:spcAft>
                <a:spcPts val="0"/>
              </a:spcAft>
              <a:buSzPts val="1980"/>
              <a:buChar char="•"/>
            </a:pPr>
            <a:r>
              <a:rPr lang="en-US"/>
              <a:t>When counter zero generate an interrupt</a:t>
            </a:r>
            <a:endParaRPr lang="en-US"/>
          </a:p>
          <a:p>
            <a:pPr marL="742950" lvl="1" indent="-285750" algn="l" rtl="0">
              <a:spcBef>
                <a:spcPts val="630"/>
              </a:spcBef>
              <a:spcAft>
                <a:spcPts val="0"/>
              </a:spcAft>
              <a:buSzPts val="1980"/>
              <a:buChar char="•"/>
            </a:pPr>
            <a:r>
              <a:rPr lang="en-US"/>
              <a:t>Set up before scheduling process to regain control or terminate program that exceeds allotted time</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291" name="Shape 291"/>
        <p:cNvGrpSpPr/>
        <p:nvPr/>
      </p:nvGrpSpPr>
      <p:grpSpPr>
        <a:xfrm>
          <a:off x="0" y="0"/>
          <a:ext cx="0" cy="0"/>
          <a:chOff x="0" y="0"/>
          <a:chExt cx="0" cy="0"/>
        </a:xfrm>
      </p:grpSpPr>
      <p:sp>
        <p:nvSpPr>
          <p:cNvPr id="292" name="Google Shape;292;p36"/>
          <p:cNvSpPr txBox="1"/>
          <p:nvPr>
            <p:ph type="title" idx="4294967295"/>
          </p:nvPr>
        </p:nvSpPr>
        <p:spPr>
          <a:xfrm>
            <a:off x="1089025" y="207963"/>
            <a:ext cx="74390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Process Management</a:t>
            </a:r>
            <a:endParaRPr lang="en-US"/>
          </a:p>
        </p:txBody>
      </p:sp>
      <p:sp>
        <p:nvSpPr>
          <p:cNvPr id="293" name="Google Shape;293;p36"/>
          <p:cNvSpPr txBox="1"/>
          <p:nvPr>
            <p:ph type="body" idx="4294967295"/>
          </p:nvPr>
        </p:nvSpPr>
        <p:spPr>
          <a:xfrm>
            <a:off x="774700" y="809625"/>
            <a:ext cx="7753350" cy="5105400"/>
          </a:xfrm>
          <a:prstGeom prst="rect">
            <a:avLst/>
          </a:prstGeom>
          <a:noFill/>
          <a:ln>
            <a:noFill/>
          </a:ln>
        </p:spPr>
        <p:txBody>
          <a:bodyPr spcFirstLastPara="1" wrap="square" lIns="91425" tIns="45700" rIns="91425" bIns="45700" anchor="t" anchorCtr="0">
            <a:noAutofit/>
          </a:bodyPr>
          <a:lstStyle/>
          <a:p>
            <a:pPr marL="342900" lvl="0" indent="-217170" algn="l" rtl="0">
              <a:lnSpc>
                <a:spcPct val="90000"/>
              </a:lnSpc>
              <a:spcBef>
                <a:spcPts val="0"/>
              </a:spcBef>
              <a:spcAft>
                <a:spcPts val="0"/>
              </a:spcAft>
              <a:buSzPts val="1980"/>
              <a:buNone/>
            </a:pPr>
          </a:p>
          <a:p>
            <a:pPr marL="342900" lvl="0" indent="-342900" algn="l" rtl="0">
              <a:lnSpc>
                <a:spcPct val="90000"/>
              </a:lnSpc>
              <a:spcBef>
                <a:spcPts val="630"/>
              </a:spcBef>
              <a:spcAft>
                <a:spcPts val="0"/>
              </a:spcAft>
              <a:buSzPts val="1980"/>
              <a:buChar char="▪"/>
            </a:pPr>
            <a:r>
              <a:rPr lang="en-US"/>
              <a:t>A process is a program in execution. It is a unit of work within the system. Program is a </a:t>
            </a:r>
            <a:r>
              <a:rPr lang="en-US" b="1" i="1"/>
              <a:t>passive entity;</a:t>
            </a:r>
            <a:r>
              <a:rPr lang="en-US"/>
              <a:t> process is </a:t>
            </a:r>
            <a:r>
              <a:rPr lang="en-US">
                <a:solidFill>
                  <a:srgbClr val="000000"/>
                </a:solidFill>
              </a:rPr>
              <a:t>an </a:t>
            </a:r>
            <a:r>
              <a:rPr lang="en-US" b="1" i="1">
                <a:solidFill>
                  <a:srgbClr val="000000"/>
                </a:solidFill>
              </a:rPr>
              <a:t>active entity</a:t>
            </a:r>
            <a:r>
              <a:rPr lang="en-US"/>
              <a:t>.</a:t>
            </a:r>
            <a:endParaRPr lang="en-US"/>
          </a:p>
          <a:p>
            <a:pPr marL="342900" lvl="0" indent="-342900" algn="l" rtl="0">
              <a:lnSpc>
                <a:spcPct val="90000"/>
              </a:lnSpc>
              <a:spcBef>
                <a:spcPts val="630"/>
              </a:spcBef>
              <a:spcAft>
                <a:spcPts val="0"/>
              </a:spcAft>
              <a:buSzPts val="1980"/>
              <a:buChar char="▪"/>
            </a:pPr>
            <a:r>
              <a:rPr lang="en-US"/>
              <a:t>Process needs resources to accomplish its task</a:t>
            </a:r>
            <a:endParaRPr lang="en-US"/>
          </a:p>
          <a:p>
            <a:pPr marL="742950" lvl="1" indent="-285750" algn="l" rtl="0">
              <a:lnSpc>
                <a:spcPct val="90000"/>
              </a:lnSpc>
              <a:spcBef>
                <a:spcPts val="630"/>
              </a:spcBef>
              <a:spcAft>
                <a:spcPts val="0"/>
              </a:spcAft>
              <a:buSzPts val="1980"/>
              <a:buChar char="•"/>
            </a:pPr>
            <a:r>
              <a:rPr lang="en-US"/>
              <a:t>CPU, memory, I/O, files</a:t>
            </a:r>
            <a:endParaRPr lang="en-US"/>
          </a:p>
          <a:p>
            <a:pPr marL="742950" lvl="1" indent="-285750" algn="l" rtl="0">
              <a:lnSpc>
                <a:spcPct val="90000"/>
              </a:lnSpc>
              <a:spcBef>
                <a:spcPts val="630"/>
              </a:spcBef>
              <a:spcAft>
                <a:spcPts val="0"/>
              </a:spcAft>
              <a:buSzPts val="1980"/>
              <a:buChar char="•"/>
            </a:pPr>
            <a:r>
              <a:rPr lang="en-US"/>
              <a:t>Initialization data</a:t>
            </a:r>
            <a:endParaRPr lang="en-US"/>
          </a:p>
          <a:p>
            <a:pPr marL="342900" lvl="0" indent="-342900" algn="l" rtl="0">
              <a:lnSpc>
                <a:spcPct val="90000"/>
              </a:lnSpc>
              <a:spcBef>
                <a:spcPts val="630"/>
              </a:spcBef>
              <a:spcAft>
                <a:spcPts val="0"/>
              </a:spcAft>
              <a:buSzPts val="1980"/>
              <a:buChar char="▪"/>
            </a:pPr>
            <a:r>
              <a:rPr lang="en-US"/>
              <a:t>Process termination requires reclaim of any reusable resources</a:t>
            </a:r>
            <a:endParaRPr lang="en-US"/>
          </a:p>
          <a:p>
            <a:pPr marL="342900" lvl="0" indent="-342900" algn="l" rtl="0">
              <a:lnSpc>
                <a:spcPct val="90000"/>
              </a:lnSpc>
              <a:spcBef>
                <a:spcPts val="630"/>
              </a:spcBef>
              <a:spcAft>
                <a:spcPts val="0"/>
              </a:spcAft>
              <a:buSzPts val="1980"/>
              <a:buChar char="▪"/>
            </a:pPr>
            <a:r>
              <a:rPr lang="en-US"/>
              <a:t>Single-threaded process has one </a:t>
            </a:r>
            <a:r>
              <a:rPr lang="en-US" b="1">
                <a:solidFill>
                  <a:srgbClr val="006699"/>
                </a:solidFill>
                <a:latin typeface="Arial" panose="020B0604020202020204"/>
                <a:ea typeface="Arial" panose="020B0604020202020204"/>
                <a:cs typeface="Arial" panose="020B0604020202020204"/>
                <a:sym typeface="Arial" panose="020B0604020202020204"/>
              </a:rPr>
              <a:t>program counter </a:t>
            </a:r>
            <a:r>
              <a:rPr lang="en-US"/>
              <a:t>specifying location of next instruction to execute</a:t>
            </a:r>
            <a:endParaRPr lang="en-US"/>
          </a:p>
          <a:p>
            <a:pPr marL="742950" lvl="1" indent="-285750" algn="l" rtl="0">
              <a:lnSpc>
                <a:spcPct val="90000"/>
              </a:lnSpc>
              <a:spcBef>
                <a:spcPts val="630"/>
              </a:spcBef>
              <a:spcAft>
                <a:spcPts val="0"/>
              </a:spcAft>
              <a:buSzPts val="1980"/>
              <a:buChar char="•"/>
            </a:pPr>
            <a:r>
              <a:rPr lang="en-US"/>
              <a:t>Process executes instructions sequentially, one at a time, until completion</a:t>
            </a:r>
            <a:endParaRPr lang="en-US"/>
          </a:p>
          <a:p>
            <a:pPr marL="342900" lvl="0" indent="-342900" algn="l" rtl="0">
              <a:lnSpc>
                <a:spcPct val="90000"/>
              </a:lnSpc>
              <a:spcBef>
                <a:spcPts val="630"/>
              </a:spcBef>
              <a:spcAft>
                <a:spcPts val="0"/>
              </a:spcAft>
              <a:buSzPts val="1980"/>
              <a:buChar char="▪"/>
            </a:pPr>
            <a:r>
              <a:rPr lang="en-US"/>
              <a:t>Multi-threaded process has one program counter per thread</a:t>
            </a:r>
            <a:endParaRPr lang="en-US"/>
          </a:p>
          <a:p>
            <a:pPr marL="342900" lvl="0" indent="-342900" algn="l" rtl="0">
              <a:lnSpc>
                <a:spcPct val="90000"/>
              </a:lnSpc>
              <a:spcBef>
                <a:spcPts val="630"/>
              </a:spcBef>
              <a:spcAft>
                <a:spcPts val="0"/>
              </a:spcAft>
              <a:buSzPts val="1980"/>
              <a:buChar char="▪"/>
            </a:pPr>
            <a:r>
              <a:rPr lang="en-US"/>
              <a:t>Typically system has many processes, some user, some operating system running concurrently on one or more CPUs</a:t>
            </a:r>
            <a:endParaRPr lang="en-US"/>
          </a:p>
          <a:p>
            <a:pPr marL="742950" lvl="1" indent="-285750" algn="l" rtl="0">
              <a:lnSpc>
                <a:spcPct val="90000"/>
              </a:lnSpc>
              <a:spcBef>
                <a:spcPts val="630"/>
              </a:spcBef>
              <a:spcAft>
                <a:spcPts val="0"/>
              </a:spcAft>
              <a:buSzPts val="1980"/>
              <a:buChar char="•"/>
            </a:pPr>
            <a:r>
              <a:rPr lang="en-US"/>
              <a:t>Concurrency by multiplexing the CPUs among the processes / threads</a:t>
            </a:r>
            <a:endParaRPr lang="en-US"/>
          </a:p>
          <a:p>
            <a:pPr marL="342900" lvl="0" indent="-342900" algn="l" rtl="0">
              <a:lnSpc>
                <a:spcPct val="90000"/>
              </a:lnSpc>
              <a:spcBef>
                <a:spcPts val="630"/>
              </a:spcBef>
              <a:spcAft>
                <a:spcPts val="0"/>
              </a:spcAft>
              <a:buSzPts val="1980"/>
              <a:buFont typeface="Arial" panose="020B0604020202020204"/>
              <a:buNone/>
            </a:p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297" name="Shape 297"/>
        <p:cNvGrpSpPr/>
        <p:nvPr/>
      </p:nvGrpSpPr>
      <p:grpSpPr>
        <a:xfrm>
          <a:off x="0" y="0"/>
          <a:ext cx="0" cy="0"/>
          <a:chOff x="0" y="0"/>
          <a:chExt cx="0" cy="0"/>
        </a:xfrm>
      </p:grpSpPr>
      <p:sp>
        <p:nvSpPr>
          <p:cNvPr id="298" name="Google Shape;298;p37"/>
          <p:cNvSpPr txBox="1"/>
          <p:nvPr>
            <p:ph type="title" idx="4294967295"/>
          </p:nvPr>
        </p:nvSpPr>
        <p:spPr>
          <a:xfrm>
            <a:off x="1128713" y="207963"/>
            <a:ext cx="742791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Process Management Activities</a:t>
            </a:r>
            <a:endParaRPr lang="en-US"/>
          </a:p>
        </p:txBody>
      </p:sp>
      <p:sp>
        <p:nvSpPr>
          <p:cNvPr id="299" name="Google Shape;299;p37"/>
          <p:cNvSpPr txBox="1"/>
          <p:nvPr>
            <p:ph type="body" idx="4294967295"/>
          </p:nvPr>
        </p:nvSpPr>
        <p:spPr>
          <a:xfrm>
            <a:off x="885825" y="1587500"/>
            <a:ext cx="7670800" cy="40354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Font typeface="Arial" panose="020B0604020202020204"/>
              <a:buNone/>
            </a:pPr>
            <a:r>
              <a:rPr lang="en-US"/>
              <a:t>     </a:t>
            </a:r>
            <a:endParaRPr lang="en-US"/>
          </a:p>
          <a:p>
            <a:pPr marL="342900" lvl="0" indent="-342900" algn="l" rtl="0">
              <a:spcBef>
                <a:spcPts val="630"/>
              </a:spcBef>
              <a:spcAft>
                <a:spcPts val="0"/>
              </a:spcAft>
              <a:buSzPts val="1980"/>
              <a:buChar char="▪"/>
            </a:pPr>
            <a:r>
              <a:rPr lang="en-US"/>
              <a:t>Creating and deleting both user and system processes</a:t>
            </a:r>
            <a:endParaRPr lang="en-US"/>
          </a:p>
          <a:p>
            <a:pPr marL="342900" lvl="0" indent="-342900" algn="l" rtl="0">
              <a:spcBef>
                <a:spcPts val="630"/>
              </a:spcBef>
              <a:spcAft>
                <a:spcPts val="0"/>
              </a:spcAft>
              <a:buSzPts val="1980"/>
              <a:buChar char="▪"/>
            </a:pPr>
            <a:r>
              <a:rPr lang="en-US"/>
              <a:t>Suspending and resuming processes</a:t>
            </a:r>
            <a:endParaRPr lang="en-US"/>
          </a:p>
          <a:p>
            <a:pPr marL="342900" lvl="0" indent="-342900" algn="l" rtl="0">
              <a:spcBef>
                <a:spcPts val="630"/>
              </a:spcBef>
              <a:spcAft>
                <a:spcPts val="0"/>
              </a:spcAft>
              <a:buSzPts val="1980"/>
              <a:buChar char="▪"/>
            </a:pPr>
            <a:r>
              <a:rPr lang="en-US"/>
              <a:t>Providing mechanisms for process synchronization</a:t>
            </a:r>
            <a:endParaRPr lang="en-US"/>
          </a:p>
          <a:p>
            <a:pPr marL="342900" lvl="0" indent="-342900" algn="l" rtl="0">
              <a:spcBef>
                <a:spcPts val="630"/>
              </a:spcBef>
              <a:spcAft>
                <a:spcPts val="0"/>
              </a:spcAft>
              <a:buSzPts val="1980"/>
              <a:buChar char="▪"/>
            </a:pPr>
            <a:r>
              <a:rPr lang="en-US"/>
              <a:t>Providing mechanisms for process communication</a:t>
            </a:r>
            <a:endParaRPr lang="en-US"/>
          </a:p>
          <a:p>
            <a:pPr marL="342900" lvl="0" indent="-342900" algn="l" rtl="0">
              <a:spcBef>
                <a:spcPts val="630"/>
              </a:spcBef>
              <a:spcAft>
                <a:spcPts val="0"/>
              </a:spcAft>
              <a:buSzPts val="1980"/>
              <a:buChar char="▪"/>
            </a:pPr>
            <a:r>
              <a:rPr lang="en-US"/>
              <a:t>Providing mechanisms for deadlock handling</a:t>
            </a:r>
            <a:endParaRPr lang="en-US"/>
          </a:p>
        </p:txBody>
      </p:sp>
      <p:sp>
        <p:nvSpPr>
          <p:cNvPr id="300" name="Google Shape;300;p37"/>
          <p:cNvSpPr txBox="1"/>
          <p:nvPr/>
        </p:nvSpPr>
        <p:spPr>
          <a:xfrm>
            <a:off x="801688" y="1238250"/>
            <a:ext cx="7670800" cy="6413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Noto Sans Symbols"/>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The operating system is responsible for the following activities in connection with process management:</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304" name="Shape 304"/>
        <p:cNvGrpSpPr/>
        <p:nvPr/>
      </p:nvGrpSpPr>
      <p:grpSpPr>
        <a:xfrm>
          <a:off x="0" y="0"/>
          <a:ext cx="0" cy="0"/>
          <a:chOff x="0" y="0"/>
          <a:chExt cx="0" cy="0"/>
        </a:xfrm>
      </p:grpSpPr>
      <p:sp>
        <p:nvSpPr>
          <p:cNvPr id="305" name="Google Shape;305;p38"/>
          <p:cNvSpPr txBox="1"/>
          <p:nvPr>
            <p:ph type="title" idx="4294967295"/>
          </p:nvPr>
        </p:nvSpPr>
        <p:spPr>
          <a:xfrm>
            <a:off x="1090613" y="212725"/>
            <a:ext cx="7456487"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Memory Management</a:t>
            </a:r>
            <a:endParaRPr lang="en-US"/>
          </a:p>
        </p:txBody>
      </p:sp>
      <p:sp>
        <p:nvSpPr>
          <p:cNvPr id="306" name="Google Shape;306;p38"/>
          <p:cNvSpPr txBox="1"/>
          <p:nvPr>
            <p:ph type="body" idx="4294967295"/>
          </p:nvPr>
        </p:nvSpPr>
        <p:spPr>
          <a:xfrm>
            <a:off x="806450" y="1233488"/>
            <a:ext cx="774065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To execute a program all (or part) of the instructions must be in memory</a:t>
            </a:r>
            <a:endParaRPr lang="en-US"/>
          </a:p>
          <a:p>
            <a:pPr marL="342900" lvl="0" indent="-342900" algn="l" rtl="0">
              <a:spcBef>
                <a:spcPts val="630"/>
              </a:spcBef>
              <a:spcAft>
                <a:spcPts val="0"/>
              </a:spcAft>
              <a:buSzPts val="1980"/>
              <a:buChar char="▪"/>
            </a:pPr>
            <a:r>
              <a:rPr lang="en-US"/>
              <a:t>All  (or part) of the data that is needed by the program must be in memory</a:t>
            </a:r>
            <a:endParaRPr sz="800"/>
          </a:p>
          <a:p>
            <a:pPr marL="342900" lvl="0" indent="-342900" algn="l" rtl="0">
              <a:spcBef>
                <a:spcPts val="630"/>
              </a:spcBef>
              <a:spcAft>
                <a:spcPts val="0"/>
              </a:spcAft>
              <a:buSzPts val="1980"/>
              <a:buChar char="▪"/>
            </a:pPr>
            <a:r>
              <a:rPr lang="en-US"/>
              <a:t>Memory management determines what is in memory and when</a:t>
            </a:r>
            <a:endParaRPr lang="en-US"/>
          </a:p>
          <a:p>
            <a:pPr marL="742950" lvl="1" indent="-285750" algn="l" rtl="0">
              <a:spcBef>
                <a:spcPts val="630"/>
              </a:spcBef>
              <a:spcAft>
                <a:spcPts val="0"/>
              </a:spcAft>
              <a:buSzPts val="1980"/>
              <a:buChar char="•"/>
            </a:pPr>
            <a:r>
              <a:rPr lang="en-US"/>
              <a:t>Optimizing CPU utilization and computer response to users</a:t>
            </a:r>
            <a:endParaRPr sz="800"/>
          </a:p>
          <a:p>
            <a:pPr marL="342900" lvl="0" indent="-342900" algn="l" rtl="0">
              <a:spcBef>
                <a:spcPts val="630"/>
              </a:spcBef>
              <a:spcAft>
                <a:spcPts val="0"/>
              </a:spcAft>
              <a:buSzPts val="1980"/>
              <a:buChar char="▪"/>
            </a:pPr>
            <a:r>
              <a:rPr lang="en-US"/>
              <a:t>Memory management activities</a:t>
            </a:r>
            <a:endParaRPr lang="en-US"/>
          </a:p>
          <a:p>
            <a:pPr marL="742950" lvl="1" indent="-285750" algn="l" rtl="0">
              <a:spcBef>
                <a:spcPts val="630"/>
              </a:spcBef>
              <a:spcAft>
                <a:spcPts val="0"/>
              </a:spcAft>
              <a:buSzPts val="1980"/>
              <a:buChar char="•"/>
            </a:pPr>
            <a:r>
              <a:rPr lang="en-US"/>
              <a:t>Keeping track of which parts of memory are currently being used and by whom</a:t>
            </a:r>
            <a:endParaRPr lang="en-US"/>
          </a:p>
          <a:p>
            <a:pPr marL="742950" lvl="1" indent="-285750" algn="l" rtl="0">
              <a:spcBef>
                <a:spcPts val="630"/>
              </a:spcBef>
              <a:spcAft>
                <a:spcPts val="0"/>
              </a:spcAft>
              <a:buSzPts val="1980"/>
              <a:buChar char="•"/>
            </a:pPr>
            <a:r>
              <a:rPr lang="en-US"/>
              <a:t>Deciding which processes (or parts thereof) and data to move into and out of memory</a:t>
            </a:r>
            <a:endParaRPr lang="en-US"/>
          </a:p>
          <a:p>
            <a:pPr marL="742950" lvl="1" indent="-285750" algn="l" rtl="0">
              <a:spcBef>
                <a:spcPts val="630"/>
              </a:spcBef>
              <a:spcAft>
                <a:spcPts val="0"/>
              </a:spcAft>
              <a:buSzPts val="1980"/>
              <a:buChar char="•"/>
            </a:pPr>
            <a:r>
              <a:rPr lang="en-US"/>
              <a:t>Allocating and deallocating memory space as needed</a:t>
            </a:r>
            <a:endParaRPr lang="en-US"/>
          </a:p>
          <a:p>
            <a:pPr marL="742950" lvl="1" indent="-285750" algn="l" rtl="0">
              <a:spcBef>
                <a:spcPts val="630"/>
              </a:spcBef>
              <a:spcAft>
                <a:spcPts val="0"/>
              </a:spcAft>
              <a:buSzPts val="1980"/>
              <a:buFont typeface="Arial" panose="020B0604020202020204"/>
              <a:buNone/>
            </a:p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310" name="Shape 310"/>
        <p:cNvGrpSpPr/>
        <p:nvPr/>
      </p:nvGrpSpPr>
      <p:grpSpPr>
        <a:xfrm>
          <a:off x="0" y="0"/>
          <a:ext cx="0" cy="0"/>
          <a:chOff x="0" y="0"/>
          <a:chExt cx="0" cy="0"/>
        </a:xfrm>
      </p:grpSpPr>
      <p:sp>
        <p:nvSpPr>
          <p:cNvPr id="311" name="Google Shape;311;p39"/>
          <p:cNvSpPr txBox="1"/>
          <p:nvPr>
            <p:ph type="title" idx="4294967295"/>
          </p:nvPr>
        </p:nvSpPr>
        <p:spPr>
          <a:xfrm>
            <a:off x="1128713" y="211138"/>
            <a:ext cx="73533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File-system Management</a:t>
            </a:r>
            <a:endParaRPr lang="en-US"/>
          </a:p>
        </p:txBody>
      </p:sp>
      <p:sp>
        <p:nvSpPr>
          <p:cNvPr id="312" name="Google Shape;312;p39"/>
          <p:cNvSpPr txBox="1"/>
          <p:nvPr>
            <p:ph type="body" idx="4294967295"/>
          </p:nvPr>
        </p:nvSpPr>
        <p:spPr>
          <a:xfrm>
            <a:off x="796925" y="1104900"/>
            <a:ext cx="7558088" cy="4992688"/>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a:t>OS provides uniform, logical view of information storage</a:t>
            </a:r>
            <a:endParaRPr lang="en-US"/>
          </a:p>
          <a:p>
            <a:pPr marL="742950" lvl="1" indent="-285750" algn="l" rtl="0">
              <a:lnSpc>
                <a:spcPct val="90000"/>
              </a:lnSpc>
              <a:spcBef>
                <a:spcPts val="630"/>
              </a:spcBef>
              <a:spcAft>
                <a:spcPts val="0"/>
              </a:spcAft>
              <a:buSzPts val="1980"/>
              <a:buChar char="•"/>
            </a:pPr>
            <a:r>
              <a:rPr lang="en-US"/>
              <a:t>Abstracts physical properties to logical storage unit  - </a:t>
            </a:r>
            <a:r>
              <a:rPr lang="en-US" b="1">
                <a:solidFill>
                  <a:srgbClr val="006699"/>
                </a:solidFill>
                <a:latin typeface="Arial" panose="020B0604020202020204"/>
                <a:ea typeface="Arial" panose="020B0604020202020204"/>
                <a:cs typeface="Arial" panose="020B0604020202020204"/>
                <a:sym typeface="Arial" panose="020B0604020202020204"/>
              </a:rPr>
              <a:t>file</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lnSpc>
                <a:spcPct val="90000"/>
              </a:lnSpc>
              <a:spcBef>
                <a:spcPts val="630"/>
              </a:spcBef>
              <a:spcAft>
                <a:spcPts val="0"/>
              </a:spcAft>
              <a:buSzPts val="1980"/>
              <a:buChar char="•"/>
            </a:pPr>
            <a:r>
              <a:rPr lang="en-US"/>
              <a:t>Each medium is controlled by device (i.e., disk drive, tape drive)</a:t>
            </a:r>
            <a:endParaRPr lang="en-US"/>
          </a:p>
          <a:p>
            <a:pPr marL="1085850" lvl="2" indent="-228600" algn="l" rtl="0">
              <a:lnSpc>
                <a:spcPct val="90000"/>
              </a:lnSpc>
              <a:spcBef>
                <a:spcPts val="630"/>
              </a:spcBef>
              <a:spcAft>
                <a:spcPts val="0"/>
              </a:spcAft>
              <a:buSzPts val="1350"/>
              <a:buChar char="4"/>
            </a:pPr>
            <a:r>
              <a:rPr lang="en-US"/>
              <a:t>Varying properties include access speed, capacity, data-transfer rate, access method (sequential or random)</a:t>
            </a:r>
            <a:endParaRPr lang="en-US"/>
          </a:p>
          <a:p>
            <a:pPr marL="1085850" lvl="2" indent="-190500" algn="l" rtl="0">
              <a:lnSpc>
                <a:spcPct val="90000"/>
              </a:lnSpc>
              <a:spcBef>
                <a:spcPts val="280"/>
              </a:spcBef>
              <a:spcAft>
                <a:spcPts val="0"/>
              </a:spcAft>
              <a:buSzPts val="600"/>
              <a:buNone/>
            </a:pPr>
            <a:endParaRPr sz="800"/>
          </a:p>
          <a:p>
            <a:pPr marL="342900" lvl="0" indent="-342900" algn="l" rtl="0">
              <a:lnSpc>
                <a:spcPct val="90000"/>
              </a:lnSpc>
              <a:spcBef>
                <a:spcPts val="630"/>
              </a:spcBef>
              <a:spcAft>
                <a:spcPts val="0"/>
              </a:spcAft>
              <a:buSzPts val="1980"/>
              <a:buChar char="▪"/>
            </a:pPr>
            <a:r>
              <a:rPr lang="en-US"/>
              <a:t>File-System management</a:t>
            </a:r>
            <a:endParaRPr lang="en-US"/>
          </a:p>
          <a:p>
            <a:pPr marL="742950" lvl="1" indent="-285750" algn="l" rtl="0">
              <a:lnSpc>
                <a:spcPct val="90000"/>
              </a:lnSpc>
              <a:spcBef>
                <a:spcPts val="630"/>
              </a:spcBef>
              <a:spcAft>
                <a:spcPts val="0"/>
              </a:spcAft>
              <a:buSzPts val="1980"/>
              <a:buChar char="•"/>
            </a:pPr>
            <a:r>
              <a:rPr lang="en-US"/>
              <a:t>Files usually organized into directories</a:t>
            </a:r>
            <a:endParaRPr lang="en-US"/>
          </a:p>
          <a:p>
            <a:pPr marL="742950" lvl="1" indent="-285750" algn="l" rtl="0">
              <a:lnSpc>
                <a:spcPct val="90000"/>
              </a:lnSpc>
              <a:spcBef>
                <a:spcPts val="630"/>
              </a:spcBef>
              <a:spcAft>
                <a:spcPts val="0"/>
              </a:spcAft>
              <a:buSzPts val="1980"/>
              <a:buChar char="•"/>
            </a:pPr>
            <a:r>
              <a:rPr lang="en-US"/>
              <a:t>Access control on most systems to determine who can access what</a:t>
            </a:r>
            <a:endParaRPr lang="en-US"/>
          </a:p>
          <a:p>
            <a:pPr marL="742950" lvl="1" indent="-285750" algn="l" rtl="0">
              <a:lnSpc>
                <a:spcPct val="90000"/>
              </a:lnSpc>
              <a:spcBef>
                <a:spcPts val="630"/>
              </a:spcBef>
              <a:spcAft>
                <a:spcPts val="0"/>
              </a:spcAft>
              <a:buSzPts val="1980"/>
              <a:buChar char="•"/>
            </a:pPr>
            <a:r>
              <a:rPr lang="en-US"/>
              <a:t>OS activities include</a:t>
            </a:r>
            <a:endParaRPr lang="en-US"/>
          </a:p>
          <a:p>
            <a:pPr marL="1085850" lvl="2" indent="-228600" algn="l" rtl="0">
              <a:lnSpc>
                <a:spcPct val="90000"/>
              </a:lnSpc>
              <a:spcBef>
                <a:spcPts val="630"/>
              </a:spcBef>
              <a:spcAft>
                <a:spcPts val="0"/>
              </a:spcAft>
              <a:buSzPts val="1350"/>
              <a:buChar char="4"/>
            </a:pPr>
            <a:r>
              <a:rPr lang="en-US"/>
              <a:t>Creating and deleting files and directories</a:t>
            </a:r>
            <a:endParaRPr lang="en-US"/>
          </a:p>
          <a:p>
            <a:pPr marL="1085850" lvl="2" indent="-228600" algn="l" rtl="0">
              <a:lnSpc>
                <a:spcPct val="90000"/>
              </a:lnSpc>
              <a:spcBef>
                <a:spcPts val="630"/>
              </a:spcBef>
              <a:spcAft>
                <a:spcPts val="0"/>
              </a:spcAft>
              <a:buSzPts val="1350"/>
              <a:buChar char="4"/>
            </a:pPr>
            <a:r>
              <a:rPr lang="en-US"/>
              <a:t>Primitives to manipulate files and directories</a:t>
            </a:r>
            <a:endParaRPr lang="en-US"/>
          </a:p>
          <a:p>
            <a:pPr marL="1085850" lvl="2" indent="-228600" algn="l" rtl="0">
              <a:lnSpc>
                <a:spcPct val="90000"/>
              </a:lnSpc>
              <a:spcBef>
                <a:spcPts val="630"/>
              </a:spcBef>
              <a:spcAft>
                <a:spcPts val="0"/>
              </a:spcAft>
              <a:buSzPts val="1350"/>
              <a:buChar char="4"/>
            </a:pPr>
            <a:r>
              <a:rPr lang="en-US"/>
              <a:t>Mapping files onto secondary storage</a:t>
            </a:r>
            <a:endParaRPr lang="en-US"/>
          </a:p>
          <a:p>
            <a:pPr marL="1085850" lvl="2" indent="-228600" algn="l" rtl="0">
              <a:lnSpc>
                <a:spcPct val="90000"/>
              </a:lnSpc>
              <a:spcBef>
                <a:spcPts val="630"/>
              </a:spcBef>
              <a:spcAft>
                <a:spcPts val="0"/>
              </a:spcAft>
              <a:buSzPts val="1350"/>
              <a:buChar char="4"/>
            </a:pPr>
            <a:r>
              <a:rPr lang="en-US"/>
              <a:t>Backup files onto stable (non-volatile) storage media</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316" name="Shape 316"/>
        <p:cNvGrpSpPr/>
        <p:nvPr/>
      </p:nvGrpSpPr>
      <p:grpSpPr>
        <a:xfrm>
          <a:off x="0" y="0"/>
          <a:ext cx="0" cy="0"/>
          <a:chOff x="0" y="0"/>
          <a:chExt cx="0" cy="0"/>
        </a:xfrm>
      </p:grpSpPr>
      <p:sp>
        <p:nvSpPr>
          <p:cNvPr id="317" name="Google Shape;317;p40"/>
          <p:cNvSpPr txBox="1"/>
          <p:nvPr>
            <p:ph type="title" idx="4294967295"/>
          </p:nvPr>
        </p:nvSpPr>
        <p:spPr>
          <a:xfrm>
            <a:off x="1331913" y="203200"/>
            <a:ext cx="7177087"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Mass-Storage Management</a:t>
            </a:r>
            <a:endParaRPr lang="en-US"/>
          </a:p>
        </p:txBody>
      </p:sp>
      <p:sp>
        <p:nvSpPr>
          <p:cNvPr id="318" name="Google Shape;318;p40"/>
          <p:cNvSpPr txBox="1"/>
          <p:nvPr>
            <p:ph type="body" idx="4294967295"/>
          </p:nvPr>
        </p:nvSpPr>
        <p:spPr>
          <a:xfrm>
            <a:off x="801688" y="1109663"/>
            <a:ext cx="7005881" cy="4658091"/>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Usually disks used to store data that does not fit in main memory or data that must be kept for a “long” period of time</a:t>
            </a:r>
            <a:endParaRPr lang="en-US"/>
          </a:p>
          <a:p>
            <a:pPr marL="342900" lvl="0" indent="-342900" algn="l" rtl="0">
              <a:spcBef>
                <a:spcPts val="630"/>
              </a:spcBef>
              <a:spcAft>
                <a:spcPts val="0"/>
              </a:spcAft>
              <a:buSzPts val="1980"/>
              <a:buChar char="▪"/>
            </a:pPr>
            <a:r>
              <a:rPr lang="en-US"/>
              <a:t>Proper management is of central importance</a:t>
            </a:r>
            <a:endParaRPr lang="en-US"/>
          </a:p>
          <a:p>
            <a:pPr marL="342900" lvl="0" indent="-342900" algn="l" rtl="0">
              <a:spcBef>
                <a:spcPts val="630"/>
              </a:spcBef>
              <a:spcAft>
                <a:spcPts val="0"/>
              </a:spcAft>
              <a:buSzPts val="1980"/>
              <a:buChar char="▪"/>
            </a:pPr>
            <a:r>
              <a:rPr lang="en-US"/>
              <a:t>Entire speed of computer operation hinges on disk subsystem and its algorithms</a:t>
            </a:r>
            <a:endParaRPr lang="en-US"/>
          </a:p>
          <a:p>
            <a:pPr marL="342900" lvl="0" indent="-342900" algn="l" rtl="0">
              <a:spcBef>
                <a:spcPts val="630"/>
              </a:spcBef>
              <a:spcAft>
                <a:spcPts val="0"/>
              </a:spcAft>
              <a:buSzPts val="1980"/>
              <a:buChar char="▪"/>
            </a:pPr>
            <a:r>
              <a:rPr lang="en-US"/>
              <a:t>OS activities</a:t>
            </a:r>
            <a:endParaRPr lang="en-US"/>
          </a:p>
          <a:p>
            <a:pPr marL="742950" lvl="1" indent="-285750" algn="l" rtl="0">
              <a:spcBef>
                <a:spcPts val="630"/>
              </a:spcBef>
              <a:spcAft>
                <a:spcPts val="0"/>
              </a:spcAft>
              <a:buSzPts val="1980"/>
              <a:buChar char="•"/>
            </a:pPr>
            <a:r>
              <a:rPr lang="en-US"/>
              <a:t>Mounting and unmounting</a:t>
            </a:r>
            <a:endParaRPr lang="en-US"/>
          </a:p>
          <a:p>
            <a:pPr marL="742950" lvl="1" indent="-285750" algn="l" rtl="0">
              <a:spcBef>
                <a:spcPts val="630"/>
              </a:spcBef>
              <a:spcAft>
                <a:spcPts val="0"/>
              </a:spcAft>
              <a:buSzPts val="1980"/>
              <a:buChar char="•"/>
            </a:pPr>
            <a:r>
              <a:rPr lang="en-US"/>
              <a:t>Free-space management</a:t>
            </a:r>
            <a:endParaRPr lang="en-US"/>
          </a:p>
          <a:p>
            <a:pPr marL="742950" lvl="1" indent="-285750" algn="l" rtl="0">
              <a:spcBef>
                <a:spcPts val="630"/>
              </a:spcBef>
              <a:spcAft>
                <a:spcPts val="0"/>
              </a:spcAft>
              <a:buSzPts val="1980"/>
              <a:buChar char="•"/>
            </a:pPr>
            <a:r>
              <a:rPr lang="en-US"/>
              <a:t>Storage allocation</a:t>
            </a:r>
            <a:endParaRPr lang="en-US"/>
          </a:p>
          <a:p>
            <a:pPr marL="742950" lvl="1" indent="-285750" algn="l" rtl="0">
              <a:spcBef>
                <a:spcPts val="630"/>
              </a:spcBef>
              <a:spcAft>
                <a:spcPts val="0"/>
              </a:spcAft>
              <a:buSzPts val="1980"/>
              <a:buChar char="•"/>
            </a:pPr>
            <a:r>
              <a:rPr lang="en-US"/>
              <a:t>Disk scheduling</a:t>
            </a:r>
            <a:endParaRPr lang="en-US"/>
          </a:p>
          <a:p>
            <a:pPr marL="742950" lvl="1" indent="-285750" algn="l" rtl="0">
              <a:spcBef>
                <a:spcPts val="630"/>
              </a:spcBef>
              <a:spcAft>
                <a:spcPts val="0"/>
              </a:spcAft>
              <a:buSzPts val="1980"/>
              <a:buChar char="•"/>
            </a:pPr>
            <a:r>
              <a:rPr lang="en-US"/>
              <a:t>Partitioning</a:t>
            </a:r>
            <a:endParaRPr lang="en-US"/>
          </a:p>
          <a:p>
            <a:pPr marL="742950" lvl="1" indent="-285750" algn="l" rtl="0">
              <a:spcBef>
                <a:spcPts val="630"/>
              </a:spcBef>
              <a:spcAft>
                <a:spcPts val="0"/>
              </a:spcAft>
              <a:buSzPts val="1980"/>
              <a:buChar char="•"/>
            </a:pPr>
            <a:r>
              <a:rPr lang="en-US"/>
              <a:t>Protection</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322" name="Shape 322"/>
        <p:cNvGrpSpPr/>
        <p:nvPr/>
      </p:nvGrpSpPr>
      <p:grpSpPr>
        <a:xfrm>
          <a:off x="0" y="0"/>
          <a:ext cx="0" cy="0"/>
          <a:chOff x="0" y="0"/>
          <a:chExt cx="0" cy="0"/>
        </a:xfrm>
      </p:grpSpPr>
      <p:sp>
        <p:nvSpPr>
          <p:cNvPr id="323" name="Google Shape;323;p41"/>
          <p:cNvSpPr txBox="1"/>
          <p:nvPr>
            <p:ph type="title" idx="4294967295"/>
          </p:nvPr>
        </p:nvSpPr>
        <p:spPr>
          <a:xfrm>
            <a:off x="457200" y="207963"/>
            <a:ext cx="801528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Caching</a:t>
            </a:r>
            <a:endParaRPr lang="en-US"/>
          </a:p>
        </p:txBody>
      </p:sp>
      <p:sp>
        <p:nvSpPr>
          <p:cNvPr id="324" name="Google Shape;324;p41"/>
          <p:cNvSpPr txBox="1"/>
          <p:nvPr>
            <p:ph type="body" idx="4294967295"/>
          </p:nvPr>
        </p:nvSpPr>
        <p:spPr>
          <a:xfrm>
            <a:off x="820739" y="1233488"/>
            <a:ext cx="6826058" cy="472518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Important principle, performed at many levels in a computer (in hardware, operating system, software)</a:t>
            </a:r>
            <a:endParaRPr sz="800"/>
          </a:p>
          <a:p>
            <a:pPr marL="342900" lvl="0" indent="-342900" algn="l" rtl="0">
              <a:spcBef>
                <a:spcPts val="630"/>
              </a:spcBef>
              <a:spcAft>
                <a:spcPts val="0"/>
              </a:spcAft>
              <a:buSzPts val="1980"/>
              <a:buChar char="▪"/>
            </a:pPr>
            <a:r>
              <a:rPr lang="en-US"/>
              <a:t>Information in use copied from slower to faster storage temporarily</a:t>
            </a:r>
            <a:endParaRPr sz="800"/>
          </a:p>
          <a:p>
            <a:pPr marL="342900" lvl="0" indent="-342900" algn="l" rtl="0">
              <a:spcBef>
                <a:spcPts val="630"/>
              </a:spcBef>
              <a:spcAft>
                <a:spcPts val="0"/>
              </a:spcAft>
              <a:buSzPts val="1980"/>
              <a:buChar char="▪"/>
            </a:pPr>
            <a:r>
              <a:rPr lang="en-US"/>
              <a:t>Faster storage (cache) checked first to determine if information is there</a:t>
            </a:r>
            <a:endParaRPr lang="en-US"/>
          </a:p>
          <a:p>
            <a:pPr marL="742950" lvl="1" indent="-285750" algn="l" rtl="0">
              <a:spcBef>
                <a:spcPts val="630"/>
              </a:spcBef>
              <a:spcAft>
                <a:spcPts val="0"/>
              </a:spcAft>
              <a:buSzPts val="1980"/>
              <a:buChar char="•"/>
            </a:pPr>
            <a:r>
              <a:rPr lang="en-US"/>
              <a:t>If it is, information used directly from the cache (fast)</a:t>
            </a:r>
            <a:endParaRPr lang="en-US"/>
          </a:p>
          <a:p>
            <a:pPr marL="742950" lvl="1" indent="-285750" algn="l" rtl="0">
              <a:spcBef>
                <a:spcPts val="630"/>
              </a:spcBef>
              <a:spcAft>
                <a:spcPts val="0"/>
              </a:spcAft>
              <a:buSzPts val="1980"/>
              <a:buChar char="•"/>
            </a:pPr>
            <a:r>
              <a:rPr lang="en-US"/>
              <a:t>If not, data copied to cache and used there</a:t>
            </a:r>
            <a:endParaRPr sz="800"/>
          </a:p>
          <a:p>
            <a:pPr marL="342900" lvl="0" indent="-342900" algn="l" rtl="0">
              <a:spcBef>
                <a:spcPts val="630"/>
              </a:spcBef>
              <a:spcAft>
                <a:spcPts val="0"/>
              </a:spcAft>
              <a:buSzPts val="1980"/>
              <a:buChar char="▪"/>
            </a:pPr>
            <a:r>
              <a:rPr lang="en-US"/>
              <a:t>Cache smaller than storage being cached</a:t>
            </a:r>
            <a:endParaRPr lang="en-US"/>
          </a:p>
          <a:p>
            <a:pPr marL="742950" lvl="1" indent="-285750" algn="l" rtl="0">
              <a:spcBef>
                <a:spcPts val="630"/>
              </a:spcBef>
              <a:spcAft>
                <a:spcPts val="0"/>
              </a:spcAft>
              <a:buSzPts val="1980"/>
              <a:buChar char="•"/>
            </a:pPr>
            <a:r>
              <a:rPr lang="en-US"/>
              <a:t>Cache management important design problem</a:t>
            </a:r>
            <a:endParaRPr lang="en-US"/>
          </a:p>
          <a:p>
            <a:pPr marL="742950" lvl="1" indent="-285750" algn="l" rtl="0">
              <a:spcBef>
                <a:spcPts val="630"/>
              </a:spcBef>
              <a:spcAft>
                <a:spcPts val="0"/>
              </a:spcAft>
              <a:buSzPts val="1980"/>
              <a:buChar char="•"/>
            </a:pPr>
            <a:r>
              <a:rPr lang="en-US"/>
              <a:t>Cache size and replacement policy</a:t>
            </a:r>
            <a:endParaRPr lang="en-US"/>
          </a:p>
          <a:p>
            <a:pPr marL="342900" lvl="0" indent="-342900" algn="l" rtl="0">
              <a:spcBef>
                <a:spcPts val="630"/>
              </a:spcBef>
              <a:spcAft>
                <a:spcPts val="0"/>
              </a:spcAft>
              <a:buSzPts val="1980"/>
              <a:buFont typeface="Arial" panose="020B0604020202020204"/>
              <a:buNone/>
            </a:p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328" name="Shape 328"/>
        <p:cNvGrpSpPr/>
        <p:nvPr/>
      </p:nvGrpSpPr>
      <p:grpSpPr>
        <a:xfrm>
          <a:off x="0" y="0"/>
          <a:ext cx="0" cy="0"/>
          <a:chOff x="0" y="0"/>
          <a:chExt cx="0" cy="0"/>
        </a:xfrm>
      </p:grpSpPr>
      <p:sp>
        <p:nvSpPr>
          <p:cNvPr id="329" name="Google Shape;329;p42"/>
          <p:cNvSpPr txBox="1"/>
          <p:nvPr>
            <p:ph type="title" idx="4294967295"/>
          </p:nvPr>
        </p:nvSpPr>
        <p:spPr>
          <a:xfrm>
            <a:off x="833438" y="145822"/>
            <a:ext cx="85312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Characteristics of Various Types of Storage</a:t>
            </a:r>
            <a:endParaRPr lang="en-US" sz="2800"/>
          </a:p>
        </p:txBody>
      </p:sp>
      <p:sp>
        <p:nvSpPr>
          <p:cNvPr id="330" name="Google Shape;330;p42"/>
          <p:cNvSpPr txBox="1"/>
          <p:nvPr>
            <p:ph type="body" idx="4294967295"/>
          </p:nvPr>
        </p:nvSpPr>
        <p:spPr>
          <a:xfrm>
            <a:off x="806450" y="1233488"/>
            <a:ext cx="7707313" cy="4521200"/>
          </a:xfrm>
          <a:prstGeom prst="rect">
            <a:avLst/>
          </a:prstGeom>
          <a:noFill/>
          <a:ln>
            <a:noFill/>
          </a:ln>
        </p:spPr>
        <p:txBody>
          <a:bodyPr spcFirstLastPara="1" wrap="square" lIns="91425" tIns="45700" rIns="91425" bIns="45700" anchor="t" anchorCtr="0">
            <a:noAutofit/>
          </a:bodyPr>
          <a:lstStyle/>
          <a:p>
            <a:pPr marL="342900" lvl="0" indent="-217170" algn="l" rtl="0">
              <a:spcBef>
                <a:spcPts val="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0" lvl="0" indent="0" algn="l" rtl="0">
              <a:spcBef>
                <a:spcPts val="630"/>
              </a:spcBef>
              <a:spcAft>
                <a:spcPts val="0"/>
              </a:spcAft>
              <a:buSzPts val="1980"/>
              <a:buFont typeface="Arial" panose="020B0604020202020204"/>
              <a:buNone/>
            </a:pPr>
          </a:p>
          <a:p>
            <a:pPr marL="342900" lvl="0" indent="-342900" algn="l" rtl="0">
              <a:spcBef>
                <a:spcPts val="630"/>
              </a:spcBef>
              <a:spcAft>
                <a:spcPts val="0"/>
              </a:spcAft>
              <a:buSzPts val="1980"/>
              <a:buFont typeface="Arial" panose="020B0604020202020204"/>
              <a:buNone/>
            </a:pPr>
            <a:r>
              <a:rPr lang="en-US"/>
              <a:t>    Movement between levels of storage hierarchy can be explicit or implicit</a:t>
            </a:r>
            <a:endParaRPr lang="en-US"/>
          </a:p>
        </p:txBody>
      </p:sp>
      <p:pic>
        <p:nvPicPr>
          <p:cNvPr id="331" name="Google Shape;331;p42"/>
          <p:cNvPicPr preferRelativeResize="0"/>
          <p:nvPr/>
        </p:nvPicPr>
        <p:blipFill rotWithShape="1">
          <a:blip r:embed="rId1"/>
          <a:srcRect/>
          <a:stretch>
            <a:fillRect/>
          </a:stretch>
        </p:blipFill>
        <p:spPr>
          <a:xfrm>
            <a:off x="525463" y="1139825"/>
            <a:ext cx="8054975" cy="33813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335" name="Shape 335"/>
        <p:cNvGrpSpPr/>
        <p:nvPr/>
      </p:nvGrpSpPr>
      <p:grpSpPr>
        <a:xfrm>
          <a:off x="0" y="0"/>
          <a:ext cx="0" cy="0"/>
          <a:chOff x="0" y="0"/>
          <a:chExt cx="0" cy="0"/>
        </a:xfrm>
      </p:grpSpPr>
      <p:sp>
        <p:nvSpPr>
          <p:cNvPr id="336" name="Google Shape;336;p43"/>
          <p:cNvSpPr txBox="1"/>
          <p:nvPr>
            <p:ph type="title" idx="4294967295"/>
          </p:nvPr>
        </p:nvSpPr>
        <p:spPr>
          <a:xfrm>
            <a:off x="1265695" y="211138"/>
            <a:ext cx="7597321"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Migration of data “A” from Disk to Register</a:t>
            </a:r>
            <a:endParaRPr lang="en-US" sz="2800"/>
          </a:p>
        </p:txBody>
      </p:sp>
      <p:sp>
        <p:nvSpPr>
          <p:cNvPr id="337" name="Google Shape;337;p43"/>
          <p:cNvSpPr txBox="1"/>
          <p:nvPr>
            <p:ph type="body" idx="4294967295"/>
          </p:nvPr>
        </p:nvSpPr>
        <p:spPr>
          <a:xfrm>
            <a:off x="806450" y="1233488"/>
            <a:ext cx="7597321" cy="450328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Multitasking environments must be careful to use most recent value, no matter where it is stored in the storage hierarchy</a:t>
            </a:r>
            <a:br>
              <a:rPr lang="en-US"/>
            </a:br>
            <a:br>
              <a:rPr lang="en-US"/>
            </a:br>
            <a:br>
              <a:rPr lang="en-US"/>
            </a:br>
            <a:br>
              <a:rPr lang="en-US"/>
            </a:br>
            <a:endParaRPr lang="en-US"/>
          </a:p>
          <a:p>
            <a:pPr marL="342900" lvl="0" indent="-342900" algn="l" rtl="0">
              <a:spcBef>
                <a:spcPts val="630"/>
              </a:spcBef>
              <a:spcAft>
                <a:spcPts val="0"/>
              </a:spcAft>
              <a:buSzPts val="1980"/>
              <a:buChar char="▪"/>
            </a:pPr>
            <a:r>
              <a:rPr lang="en-US"/>
              <a:t>Multiprocessor environment must provide </a:t>
            </a:r>
            <a:r>
              <a:rPr lang="en-US" b="1">
                <a:solidFill>
                  <a:srgbClr val="006699"/>
                </a:solidFill>
                <a:latin typeface="Arial" panose="020B0604020202020204"/>
                <a:ea typeface="Arial" panose="020B0604020202020204"/>
                <a:cs typeface="Arial" panose="020B0604020202020204"/>
                <a:sym typeface="Arial" panose="020B0604020202020204"/>
              </a:rPr>
              <a:t>cache coherency </a:t>
            </a:r>
            <a:r>
              <a:rPr lang="en-US"/>
              <a:t>in hardware such that all CPUs have the most recent value in their cache</a:t>
            </a:r>
            <a:endParaRPr sz="800"/>
          </a:p>
          <a:p>
            <a:pPr marL="342900" lvl="0" indent="-342900" algn="l" rtl="0">
              <a:spcBef>
                <a:spcPts val="630"/>
              </a:spcBef>
              <a:spcAft>
                <a:spcPts val="0"/>
              </a:spcAft>
              <a:buSzPts val="1980"/>
              <a:buChar char="▪"/>
            </a:pPr>
            <a:r>
              <a:rPr lang="en-US"/>
              <a:t>Distributed environment situation even more complex</a:t>
            </a:r>
            <a:endParaRPr lang="en-US"/>
          </a:p>
          <a:p>
            <a:pPr marL="742950" lvl="1" indent="-285750" algn="l" rtl="0">
              <a:spcBef>
                <a:spcPts val="630"/>
              </a:spcBef>
              <a:spcAft>
                <a:spcPts val="0"/>
              </a:spcAft>
              <a:buSzPts val="1980"/>
              <a:buChar char="•"/>
            </a:pPr>
            <a:r>
              <a:rPr lang="en-US"/>
              <a:t>Several copies of a datum can exist</a:t>
            </a:r>
            <a:endParaRPr lang="en-US"/>
          </a:p>
          <a:p>
            <a:pPr marL="742950" lvl="1" indent="-285750" algn="l" rtl="0">
              <a:spcBef>
                <a:spcPts val="630"/>
              </a:spcBef>
              <a:spcAft>
                <a:spcPts val="0"/>
              </a:spcAft>
              <a:buSzPts val="1980"/>
              <a:buChar char="•"/>
            </a:pPr>
            <a:r>
              <a:rPr lang="en-US"/>
              <a:t>Various solutions covered in Chapter 19</a:t>
            </a:r>
            <a:endParaRPr lang="en-US"/>
          </a:p>
        </p:txBody>
      </p:sp>
      <p:pic>
        <p:nvPicPr>
          <p:cNvPr id="338" name="Google Shape;338;p43"/>
          <p:cNvPicPr preferRelativeResize="0"/>
          <p:nvPr/>
        </p:nvPicPr>
        <p:blipFill rotWithShape="1">
          <a:blip r:embed="rId1"/>
          <a:srcRect/>
          <a:stretch>
            <a:fillRect/>
          </a:stretch>
        </p:blipFill>
        <p:spPr>
          <a:xfrm>
            <a:off x="2090056" y="2135010"/>
            <a:ext cx="5477102" cy="67168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342" name="Shape 342"/>
        <p:cNvGrpSpPr/>
        <p:nvPr/>
      </p:nvGrpSpPr>
      <p:grpSpPr>
        <a:xfrm>
          <a:off x="0" y="0"/>
          <a:ext cx="0" cy="0"/>
          <a:chOff x="0" y="0"/>
          <a:chExt cx="0" cy="0"/>
        </a:xfrm>
      </p:grpSpPr>
      <p:sp>
        <p:nvSpPr>
          <p:cNvPr id="343" name="Google Shape;343;p44"/>
          <p:cNvSpPr txBox="1"/>
          <p:nvPr>
            <p:ph type="title" idx="4294967295"/>
          </p:nvPr>
        </p:nvSpPr>
        <p:spPr>
          <a:xfrm>
            <a:off x="457200" y="214313"/>
            <a:ext cx="80518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I/O Subsystem</a:t>
            </a:r>
            <a:endParaRPr lang="en-US"/>
          </a:p>
        </p:txBody>
      </p:sp>
      <p:sp>
        <p:nvSpPr>
          <p:cNvPr id="344" name="Google Shape;344;p44"/>
          <p:cNvSpPr txBox="1"/>
          <p:nvPr>
            <p:ph type="body" idx="4294967295"/>
          </p:nvPr>
        </p:nvSpPr>
        <p:spPr>
          <a:xfrm>
            <a:off x="822325" y="1169988"/>
            <a:ext cx="7686675"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One purpose of OS is to hide peculiarities of hardware devices from the user</a:t>
            </a:r>
            <a:endParaRPr lang="en-US"/>
          </a:p>
          <a:p>
            <a:pPr marL="342900" lvl="0" indent="-342900" algn="l" rtl="0">
              <a:spcBef>
                <a:spcPts val="630"/>
              </a:spcBef>
              <a:spcAft>
                <a:spcPts val="0"/>
              </a:spcAft>
              <a:buSzPts val="1980"/>
              <a:buChar char="▪"/>
            </a:pPr>
            <a:r>
              <a:rPr lang="en-US"/>
              <a:t>I/O subsystem responsible for</a:t>
            </a:r>
            <a:endParaRPr lang="en-US"/>
          </a:p>
          <a:p>
            <a:pPr marL="742950" lvl="1" indent="-285750" algn="l" rtl="0">
              <a:spcBef>
                <a:spcPts val="630"/>
              </a:spcBef>
              <a:spcAft>
                <a:spcPts val="0"/>
              </a:spcAft>
              <a:buSzPts val="1980"/>
              <a:buChar char="•"/>
            </a:pPr>
            <a:r>
              <a:rPr lang="en-US"/>
              <a:t>Memory management of I/O including buffering (storing data temporarily while it is being transferred), caching (storing parts of data in faster storage for performance), spooling (the overlapping of output of one job with input of other jobs)</a:t>
            </a:r>
            <a:endParaRPr lang="en-US"/>
          </a:p>
          <a:p>
            <a:pPr marL="742950" lvl="1" indent="-285750" algn="l" rtl="0">
              <a:spcBef>
                <a:spcPts val="630"/>
              </a:spcBef>
              <a:spcAft>
                <a:spcPts val="0"/>
              </a:spcAft>
              <a:buSzPts val="1980"/>
              <a:buChar char="•"/>
            </a:pPr>
            <a:r>
              <a:rPr lang="en-US"/>
              <a:t>General device-driver interface</a:t>
            </a:r>
            <a:endParaRPr lang="en-US"/>
          </a:p>
          <a:p>
            <a:pPr marL="742950" lvl="1" indent="-285750" algn="l" rtl="0">
              <a:spcBef>
                <a:spcPts val="630"/>
              </a:spcBef>
              <a:spcAft>
                <a:spcPts val="0"/>
              </a:spcAft>
              <a:buSzPts val="1980"/>
              <a:buChar char="•"/>
            </a:pPr>
            <a:r>
              <a:rPr lang="en-US"/>
              <a:t>Drivers for specific hardware devices</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348" name="Shape 348"/>
        <p:cNvGrpSpPr/>
        <p:nvPr/>
      </p:nvGrpSpPr>
      <p:grpSpPr>
        <a:xfrm>
          <a:off x="0" y="0"/>
          <a:ext cx="0" cy="0"/>
          <a:chOff x="0" y="0"/>
          <a:chExt cx="0" cy="0"/>
        </a:xfrm>
      </p:grpSpPr>
      <p:sp>
        <p:nvSpPr>
          <p:cNvPr id="349" name="Google Shape;349;p45"/>
          <p:cNvSpPr txBox="1"/>
          <p:nvPr>
            <p:ph type="title" idx="4294967295"/>
          </p:nvPr>
        </p:nvSpPr>
        <p:spPr>
          <a:xfrm>
            <a:off x="1022350" y="220663"/>
            <a:ext cx="75152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Protection and Security</a:t>
            </a:r>
            <a:endParaRPr lang="en-US"/>
          </a:p>
        </p:txBody>
      </p:sp>
      <p:sp>
        <p:nvSpPr>
          <p:cNvPr id="350" name="Google Shape;350;p45"/>
          <p:cNvSpPr txBox="1"/>
          <p:nvPr>
            <p:ph type="body" idx="4294967295"/>
          </p:nvPr>
        </p:nvSpPr>
        <p:spPr>
          <a:xfrm>
            <a:off x="806450" y="1233488"/>
            <a:ext cx="7648575" cy="5183187"/>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Protection</a:t>
            </a:r>
            <a:r>
              <a:rPr lang="en-US" b="1">
                <a:solidFill>
                  <a:srgbClr val="3366FF"/>
                </a:solidFill>
              </a:rPr>
              <a:t> </a:t>
            </a:r>
            <a:r>
              <a:rPr lang="en-US"/>
              <a:t>– any mechanism for controlling access of processes or users to resources defined by the OS</a:t>
            </a:r>
            <a:endParaRPr sz="800"/>
          </a:p>
          <a:p>
            <a:pPr marL="342900" lvl="0" indent="-342900" algn="l" rtl="0">
              <a:lnSpc>
                <a:spcPct val="90000"/>
              </a:lnSpc>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Security</a:t>
            </a:r>
            <a:r>
              <a:rPr lang="en-US" b="1">
                <a:solidFill>
                  <a:srgbClr val="3366FF"/>
                </a:solidFill>
              </a:rPr>
              <a:t> </a:t>
            </a:r>
            <a:r>
              <a:rPr lang="en-US"/>
              <a:t>– defense of the system against internal and external attacks</a:t>
            </a:r>
            <a:endParaRPr lang="en-US"/>
          </a:p>
          <a:p>
            <a:pPr marL="742950" lvl="1" indent="-285750" algn="l" rtl="0">
              <a:lnSpc>
                <a:spcPct val="90000"/>
              </a:lnSpc>
              <a:spcBef>
                <a:spcPts val="630"/>
              </a:spcBef>
              <a:spcAft>
                <a:spcPts val="0"/>
              </a:spcAft>
              <a:buSzPts val="1980"/>
              <a:buChar char="•"/>
            </a:pPr>
            <a:r>
              <a:rPr lang="en-US"/>
              <a:t>Huge range, including denial-of-service, worms, viruses, identity theft, theft of service</a:t>
            </a:r>
            <a:endParaRPr sz="800"/>
          </a:p>
          <a:p>
            <a:pPr marL="342900" lvl="0" indent="-342900" algn="l" rtl="0">
              <a:lnSpc>
                <a:spcPct val="90000"/>
              </a:lnSpc>
              <a:spcBef>
                <a:spcPts val="630"/>
              </a:spcBef>
              <a:spcAft>
                <a:spcPts val="0"/>
              </a:spcAft>
              <a:buSzPts val="1980"/>
              <a:buChar char="▪"/>
            </a:pPr>
            <a:r>
              <a:rPr lang="en-US"/>
              <a:t>Systems generally first distinguish among users, to determine who can do what</a:t>
            </a:r>
            <a:endParaRPr lang="en-US"/>
          </a:p>
          <a:p>
            <a:pPr marL="742950" lvl="1" indent="-285750" algn="l" rtl="0">
              <a:lnSpc>
                <a:spcPct val="90000"/>
              </a:lnSpc>
              <a:spcBef>
                <a:spcPts val="630"/>
              </a:spcBef>
              <a:spcAft>
                <a:spcPts val="0"/>
              </a:spcAft>
              <a:buSzPts val="1980"/>
              <a:buChar char="•"/>
            </a:pPr>
            <a:r>
              <a:rPr lang="en-US"/>
              <a:t>User identities (</a:t>
            </a:r>
            <a:r>
              <a:rPr lang="en-US" b="1">
                <a:solidFill>
                  <a:srgbClr val="006699"/>
                </a:solidFill>
                <a:latin typeface="Arial" panose="020B0604020202020204"/>
                <a:ea typeface="Arial" panose="020B0604020202020204"/>
                <a:cs typeface="Arial" panose="020B0604020202020204"/>
                <a:sym typeface="Arial" panose="020B0604020202020204"/>
              </a:rPr>
              <a:t>user IDs</a:t>
            </a:r>
            <a:r>
              <a:rPr lang="en-US"/>
              <a:t>, security IDs) include name and associated number, one per user</a:t>
            </a:r>
            <a:endParaRPr lang="en-US"/>
          </a:p>
          <a:p>
            <a:pPr marL="742950" lvl="1" indent="-285750" algn="l" rtl="0">
              <a:lnSpc>
                <a:spcPct val="90000"/>
              </a:lnSpc>
              <a:spcBef>
                <a:spcPts val="630"/>
              </a:spcBef>
              <a:spcAft>
                <a:spcPts val="0"/>
              </a:spcAft>
              <a:buSzPts val="1980"/>
              <a:buChar char="•"/>
            </a:pPr>
            <a:r>
              <a:rPr lang="en-US"/>
              <a:t>User ID then associated with all files, processes of that user to determine access control</a:t>
            </a:r>
            <a:endParaRPr lang="en-US"/>
          </a:p>
          <a:p>
            <a:pPr marL="742950" lvl="1" indent="-285750" algn="l" rtl="0">
              <a:lnSpc>
                <a:spcPct val="90000"/>
              </a:lnSpc>
              <a:spcBef>
                <a:spcPts val="630"/>
              </a:spcBef>
              <a:spcAft>
                <a:spcPts val="0"/>
              </a:spcAft>
              <a:buSzPts val="1980"/>
              <a:buChar char="•"/>
            </a:pPr>
            <a:r>
              <a:rPr lang="en-US"/>
              <a:t>Group identifier (</a:t>
            </a:r>
            <a:r>
              <a:rPr lang="en-US" b="1">
                <a:solidFill>
                  <a:srgbClr val="006699"/>
                </a:solidFill>
                <a:latin typeface="Arial" panose="020B0604020202020204"/>
                <a:ea typeface="Arial" panose="020B0604020202020204"/>
                <a:cs typeface="Arial" panose="020B0604020202020204"/>
                <a:sym typeface="Arial" panose="020B0604020202020204"/>
              </a:rPr>
              <a:t>group ID</a:t>
            </a:r>
            <a:r>
              <a:rPr lang="en-US"/>
              <a:t>) allows set of users to be defined and controls managed, then also associated with each process, file</a:t>
            </a:r>
            <a:endParaRPr lang="en-US"/>
          </a:p>
          <a:p>
            <a:pPr marL="742950" lvl="1" indent="-285750" algn="l" rtl="0">
              <a:lnSpc>
                <a:spcPct val="90000"/>
              </a:lnSpc>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Privilege escalation </a:t>
            </a:r>
            <a:r>
              <a:rPr lang="en-US"/>
              <a:t>allows user to change to effective ID with more rights</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354" name="Shape 354"/>
        <p:cNvGrpSpPr/>
        <p:nvPr/>
      </p:nvGrpSpPr>
      <p:grpSpPr>
        <a:xfrm>
          <a:off x="0" y="0"/>
          <a:ext cx="0" cy="0"/>
          <a:chOff x="0" y="0"/>
          <a:chExt cx="0" cy="0"/>
        </a:xfrm>
      </p:grpSpPr>
      <p:sp>
        <p:nvSpPr>
          <p:cNvPr id="355" name="Google Shape;355;p46"/>
          <p:cNvSpPr txBox="1"/>
          <p:nvPr>
            <p:ph type="title" idx="4294967295"/>
          </p:nvPr>
        </p:nvSpPr>
        <p:spPr>
          <a:xfrm>
            <a:off x="1268413" y="204788"/>
            <a:ext cx="71945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Virtualization</a:t>
            </a:r>
            <a:endParaRPr lang="en-US"/>
          </a:p>
        </p:txBody>
      </p:sp>
      <p:sp>
        <p:nvSpPr>
          <p:cNvPr id="356" name="Google Shape;356;p46"/>
          <p:cNvSpPr txBox="1"/>
          <p:nvPr>
            <p:ph type="body" idx="4294967295"/>
          </p:nvPr>
        </p:nvSpPr>
        <p:spPr>
          <a:xfrm>
            <a:off x="806450" y="1233488"/>
            <a:ext cx="774065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Allows operating systems to run applications within other OSes</a:t>
            </a:r>
            <a:endParaRPr lang="en-US"/>
          </a:p>
          <a:p>
            <a:pPr marL="742950" lvl="1" indent="-285750" algn="l" rtl="0">
              <a:spcBef>
                <a:spcPts val="630"/>
              </a:spcBef>
              <a:spcAft>
                <a:spcPts val="0"/>
              </a:spcAft>
              <a:buSzPts val="1980"/>
              <a:buChar char="•"/>
            </a:pPr>
            <a:r>
              <a:rPr lang="en-US"/>
              <a:t>Vast and growing industry</a:t>
            </a:r>
            <a:endParaRPr sz="800"/>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Emulation</a:t>
            </a:r>
            <a:r>
              <a:rPr lang="en-US"/>
              <a:t> used when source CPU type different from target type (i.e. PowerPC to Intel x86)</a:t>
            </a:r>
            <a:endParaRPr lang="en-US"/>
          </a:p>
          <a:p>
            <a:pPr marL="742950" lvl="1" indent="-285750" algn="l" rtl="0">
              <a:spcBef>
                <a:spcPts val="630"/>
              </a:spcBef>
              <a:spcAft>
                <a:spcPts val="0"/>
              </a:spcAft>
              <a:buSzPts val="1980"/>
              <a:buChar char="•"/>
            </a:pPr>
            <a:r>
              <a:rPr lang="en-US"/>
              <a:t>Generally slowest method</a:t>
            </a:r>
            <a:endParaRPr lang="en-US"/>
          </a:p>
          <a:p>
            <a:pPr marL="742950" lvl="1" indent="-285750" algn="l" rtl="0">
              <a:spcBef>
                <a:spcPts val="630"/>
              </a:spcBef>
              <a:spcAft>
                <a:spcPts val="0"/>
              </a:spcAft>
              <a:buSzPts val="1980"/>
              <a:buChar char="•"/>
            </a:pPr>
            <a:r>
              <a:rPr lang="en-US"/>
              <a:t>When computer language not compiled to native code – </a:t>
            </a:r>
            <a:r>
              <a:rPr lang="en-US" b="1">
                <a:solidFill>
                  <a:srgbClr val="006699"/>
                </a:solidFill>
                <a:latin typeface="Arial" panose="020B0604020202020204"/>
                <a:ea typeface="Arial" panose="020B0604020202020204"/>
                <a:cs typeface="Arial" panose="020B0604020202020204"/>
                <a:sym typeface="Arial" panose="020B0604020202020204"/>
              </a:rPr>
              <a:t>Interpretation</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Virtualization</a:t>
            </a:r>
            <a:r>
              <a:rPr lang="en-US"/>
              <a:t> – OS natively compiled for CPU, running </a:t>
            </a:r>
            <a:r>
              <a:rPr lang="en-US" b="1">
                <a:solidFill>
                  <a:srgbClr val="006699"/>
                </a:solidFill>
                <a:latin typeface="Arial" panose="020B0604020202020204"/>
                <a:ea typeface="Arial" panose="020B0604020202020204"/>
                <a:cs typeface="Arial" panose="020B0604020202020204"/>
                <a:sym typeface="Arial" panose="020B0604020202020204"/>
              </a:rPr>
              <a:t>guest</a:t>
            </a:r>
            <a:r>
              <a:rPr lang="en-US"/>
              <a:t> OSes  also natively compiled </a:t>
            </a:r>
            <a:endParaRPr lang="en-US"/>
          </a:p>
          <a:p>
            <a:pPr marL="742950" lvl="1" indent="-285750" algn="l" rtl="0">
              <a:spcBef>
                <a:spcPts val="630"/>
              </a:spcBef>
              <a:spcAft>
                <a:spcPts val="0"/>
              </a:spcAft>
              <a:buSzPts val="1980"/>
              <a:buChar char="•"/>
            </a:pPr>
            <a:r>
              <a:rPr lang="en-US"/>
              <a:t>Consider VMware running WinXP guests, each running applications, all on native WinXP </a:t>
            </a:r>
            <a:r>
              <a:rPr lang="en-US" b="1">
                <a:solidFill>
                  <a:srgbClr val="006699"/>
                </a:solidFill>
                <a:latin typeface="Arial" panose="020B0604020202020204"/>
                <a:ea typeface="Arial" panose="020B0604020202020204"/>
                <a:cs typeface="Arial" panose="020B0604020202020204"/>
                <a:sym typeface="Arial" panose="020B0604020202020204"/>
              </a:rPr>
              <a:t>host </a:t>
            </a:r>
            <a:r>
              <a:rPr lang="en-US"/>
              <a:t>OS</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VMM</a:t>
            </a:r>
            <a:r>
              <a:rPr lang="en-US"/>
              <a:t> (virtual machine Manager) provides virtualization services</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360" name="Shape 360"/>
        <p:cNvGrpSpPr/>
        <p:nvPr/>
      </p:nvGrpSpPr>
      <p:grpSpPr>
        <a:xfrm>
          <a:off x="0" y="0"/>
          <a:ext cx="0" cy="0"/>
          <a:chOff x="0" y="0"/>
          <a:chExt cx="0" cy="0"/>
        </a:xfrm>
      </p:grpSpPr>
      <p:sp>
        <p:nvSpPr>
          <p:cNvPr id="361" name="Google Shape;361;p47"/>
          <p:cNvSpPr txBox="1"/>
          <p:nvPr>
            <p:ph type="title" idx="4294967295"/>
          </p:nvPr>
        </p:nvSpPr>
        <p:spPr>
          <a:xfrm>
            <a:off x="1117600" y="206375"/>
            <a:ext cx="740092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Virtualization (cont.)</a:t>
            </a:r>
            <a:endParaRPr lang="en-US"/>
          </a:p>
        </p:txBody>
      </p:sp>
      <p:sp>
        <p:nvSpPr>
          <p:cNvPr id="362" name="Google Shape;362;p47"/>
          <p:cNvSpPr txBox="1"/>
          <p:nvPr>
            <p:ph type="body" idx="4294967295"/>
          </p:nvPr>
        </p:nvSpPr>
        <p:spPr>
          <a:xfrm>
            <a:off x="806450" y="1233488"/>
            <a:ext cx="7712075"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Use cases involve laptops and desktops running multiple OSes for exploration or compatibility</a:t>
            </a:r>
            <a:endParaRPr lang="en-US"/>
          </a:p>
          <a:p>
            <a:pPr marL="742950" lvl="1" indent="-285750" algn="l" rtl="0">
              <a:spcBef>
                <a:spcPts val="630"/>
              </a:spcBef>
              <a:spcAft>
                <a:spcPts val="0"/>
              </a:spcAft>
              <a:buSzPts val="1980"/>
              <a:buChar char="•"/>
            </a:pPr>
            <a:r>
              <a:rPr lang="en-US"/>
              <a:t>Apple laptop running Mac OS X host, Windows as a guest</a:t>
            </a:r>
            <a:endParaRPr lang="en-US"/>
          </a:p>
          <a:p>
            <a:pPr marL="742950" lvl="1" indent="-285750" algn="l" rtl="0">
              <a:spcBef>
                <a:spcPts val="630"/>
              </a:spcBef>
              <a:spcAft>
                <a:spcPts val="0"/>
              </a:spcAft>
              <a:buSzPts val="1980"/>
              <a:buChar char="•"/>
            </a:pPr>
            <a:r>
              <a:rPr lang="en-US"/>
              <a:t>Developing apps for multiple OSes without having multiple systems</a:t>
            </a:r>
            <a:endParaRPr lang="en-US"/>
          </a:p>
          <a:p>
            <a:pPr marL="742950" lvl="1" indent="-285750" algn="l" rtl="0">
              <a:spcBef>
                <a:spcPts val="630"/>
              </a:spcBef>
              <a:spcAft>
                <a:spcPts val="0"/>
              </a:spcAft>
              <a:buSzPts val="1980"/>
              <a:buChar char="•"/>
            </a:pPr>
            <a:r>
              <a:rPr lang="en-US"/>
              <a:t>Quality assurance testing applications without having multiple systems</a:t>
            </a:r>
            <a:endParaRPr lang="en-US"/>
          </a:p>
          <a:p>
            <a:pPr marL="742950" lvl="1" indent="-285750" algn="l" rtl="0">
              <a:spcBef>
                <a:spcPts val="630"/>
              </a:spcBef>
              <a:spcAft>
                <a:spcPts val="0"/>
              </a:spcAft>
              <a:buSzPts val="1980"/>
              <a:buChar char="•"/>
            </a:pPr>
            <a:r>
              <a:rPr lang="en-US"/>
              <a:t>Executing and managing compute environments within data centers</a:t>
            </a:r>
            <a:endParaRPr lang="en-US"/>
          </a:p>
          <a:p>
            <a:pPr marL="342900" lvl="0" indent="-342900" algn="l" rtl="0">
              <a:spcBef>
                <a:spcPts val="630"/>
              </a:spcBef>
              <a:spcAft>
                <a:spcPts val="0"/>
              </a:spcAft>
              <a:buSzPts val="1980"/>
              <a:buChar char="▪"/>
            </a:pPr>
            <a:r>
              <a:rPr lang="en-US"/>
              <a:t>VMM can run natively, in which case they are also the host</a:t>
            </a:r>
            <a:endParaRPr lang="en-US"/>
          </a:p>
          <a:p>
            <a:pPr marL="742950" lvl="1" indent="-285750" algn="l" rtl="0">
              <a:spcBef>
                <a:spcPts val="630"/>
              </a:spcBef>
              <a:spcAft>
                <a:spcPts val="0"/>
              </a:spcAft>
              <a:buSzPts val="1980"/>
              <a:buChar char="•"/>
            </a:pPr>
            <a:r>
              <a:rPr lang="en-US"/>
              <a:t>There is no general-purpose host then (VMware ESX and Citrix XenServer)</a:t>
            </a:r>
            <a:endParaRPr lang="en-US"/>
          </a:p>
          <a:p>
            <a:pPr marL="1085850" lvl="2" indent="-142875" algn="l" rtl="0">
              <a:spcBef>
                <a:spcPts val="630"/>
              </a:spcBef>
              <a:spcAft>
                <a:spcPts val="0"/>
              </a:spcAft>
              <a:buSzPts val="1350"/>
              <a:buNone/>
            </a:p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366" name="Shape 366"/>
        <p:cNvGrpSpPr/>
        <p:nvPr/>
      </p:nvGrpSpPr>
      <p:grpSpPr>
        <a:xfrm>
          <a:off x="0" y="0"/>
          <a:ext cx="0" cy="0"/>
          <a:chOff x="0" y="0"/>
          <a:chExt cx="0" cy="0"/>
        </a:xfrm>
      </p:grpSpPr>
      <p:sp>
        <p:nvSpPr>
          <p:cNvPr id="367" name="Google Shape;367;p48"/>
          <p:cNvSpPr txBox="1"/>
          <p:nvPr>
            <p:ph type="title" idx="4294967295"/>
          </p:nvPr>
        </p:nvSpPr>
        <p:spPr>
          <a:xfrm>
            <a:off x="1120775" y="192088"/>
            <a:ext cx="7645400" cy="6016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000"/>
              <a:t>Computing Environments - Virtualization</a:t>
            </a:r>
            <a:endParaRPr lang="en-US" sz="3000"/>
          </a:p>
        </p:txBody>
      </p:sp>
      <p:pic>
        <p:nvPicPr>
          <p:cNvPr id="368" name="Google Shape;368;p48" descr="1_20.pdf"/>
          <p:cNvPicPr preferRelativeResize="0"/>
          <p:nvPr/>
        </p:nvPicPr>
        <p:blipFill rotWithShape="1">
          <a:blip r:embed="rId1"/>
          <a:srcRect/>
          <a:stretch>
            <a:fillRect/>
          </a:stretch>
        </p:blipFill>
        <p:spPr>
          <a:xfrm>
            <a:off x="1408113" y="1554163"/>
            <a:ext cx="6396037" cy="433863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372" name="Shape 372"/>
        <p:cNvGrpSpPr/>
        <p:nvPr/>
      </p:nvGrpSpPr>
      <p:grpSpPr>
        <a:xfrm>
          <a:off x="0" y="0"/>
          <a:ext cx="0" cy="0"/>
          <a:chOff x="0" y="0"/>
          <a:chExt cx="0" cy="0"/>
        </a:xfrm>
      </p:grpSpPr>
      <p:sp>
        <p:nvSpPr>
          <p:cNvPr id="373" name="Google Shape;373;p49"/>
          <p:cNvSpPr txBox="1"/>
          <p:nvPr>
            <p:ph type="title" idx="4294967295"/>
          </p:nvPr>
        </p:nvSpPr>
        <p:spPr>
          <a:xfrm>
            <a:off x="912813" y="207963"/>
            <a:ext cx="765333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Distributed Systems</a:t>
            </a:r>
            <a:endParaRPr lang="en-US"/>
          </a:p>
        </p:txBody>
      </p:sp>
      <p:sp>
        <p:nvSpPr>
          <p:cNvPr id="374" name="Google Shape;374;p49"/>
          <p:cNvSpPr txBox="1"/>
          <p:nvPr>
            <p:ph type="body" idx="4294967295"/>
          </p:nvPr>
        </p:nvSpPr>
        <p:spPr>
          <a:xfrm>
            <a:off x="838200" y="1092200"/>
            <a:ext cx="7653338"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Collection of separate, possibly heterogeneous, systems networked together</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Network</a:t>
            </a:r>
            <a:r>
              <a:rPr lang="en-US"/>
              <a:t> is a communications path, </a:t>
            </a:r>
            <a:r>
              <a:rPr lang="en-US" b="1">
                <a:solidFill>
                  <a:srgbClr val="006699"/>
                </a:solidFill>
                <a:latin typeface="Arial" panose="020B0604020202020204"/>
                <a:ea typeface="Arial" panose="020B0604020202020204"/>
                <a:cs typeface="Arial" panose="020B0604020202020204"/>
                <a:sym typeface="Arial" panose="020B0604020202020204"/>
              </a:rPr>
              <a:t>TCP/IP </a:t>
            </a:r>
            <a:r>
              <a:rPr lang="en-US"/>
              <a:t>most common</a:t>
            </a:r>
            <a:endParaRPr lang="en-US"/>
          </a:p>
          <a:p>
            <a:pPr marL="1085850" lvl="2" indent="-228600" algn="l" rtl="0">
              <a:spcBef>
                <a:spcPts val="630"/>
              </a:spcBef>
              <a:spcAft>
                <a:spcPts val="0"/>
              </a:spcAft>
              <a:buSzPts val="1350"/>
              <a:buChar char="4"/>
            </a:pPr>
            <a:r>
              <a:rPr lang="en-US" b="1">
                <a:solidFill>
                  <a:srgbClr val="006699"/>
                </a:solidFill>
                <a:latin typeface="Arial" panose="020B0604020202020204"/>
                <a:ea typeface="Arial" panose="020B0604020202020204"/>
                <a:cs typeface="Arial" panose="020B0604020202020204"/>
                <a:sym typeface="Arial" panose="020B0604020202020204"/>
              </a:rPr>
              <a:t>Local Area Network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LAN</a:t>
            </a:r>
            <a:r>
              <a:rPr lang="en-US"/>
              <a:t>)</a:t>
            </a:r>
            <a:endParaRPr lang="en-US"/>
          </a:p>
          <a:p>
            <a:pPr marL="1085850" lvl="2" indent="-228600" algn="l" rtl="0">
              <a:spcBef>
                <a:spcPts val="630"/>
              </a:spcBef>
              <a:spcAft>
                <a:spcPts val="0"/>
              </a:spcAft>
              <a:buSzPts val="1350"/>
              <a:buChar char="4"/>
            </a:pPr>
            <a:r>
              <a:rPr lang="en-US" b="1">
                <a:solidFill>
                  <a:srgbClr val="006699"/>
                </a:solidFill>
                <a:latin typeface="Arial" panose="020B0604020202020204"/>
                <a:ea typeface="Arial" panose="020B0604020202020204"/>
                <a:cs typeface="Arial" panose="020B0604020202020204"/>
                <a:sym typeface="Arial" panose="020B0604020202020204"/>
              </a:rPr>
              <a:t>Wide Area Network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WAN</a:t>
            </a:r>
            <a:r>
              <a:rPr lang="en-US"/>
              <a:t>)</a:t>
            </a:r>
            <a:endParaRPr lang="en-US"/>
          </a:p>
          <a:p>
            <a:pPr marL="1085850" lvl="2" indent="-228600" algn="l" rtl="0">
              <a:spcBef>
                <a:spcPts val="630"/>
              </a:spcBef>
              <a:spcAft>
                <a:spcPts val="0"/>
              </a:spcAft>
              <a:buSzPts val="1350"/>
              <a:buChar char="4"/>
            </a:pPr>
            <a:r>
              <a:rPr lang="en-US" b="1">
                <a:solidFill>
                  <a:srgbClr val="006699"/>
                </a:solidFill>
                <a:latin typeface="Arial" panose="020B0604020202020204"/>
                <a:ea typeface="Arial" panose="020B0604020202020204"/>
                <a:cs typeface="Arial" panose="020B0604020202020204"/>
                <a:sym typeface="Arial" panose="020B0604020202020204"/>
              </a:rPr>
              <a:t>Metropolitan Area Network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MAN</a:t>
            </a:r>
            <a:r>
              <a:rPr lang="en-US"/>
              <a:t>)</a:t>
            </a:r>
            <a:endParaRPr lang="en-US"/>
          </a:p>
          <a:p>
            <a:pPr marL="1085850" lvl="2" indent="-228600" algn="l" rtl="0">
              <a:spcBef>
                <a:spcPts val="630"/>
              </a:spcBef>
              <a:spcAft>
                <a:spcPts val="0"/>
              </a:spcAft>
              <a:buSzPts val="1350"/>
              <a:buChar char="4"/>
            </a:pPr>
            <a:r>
              <a:rPr lang="en-US" b="1">
                <a:solidFill>
                  <a:srgbClr val="006699"/>
                </a:solidFill>
                <a:latin typeface="Arial" panose="020B0604020202020204"/>
                <a:ea typeface="Arial" panose="020B0604020202020204"/>
                <a:cs typeface="Arial" panose="020B0604020202020204"/>
                <a:sym typeface="Arial" panose="020B0604020202020204"/>
              </a:rPr>
              <a:t>Personal Area Network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PAN</a:t>
            </a:r>
            <a:r>
              <a:rPr lang="en-US"/>
              <a:t>)</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Network Operating System </a:t>
            </a:r>
            <a:r>
              <a:rPr lang="en-US"/>
              <a:t>provides features between systems across network</a:t>
            </a:r>
            <a:endParaRPr lang="en-US"/>
          </a:p>
          <a:p>
            <a:pPr marL="742950" lvl="1" indent="-285750" algn="l" rtl="0">
              <a:spcBef>
                <a:spcPts val="630"/>
              </a:spcBef>
              <a:spcAft>
                <a:spcPts val="0"/>
              </a:spcAft>
              <a:buSzPts val="1980"/>
              <a:buChar char="•"/>
            </a:pPr>
            <a:r>
              <a:rPr lang="en-US"/>
              <a:t>Communication scheme allows systems to exchange messages</a:t>
            </a:r>
            <a:endParaRPr lang="en-US"/>
          </a:p>
          <a:p>
            <a:pPr marL="742950" lvl="1" indent="-285750" algn="l" rtl="0">
              <a:spcBef>
                <a:spcPts val="630"/>
              </a:spcBef>
              <a:spcAft>
                <a:spcPts val="0"/>
              </a:spcAft>
              <a:buSzPts val="1980"/>
              <a:buChar char="•"/>
            </a:pPr>
            <a:r>
              <a:rPr lang="en-US"/>
              <a:t>Illusion of a single system</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378" name="Shape 378"/>
        <p:cNvGrpSpPr/>
        <p:nvPr/>
      </p:nvGrpSpPr>
      <p:grpSpPr>
        <a:xfrm>
          <a:off x="0" y="0"/>
          <a:ext cx="0" cy="0"/>
          <a:chOff x="0" y="0"/>
          <a:chExt cx="0" cy="0"/>
        </a:xfrm>
      </p:grpSpPr>
      <p:sp>
        <p:nvSpPr>
          <p:cNvPr id="379" name="Google Shape;379;p50"/>
          <p:cNvSpPr txBox="1"/>
          <p:nvPr>
            <p:ph type="body" idx="4294967295"/>
          </p:nvPr>
        </p:nvSpPr>
        <p:spPr>
          <a:xfrm>
            <a:off x="1676400" y="2888119"/>
            <a:ext cx="6660776" cy="1030738"/>
          </a:xfrm>
          <a:prstGeom prst="rect">
            <a:avLst/>
          </a:prstGeom>
          <a:noFill/>
          <a:ln>
            <a:noFill/>
          </a:ln>
        </p:spPr>
        <p:txBody>
          <a:bodyPr spcFirstLastPara="1" wrap="square" lIns="91425" tIns="45700" rIns="91425" bIns="45700" anchor="t" anchorCtr="0">
            <a:noAutofit/>
          </a:bodyPr>
          <a:lstStyle/>
          <a:p>
            <a:pPr marL="457200" lvl="1" indent="0" algn="l" rtl="0">
              <a:spcBef>
                <a:spcPts val="0"/>
              </a:spcBef>
              <a:spcAft>
                <a:spcPts val="0"/>
              </a:spcAft>
              <a:buSzPts val="3520"/>
              <a:buNone/>
            </a:pPr>
            <a:r>
              <a:rPr lang="en-US" sz="3200" b="1">
                <a:solidFill>
                  <a:srgbClr val="006699"/>
                </a:solidFill>
                <a:latin typeface="Arial" panose="020B0604020202020204"/>
                <a:ea typeface="Arial" panose="020B0604020202020204"/>
                <a:cs typeface="Arial" panose="020B0604020202020204"/>
                <a:sym typeface="Arial" panose="020B0604020202020204"/>
              </a:rPr>
              <a:t>Computer System Architecture</a:t>
            </a:r>
            <a:endParaRPr lang="en-US" sz="3200" b="1">
              <a:solidFill>
                <a:srgbClr val="006699"/>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sp>
        <p:nvSpPr>
          <p:cNvPr id="384" name="Google Shape;384;p51"/>
          <p:cNvSpPr txBox="1"/>
          <p:nvPr>
            <p:ph type="title" idx="4294967295"/>
          </p:nvPr>
        </p:nvSpPr>
        <p:spPr>
          <a:xfrm>
            <a:off x="1100138" y="227013"/>
            <a:ext cx="7399337" cy="5588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Computer-System Architecture</a:t>
            </a:r>
            <a:endParaRPr lang="en-US"/>
          </a:p>
        </p:txBody>
      </p:sp>
      <p:sp>
        <p:nvSpPr>
          <p:cNvPr id="385" name="Google Shape;385;p51"/>
          <p:cNvSpPr txBox="1"/>
          <p:nvPr>
            <p:ph type="body" idx="4294967295"/>
          </p:nvPr>
        </p:nvSpPr>
        <p:spPr>
          <a:xfrm>
            <a:off x="806450" y="1233488"/>
            <a:ext cx="7693025" cy="48672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Most systems use a single general-purpose processor</a:t>
            </a:r>
            <a:endParaRPr lang="en-US"/>
          </a:p>
          <a:p>
            <a:pPr marL="742950" lvl="1" indent="-285750" algn="l" rtl="0">
              <a:spcBef>
                <a:spcPts val="630"/>
              </a:spcBef>
              <a:spcAft>
                <a:spcPts val="0"/>
              </a:spcAft>
              <a:buSzPts val="1980"/>
              <a:buChar char="•"/>
            </a:pPr>
            <a:r>
              <a:rPr lang="en-US"/>
              <a:t>Most systems have special-purpose processors as well</a:t>
            </a:r>
            <a:endParaRPr sz="800"/>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Multiprocessors</a:t>
            </a:r>
            <a:r>
              <a:rPr lang="en-US">
                <a:solidFill>
                  <a:srgbClr val="3366FF"/>
                </a:solidFill>
              </a:rPr>
              <a:t> </a:t>
            </a:r>
            <a:r>
              <a:rPr lang="en-US"/>
              <a:t>systems growing in use and importance</a:t>
            </a:r>
            <a:endParaRPr lang="en-US"/>
          </a:p>
          <a:p>
            <a:pPr marL="742950" lvl="1" indent="-285750" algn="l" rtl="0">
              <a:spcBef>
                <a:spcPts val="630"/>
              </a:spcBef>
              <a:spcAft>
                <a:spcPts val="0"/>
              </a:spcAft>
              <a:buSzPts val="1980"/>
              <a:buChar char="•"/>
            </a:pPr>
            <a:r>
              <a:rPr lang="en-US"/>
              <a:t>Also known as </a:t>
            </a:r>
            <a:r>
              <a:rPr lang="en-US" b="1">
                <a:solidFill>
                  <a:srgbClr val="006699"/>
                </a:solidFill>
                <a:latin typeface="Arial" panose="020B0604020202020204"/>
                <a:ea typeface="Arial" panose="020B0604020202020204"/>
                <a:cs typeface="Arial" panose="020B0604020202020204"/>
                <a:sym typeface="Arial" panose="020B0604020202020204"/>
              </a:rPr>
              <a:t>parallel systems</a:t>
            </a:r>
            <a:r>
              <a:rPr lang="en-US"/>
              <a:t>, </a:t>
            </a:r>
            <a:r>
              <a:rPr lang="en-US" b="1">
                <a:solidFill>
                  <a:srgbClr val="006699"/>
                </a:solidFill>
                <a:latin typeface="Arial" panose="020B0604020202020204"/>
                <a:ea typeface="Arial" panose="020B0604020202020204"/>
                <a:cs typeface="Arial" panose="020B0604020202020204"/>
                <a:sym typeface="Arial" panose="020B0604020202020204"/>
              </a:rPr>
              <a:t>tightly-coupled systems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a:t>Advantages include:</a:t>
            </a:r>
            <a:endParaRPr lang="en-US"/>
          </a:p>
          <a:p>
            <a:pPr marL="1200150" lvl="2" indent="-342900" algn="l" rtl="0">
              <a:spcBef>
                <a:spcPts val="630"/>
              </a:spcBef>
              <a:spcAft>
                <a:spcPts val="0"/>
              </a:spcAft>
              <a:buSzPts val="1350"/>
              <a:buFont typeface="Arial" panose="020B0604020202020204"/>
              <a:buAutoNum type="arabicPeriod"/>
            </a:pPr>
            <a:r>
              <a:rPr lang="en-US" b="1">
                <a:solidFill>
                  <a:srgbClr val="006699"/>
                </a:solidFill>
                <a:latin typeface="Arial" panose="020B0604020202020204"/>
                <a:ea typeface="Arial" panose="020B0604020202020204"/>
                <a:cs typeface="Arial" panose="020B0604020202020204"/>
                <a:sym typeface="Arial" panose="020B0604020202020204"/>
              </a:rPr>
              <a:t>Increased throughput</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1200150" lvl="2" indent="-342900" algn="l" rtl="0">
              <a:spcBef>
                <a:spcPts val="630"/>
              </a:spcBef>
              <a:spcAft>
                <a:spcPts val="0"/>
              </a:spcAft>
              <a:buSzPts val="1350"/>
              <a:buFont typeface="Arial" panose="020B0604020202020204"/>
              <a:buAutoNum type="arabicPeriod"/>
            </a:pPr>
            <a:r>
              <a:rPr lang="en-US" b="1">
                <a:solidFill>
                  <a:srgbClr val="006699"/>
                </a:solidFill>
                <a:latin typeface="Arial" panose="020B0604020202020204"/>
                <a:ea typeface="Arial" panose="020B0604020202020204"/>
                <a:cs typeface="Arial" panose="020B0604020202020204"/>
                <a:sym typeface="Arial" panose="020B0604020202020204"/>
              </a:rPr>
              <a:t>Economy of scale</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1200150" lvl="2" indent="-342900" algn="l" rtl="0">
              <a:spcBef>
                <a:spcPts val="630"/>
              </a:spcBef>
              <a:spcAft>
                <a:spcPts val="0"/>
              </a:spcAft>
              <a:buSzPts val="1350"/>
              <a:buFont typeface="Arial" panose="020B0604020202020204"/>
              <a:buAutoNum type="arabicPeriod"/>
            </a:pPr>
            <a:r>
              <a:rPr lang="en-US" b="1">
                <a:solidFill>
                  <a:srgbClr val="006699"/>
                </a:solidFill>
                <a:latin typeface="Arial" panose="020B0604020202020204"/>
                <a:ea typeface="Arial" panose="020B0604020202020204"/>
                <a:cs typeface="Arial" panose="020B0604020202020204"/>
                <a:sym typeface="Arial" panose="020B0604020202020204"/>
              </a:rPr>
              <a:t>Increased reliability </a:t>
            </a:r>
            <a:r>
              <a:rPr lang="en-US"/>
              <a:t>– graceful degradation or fault tolerance</a:t>
            </a:r>
            <a:endParaRPr lang="en-US"/>
          </a:p>
          <a:p>
            <a:pPr marL="742950" lvl="1" indent="-285750" algn="l" rtl="0">
              <a:spcBef>
                <a:spcPts val="630"/>
              </a:spcBef>
              <a:spcAft>
                <a:spcPts val="0"/>
              </a:spcAft>
              <a:buSzPts val="1980"/>
              <a:buChar char="•"/>
            </a:pPr>
            <a:r>
              <a:rPr lang="en-US"/>
              <a:t>Two types:</a:t>
            </a:r>
            <a:endParaRPr lang="en-US"/>
          </a:p>
          <a:p>
            <a:pPr marL="1200150" lvl="2" indent="-342900" algn="l" rtl="0">
              <a:spcBef>
                <a:spcPts val="630"/>
              </a:spcBef>
              <a:spcAft>
                <a:spcPts val="0"/>
              </a:spcAft>
              <a:buSzPts val="1350"/>
              <a:buFont typeface="Arial" panose="020B0604020202020204"/>
              <a:buAutoNum type="arabicPeriod"/>
            </a:pPr>
            <a:r>
              <a:rPr lang="en-US" b="1">
                <a:solidFill>
                  <a:srgbClr val="006699"/>
                </a:solidFill>
                <a:latin typeface="Arial" panose="020B0604020202020204"/>
                <a:ea typeface="Arial" panose="020B0604020202020204"/>
                <a:cs typeface="Arial" panose="020B0604020202020204"/>
                <a:sym typeface="Arial" panose="020B0604020202020204"/>
              </a:rPr>
              <a:t>Asymmetric Multiprocessing</a:t>
            </a:r>
            <a:r>
              <a:rPr lang="en-US" b="1">
                <a:solidFill>
                  <a:srgbClr val="3366FF"/>
                </a:solidFill>
              </a:rPr>
              <a:t> </a:t>
            </a:r>
            <a:r>
              <a:rPr lang="en-US"/>
              <a:t>– each processor is assigned a specie task.</a:t>
            </a:r>
            <a:endParaRPr lang="en-US"/>
          </a:p>
          <a:p>
            <a:pPr marL="1200150" lvl="2" indent="-342900" algn="l" rtl="0">
              <a:spcBef>
                <a:spcPts val="630"/>
              </a:spcBef>
              <a:spcAft>
                <a:spcPts val="0"/>
              </a:spcAft>
              <a:buSzPts val="1350"/>
              <a:buFont typeface="Arial" panose="020B0604020202020204"/>
              <a:buAutoNum type="arabicPeriod"/>
            </a:pPr>
            <a:r>
              <a:rPr lang="en-US" b="1">
                <a:solidFill>
                  <a:srgbClr val="006699"/>
                </a:solidFill>
                <a:latin typeface="Arial" panose="020B0604020202020204"/>
                <a:ea typeface="Arial" panose="020B0604020202020204"/>
                <a:cs typeface="Arial" panose="020B0604020202020204"/>
                <a:sym typeface="Arial" panose="020B0604020202020204"/>
              </a:rPr>
              <a:t>Symmetric Multiprocessing </a:t>
            </a:r>
            <a:r>
              <a:rPr lang="en-US"/>
              <a:t>– each processor performs all tasks</a:t>
            </a:r>
            <a:endParaRPr lang="en-US"/>
          </a:p>
          <a:p>
            <a:pPr marL="1200150" lvl="2" indent="-342900" algn="l" rtl="0">
              <a:spcBef>
                <a:spcPts val="630"/>
              </a:spcBef>
              <a:spcAft>
                <a:spcPts val="0"/>
              </a:spcAft>
              <a:buSzPts val="1350"/>
              <a:buFont typeface="Arimo"/>
              <a:buNone/>
            </a:pPr>
            <a:endParaRPr>
              <a:solidFill>
                <a:srgbClr val="3366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389" name="Shape 389"/>
        <p:cNvGrpSpPr/>
        <p:nvPr/>
      </p:nvGrpSpPr>
      <p:grpSpPr>
        <a:xfrm>
          <a:off x="0" y="0"/>
          <a:ext cx="0" cy="0"/>
          <a:chOff x="0" y="0"/>
          <a:chExt cx="0" cy="0"/>
        </a:xfrm>
      </p:grpSpPr>
      <p:sp>
        <p:nvSpPr>
          <p:cNvPr id="390" name="Google Shape;390;p52"/>
          <p:cNvSpPr txBox="1"/>
          <p:nvPr>
            <p:ph type="title" idx="4294967295"/>
          </p:nvPr>
        </p:nvSpPr>
        <p:spPr>
          <a:xfrm>
            <a:off x="939800" y="133350"/>
            <a:ext cx="8229600" cy="64135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000"/>
              <a:t>Symmetric Multiprocessing Architecture</a:t>
            </a:r>
            <a:endParaRPr lang="en-US" sz="3000"/>
          </a:p>
        </p:txBody>
      </p:sp>
      <p:pic>
        <p:nvPicPr>
          <p:cNvPr id="391" name="Google Shape;391;p52"/>
          <p:cNvPicPr preferRelativeResize="0"/>
          <p:nvPr/>
        </p:nvPicPr>
        <p:blipFill rotWithShape="1">
          <a:blip r:embed="rId1"/>
          <a:srcRect/>
          <a:stretch>
            <a:fillRect/>
          </a:stretch>
        </p:blipFill>
        <p:spPr>
          <a:xfrm>
            <a:off x="2166938" y="1822450"/>
            <a:ext cx="5051425" cy="382428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395" name="Shape 395"/>
        <p:cNvGrpSpPr/>
        <p:nvPr/>
      </p:nvGrpSpPr>
      <p:grpSpPr>
        <a:xfrm>
          <a:off x="0" y="0"/>
          <a:ext cx="0" cy="0"/>
          <a:chOff x="0" y="0"/>
          <a:chExt cx="0" cy="0"/>
        </a:xfrm>
      </p:grpSpPr>
      <p:sp>
        <p:nvSpPr>
          <p:cNvPr id="396" name="Google Shape;396;p53"/>
          <p:cNvSpPr txBox="1"/>
          <p:nvPr>
            <p:ph type="title"/>
          </p:nvPr>
        </p:nvSpPr>
        <p:spPr>
          <a:xfrm>
            <a:off x="457200" y="204788"/>
            <a:ext cx="80708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Dual-Core Design</a:t>
            </a:r>
            <a:endParaRPr lang="en-US"/>
          </a:p>
        </p:txBody>
      </p:sp>
      <p:sp>
        <p:nvSpPr>
          <p:cNvPr id="397" name="Google Shape;397;p53"/>
          <p:cNvSpPr txBox="1"/>
          <p:nvPr>
            <p:ph type="body" idx="1"/>
          </p:nvPr>
        </p:nvSpPr>
        <p:spPr>
          <a:xfrm>
            <a:off x="854075" y="1108076"/>
            <a:ext cx="6921313" cy="121677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sz="1800"/>
              <a:t>Multi-chip and </a:t>
            </a:r>
            <a:r>
              <a:rPr lang="en-US" sz="1800" b="1">
                <a:solidFill>
                  <a:srgbClr val="006699"/>
                </a:solidFill>
                <a:latin typeface="Arial" panose="020B0604020202020204"/>
                <a:ea typeface="Arial" panose="020B0604020202020204"/>
                <a:cs typeface="Arial" panose="020B0604020202020204"/>
                <a:sym typeface="Arial" panose="020B0604020202020204"/>
              </a:rPr>
              <a:t>multicore</a:t>
            </a:r>
            <a:endParaRPr lang="en-US" sz="1800"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sz="1800"/>
              <a:t>Systems containing all  chips</a:t>
            </a:r>
            <a:endParaRPr sz="1800" b="1">
              <a:solidFill>
                <a:srgbClr val="3366FF"/>
              </a:solidFill>
            </a:endParaRPr>
          </a:p>
          <a:p>
            <a:pPr marL="742950" lvl="1" indent="-285750" algn="l" rtl="0">
              <a:spcBef>
                <a:spcPts val="630"/>
              </a:spcBef>
              <a:spcAft>
                <a:spcPts val="0"/>
              </a:spcAft>
              <a:buSzPts val="1980"/>
              <a:buChar char="•"/>
            </a:pPr>
            <a:r>
              <a:rPr lang="en-US" sz="1800"/>
              <a:t>Chassis containing multiple separate systems</a:t>
            </a:r>
            <a:endParaRPr lang="en-US" sz="1800"/>
          </a:p>
          <a:p>
            <a:pPr marL="742950" lvl="1" indent="-118110" algn="l" rtl="0">
              <a:spcBef>
                <a:spcPts val="840"/>
              </a:spcBef>
              <a:spcAft>
                <a:spcPts val="0"/>
              </a:spcAft>
              <a:buSzPts val="2640"/>
              <a:buNone/>
            </a:pPr>
          </a:p>
        </p:txBody>
      </p:sp>
      <p:pic>
        <p:nvPicPr>
          <p:cNvPr id="398" name="Google Shape;398;p53"/>
          <p:cNvPicPr preferRelativeResize="0"/>
          <p:nvPr/>
        </p:nvPicPr>
        <p:blipFill rotWithShape="1">
          <a:blip r:embed="rId1"/>
          <a:srcRect/>
          <a:stretch>
            <a:fillRect/>
          </a:stretch>
        </p:blipFill>
        <p:spPr>
          <a:xfrm>
            <a:off x="2471056" y="2388259"/>
            <a:ext cx="4039281" cy="360114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402" name="Shape 402"/>
        <p:cNvGrpSpPr/>
        <p:nvPr/>
      </p:nvGrpSpPr>
      <p:grpSpPr>
        <a:xfrm>
          <a:off x="0" y="0"/>
          <a:ext cx="0" cy="0"/>
          <a:chOff x="0" y="0"/>
          <a:chExt cx="0" cy="0"/>
        </a:xfrm>
      </p:grpSpPr>
      <p:sp>
        <p:nvSpPr>
          <p:cNvPr id="403" name="Google Shape;403;p54"/>
          <p:cNvSpPr txBox="1"/>
          <p:nvPr>
            <p:ph type="title"/>
          </p:nvPr>
        </p:nvSpPr>
        <p:spPr>
          <a:xfrm>
            <a:off x="923925" y="84138"/>
            <a:ext cx="8035925" cy="70961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Non-Uniform Memory Access System</a:t>
            </a:r>
            <a:endParaRPr lang="en-US"/>
          </a:p>
        </p:txBody>
      </p:sp>
      <p:pic>
        <p:nvPicPr>
          <p:cNvPr id="404" name="Google Shape;404;p54"/>
          <p:cNvPicPr preferRelativeResize="0"/>
          <p:nvPr/>
        </p:nvPicPr>
        <p:blipFill rotWithShape="1">
          <a:blip r:embed="rId1"/>
          <a:srcRect/>
          <a:stretch>
            <a:fillRect/>
          </a:stretch>
        </p:blipFill>
        <p:spPr>
          <a:xfrm>
            <a:off x="2476500" y="1482725"/>
            <a:ext cx="4440238" cy="42005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408" name="Shape 408"/>
        <p:cNvGrpSpPr/>
        <p:nvPr/>
      </p:nvGrpSpPr>
      <p:grpSpPr>
        <a:xfrm>
          <a:off x="0" y="0"/>
          <a:ext cx="0" cy="0"/>
          <a:chOff x="0" y="0"/>
          <a:chExt cx="0" cy="0"/>
        </a:xfrm>
      </p:grpSpPr>
      <p:sp>
        <p:nvSpPr>
          <p:cNvPr id="409" name="Google Shape;409;p55"/>
          <p:cNvSpPr txBox="1"/>
          <p:nvPr>
            <p:ph type="title" idx="4294967295"/>
          </p:nvPr>
        </p:nvSpPr>
        <p:spPr>
          <a:xfrm>
            <a:off x="457200" y="211138"/>
            <a:ext cx="80343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Clustered Systems</a:t>
            </a:r>
            <a:endParaRPr lang="en-US"/>
          </a:p>
        </p:txBody>
      </p:sp>
      <p:sp>
        <p:nvSpPr>
          <p:cNvPr id="410" name="Google Shape;410;p55"/>
          <p:cNvSpPr txBox="1"/>
          <p:nvPr>
            <p:ph type="body" idx="4294967295"/>
          </p:nvPr>
        </p:nvSpPr>
        <p:spPr>
          <a:xfrm>
            <a:off x="806450" y="1233488"/>
            <a:ext cx="822960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Like multiprocessor systems, but multiple systems working together</a:t>
            </a:r>
            <a:endParaRPr lang="en-US"/>
          </a:p>
          <a:p>
            <a:pPr marL="742950" lvl="1" indent="-285750" algn="l" rtl="0">
              <a:spcBef>
                <a:spcPts val="630"/>
              </a:spcBef>
              <a:spcAft>
                <a:spcPts val="0"/>
              </a:spcAft>
              <a:buSzPts val="1980"/>
              <a:buChar char="•"/>
            </a:pPr>
            <a:r>
              <a:rPr lang="en-US"/>
              <a:t>Usually sharing storage via a </a:t>
            </a:r>
            <a:r>
              <a:rPr lang="en-US" b="1">
                <a:solidFill>
                  <a:srgbClr val="006699"/>
                </a:solidFill>
                <a:latin typeface="Arial" panose="020B0604020202020204"/>
                <a:ea typeface="Arial" panose="020B0604020202020204"/>
                <a:cs typeface="Arial" panose="020B0604020202020204"/>
                <a:sym typeface="Arial" panose="020B0604020202020204"/>
              </a:rPr>
              <a:t>storage-area network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SAN</a:t>
            </a:r>
            <a:r>
              <a:rPr lang="en-US"/>
              <a:t>)</a:t>
            </a:r>
            <a:endParaRPr lang="en-US"/>
          </a:p>
          <a:p>
            <a:pPr marL="742950" lvl="1" indent="-285750" algn="l" rtl="0">
              <a:spcBef>
                <a:spcPts val="630"/>
              </a:spcBef>
              <a:spcAft>
                <a:spcPts val="0"/>
              </a:spcAft>
              <a:buSzPts val="1980"/>
              <a:buChar char="•"/>
            </a:pPr>
            <a:r>
              <a:rPr lang="en-US"/>
              <a:t>Provides a </a:t>
            </a:r>
            <a:r>
              <a:rPr lang="en-US" b="1">
                <a:solidFill>
                  <a:srgbClr val="006699"/>
                </a:solidFill>
                <a:latin typeface="Arial" panose="020B0604020202020204"/>
                <a:ea typeface="Arial" panose="020B0604020202020204"/>
                <a:cs typeface="Arial" panose="020B0604020202020204"/>
                <a:sym typeface="Arial" panose="020B0604020202020204"/>
              </a:rPr>
              <a:t>high-availability</a:t>
            </a:r>
            <a:r>
              <a:rPr lang="en-US" b="1"/>
              <a:t> </a:t>
            </a:r>
            <a:r>
              <a:rPr lang="en-US"/>
              <a:t>service which survives failures</a:t>
            </a:r>
            <a:endParaRPr lang="en-US"/>
          </a:p>
          <a:p>
            <a:pPr marL="1085850" lvl="2" indent="-228600" algn="l" rtl="0">
              <a:spcBef>
                <a:spcPts val="630"/>
              </a:spcBef>
              <a:spcAft>
                <a:spcPts val="0"/>
              </a:spcAft>
              <a:buSzPts val="1350"/>
              <a:buChar char="4"/>
            </a:pPr>
            <a:r>
              <a:rPr lang="en-US" b="1">
                <a:solidFill>
                  <a:srgbClr val="006699"/>
                </a:solidFill>
                <a:latin typeface="Arial" panose="020B0604020202020204"/>
                <a:ea typeface="Arial" panose="020B0604020202020204"/>
                <a:cs typeface="Arial" panose="020B0604020202020204"/>
                <a:sym typeface="Arial" panose="020B0604020202020204"/>
              </a:rPr>
              <a:t>Asymmetric clustering </a:t>
            </a:r>
            <a:r>
              <a:rPr lang="en-US"/>
              <a:t>has one machine in hot-standby mode</a:t>
            </a:r>
            <a:endParaRPr lang="en-US"/>
          </a:p>
          <a:p>
            <a:pPr marL="1085850" lvl="2" indent="-228600" algn="l" rtl="0">
              <a:spcBef>
                <a:spcPts val="630"/>
              </a:spcBef>
              <a:spcAft>
                <a:spcPts val="0"/>
              </a:spcAft>
              <a:buSzPts val="1350"/>
              <a:buChar char="4"/>
            </a:pPr>
            <a:r>
              <a:rPr lang="en-US" b="1">
                <a:solidFill>
                  <a:srgbClr val="006699"/>
                </a:solidFill>
                <a:latin typeface="Arial" panose="020B0604020202020204"/>
                <a:ea typeface="Arial" panose="020B0604020202020204"/>
                <a:cs typeface="Arial" panose="020B0604020202020204"/>
                <a:sym typeface="Arial" panose="020B0604020202020204"/>
              </a:rPr>
              <a:t>Symmetric clustering </a:t>
            </a:r>
            <a:r>
              <a:rPr lang="en-US"/>
              <a:t>has multiple nodes running applications, monitoring each other</a:t>
            </a:r>
            <a:endParaRPr lang="en-US"/>
          </a:p>
          <a:p>
            <a:pPr marL="742950" lvl="1" indent="-285750" algn="l" rtl="0">
              <a:spcBef>
                <a:spcPts val="630"/>
              </a:spcBef>
              <a:spcAft>
                <a:spcPts val="0"/>
              </a:spcAft>
              <a:buSzPts val="1980"/>
              <a:buChar char="•"/>
            </a:pPr>
            <a:r>
              <a:rPr lang="en-US"/>
              <a:t>Some clusters are for </a:t>
            </a:r>
            <a:r>
              <a:rPr lang="en-US" b="1">
                <a:solidFill>
                  <a:srgbClr val="006699"/>
                </a:solidFill>
                <a:latin typeface="Arial" panose="020B0604020202020204"/>
                <a:ea typeface="Arial" panose="020B0604020202020204"/>
                <a:cs typeface="Arial" panose="020B0604020202020204"/>
                <a:sym typeface="Arial" panose="020B0604020202020204"/>
              </a:rPr>
              <a:t>high-performance computing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HPC</a:t>
            </a:r>
            <a:r>
              <a:rPr lang="en-US"/>
              <a:t>)</a:t>
            </a:r>
            <a:endParaRPr lang="en-US"/>
          </a:p>
          <a:p>
            <a:pPr marL="1085850" lvl="2" indent="-228600" algn="l" rtl="0">
              <a:spcBef>
                <a:spcPts val="630"/>
              </a:spcBef>
              <a:spcAft>
                <a:spcPts val="0"/>
              </a:spcAft>
              <a:buSzPts val="1350"/>
              <a:buChar char="4"/>
            </a:pPr>
            <a:r>
              <a:rPr lang="en-US"/>
              <a:t>Applications must be written to use </a:t>
            </a:r>
            <a:r>
              <a:rPr lang="en-US" b="1">
                <a:solidFill>
                  <a:srgbClr val="006699"/>
                </a:solidFill>
                <a:latin typeface="Arial" panose="020B0604020202020204"/>
                <a:ea typeface="Arial" panose="020B0604020202020204"/>
                <a:cs typeface="Arial" panose="020B0604020202020204"/>
                <a:sym typeface="Arial" panose="020B0604020202020204"/>
              </a:rPr>
              <a:t>parallelization</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a:t>Some have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distributed lock manager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DLM</a:t>
            </a:r>
            <a:r>
              <a:rPr lang="en-US"/>
              <a:t>) to avoid conflicting operations</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414" name="Shape 414"/>
        <p:cNvGrpSpPr/>
        <p:nvPr/>
      </p:nvGrpSpPr>
      <p:grpSpPr>
        <a:xfrm>
          <a:off x="0" y="0"/>
          <a:ext cx="0" cy="0"/>
          <a:chOff x="0" y="0"/>
          <a:chExt cx="0" cy="0"/>
        </a:xfrm>
      </p:grpSpPr>
      <p:sp>
        <p:nvSpPr>
          <p:cNvPr id="415" name="Google Shape;415;p56"/>
          <p:cNvSpPr txBox="1"/>
          <p:nvPr>
            <p:ph type="title" idx="4294967295"/>
          </p:nvPr>
        </p:nvSpPr>
        <p:spPr>
          <a:xfrm>
            <a:off x="457200" y="207963"/>
            <a:ext cx="80613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Clustered Systems</a:t>
            </a:r>
            <a:endParaRPr lang="en-US"/>
          </a:p>
        </p:txBody>
      </p:sp>
      <p:pic>
        <p:nvPicPr>
          <p:cNvPr id="416" name="Google Shape;416;p56"/>
          <p:cNvPicPr preferRelativeResize="0"/>
          <p:nvPr/>
        </p:nvPicPr>
        <p:blipFill rotWithShape="1">
          <a:blip r:embed="rId1"/>
          <a:srcRect/>
          <a:stretch>
            <a:fillRect/>
          </a:stretch>
        </p:blipFill>
        <p:spPr>
          <a:xfrm>
            <a:off x="2327275" y="2058988"/>
            <a:ext cx="5148263" cy="2641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420" name="Shape 420"/>
        <p:cNvGrpSpPr/>
        <p:nvPr/>
      </p:nvGrpSpPr>
      <p:grpSpPr>
        <a:xfrm>
          <a:off x="0" y="0"/>
          <a:ext cx="0" cy="0"/>
          <a:chOff x="0" y="0"/>
          <a:chExt cx="0" cy="0"/>
        </a:xfrm>
      </p:grpSpPr>
      <p:sp>
        <p:nvSpPr>
          <p:cNvPr id="421" name="Google Shape;421;p57"/>
          <p:cNvSpPr txBox="1"/>
          <p:nvPr>
            <p:ph type="title"/>
          </p:nvPr>
        </p:nvSpPr>
        <p:spPr>
          <a:xfrm>
            <a:off x="457200" y="222250"/>
            <a:ext cx="8015288"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PC Motherboard</a:t>
            </a:r>
            <a:endParaRPr lang="en-US"/>
          </a:p>
        </p:txBody>
      </p:sp>
      <p:pic>
        <p:nvPicPr>
          <p:cNvPr id="422" name="Google Shape;422;p57"/>
          <p:cNvPicPr preferRelativeResize="0"/>
          <p:nvPr>
            <p:ph type="body" idx="1"/>
          </p:nvPr>
        </p:nvPicPr>
        <p:blipFill rotWithShape="1">
          <a:blip r:embed="rId1"/>
          <a:srcRect/>
          <a:stretch>
            <a:fillRect/>
          </a:stretch>
        </p:blipFill>
        <p:spPr>
          <a:xfrm>
            <a:off x="820738" y="1046163"/>
            <a:ext cx="6867525" cy="53498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426" name="Shape 426"/>
        <p:cNvGrpSpPr/>
        <p:nvPr/>
      </p:nvGrpSpPr>
      <p:grpSpPr>
        <a:xfrm>
          <a:off x="0" y="0"/>
          <a:ext cx="0" cy="0"/>
          <a:chOff x="0" y="0"/>
          <a:chExt cx="0" cy="0"/>
        </a:xfrm>
      </p:grpSpPr>
      <p:sp>
        <p:nvSpPr>
          <p:cNvPr id="427" name="Google Shape;427;p58"/>
          <p:cNvSpPr txBox="1"/>
          <p:nvPr>
            <p:ph type="body" idx="4294967295"/>
          </p:nvPr>
        </p:nvSpPr>
        <p:spPr>
          <a:xfrm>
            <a:off x="1446306" y="2888119"/>
            <a:ext cx="7016376" cy="1030738"/>
          </a:xfrm>
          <a:prstGeom prst="rect">
            <a:avLst/>
          </a:prstGeom>
          <a:noFill/>
          <a:ln>
            <a:noFill/>
          </a:ln>
        </p:spPr>
        <p:txBody>
          <a:bodyPr spcFirstLastPara="1" wrap="square" lIns="91425" tIns="45700" rIns="91425" bIns="45700" anchor="t" anchorCtr="0">
            <a:noAutofit/>
          </a:bodyPr>
          <a:lstStyle/>
          <a:p>
            <a:pPr marL="457200" lvl="1" indent="0" algn="l" rtl="0">
              <a:spcBef>
                <a:spcPts val="0"/>
              </a:spcBef>
              <a:spcAft>
                <a:spcPts val="0"/>
              </a:spcAft>
              <a:buSzPts val="3520"/>
              <a:buNone/>
            </a:pPr>
            <a:r>
              <a:rPr lang="en-US" sz="3200" b="1">
                <a:solidFill>
                  <a:srgbClr val="006699"/>
                </a:solidFill>
                <a:latin typeface="Arial" panose="020B0604020202020204"/>
                <a:ea typeface="Arial" panose="020B0604020202020204"/>
                <a:cs typeface="Arial" panose="020B0604020202020204"/>
                <a:sym typeface="Arial" panose="020B0604020202020204"/>
              </a:rPr>
              <a:t>Computer System Environments</a:t>
            </a:r>
            <a:endParaRPr lang="en-US" sz="3200" b="1">
              <a:solidFill>
                <a:srgbClr val="006699"/>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431" name="Shape 431"/>
        <p:cNvGrpSpPr/>
        <p:nvPr/>
      </p:nvGrpSpPr>
      <p:grpSpPr>
        <a:xfrm>
          <a:off x="0" y="0"/>
          <a:ext cx="0" cy="0"/>
          <a:chOff x="0" y="0"/>
          <a:chExt cx="0" cy="0"/>
        </a:xfrm>
      </p:grpSpPr>
      <p:sp>
        <p:nvSpPr>
          <p:cNvPr id="432" name="Google Shape;432;p59"/>
          <p:cNvSpPr txBox="1"/>
          <p:nvPr>
            <p:ph type="title" idx="4294967295"/>
          </p:nvPr>
        </p:nvSpPr>
        <p:spPr>
          <a:xfrm>
            <a:off x="960668" y="171450"/>
            <a:ext cx="8016875" cy="6223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000"/>
              <a:t>Computing Environments</a:t>
            </a:r>
            <a:endParaRPr lang="en-US" sz="3000"/>
          </a:p>
        </p:txBody>
      </p:sp>
      <p:sp>
        <p:nvSpPr>
          <p:cNvPr id="433" name="Google Shape;433;p59"/>
          <p:cNvSpPr txBox="1"/>
          <p:nvPr>
            <p:ph type="body" idx="4294967295"/>
          </p:nvPr>
        </p:nvSpPr>
        <p:spPr>
          <a:xfrm>
            <a:off x="819151" y="1296988"/>
            <a:ext cx="6506936" cy="414586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Traditional</a:t>
            </a:r>
            <a:endParaRPr lang="en-US"/>
          </a:p>
          <a:p>
            <a:pPr marL="342900" lvl="0" indent="-342900" algn="l" rtl="0">
              <a:spcBef>
                <a:spcPts val="630"/>
              </a:spcBef>
              <a:spcAft>
                <a:spcPts val="0"/>
              </a:spcAft>
              <a:buSzPts val="1980"/>
              <a:buChar char="▪"/>
            </a:pPr>
            <a:r>
              <a:rPr lang="en-US"/>
              <a:t>Mobile</a:t>
            </a:r>
            <a:endParaRPr lang="en-US"/>
          </a:p>
          <a:p>
            <a:pPr marL="342900" lvl="0" indent="-342900" algn="l" rtl="0">
              <a:spcBef>
                <a:spcPts val="630"/>
              </a:spcBef>
              <a:spcAft>
                <a:spcPts val="0"/>
              </a:spcAft>
              <a:buSzPts val="1980"/>
              <a:buChar char="▪"/>
            </a:pPr>
            <a:r>
              <a:rPr lang="en-US"/>
              <a:t>Client Server</a:t>
            </a:r>
            <a:endParaRPr lang="en-US"/>
          </a:p>
          <a:p>
            <a:pPr marL="342900" lvl="0" indent="-342900" algn="l" rtl="0">
              <a:spcBef>
                <a:spcPts val="630"/>
              </a:spcBef>
              <a:spcAft>
                <a:spcPts val="0"/>
              </a:spcAft>
              <a:buSzPts val="1980"/>
              <a:buChar char="▪"/>
            </a:pPr>
            <a:r>
              <a:rPr lang="en-US"/>
              <a:t>Pear-to-Pear</a:t>
            </a:r>
            <a:endParaRPr lang="en-US"/>
          </a:p>
          <a:p>
            <a:pPr marL="342900" lvl="0" indent="-342900" algn="l" rtl="0">
              <a:spcBef>
                <a:spcPts val="630"/>
              </a:spcBef>
              <a:spcAft>
                <a:spcPts val="0"/>
              </a:spcAft>
              <a:buSzPts val="1980"/>
              <a:buChar char="▪"/>
            </a:pPr>
            <a:r>
              <a:rPr lang="en-US"/>
              <a:t>Cloud computing</a:t>
            </a:r>
            <a:endParaRPr lang="en-US"/>
          </a:p>
          <a:p>
            <a:pPr marL="342900" lvl="0" indent="-342900" algn="l" rtl="0">
              <a:spcBef>
                <a:spcPts val="630"/>
              </a:spcBef>
              <a:spcAft>
                <a:spcPts val="0"/>
              </a:spcAft>
              <a:buSzPts val="1980"/>
              <a:buChar char="▪"/>
            </a:pPr>
            <a:r>
              <a:rPr lang="en-US"/>
              <a:t>Real-time Embedded</a:t>
            </a:r>
            <a:endParaRPr lang="en-US"/>
          </a:p>
          <a:p>
            <a:pPr marL="342900" lvl="0" indent="-217170" algn="l" rtl="0">
              <a:spcBef>
                <a:spcPts val="630"/>
              </a:spcBef>
              <a:spcAft>
                <a:spcPts val="0"/>
              </a:spcAft>
              <a:buSzPts val="1980"/>
              <a:buNone/>
            </a:p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437" name="Shape 437"/>
        <p:cNvGrpSpPr/>
        <p:nvPr/>
      </p:nvGrpSpPr>
      <p:grpSpPr>
        <a:xfrm>
          <a:off x="0" y="0"/>
          <a:ext cx="0" cy="0"/>
          <a:chOff x="0" y="0"/>
          <a:chExt cx="0" cy="0"/>
        </a:xfrm>
      </p:grpSpPr>
      <p:sp>
        <p:nvSpPr>
          <p:cNvPr id="438" name="Google Shape;438;p60"/>
          <p:cNvSpPr txBox="1"/>
          <p:nvPr>
            <p:ph type="title" idx="4294967295"/>
          </p:nvPr>
        </p:nvSpPr>
        <p:spPr>
          <a:xfrm>
            <a:off x="960668" y="171450"/>
            <a:ext cx="8016875" cy="6223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000"/>
              <a:t>Traditional</a:t>
            </a:r>
            <a:endParaRPr lang="en-US" sz="3000"/>
          </a:p>
        </p:txBody>
      </p:sp>
      <p:sp>
        <p:nvSpPr>
          <p:cNvPr id="439" name="Google Shape;439;p60"/>
          <p:cNvSpPr txBox="1"/>
          <p:nvPr>
            <p:ph type="body" idx="4294967295"/>
          </p:nvPr>
        </p:nvSpPr>
        <p:spPr>
          <a:xfrm>
            <a:off x="819151" y="1296988"/>
            <a:ext cx="6506936" cy="414586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Stand-alone general-purpose machines</a:t>
            </a:r>
            <a:endParaRPr lang="en-US"/>
          </a:p>
          <a:p>
            <a:pPr marL="342900" lvl="0" indent="-342900" algn="l" rtl="0">
              <a:spcBef>
                <a:spcPts val="630"/>
              </a:spcBef>
              <a:spcAft>
                <a:spcPts val="0"/>
              </a:spcAft>
              <a:buSzPts val="1980"/>
              <a:buChar char="▪"/>
            </a:pPr>
            <a:r>
              <a:rPr lang="en-US"/>
              <a:t>But blurred as most systems interconnect with others (i.e., the Internet)</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Portals</a:t>
            </a:r>
            <a:r>
              <a:rPr lang="en-US"/>
              <a:t> provide web access to internal systems</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Network computers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thin clients</a:t>
            </a:r>
            <a:r>
              <a:rPr lang="en-US"/>
              <a:t>) are like Web terminals</a:t>
            </a:r>
            <a:endParaRPr lang="en-US"/>
          </a:p>
          <a:p>
            <a:pPr marL="342900" lvl="0" indent="-342900" algn="l" rtl="0">
              <a:spcBef>
                <a:spcPts val="630"/>
              </a:spcBef>
              <a:spcAft>
                <a:spcPts val="0"/>
              </a:spcAft>
              <a:buSzPts val="1980"/>
              <a:buChar char="▪"/>
            </a:pPr>
            <a:r>
              <a:rPr lang="en-US"/>
              <a:t>Mobile computers interconnect via </a:t>
            </a:r>
            <a:r>
              <a:rPr lang="en-US" b="1">
                <a:solidFill>
                  <a:srgbClr val="006699"/>
                </a:solidFill>
                <a:latin typeface="Arial" panose="020B0604020202020204"/>
                <a:ea typeface="Arial" panose="020B0604020202020204"/>
                <a:cs typeface="Arial" panose="020B0604020202020204"/>
                <a:sym typeface="Arial" panose="020B0604020202020204"/>
              </a:rPr>
              <a:t>wireless networks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t>Networking becoming ubiquitous – even home systems use </a:t>
            </a:r>
            <a:r>
              <a:rPr lang="en-US" b="1">
                <a:solidFill>
                  <a:srgbClr val="006699"/>
                </a:solidFill>
                <a:latin typeface="Arial" panose="020B0604020202020204"/>
                <a:ea typeface="Arial" panose="020B0604020202020204"/>
                <a:cs typeface="Arial" panose="020B0604020202020204"/>
                <a:sym typeface="Arial" panose="020B0604020202020204"/>
              </a:rPr>
              <a:t>firewalls</a:t>
            </a:r>
            <a:r>
              <a:rPr lang="en-US"/>
              <a:t> to protect home computers from Internet attacks</a:t>
            </a: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443" name="Shape 443"/>
        <p:cNvGrpSpPr/>
        <p:nvPr/>
      </p:nvGrpSpPr>
      <p:grpSpPr>
        <a:xfrm>
          <a:off x="0" y="0"/>
          <a:ext cx="0" cy="0"/>
          <a:chOff x="0" y="0"/>
          <a:chExt cx="0" cy="0"/>
        </a:xfrm>
      </p:grpSpPr>
      <p:sp>
        <p:nvSpPr>
          <p:cNvPr id="444" name="Google Shape;444;p61"/>
          <p:cNvSpPr txBox="1"/>
          <p:nvPr>
            <p:ph type="title" idx="4294967295"/>
          </p:nvPr>
        </p:nvSpPr>
        <p:spPr>
          <a:xfrm>
            <a:off x="476250" y="217488"/>
            <a:ext cx="85375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Mobile</a:t>
            </a:r>
            <a:endParaRPr lang="en-US"/>
          </a:p>
        </p:txBody>
      </p:sp>
      <p:sp>
        <p:nvSpPr>
          <p:cNvPr id="445" name="Google Shape;445;p61"/>
          <p:cNvSpPr txBox="1"/>
          <p:nvPr>
            <p:ph type="body" idx="4294967295"/>
          </p:nvPr>
        </p:nvSpPr>
        <p:spPr>
          <a:xfrm>
            <a:off x="811213" y="1209674"/>
            <a:ext cx="7026501" cy="417875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Handheld smartphones, tablets, etc.</a:t>
            </a:r>
            <a:endParaRPr lang="en-US"/>
          </a:p>
          <a:p>
            <a:pPr marL="342900" lvl="0" indent="-342900" algn="l" rtl="0">
              <a:spcBef>
                <a:spcPts val="630"/>
              </a:spcBef>
              <a:spcAft>
                <a:spcPts val="0"/>
              </a:spcAft>
              <a:buSzPts val="1980"/>
              <a:buChar char="▪"/>
            </a:pPr>
            <a:r>
              <a:rPr lang="en-US"/>
              <a:t>What is the functional difference between them and a “traditional” laptop?</a:t>
            </a:r>
            <a:endParaRPr lang="en-US"/>
          </a:p>
          <a:p>
            <a:pPr marL="342900" lvl="0" indent="-342900" algn="l" rtl="0">
              <a:spcBef>
                <a:spcPts val="630"/>
              </a:spcBef>
              <a:spcAft>
                <a:spcPts val="0"/>
              </a:spcAft>
              <a:buSzPts val="1980"/>
              <a:buChar char="▪"/>
            </a:pPr>
            <a:r>
              <a:rPr lang="en-US"/>
              <a:t>Extra feature – more OS features (GPS, gyroscope)</a:t>
            </a:r>
            <a:endParaRPr lang="en-US"/>
          </a:p>
          <a:p>
            <a:pPr marL="342900" lvl="0" indent="-342900" algn="l" rtl="0">
              <a:spcBef>
                <a:spcPts val="630"/>
              </a:spcBef>
              <a:spcAft>
                <a:spcPts val="0"/>
              </a:spcAft>
              <a:buSzPts val="1980"/>
              <a:buChar char="▪"/>
            </a:pPr>
            <a:r>
              <a:rPr lang="en-US"/>
              <a:t>Allows new types of apps like </a:t>
            </a:r>
            <a:r>
              <a:rPr lang="en-US" b="1" i="1"/>
              <a:t>augmented reality</a:t>
            </a:r>
            <a:endParaRPr lang="en-US" b="1" i="1"/>
          </a:p>
          <a:p>
            <a:pPr marL="342900" lvl="0" indent="-342900" algn="l" rtl="0">
              <a:spcBef>
                <a:spcPts val="630"/>
              </a:spcBef>
              <a:spcAft>
                <a:spcPts val="0"/>
              </a:spcAft>
              <a:buSzPts val="1980"/>
              <a:buChar char="▪"/>
            </a:pPr>
            <a:r>
              <a:rPr lang="en-US"/>
              <a:t>Use IEEE 802.11 wireless, or cellular data networks for connectivity</a:t>
            </a:r>
            <a:endParaRPr lang="en-US"/>
          </a:p>
          <a:p>
            <a:pPr marL="342900" lvl="0" indent="-342900" algn="l" rtl="0">
              <a:spcBef>
                <a:spcPts val="630"/>
              </a:spcBef>
              <a:spcAft>
                <a:spcPts val="0"/>
              </a:spcAft>
              <a:buSzPts val="1980"/>
              <a:buChar char="▪"/>
            </a:pPr>
            <a:r>
              <a:rPr lang="en-US"/>
              <a:t>Leaders are </a:t>
            </a:r>
            <a:r>
              <a:rPr lang="en-US" b="1">
                <a:solidFill>
                  <a:srgbClr val="006699"/>
                </a:solidFill>
                <a:latin typeface="Arial" panose="020B0604020202020204"/>
                <a:ea typeface="Arial" panose="020B0604020202020204"/>
                <a:cs typeface="Arial" panose="020B0604020202020204"/>
                <a:sym typeface="Arial" panose="020B0604020202020204"/>
              </a:rPr>
              <a:t>Apple iOS </a:t>
            </a:r>
            <a:r>
              <a:rPr lang="en-US"/>
              <a:t>and </a:t>
            </a:r>
            <a:r>
              <a:rPr lang="en-US" b="1">
                <a:solidFill>
                  <a:srgbClr val="006699"/>
                </a:solidFill>
                <a:latin typeface="Arial" panose="020B0604020202020204"/>
                <a:ea typeface="Arial" panose="020B0604020202020204"/>
                <a:cs typeface="Arial" panose="020B0604020202020204"/>
                <a:sym typeface="Arial" panose="020B0604020202020204"/>
              </a:rPr>
              <a:t>Google Android</a:t>
            </a:r>
            <a:endParaRPr lang="en-US" b="1">
              <a:solidFill>
                <a:srgbClr val="006699"/>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449" name="Shape 449"/>
        <p:cNvGrpSpPr/>
        <p:nvPr/>
      </p:nvGrpSpPr>
      <p:grpSpPr>
        <a:xfrm>
          <a:off x="0" y="0"/>
          <a:ext cx="0" cy="0"/>
          <a:chOff x="0" y="0"/>
          <a:chExt cx="0" cy="0"/>
        </a:xfrm>
      </p:grpSpPr>
      <p:sp>
        <p:nvSpPr>
          <p:cNvPr id="450" name="Google Shape;450;p62"/>
          <p:cNvSpPr txBox="1"/>
          <p:nvPr>
            <p:ph type="title" idx="4294967295"/>
          </p:nvPr>
        </p:nvSpPr>
        <p:spPr>
          <a:xfrm>
            <a:off x="1296988" y="207963"/>
            <a:ext cx="719296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Client Server</a:t>
            </a:r>
            <a:endParaRPr lang="en-US" sz="2800"/>
          </a:p>
        </p:txBody>
      </p:sp>
      <p:sp>
        <p:nvSpPr>
          <p:cNvPr id="451" name="Google Shape;451;p62"/>
          <p:cNvSpPr/>
          <p:nvPr/>
        </p:nvSpPr>
        <p:spPr>
          <a:xfrm>
            <a:off x="755650" y="1166813"/>
            <a:ext cx="7734300" cy="4673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993300"/>
              </a:buClr>
              <a:buSzPts val="1620"/>
              <a:buFont typeface="Noto Sans Symbols"/>
              <a:buChar char="▪"/>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Client-Server Computing</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742950" marR="0" lvl="1" indent="-285750" algn="l" rtl="0">
              <a:lnSpc>
                <a:spcPct val="90000"/>
              </a:lnSpc>
              <a:spcBef>
                <a:spcPts val="630"/>
              </a:spcBef>
              <a:spcAft>
                <a:spcPts val="0"/>
              </a:spcAft>
              <a:buClr>
                <a:srgbClr val="CC6600"/>
              </a:buClr>
              <a:buSzPts val="1440"/>
              <a:buFont typeface="Arial" panose="020B0604020202020204"/>
              <a:buChar char="•"/>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Dumb terminals supplanted by smart PCs</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742950" marR="0" lvl="1" indent="-285750" algn="l" rtl="0">
              <a:lnSpc>
                <a:spcPct val="90000"/>
              </a:lnSpc>
              <a:spcBef>
                <a:spcPts val="630"/>
              </a:spcBef>
              <a:spcAft>
                <a:spcPts val="0"/>
              </a:spcAft>
              <a:buClr>
                <a:srgbClr val="CC6600"/>
              </a:buClr>
              <a:buSzPts val="1440"/>
              <a:buFont typeface="Arial" panose="020B0604020202020204"/>
              <a:buChar char="•"/>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Many systems now </a:t>
            </a:r>
            <a:r>
              <a:rPr lang="en-US" sz="1800" b="1" i="0" u="none" strike="noStrike" cap="none">
                <a:solidFill>
                  <a:srgbClr val="006699"/>
                </a:solidFill>
                <a:latin typeface="Arial" panose="020B0604020202020204"/>
                <a:ea typeface="Arial" panose="020B0604020202020204"/>
                <a:cs typeface="Arial" panose="020B0604020202020204"/>
                <a:sym typeface="Arial" panose="020B0604020202020204"/>
              </a:rPr>
              <a:t>servers</a:t>
            </a: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 responding to requests generated by </a:t>
            </a:r>
            <a:r>
              <a:rPr lang="en-US" sz="1800" b="1" i="0" u="none" strike="noStrike" cap="none">
                <a:solidFill>
                  <a:srgbClr val="006699"/>
                </a:solidFill>
                <a:latin typeface="Arial" panose="020B0604020202020204"/>
                <a:ea typeface="Arial" panose="020B0604020202020204"/>
                <a:cs typeface="Arial" panose="020B0604020202020204"/>
                <a:sym typeface="Arial" panose="020B0604020202020204"/>
              </a:rPr>
              <a:t>clients</a:t>
            </a:r>
            <a:endParaRPr lang="en-US" sz="1800" b="1" i="0" u="none" strike="noStrike" cap="none">
              <a:solidFill>
                <a:srgbClr val="006699"/>
              </a:solidFill>
              <a:latin typeface="Arial" panose="020B0604020202020204"/>
              <a:ea typeface="Arial" panose="020B0604020202020204"/>
              <a:cs typeface="Arial" panose="020B0604020202020204"/>
              <a:sym typeface="Arial" panose="020B0604020202020204"/>
            </a:endParaRPr>
          </a:p>
          <a:p>
            <a:pPr marL="1085850" marR="0" lvl="2" indent="-228600" algn="l" rtl="0">
              <a:lnSpc>
                <a:spcPct val="90000"/>
              </a:lnSpc>
              <a:spcBef>
                <a:spcPts val="630"/>
              </a:spcBef>
              <a:spcAft>
                <a:spcPts val="0"/>
              </a:spcAft>
              <a:buClr>
                <a:srgbClr val="009900"/>
              </a:buClr>
              <a:buSzPts val="1350"/>
              <a:buFont typeface="Arimo"/>
              <a:buChar char="4"/>
            </a:pPr>
            <a:r>
              <a:rPr lang="en-US" sz="1800" b="1" i="0" u="none" strike="noStrike" cap="none">
                <a:solidFill>
                  <a:srgbClr val="006699"/>
                </a:solidFill>
                <a:latin typeface="Arial" panose="020B0604020202020204"/>
                <a:ea typeface="Arial" panose="020B0604020202020204"/>
                <a:cs typeface="Arial" panose="020B0604020202020204"/>
                <a:sym typeface="Arial" panose="020B0604020202020204"/>
              </a:rPr>
              <a:t>Compute-server system </a:t>
            </a: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provides an interface to client to request services (i.e., database)</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1085850" marR="0" lvl="2" indent="-228600" algn="l" rtl="0">
              <a:lnSpc>
                <a:spcPct val="90000"/>
              </a:lnSpc>
              <a:spcBef>
                <a:spcPts val="630"/>
              </a:spcBef>
              <a:spcAft>
                <a:spcPts val="0"/>
              </a:spcAft>
              <a:buClr>
                <a:srgbClr val="009900"/>
              </a:buClr>
              <a:buSzPts val="1350"/>
              <a:buFont typeface="Arimo"/>
              <a:buChar char="4"/>
            </a:pPr>
            <a:r>
              <a:rPr lang="en-US" sz="1800" b="1" i="0" u="none" strike="noStrike" cap="none">
                <a:solidFill>
                  <a:srgbClr val="006699"/>
                </a:solidFill>
                <a:latin typeface="Arial" panose="020B0604020202020204"/>
                <a:ea typeface="Arial" panose="020B0604020202020204"/>
                <a:cs typeface="Arial" panose="020B0604020202020204"/>
                <a:sym typeface="Arial" panose="020B0604020202020204"/>
              </a:rPr>
              <a:t>File-server system </a:t>
            </a: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provides interface for clients to store and retrieve files</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452" name="Google Shape;452;p62" descr="1_18.pdf"/>
          <p:cNvPicPr preferRelativeResize="0"/>
          <p:nvPr/>
        </p:nvPicPr>
        <p:blipFill rotWithShape="1">
          <a:blip r:embed="rId1"/>
          <a:srcRect/>
          <a:stretch>
            <a:fillRect/>
          </a:stretch>
        </p:blipFill>
        <p:spPr>
          <a:xfrm>
            <a:off x="1917700" y="3728085"/>
            <a:ext cx="4907915" cy="200469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456" name="Shape 456"/>
        <p:cNvGrpSpPr/>
        <p:nvPr/>
      </p:nvGrpSpPr>
      <p:grpSpPr>
        <a:xfrm>
          <a:off x="0" y="0"/>
          <a:ext cx="0" cy="0"/>
          <a:chOff x="0" y="0"/>
          <a:chExt cx="0" cy="0"/>
        </a:xfrm>
      </p:grpSpPr>
      <p:sp>
        <p:nvSpPr>
          <p:cNvPr id="457" name="Google Shape;457;p63"/>
          <p:cNvSpPr txBox="1"/>
          <p:nvPr>
            <p:ph type="title" idx="4294967295"/>
          </p:nvPr>
        </p:nvSpPr>
        <p:spPr>
          <a:xfrm>
            <a:off x="1152525" y="212725"/>
            <a:ext cx="739457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Peer-to-Peer</a:t>
            </a:r>
            <a:endParaRPr lang="en-US" sz="2800"/>
          </a:p>
        </p:txBody>
      </p:sp>
      <p:sp>
        <p:nvSpPr>
          <p:cNvPr id="458" name="Google Shape;458;p63"/>
          <p:cNvSpPr txBox="1"/>
          <p:nvPr>
            <p:ph type="body" idx="4294967295"/>
          </p:nvPr>
        </p:nvSpPr>
        <p:spPr>
          <a:xfrm>
            <a:off x="806450" y="1233488"/>
            <a:ext cx="5057775"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Another model of distributed system</a:t>
            </a:r>
            <a:endParaRPr lang="en-US"/>
          </a:p>
          <a:p>
            <a:pPr marL="342900" lvl="0" indent="-342900" algn="l" rtl="0">
              <a:spcBef>
                <a:spcPts val="630"/>
              </a:spcBef>
              <a:spcAft>
                <a:spcPts val="0"/>
              </a:spcAft>
              <a:buSzPts val="1980"/>
              <a:buChar char="▪"/>
            </a:pPr>
            <a:r>
              <a:rPr lang="en-US"/>
              <a:t>P2P does not distinguish clients and servers</a:t>
            </a:r>
            <a:endParaRPr lang="en-US"/>
          </a:p>
          <a:p>
            <a:pPr marL="742950" lvl="1" indent="-285750" algn="l" rtl="0">
              <a:spcBef>
                <a:spcPts val="630"/>
              </a:spcBef>
              <a:spcAft>
                <a:spcPts val="0"/>
              </a:spcAft>
              <a:buSzPts val="1980"/>
              <a:buChar char="•"/>
            </a:pPr>
            <a:r>
              <a:rPr lang="en-US"/>
              <a:t>Instead all nodes are considered peers</a:t>
            </a:r>
            <a:endParaRPr lang="en-US"/>
          </a:p>
          <a:p>
            <a:pPr marL="742950" lvl="1" indent="-285750" algn="l" rtl="0">
              <a:spcBef>
                <a:spcPts val="630"/>
              </a:spcBef>
              <a:spcAft>
                <a:spcPts val="0"/>
              </a:spcAft>
              <a:buSzPts val="1980"/>
              <a:buChar char="•"/>
            </a:pPr>
            <a:r>
              <a:rPr lang="en-US"/>
              <a:t>May each act as client, server or both</a:t>
            </a:r>
            <a:endParaRPr lang="en-US"/>
          </a:p>
          <a:p>
            <a:pPr marL="742950" lvl="1" indent="-285750" algn="l" rtl="0">
              <a:spcBef>
                <a:spcPts val="630"/>
              </a:spcBef>
              <a:spcAft>
                <a:spcPts val="0"/>
              </a:spcAft>
              <a:buSzPts val="1980"/>
              <a:buChar char="•"/>
            </a:pPr>
            <a:r>
              <a:rPr lang="en-US"/>
              <a:t>Node must join P2P network</a:t>
            </a:r>
            <a:endParaRPr lang="en-US"/>
          </a:p>
          <a:p>
            <a:pPr marL="1085850" lvl="2" indent="-228600" algn="l" rtl="0">
              <a:spcBef>
                <a:spcPts val="630"/>
              </a:spcBef>
              <a:spcAft>
                <a:spcPts val="0"/>
              </a:spcAft>
              <a:buSzPts val="1350"/>
              <a:buChar char="4"/>
            </a:pPr>
            <a:r>
              <a:rPr lang="en-US"/>
              <a:t>Registers its service with central lookup service on network, or</a:t>
            </a:r>
            <a:endParaRPr lang="en-US"/>
          </a:p>
          <a:p>
            <a:pPr marL="1085850" lvl="2" indent="-228600" algn="l" rtl="0">
              <a:spcBef>
                <a:spcPts val="630"/>
              </a:spcBef>
              <a:spcAft>
                <a:spcPts val="0"/>
              </a:spcAft>
              <a:buSzPts val="1350"/>
              <a:buChar char="4"/>
            </a:pPr>
            <a:r>
              <a:rPr lang="en-US"/>
              <a:t>Broadcast request for service and respond to requests for service via </a:t>
            </a:r>
            <a:r>
              <a:rPr lang="en-US" b="1" i="1"/>
              <a:t>discovery protocol</a:t>
            </a:r>
            <a:endParaRPr lang="en-US" b="1" i="1"/>
          </a:p>
          <a:p>
            <a:pPr marL="742950" lvl="1" indent="-285750" algn="l" rtl="0">
              <a:spcBef>
                <a:spcPts val="630"/>
              </a:spcBef>
              <a:spcAft>
                <a:spcPts val="0"/>
              </a:spcAft>
              <a:buSzPts val="1980"/>
              <a:buChar char="•"/>
            </a:pPr>
            <a:r>
              <a:rPr lang="en-US"/>
              <a:t>Examples include</a:t>
            </a:r>
            <a:r>
              <a:rPr lang="en-US" i="1"/>
              <a:t> </a:t>
            </a:r>
            <a:r>
              <a:rPr lang="en-US"/>
              <a:t>Napster</a:t>
            </a:r>
            <a:r>
              <a:rPr lang="en-US" i="1"/>
              <a:t> </a:t>
            </a:r>
            <a:r>
              <a:rPr lang="en-US"/>
              <a:t>and</a:t>
            </a:r>
            <a:r>
              <a:rPr lang="en-US" i="1"/>
              <a:t> </a:t>
            </a:r>
            <a:r>
              <a:rPr lang="en-US"/>
              <a:t>Gnutella</a:t>
            </a:r>
            <a:r>
              <a:rPr lang="en-US" i="1"/>
              <a:t>, </a:t>
            </a:r>
            <a:r>
              <a:rPr lang="en-US" b="1">
                <a:solidFill>
                  <a:srgbClr val="006699"/>
                </a:solidFill>
                <a:latin typeface="Arial" panose="020B0604020202020204"/>
                <a:ea typeface="Arial" panose="020B0604020202020204"/>
                <a:cs typeface="Arial" panose="020B0604020202020204"/>
                <a:sym typeface="Arial" panose="020B0604020202020204"/>
              </a:rPr>
              <a:t>Voice over IP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VoIP</a:t>
            </a:r>
            <a:r>
              <a:rPr lang="en-US"/>
              <a:t>)</a:t>
            </a:r>
            <a:r>
              <a:rPr lang="en-US" i="1"/>
              <a:t> </a:t>
            </a:r>
            <a:r>
              <a:rPr lang="en-US"/>
              <a:t>such as Skype </a:t>
            </a:r>
            <a:endParaRPr lang="en-US"/>
          </a:p>
        </p:txBody>
      </p:sp>
      <p:pic>
        <p:nvPicPr>
          <p:cNvPr id="459" name="Google Shape;459;p63" descr="1_19.pdf"/>
          <p:cNvPicPr preferRelativeResize="0"/>
          <p:nvPr/>
        </p:nvPicPr>
        <p:blipFill rotWithShape="1">
          <a:blip r:embed="rId1"/>
          <a:srcRect/>
          <a:stretch>
            <a:fillRect/>
          </a:stretch>
        </p:blipFill>
        <p:spPr>
          <a:xfrm>
            <a:off x="6059488" y="1984375"/>
            <a:ext cx="2668587" cy="202723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463" name="Shape 463"/>
        <p:cNvGrpSpPr/>
        <p:nvPr/>
      </p:nvGrpSpPr>
      <p:grpSpPr>
        <a:xfrm>
          <a:off x="0" y="0"/>
          <a:ext cx="0" cy="0"/>
          <a:chOff x="0" y="0"/>
          <a:chExt cx="0" cy="0"/>
        </a:xfrm>
      </p:grpSpPr>
      <p:sp>
        <p:nvSpPr>
          <p:cNvPr id="464" name="Google Shape;464;p64"/>
          <p:cNvSpPr txBox="1"/>
          <p:nvPr>
            <p:ph type="title" idx="4294967295"/>
          </p:nvPr>
        </p:nvSpPr>
        <p:spPr>
          <a:xfrm>
            <a:off x="955675" y="198438"/>
            <a:ext cx="81232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Cloud Computing</a:t>
            </a:r>
            <a:endParaRPr lang="en-US" sz="2800"/>
          </a:p>
        </p:txBody>
      </p:sp>
      <p:sp>
        <p:nvSpPr>
          <p:cNvPr id="465" name="Google Shape;465;p64"/>
          <p:cNvSpPr txBox="1"/>
          <p:nvPr>
            <p:ph type="body" idx="4294967295"/>
          </p:nvPr>
        </p:nvSpPr>
        <p:spPr>
          <a:xfrm>
            <a:off x="806451" y="1060450"/>
            <a:ext cx="6347976" cy="480778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Delivers computing, storage, even apps as a service across a network</a:t>
            </a:r>
            <a:endParaRPr lang="en-US"/>
          </a:p>
          <a:p>
            <a:pPr marL="342900" lvl="0" indent="-342900" algn="l" rtl="0">
              <a:spcBef>
                <a:spcPts val="630"/>
              </a:spcBef>
              <a:spcAft>
                <a:spcPts val="0"/>
              </a:spcAft>
              <a:buSzPts val="1980"/>
              <a:buChar char="▪"/>
            </a:pPr>
            <a:r>
              <a:rPr lang="en-US"/>
              <a:t>Logical extension of virtualization because it uses virtualization as the base for it functionality.</a:t>
            </a:r>
            <a:endParaRPr lang="en-US"/>
          </a:p>
          <a:p>
            <a:pPr marL="742950" lvl="1" indent="-285750" algn="l" rtl="0">
              <a:spcBef>
                <a:spcPts val="630"/>
              </a:spcBef>
              <a:spcAft>
                <a:spcPts val="0"/>
              </a:spcAft>
              <a:buSzPts val="1980"/>
              <a:buChar char="•"/>
            </a:pPr>
            <a:r>
              <a:rPr lang="en-US"/>
              <a:t>Amazon </a:t>
            </a:r>
            <a:r>
              <a:rPr lang="en-US" b="1">
                <a:solidFill>
                  <a:srgbClr val="006699"/>
                </a:solidFill>
                <a:latin typeface="Arial" panose="020B0604020202020204"/>
                <a:ea typeface="Arial" panose="020B0604020202020204"/>
                <a:cs typeface="Arial" panose="020B0604020202020204"/>
                <a:sym typeface="Arial" panose="020B0604020202020204"/>
              </a:rPr>
              <a:t>EC2</a:t>
            </a:r>
            <a:r>
              <a:rPr lang="en-US"/>
              <a:t>  has thousands of servers, millions of virtual machines, petabytes of storage available across the Internet, pay based on usage</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469" name="Shape 469"/>
        <p:cNvGrpSpPr/>
        <p:nvPr/>
      </p:nvGrpSpPr>
      <p:grpSpPr>
        <a:xfrm>
          <a:off x="0" y="0"/>
          <a:ext cx="0" cy="0"/>
          <a:chOff x="0" y="0"/>
          <a:chExt cx="0" cy="0"/>
        </a:xfrm>
      </p:grpSpPr>
      <p:sp>
        <p:nvSpPr>
          <p:cNvPr id="470" name="Google Shape;470;p65"/>
          <p:cNvSpPr txBox="1"/>
          <p:nvPr>
            <p:ph type="title" idx="4294967295"/>
          </p:nvPr>
        </p:nvSpPr>
        <p:spPr>
          <a:xfrm>
            <a:off x="955675" y="198438"/>
            <a:ext cx="81232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Cloud Computing (Cont.)</a:t>
            </a:r>
            <a:endParaRPr lang="en-US" sz="2800"/>
          </a:p>
        </p:txBody>
      </p:sp>
      <p:sp>
        <p:nvSpPr>
          <p:cNvPr id="471" name="Google Shape;471;p65"/>
          <p:cNvSpPr txBox="1"/>
          <p:nvPr>
            <p:ph type="body" idx="4294967295"/>
          </p:nvPr>
        </p:nvSpPr>
        <p:spPr>
          <a:xfrm>
            <a:off x="806450" y="1060450"/>
            <a:ext cx="7712075" cy="510381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Many types</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Public cloud </a:t>
            </a:r>
            <a:r>
              <a:rPr lang="en-US"/>
              <a:t>– available via Internet to anyone willing to pay</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Private cloud </a:t>
            </a:r>
            <a:r>
              <a:rPr lang="en-US"/>
              <a:t>– run by a company for the company’s own use</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Hybrid cloud </a:t>
            </a:r>
            <a:r>
              <a:rPr lang="en-US"/>
              <a:t>– includes both public and private cloud components</a:t>
            </a:r>
            <a:endParaRPr lang="en-US"/>
          </a:p>
          <a:p>
            <a:pPr marL="742950" lvl="1" indent="-285750" algn="l" rtl="0">
              <a:spcBef>
                <a:spcPts val="630"/>
              </a:spcBef>
              <a:spcAft>
                <a:spcPts val="0"/>
              </a:spcAft>
              <a:buSzPts val="1980"/>
              <a:buChar char="•"/>
            </a:pPr>
            <a:r>
              <a:rPr lang="en-US"/>
              <a:t>Software as a Service (</a:t>
            </a:r>
            <a:r>
              <a:rPr lang="en-US" b="1">
                <a:solidFill>
                  <a:srgbClr val="006699"/>
                </a:solidFill>
                <a:latin typeface="Arial" panose="020B0604020202020204"/>
                <a:ea typeface="Arial" panose="020B0604020202020204"/>
                <a:cs typeface="Arial" panose="020B0604020202020204"/>
                <a:sym typeface="Arial" panose="020B0604020202020204"/>
              </a:rPr>
              <a:t>SaaS</a:t>
            </a:r>
            <a:r>
              <a:rPr lang="en-US"/>
              <a:t>) – one or more applications available via the Internet (i.e., word processor)</a:t>
            </a:r>
            <a:endParaRPr lang="en-US"/>
          </a:p>
          <a:p>
            <a:pPr marL="742950" lvl="1" indent="-285750" algn="l" rtl="0">
              <a:spcBef>
                <a:spcPts val="630"/>
              </a:spcBef>
              <a:spcAft>
                <a:spcPts val="0"/>
              </a:spcAft>
              <a:buSzPts val="1980"/>
              <a:buChar char="•"/>
            </a:pPr>
            <a:r>
              <a:rPr lang="en-US"/>
              <a:t>Platform as a Service (</a:t>
            </a:r>
            <a:r>
              <a:rPr lang="en-US" b="1">
                <a:solidFill>
                  <a:srgbClr val="006699"/>
                </a:solidFill>
                <a:latin typeface="Arial" panose="020B0604020202020204"/>
                <a:ea typeface="Arial" panose="020B0604020202020204"/>
                <a:cs typeface="Arial" panose="020B0604020202020204"/>
                <a:sym typeface="Arial" panose="020B0604020202020204"/>
              </a:rPr>
              <a:t>PaaS</a:t>
            </a:r>
            <a:r>
              <a:rPr lang="en-US"/>
              <a:t>) – software stack ready for application use via the Internet (i.e., a database server)</a:t>
            </a:r>
            <a:endParaRPr lang="en-US"/>
          </a:p>
          <a:p>
            <a:pPr marL="742950" lvl="1" indent="-285750" algn="l" rtl="0">
              <a:spcBef>
                <a:spcPts val="630"/>
              </a:spcBef>
              <a:spcAft>
                <a:spcPts val="0"/>
              </a:spcAft>
              <a:buSzPts val="1980"/>
              <a:buChar char="•"/>
            </a:pPr>
            <a:r>
              <a:rPr lang="en-US"/>
              <a:t>Infrastructure as a Service (</a:t>
            </a:r>
            <a:r>
              <a:rPr lang="en-US" b="1">
                <a:solidFill>
                  <a:srgbClr val="006699"/>
                </a:solidFill>
                <a:latin typeface="Arial" panose="020B0604020202020204"/>
                <a:ea typeface="Arial" panose="020B0604020202020204"/>
                <a:cs typeface="Arial" panose="020B0604020202020204"/>
                <a:sym typeface="Arial" panose="020B0604020202020204"/>
              </a:rPr>
              <a:t>IaaS</a:t>
            </a:r>
            <a:r>
              <a:rPr lang="en-US"/>
              <a:t>) – servers or storage available over Internet (i.e., storage available for backup use)</a:t>
            </a: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475" name="Shape 475"/>
        <p:cNvGrpSpPr/>
        <p:nvPr/>
      </p:nvGrpSpPr>
      <p:grpSpPr>
        <a:xfrm>
          <a:off x="0" y="0"/>
          <a:ext cx="0" cy="0"/>
          <a:chOff x="0" y="0"/>
          <a:chExt cx="0" cy="0"/>
        </a:xfrm>
      </p:grpSpPr>
      <p:sp>
        <p:nvSpPr>
          <p:cNvPr id="476" name="Google Shape;476;p66"/>
          <p:cNvSpPr txBox="1"/>
          <p:nvPr>
            <p:ph type="body" idx="4294967295"/>
          </p:nvPr>
        </p:nvSpPr>
        <p:spPr>
          <a:xfrm>
            <a:off x="801688" y="1092200"/>
            <a:ext cx="7645400" cy="15716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Cloud computing environments composed of traditional OSes, plus VMMs, plus cloud management tools</a:t>
            </a:r>
            <a:endParaRPr lang="en-US"/>
          </a:p>
          <a:p>
            <a:pPr marL="742950" lvl="1" indent="-285750" algn="l" rtl="0">
              <a:spcBef>
                <a:spcPts val="630"/>
              </a:spcBef>
              <a:spcAft>
                <a:spcPts val="0"/>
              </a:spcAft>
              <a:buSzPts val="1980"/>
              <a:buChar char="•"/>
            </a:pPr>
            <a:r>
              <a:rPr lang="en-US"/>
              <a:t>Internet connectivity requires security like firewalls</a:t>
            </a:r>
            <a:endParaRPr sz="800"/>
          </a:p>
          <a:p>
            <a:pPr marL="742950" lvl="1" indent="-285750" algn="l" rtl="0">
              <a:spcBef>
                <a:spcPts val="630"/>
              </a:spcBef>
              <a:spcAft>
                <a:spcPts val="0"/>
              </a:spcAft>
              <a:buSzPts val="1980"/>
              <a:buChar char="•"/>
            </a:pPr>
            <a:r>
              <a:rPr lang="en-US"/>
              <a:t>Load balancers spread traffic across multiple applications</a:t>
            </a:r>
            <a:endParaRPr lang="en-US"/>
          </a:p>
        </p:txBody>
      </p:sp>
      <p:pic>
        <p:nvPicPr>
          <p:cNvPr id="477" name="Google Shape;477;p66" descr="1_21.pdf"/>
          <p:cNvPicPr preferRelativeResize="0"/>
          <p:nvPr/>
        </p:nvPicPr>
        <p:blipFill rotWithShape="1">
          <a:blip r:embed="rId1"/>
          <a:srcRect/>
          <a:stretch>
            <a:fillRect/>
          </a:stretch>
        </p:blipFill>
        <p:spPr>
          <a:xfrm>
            <a:off x="2427288" y="2800350"/>
            <a:ext cx="4119562" cy="3260725"/>
          </a:xfrm>
          <a:prstGeom prst="rect">
            <a:avLst/>
          </a:prstGeom>
          <a:noFill/>
          <a:ln>
            <a:noFill/>
          </a:ln>
        </p:spPr>
      </p:pic>
      <p:sp>
        <p:nvSpPr>
          <p:cNvPr id="478" name="Google Shape;478;p66"/>
          <p:cNvSpPr txBox="1"/>
          <p:nvPr/>
        </p:nvSpPr>
        <p:spPr>
          <a:xfrm>
            <a:off x="1020762" y="220663"/>
            <a:ext cx="8123238" cy="576262"/>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2800" b="1" i="0" u="none" strike="noStrike" cap="none">
                <a:solidFill>
                  <a:srgbClr val="006699"/>
                </a:solidFill>
                <a:latin typeface="Arial" panose="020B0604020202020204"/>
                <a:ea typeface="Arial" panose="020B0604020202020204"/>
                <a:cs typeface="Arial" panose="020B0604020202020204"/>
                <a:sym typeface="Arial" panose="020B0604020202020204"/>
              </a:rPr>
              <a:t>Cloud Computing (cont.)</a:t>
            </a:r>
            <a:endParaRPr lang="en-US" sz="2800" b="1" i="0" u="none" strike="noStrike" cap="none">
              <a:solidFill>
                <a:srgbClr val="006699"/>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482" name="Shape 482"/>
        <p:cNvGrpSpPr/>
        <p:nvPr/>
      </p:nvGrpSpPr>
      <p:grpSpPr>
        <a:xfrm>
          <a:off x="0" y="0"/>
          <a:ext cx="0" cy="0"/>
          <a:chOff x="0" y="0"/>
          <a:chExt cx="0" cy="0"/>
        </a:xfrm>
      </p:grpSpPr>
      <p:sp>
        <p:nvSpPr>
          <p:cNvPr id="483" name="Google Shape;483;p67"/>
          <p:cNvSpPr txBox="1"/>
          <p:nvPr>
            <p:ph type="title" idx="4294967295"/>
          </p:nvPr>
        </p:nvSpPr>
        <p:spPr>
          <a:xfrm>
            <a:off x="1058863" y="73025"/>
            <a:ext cx="8229600" cy="711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Real-Time Embedded Systems</a:t>
            </a:r>
            <a:endParaRPr lang="en-US" sz="2800"/>
          </a:p>
        </p:txBody>
      </p:sp>
      <p:sp>
        <p:nvSpPr>
          <p:cNvPr id="484" name="Google Shape;484;p67"/>
          <p:cNvSpPr txBox="1"/>
          <p:nvPr>
            <p:ph type="body" idx="4294967295"/>
          </p:nvPr>
        </p:nvSpPr>
        <p:spPr>
          <a:xfrm>
            <a:off x="820738" y="1154113"/>
            <a:ext cx="7688262"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Real-time embedded systems most prevalent form of computers</a:t>
            </a:r>
            <a:endParaRPr lang="en-US"/>
          </a:p>
          <a:p>
            <a:pPr marL="742950" lvl="1" indent="-285750" algn="l" rtl="0">
              <a:spcBef>
                <a:spcPts val="630"/>
              </a:spcBef>
              <a:spcAft>
                <a:spcPts val="0"/>
              </a:spcAft>
              <a:buSzPts val="1980"/>
              <a:buChar char="•"/>
            </a:pPr>
            <a:r>
              <a:rPr lang="en-US"/>
              <a:t>Vary considerable, special purpose, limited purpose OS,  </a:t>
            </a:r>
            <a:r>
              <a:rPr lang="en-US" b="1">
                <a:solidFill>
                  <a:srgbClr val="006699"/>
                </a:solidFill>
                <a:latin typeface="Arial" panose="020B0604020202020204"/>
                <a:ea typeface="Arial" panose="020B0604020202020204"/>
                <a:cs typeface="Arial" panose="020B0604020202020204"/>
                <a:sym typeface="Arial" panose="020B0604020202020204"/>
              </a:rPr>
              <a:t>real-time OS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a:t>Use expanding</a:t>
            </a:r>
            <a:endParaRPr lang="en-US"/>
          </a:p>
          <a:p>
            <a:pPr marL="342900" lvl="0" indent="-342900" algn="l" rtl="0">
              <a:spcBef>
                <a:spcPts val="630"/>
              </a:spcBef>
              <a:spcAft>
                <a:spcPts val="0"/>
              </a:spcAft>
              <a:buSzPts val="1980"/>
              <a:buChar char="▪"/>
            </a:pPr>
            <a:r>
              <a:rPr lang="en-US"/>
              <a:t>Many other special computing environments as well</a:t>
            </a:r>
            <a:endParaRPr lang="en-US"/>
          </a:p>
          <a:p>
            <a:pPr marL="742950" lvl="1" indent="-285750" algn="l" rtl="0">
              <a:spcBef>
                <a:spcPts val="630"/>
              </a:spcBef>
              <a:spcAft>
                <a:spcPts val="0"/>
              </a:spcAft>
              <a:buSzPts val="1980"/>
              <a:buChar char="•"/>
            </a:pPr>
            <a:r>
              <a:rPr lang="en-US"/>
              <a:t>Some have OSes, some perform tasks without an OS</a:t>
            </a:r>
            <a:endParaRPr lang="en-US"/>
          </a:p>
          <a:p>
            <a:pPr marL="342900" lvl="0" indent="-342900" algn="l" rtl="0">
              <a:spcBef>
                <a:spcPts val="630"/>
              </a:spcBef>
              <a:spcAft>
                <a:spcPts val="0"/>
              </a:spcAft>
              <a:buSzPts val="1980"/>
              <a:buChar char="▪"/>
            </a:pPr>
            <a:r>
              <a:rPr lang="en-US"/>
              <a:t>Real-time OS has well-defined fixed time constraints</a:t>
            </a:r>
            <a:endParaRPr lang="en-US"/>
          </a:p>
          <a:p>
            <a:pPr marL="742950" lvl="1" indent="-285750" algn="l" rtl="0">
              <a:spcBef>
                <a:spcPts val="630"/>
              </a:spcBef>
              <a:spcAft>
                <a:spcPts val="0"/>
              </a:spcAft>
              <a:buSzPts val="1980"/>
              <a:buChar char="•"/>
            </a:pPr>
            <a:r>
              <a:rPr lang="en-US"/>
              <a:t>Processing </a:t>
            </a:r>
            <a:r>
              <a:rPr lang="en-US" b="1" i="1"/>
              <a:t>must</a:t>
            </a:r>
            <a:r>
              <a:rPr lang="en-US"/>
              <a:t> be done within constraint</a:t>
            </a:r>
            <a:endParaRPr lang="en-US"/>
          </a:p>
          <a:p>
            <a:pPr marL="742950" lvl="1" indent="-285750" algn="l" rtl="0">
              <a:spcBef>
                <a:spcPts val="630"/>
              </a:spcBef>
              <a:spcAft>
                <a:spcPts val="0"/>
              </a:spcAft>
              <a:buSzPts val="1980"/>
              <a:buChar char="•"/>
            </a:pPr>
            <a:r>
              <a:rPr lang="en-US"/>
              <a:t>Correct operation only if constraints met</a:t>
            </a:r>
            <a:endParaRPr lang="en-US"/>
          </a:p>
          <a:p>
            <a:pPr marL="742950" lvl="1" indent="-160020" algn="l" rtl="0">
              <a:spcBef>
                <a:spcPts val="630"/>
              </a:spcBef>
              <a:spcAft>
                <a:spcPts val="0"/>
              </a:spcAft>
              <a:buSzPts val="1980"/>
              <a:buNone/>
            </a:p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488" name="Shape 488"/>
        <p:cNvGrpSpPr/>
        <p:nvPr/>
      </p:nvGrpSpPr>
      <p:grpSpPr>
        <a:xfrm>
          <a:off x="0" y="0"/>
          <a:ext cx="0" cy="0"/>
          <a:chOff x="0" y="0"/>
          <a:chExt cx="0" cy="0"/>
        </a:xfrm>
      </p:grpSpPr>
      <p:sp>
        <p:nvSpPr>
          <p:cNvPr id="489" name="Google Shape;489;p68"/>
          <p:cNvSpPr txBox="1"/>
          <p:nvPr>
            <p:ph type="title" idx="4294967295"/>
          </p:nvPr>
        </p:nvSpPr>
        <p:spPr>
          <a:xfrm>
            <a:off x="982663" y="201613"/>
            <a:ext cx="770413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Free and Open-Source Operating Systems</a:t>
            </a:r>
            <a:endParaRPr lang="en-US" sz="2800"/>
          </a:p>
        </p:txBody>
      </p:sp>
      <p:sp>
        <p:nvSpPr>
          <p:cNvPr id="490" name="Google Shape;490;p68"/>
          <p:cNvSpPr txBox="1"/>
          <p:nvPr>
            <p:ph type="body" idx="4294967295"/>
          </p:nvPr>
        </p:nvSpPr>
        <p:spPr>
          <a:xfrm>
            <a:off x="830263" y="961113"/>
            <a:ext cx="7704137"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Operating systems made available in source-code format rather than just binary </a:t>
            </a:r>
            <a:r>
              <a:rPr lang="en-US" b="1">
                <a:solidFill>
                  <a:srgbClr val="006699"/>
                </a:solidFill>
                <a:latin typeface="Arial" panose="020B0604020202020204"/>
                <a:ea typeface="Arial" panose="020B0604020202020204"/>
                <a:cs typeface="Arial" panose="020B0604020202020204"/>
                <a:sym typeface="Arial" panose="020B0604020202020204"/>
              </a:rPr>
              <a:t>closed-source</a:t>
            </a:r>
            <a:r>
              <a:rPr lang="en-US" b="1">
                <a:solidFill>
                  <a:srgbClr val="3366FF"/>
                </a:solidFill>
              </a:rPr>
              <a:t> </a:t>
            </a:r>
            <a:r>
              <a:rPr lang="en-US"/>
              <a:t>and</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proprietary</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t>Counter to the </a:t>
            </a:r>
            <a:r>
              <a:rPr lang="en-US" b="1">
                <a:solidFill>
                  <a:srgbClr val="006699"/>
                </a:solidFill>
                <a:latin typeface="Arial" panose="020B0604020202020204"/>
                <a:ea typeface="Arial" panose="020B0604020202020204"/>
                <a:cs typeface="Arial" panose="020B0604020202020204"/>
                <a:sym typeface="Arial" panose="020B0604020202020204"/>
              </a:rPr>
              <a:t>copy protection </a:t>
            </a:r>
            <a:r>
              <a:rPr lang="en-US">
                <a:solidFill>
                  <a:srgbClr val="000000"/>
                </a:solidFill>
              </a:rPr>
              <a:t>and </a:t>
            </a:r>
            <a:r>
              <a:rPr lang="en-US" b="1">
                <a:solidFill>
                  <a:srgbClr val="006699"/>
                </a:solidFill>
                <a:latin typeface="Arial" panose="020B0604020202020204"/>
                <a:ea typeface="Arial" panose="020B0604020202020204"/>
                <a:cs typeface="Arial" panose="020B0604020202020204"/>
                <a:sym typeface="Arial" panose="020B0604020202020204"/>
              </a:rPr>
              <a:t>Digital Rights Management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DRM</a:t>
            </a:r>
            <a:r>
              <a:rPr lang="en-US"/>
              <a:t>) </a:t>
            </a:r>
            <a:r>
              <a:rPr lang="en-US">
                <a:solidFill>
                  <a:srgbClr val="000000"/>
                </a:solidFill>
              </a:rPr>
              <a:t>movement</a:t>
            </a:r>
            <a:endParaRPr sz="800">
              <a:solidFill>
                <a:srgbClr val="000000"/>
              </a:solidFill>
            </a:endParaRPr>
          </a:p>
          <a:p>
            <a:pPr marL="342900" lvl="0" indent="-342900" algn="l" rtl="0">
              <a:spcBef>
                <a:spcPts val="630"/>
              </a:spcBef>
              <a:spcAft>
                <a:spcPts val="0"/>
              </a:spcAft>
              <a:buSzPts val="1980"/>
              <a:buChar char="▪"/>
            </a:pPr>
            <a:r>
              <a:rPr lang="en-US">
                <a:solidFill>
                  <a:srgbClr val="000000"/>
                </a:solidFill>
              </a:rPr>
              <a:t>Started by </a:t>
            </a:r>
            <a:r>
              <a:rPr lang="en-US" b="1">
                <a:solidFill>
                  <a:srgbClr val="006699"/>
                </a:solidFill>
                <a:latin typeface="Arial" panose="020B0604020202020204"/>
                <a:ea typeface="Arial" panose="020B0604020202020204"/>
                <a:cs typeface="Arial" panose="020B0604020202020204"/>
                <a:sym typeface="Arial" panose="020B0604020202020204"/>
              </a:rPr>
              <a:t>Free Software Foundation </a:t>
            </a:r>
            <a:r>
              <a:rPr lang="en-US">
                <a:solidFill>
                  <a:srgbClr val="000000"/>
                </a:solidFill>
              </a:rPr>
              <a:t>(</a:t>
            </a:r>
            <a:r>
              <a:rPr lang="en-US" b="1">
                <a:solidFill>
                  <a:srgbClr val="006699"/>
                </a:solidFill>
                <a:latin typeface="Arial" panose="020B0604020202020204"/>
                <a:ea typeface="Arial" panose="020B0604020202020204"/>
                <a:cs typeface="Arial" panose="020B0604020202020204"/>
                <a:sym typeface="Arial" panose="020B0604020202020204"/>
              </a:rPr>
              <a:t>FSF</a:t>
            </a:r>
            <a:r>
              <a:rPr lang="en-US"/>
              <a:t>)</a:t>
            </a:r>
            <a:r>
              <a:rPr lang="en-US">
                <a:solidFill>
                  <a:srgbClr val="000000"/>
                </a:solidFill>
              </a:rPr>
              <a:t>, which has “copyleft” </a:t>
            </a:r>
            <a:r>
              <a:rPr lang="en-US" b="1">
                <a:solidFill>
                  <a:srgbClr val="006699"/>
                </a:solidFill>
                <a:latin typeface="Arial" panose="020B0604020202020204"/>
                <a:ea typeface="Arial" panose="020B0604020202020204"/>
                <a:cs typeface="Arial" panose="020B0604020202020204"/>
                <a:sym typeface="Arial" panose="020B0604020202020204"/>
              </a:rPr>
              <a:t>GNU Public License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GPL</a:t>
            </a:r>
            <a:r>
              <a:rPr lang="en-US"/>
              <a:t>)</a:t>
            </a:r>
            <a:endParaRPr lang="en-US"/>
          </a:p>
          <a:p>
            <a:pPr marL="742950" lvl="1" indent="-285750" algn="l" rtl="0">
              <a:spcBef>
                <a:spcPts val="560"/>
              </a:spcBef>
              <a:spcAft>
                <a:spcPts val="0"/>
              </a:spcAft>
              <a:buSzPts val="1760"/>
              <a:buChar char="•"/>
            </a:pPr>
            <a:r>
              <a:rPr lang="en-US" sz="1600"/>
              <a:t>Free software and open-source software are two different ideas championed by different groups of people</a:t>
            </a:r>
            <a:endParaRPr lang="en-US" sz="1600"/>
          </a:p>
          <a:p>
            <a:pPr marL="1085850" lvl="2" indent="-228600" algn="l" rtl="0">
              <a:spcBef>
                <a:spcPts val="560"/>
              </a:spcBef>
              <a:spcAft>
                <a:spcPts val="0"/>
              </a:spcAft>
              <a:buSzPts val="1200"/>
              <a:buChar char="4"/>
            </a:pPr>
            <a:r>
              <a:rPr lang="en-US" sz="1600" b="1">
                <a:solidFill>
                  <a:srgbClr val="663300"/>
                </a:solidFill>
              </a:rPr>
              <a:t>https://www.gnu.org/philosophy/open-source-misses-the-point.en.html</a:t>
            </a:r>
            <a:endParaRPr lang="en-US" sz="1600" b="1">
              <a:solidFill>
                <a:srgbClr val="663300"/>
              </a:solidFill>
            </a:endParaRPr>
          </a:p>
          <a:p>
            <a:pPr marL="342900" lvl="0" indent="-342900" algn="l" rtl="0">
              <a:spcBef>
                <a:spcPts val="630"/>
              </a:spcBef>
              <a:spcAft>
                <a:spcPts val="0"/>
              </a:spcAft>
              <a:buSzPts val="1980"/>
              <a:buChar char="▪"/>
            </a:pPr>
            <a:r>
              <a:rPr lang="en-US">
                <a:solidFill>
                  <a:srgbClr val="000000"/>
                </a:solidFill>
              </a:rPr>
              <a:t>Examples include </a:t>
            </a:r>
            <a:r>
              <a:rPr lang="en-US" b="1">
                <a:solidFill>
                  <a:srgbClr val="006699"/>
                </a:solidFill>
                <a:latin typeface="Arial" panose="020B0604020202020204"/>
                <a:ea typeface="Arial" panose="020B0604020202020204"/>
                <a:cs typeface="Arial" panose="020B0604020202020204"/>
                <a:sym typeface="Arial" panose="020B0604020202020204"/>
              </a:rPr>
              <a:t>GNU/Linux </a:t>
            </a:r>
            <a:r>
              <a:rPr lang="en-US"/>
              <a:t>and </a:t>
            </a:r>
            <a:r>
              <a:rPr lang="en-US" b="1">
                <a:solidFill>
                  <a:srgbClr val="006699"/>
                </a:solidFill>
                <a:latin typeface="Arial" panose="020B0604020202020204"/>
                <a:ea typeface="Arial" panose="020B0604020202020204"/>
                <a:cs typeface="Arial" panose="020B0604020202020204"/>
                <a:sym typeface="Arial" panose="020B0604020202020204"/>
              </a:rPr>
              <a:t>BSD UNIX </a:t>
            </a:r>
            <a:r>
              <a:rPr lang="en-US">
                <a:solidFill>
                  <a:srgbClr val="000000"/>
                </a:solidFill>
              </a:rPr>
              <a:t>(including core of </a:t>
            </a:r>
            <a:r>
              <a:rPr lang="en-US" b="1">
                <a:solidFill>
                  <a:srgbClr val="006699"/>
                </a:solidFill>
                <a:latin typeface="Arial" panose="020B0604020202020204"/>
                <a:ea typeface="Arial" panose="020B0604020202020204"/>
                <a:cs typeface="Arial" panose="020B0604020202020204"/>
                <a:sym typeface="Arial" panose="020B0604020202020204"/>
              </a:rPr>
              <a:t>Mac</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OS X</a:t>
            </a:r>
            <a:r>
              <a:rPr lang="en-US">
                <a:solidFill>
                  <a:srgbClr val="000000"/>
                </a:solidFill>
              </a:rPr>
              <a:t>), and many more</a:t>
            </a:r>
            <a:endParaRPr lang="en-US">
              <a:solidFill>
                <a:srgbClr val="000000"/>
              </a:solidFill>
            </a:endParaRPr>
          </a:p>
          <a:p>
            <a:pPr marL="342900" lvl="0" indent="-342900" algn="l" rtl="0">
              <a:spcBef>
                <a:spcPts val="630"/>
              </a:spcBef>
              <a:spcAft>
                <a:spcPts val="0"/>
              </a:spcAft>
              <a:buSzPts val="1980"/>
              <a:buChar char="▪"/>
            </a:pPr>
            <a:r>
              <a:rPr lang="en-US">
                <a:solidFill>
                  <a:srgbClr val="000000"/>
                </a:solidFill>
              </a:rPr>
              <a:t>Can use VMM like VMware Player (Free on Windows), Virtualbox (open source and free on many platforms - </a:t>
            </a:r>
            <a:r>
              <a:rPr lang="en-US"/>
              <a:t>http://www.virtualbox.com) </a:t>
            </a:r>
            <a:endParaRPr lang="en-US"/>
          </a:p>
          <a:p>
            <a:pPr marL="742950" lvl="1" indent="-285750" algn="l" rtl="0">
              <a:spcBef>
                <a:spcPts val="630"/>
              </a:spcBef>
              <a:spcAft>
                <a:spcPts val="0"/>
              </a:spcAft>
              <a:buSzPts val="1980"/>
              <a:buChar char="•"/>
            </a:pPr>
            <a:r>
              <a:rPr lang="en-US">
                <a:solidFill>
                  <a:srgbClr val="000000"/>
                </a:solidFill>
              </a:rPr>
              <a:t>Use to run guest operating systems for exploration</a:t>
            </a:r>
            <a:endParaRPr lang="en-US">
              <a:solidFill>
                <a:srgbClr val="00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494" name="Shape 494"/>
        <p:cNvGrpSpPr/>
        <p:nvPr/>
      </p:nvGrpSpPr>
      <p:grpSpPr>
        <a:xfrm>
          <a:off x="0" y="0"/>
          <a:ext cx="0" cy="0"/>
          <a:chOff x="0" y="0"/>
          <a:chExt cx="0" cy="0"/>
        </a:xfrm>
      </p:grpSpPr>
      <p:sp>
        <p:nvSpPr>
          <p:cNvPr id="495" name="Google Shape;495;p69"/>
          <p:cNvSpPr txBox="1"/>
          <p:nvPr>
            <p:ph type="title" idx="4294967295"/>
          </p:nvPr>
        </p:nvSpPr>
        <p:spPr>
          <a:xfrm>
            <a:off x="1033463" y="198438"/>
            <a:ext cx="75342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The Study of Operating Systems</a:t>
            </a:r>
            <a:endParaRPr lang="en-US"/>
          </a:p>
        </p:txBody>
      </p:sp>
      <p:sp>
        <p:nvSpPr>
          <p:cNvPr id="496" name="Google Shape;496;p69"/>
          <p:cNvSpPr/>
          <p:nvPr/>
        </p:nvSpPr>
        <p:spPr>
          <a:xfrm>
            <a:off x="647700" y="1222375"/>
            <a:ext cx="7920038" cy="4703763"/>
          </a:xfrm>
          <a:prstGeom prst="rect">
            <a:avLst/>
          </a:prstGeom>
          <a:solidFill>
            <a:srgbClr val="CEEBFA"/>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There has never been a more interesting time to study operating systems, and it has never been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easier. The open-source movement has overtaken operating systems, causing many of them to be</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made available in both source and binary (executable) format. The list of operating</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systems available in both formats includes Linux, BUSD UNIX, Solaris, and part of macOS.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The availability of source code allows us to study operating systems from the inside out.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Questions that we could once answer only by looking at documentation or the behavior of an</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operating system we can now answer by examining the code itself.</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endParaRPr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Operating systems that are no longer commercially viable have been open-sourced as well, enabling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us to study how systems operated in a time of fewer CPU, memory, and storage resources.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An extensive but incomplete list of open-source operating-system projects is available</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from https://curlie.org/Computers/Software/Operating_Systems/Open_Source/</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endParaRPr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In addition, the rise of virtualization as a mainstream (and frequently free) computer function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makes it possible to run many operating systems on top of one core system. For example, VMware</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(http://www.vmware.com) providesa free “player” for Windows on which hundreds of free</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“virtual appliances” can run. Virtualbox (http://www.virtualbox.com) provides a free, open-source</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virtual machine manager on many operating systems. Using such tools, students can try out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hundreds of operating systems without dedicated hardware.</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endParaRPr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The advent of open-source operating systems has also made it easier to make the move from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student to operating-system developer. With some knowledge, some effort, and an Internet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connection, a student can even create a new operating-system distribution. Just a few years ago, </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it was difficult or impossible to get access to source code. Now, such access is limited only by</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a:p>
            <a:pPr marL="0" marR="0" lvl="0" indent="0" algn="l" rtl="0">
              <a:spcBef>
                <a:spcPts val="0"/>
              </a:spcBef>
              <a:spcAft>
                <a:spcPts val="0"/>
              </a:spcAft>
              <a:buClr>
                <a:schemeClr val="dk1"/>
              </a:buClr>
              <a:buSzPts val="1200"/>
              <a:buFont typeface="Noto Sans Symbols"/>
              <a:buNone/>
            </a:pPr>
            <a:r>
              <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rPr>
              <a:t>how much interest, time, and disk space a student has.</a:t>
            </a:r>
            <a:endParaRPr lang="en-US" sz="12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501" name="Shape 501"/>
        <p:cNvGrpSpPr/>
        <p:nvPr/>
      </p:nvGrpSpPr>
      <p:grpSpPr>
        <a:xfrm>
          <a:off x="0" y="0"/>
          <a:ext cx="0" cy="0"/>
          <a:chOff x="0" y="0"/>
          <a:chExt cx="0" cy="0"/>
        </a:xfrm>
      </p:grpSpPr>
      <p:cxnSp>
        <p:nvCxnSpPr>
          <p:cNvPr id="502" name="Google Shape;502;p70"/>
          <p:cNvCxnSpPr/>
          <p:nvPr/>
        </p:nvCxnSpPr>
        <p:spPr>
          <a:xfrm>
            <a:off x="0" y="0"/>
            <a:ext cx="914400" cy="0"/>
          </a:xfrm>
          <a:prstGeom prst="straightConnector1">
            <a:avLst/>
          </a:prstGeom>
          <a:solidFill>
            <a:schemeClr val="accent1"/>
          </a:solidFill>
          <a:ln w="9525" cap="flat" cmpd="sng">
            <a:solidFill>
              <a:srgbClr val="FBFFFF"/>
            </a:solidFill>
            <a:prstDash val="solid"/>
            <a:round/>
            <a:headEnd type="none" w="sm" len="sm"/>
            <a:tailEnd type="none" w="sm" len="sm"/>
          </a:ln>
        </p:spPr>
      </p:cxnSp>
      <p:sp>
        <p:nvSpPr>
          <p:cNvPr id="503" name="Google Shape;503;p70"/>
          <p:cNvSpPr txBox="1"/>
          <p:nvPr>
            <p:ph type="title"/>
          </p:nvPr>
        </p:nvSpPr>
        <p:spPr>
          <a:xfrm>
            <a:off x="469900" y="2736850"/>
            <a:ext cx="8267700" cy="6096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Kernel Data Structure</a:t>
            </a:r>
            <a:endParaRPr lang="en-US"/>
          </a:p>
        </p:txBody>
      </p:sp>
      <p:sp>
        <p:nvSpPr>
          <p:cNvPr id="504" name="Google Shape;504;p70"/>
          <p:cNvSpPr/>
          <p:nvPr/>
        </p:nvSpPr>
        <p:spPr>
          <a:xfrm>
            <a:off x="1422400" y="2851150"/>
            <a:ext cx="6845300" cy="2816225"/>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endPara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508" name="Shape 508"/>
        <p:cNvGrpSpPr/>
        <p:nvPr/>
      </p:nvGrpSpPr>
      <p:grpSpPr>
        <a:xfrm>
          <a:off x="0" y="0"/>
          <a:ext cx="0" cy="0"/>
          <a:chOff x="0" y="0"/>
          <a:chExt cx="0" cy="0"/>
        </a:xfrm>
      </p:grpSpPr>
      <p:sp>
        <p:nvSpPr>
          <p:cNvPr id="509" name="Google Shape;509;p71"/>
          <p:cNvSpPr txBox="1"/>
          <p:nvPr>
            <p:ph type="title"/>
          </p:nvPr>
        </p:nvSpPr>
        <p:spPr>
          <a:xfrm>
            <a:off x="457200" y="22066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Kernel Data Structures</a:t>
            </a:r>
            <a:endParaRPr lang="en-US"/>
          </a:p>
        </p:txBody>
      </p:sp>
      <p:sp>
        <p:nvSpPr>
          <p:cNvPr id="510" name="Google Shape;510;p71"/>
          <p:cNvSpPr txBox="1"/>
          <p:nvPr>
            <p:ph type="body" idx="1"/>
          </p:nvPr>
        </p:nvSpPr>
        <p:spPr>
          <a:xfrm>
            <a:off x="806450" y="1233488"/>
            <a:ext cx="822960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Many similar to standard programming data structures</a:t>
            </a:r>
            <a:endParaRPr lang="en-US"/>
          </a:p>
          <a:p>
            <a:pPr marL="342900" lvl="0" indent="-342900" algn="l" rtl="0">
              <a:spcBef>
                <a:spcPts val="630"/>
              </a:spcBef>
              <a:spcAft>
                <a:spcPts val="0"/>
              </a:spcAft>
              <a:buSzPts val="1980"/>
              <a:buChar char="▪"/>
            </a:pPr>
            <a:r>
              <a:rPr lang="en-US" b="1" i="1"/>
              <a:t>Singly linked list</a:t>
            </a:r>
            <a:endParaRPr lang="en-US" b="1" i="1"/>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342900" algn="l" rtl="0">
              <a:spcBef>
                <a:spcPts val="630"/>
              </a:spcBef>
              <a:spcAft>
                <a:spcPts val="0"/>
              </a:spcAft>
              <a:buSzPts val="1980"/>
              <a:buChar char="▪"/>
            </a:pPr>
            <a:r>
              <a:rPr lang="en-US" b="1" i="1"/>
              <a:t>Doubly linked list</a:t>
            </a:r>
            <a:endParaRPr lang="en-US" b="1" i="1"/>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342900" algn="l" rtl="0">
              <a:spcBef>
                <a:spcPts val="630"/>
              </a:spcBef>
              <a:spcAft>
                <a:spcPts val="0"/>
              </a:spcAft>
              <a:buSzPts val="1980"/>
              <a:buChar char="▪"/>
            </a:pPr>
            <a:r>
              <a:rPr lang="en-US" b="1" i="1"/>
              <a:t>Circular linked list</a:t>
            </a:r>
            <a:endParaRPr lang="en-US" b="1" i="1"/>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a:p>
            <a:pPr marL="0" lvl="0" indent="0" algn="l" rtl="0">
              <a:spcBef>
                <a:spcPts val="630"/>
              </a:spcBef>
              <a:spcAft>
                <a:spcPts val="0"/>
              </a:spcAft>
              <a:buSzPts val="1980"/>
              <a:buFont typeface="Arial" panose="020B0604020202020204"/>
              <a:buNone/>
            </a:pPr>
          </a:p>
          <a:p>
            <a:pPr marL="342900" lvl="0" indent="-217170" algn="l" rtl="0">
              <a:spcBef>
                <a:spcPts val="630"/>
              </a:spcBef>
              <a:spcAft>
                <a:spcPts val="0"/>
              </a:spcAft>
              <a:buSzPts val="1980"/>
              <a:buFont typeface="Arial" panose="020B0604020202020204"/>
              <a:buNone/>
            </a:pPr>
          </a:p>
        </p:txBody>
      </p:sp>
      <p:pic>
        <p:nvPicPr>
          <p:cNvPr id="511" name="Google Shape;511;p71" descr="1_13.pdf"/>
          <p:cNvPicPr preferRelativeResize="0"/>
          <p:nvPr/>
        </p:nvPicPr>
        <p:blipFill rotWithShape="1">
          <a:blip r:embed="rId1"/>
          <a:srcRect/>
          <a:stretch>
            <a:fillRect/>
          </a:stretch>
        </p:blipFill>
        <p:spPr>
          <a:xfrm>
            <a:off x="1327150" y="2068513"/>
            <a:ext cx="6932613" cy="779462"/>
          </a:xfrm>
          <a:prstGeom prst="rect">
            <a:avLst/>
          </a:prstGeom>
          <a:noFill/>
          <a:ln>
            <a:noFill/>
          </a:ln>
        </p:spPr>
      </p:pic>
      <p:pic>
        <p:nvPicPr>
          <p:cNvPr id="512" name="Google Shape;512;p71" descr="1_14.pdf"/>
          <p:cNvPicPr preferRelativeResize="0"/>
          <p:nvPr/>
        </p:nvPicPr>
        <p:blipFill rotWithShape="1">
          <a:blip r:embed="rId2"/>
          <a:srcRect/>
          <a:stretch>
            <a:fillRect/>
          </a:stretch>
        </p:blipFill>
        <p:spPr>
          <a:xfrm>
            <a:off x="1287463" y="3632200"/>
            <a:ext cx="7026275" cy="949325"/>
          </a:xfrm>
          <a:prstGeom prst="rect">
            <a:avLst/>
          </a:prstGeom>
          <a:noFill/>
          <a:ln>
            <a:noFill/>
          </a:ln>
        </p:spPr>
      </p:pic>
      <p:pic>
        <p:nvPicPr>
          <p:cNvPr id="513" name="Google Shape;513;p71" descr="1_15.pdf"/>
          <p:cNvPicPr preferRelativeResize="0"/>
          <p:nvPr/>
        </p:nvPicPr>
        <p:blipFill rotWithShape="1">
          <a:blip r:embed="rId3"/>
          <a:srcRect/>
          <a:stretch>
            <a:fillRect/>
          </a:stretch>
        </p:blipFill>
        <p:spPr>
          <a:xfrm>
            <a:off x="1231900" y="5099050"/>
            <a:ext cx="6842125" cy="11239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517" name="Shape 517"/>
        <p:cNvGrpSpPr/>
        <p:nvPr/>
      </p:nvGrpSpPr>
      <p:grpSpPr>
        <a:xfrm>
          <a:off x="0" y="0"/>
          <a:ext cx="0" cy="0"/>
          <a:chOff x="0" y="0"/>
          <a:chExt cx="0" cy="0"/>
        </a:xfrm>
      </p:grpSpPr>
      <p:sp>
        <p:nvSpPr>
          <p:cNvPr id="518" name="Google Shape;518;p72"/>
          <p:cNvSpPr txBox="1"/>
          <p:nvPr>
            <p:ph type="title"/>
          </p:nvPr>
        </p:nvSpPr>
        <p:spPr>
          <a:xfrm>
            <a:off x="457200" y="217488"/>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Kernel Data Structures</a:t>
            </a:r>
            <a:endParaRPr lang="en-US"/>
          </a:p>
        </p:txBody>
      </p:sp>
      <p:sp>
        <p:nvSpPr>
          <p:cNvPr id="519" name="Google Shape;519;p72"/>
          <p:cNvSpPr txBox="1"/>
          <p:nvPr>
            <p:ph type="body" idx="1"/>
          </p:nvPr>
        </p:nvSpPr>
        <p:spPr>
          <a:xfrm>
            <a:off x="806450" y="1233488"/>
            <a:ext cx="5468938" cy="160496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sz="1800" b="1">
                <a:solidFill>
                  <a:srgbClr val="3366FF"/>
                </a:solidFill>
              </a:rPr>
              <a:t>Binary search tree</a:t>
            </a:r>
            <a:br>
              <a:rPr lang="en-US" sz="1800"/>
            </a:br>
            <a:r>
              <a:rPr lang="en-US" sz="1800"/>
              <a:t>left &lt;= right</a:t>
            </a:r>
            <a:endParaRPr lang="en-US" sz="1800"/>
          </a:p>
          <a:p>
            <a:pPr marL="742950" lvl="1" indent="-285750" algn="l" rtl="0">
              <a:spcBef>
                <a:spcPts val="630"/>
              </a:spcBef>
              <a:spcAft>
                <a:spcPts val="0"/>
              </a:spcAft>
              <a:buSzPts val="1980"/>
              <a:buChar char="•"/>
            </a:pPr>
            <a:r>
              <a:rPr lang="en-US" sz="1800"/>
              <a:t>Search performance is </a:t>
            </a:r>
            <a:r>
              <a:rPr lang="en-US" sz="1800" i="1"/>
              <a:t>O(n)</a:t>
            </a:r>
            <a:endParaRPr lang="en-US" sz="1800" i="1"/>
          </a:p>
          <a:p>
            <a:pPr marL="742950" lvl="1" indent="-285750" algn="l" rtl="0">
              <a:spcBef>
                <a:spcPts val="630"/>
              </a:spcBef>
              <a:spcAft>
                <a:spcPts val="0"/>
              </a:spcAft>
              <a:buSzPts val="1980"/>
              <a:buChar char="•"/>
            </a:pPr>
            <a:r>
              <a:rPr lang="en-US" sz="1800" b="1">
                <a:solidFill>
                  <a:srgbClr val="3366FF"/>
                </a:solidFill>
              </a:rPr>
              <a:t>Balanced binary search tree </a:t>
            </a:r>
            <a:r>
              <a:rPr lang="en-US" sz="1800"/>
              <a:t>is </a:t>
            </a:r>
            <a:r>
              <a:rPr lang="en-US" sz="1800" i="1"/>
              <a:t>O(lg n)</a:t>
            </a:r>
            <a:endParaRPr lang="en-US" sz="1800" i="1"/>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342900" algn="l" rtl="0">
              <a:spcBef>
                <a:spcPts val="980"/>
              </a:spcBef>
              <a:spcAft>
                <a:spcPts val="0"/>
              </a:spcAft>
              <a:buSzPts val="3080"/>
              <a:buFont typeface="Arial" panose="020B0604020202020204"/>
              <a:buNone/>
            </a:pPr>
          </a:p>
          <a:p>
            <a:pPr marL="342900" lvl="0" indent="-147320" algn="l" rtl="0">
              <a:spcBef>
                <a:spcPts val="980"/>
              </a:spcBef>
              <a:spcAft>
                <a:spcPts val="0"/>
              </a:spcAft>
              <a:buSzPts val="3080"/>
              <a:buNone/>
            </a:pPr>
          </a:p>
        </p:txBody>
      </p:sp>
      <p:pic>
        <p:nvPicPr>
          <p:cNvPr id="520" name="Google Shape;520;p72" descr="1_16.pdf"/>
          <p:cNvPicPr preferRelativeResize="0"/>
          <p:nvPr/>
        </p:nvPicPr>
        <p:blipFill rotWithShape="1">
          <a:blip r:embed="rId1"/>
          <a:srcRect/>
          <a:stretch>
            <a:fillRect/>
          </a:stretch>
        </p:blipFill>
        <p:spPr>
          <a:xfrm>
            <a:off x="1935163" y="2979738"/>
            <a:ext cx="2755900" cy="215106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524" name="Shape 524"/>
        <p:cNvGrpSpPr/>
        <p:nvPr/>
      </p:nvGrpSpPr>
      <p:grpSpPr>
        <a:xfrm>
          <a:off x="0" y="0"/>
          <a:ext cx="0" cy="0"/>
          <a:chOff x="0" y="0"/>
          <a:chExt cx="0" cy="0"/>
        </a:xfrm>
      </p:grpSpPr>
      <p:sp>
        <p:nvSpPr>
          <p:cNvPr id="525" name="Google Shape;525;p73"/>
          <p:cNvSpPr txBox="1"/>
          <p:nvPr>
            <p:ph type="title"/>
          </p:nvPr>
        </p:nvSpPr>
        <p:spPr>
          <a:xfrm>
            <a:off x="457200" y="217488"/>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Kernel Data Structures</a:t>
            </a:r>
            <a:endParaRPr lang="en-US"/>
          </a:p>
        </p:txBody>
      </p:sp>
      <p:sp>
        <p:nvSpPr>
          <p:cNvPr id="526" name="Google Shape;526;p73"/>
          <p:cNvSpPr txBox="1"/>
          <p:nvPr>
            <p:ph type="body" idx="1"/>
          </p:nvPr>
        </p:nvSpPr>
        <p:spPr>
          <a:xfrm>
            <a:off x="806450" y="1233488"/>
            <a:ext cx="7726363" cy="498316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sz="1800" b="1">
                <a:solidFill>
                  <a:srgbClr val="3366FF"/>
                </a:solidFill>
              </a:rPr>
              <a:t>Hash function </a:t>
            </a:r>
            <a:r>
              <a:rPr lang="en-US" sz="1800"/>
              <a:t>can create a</a:t>
            </a:r>
            <a:r>
              <a:rPr lang="en-US" sz="1800" b="1">
                <a:solidFill>
                  <a:srgbClr val="3366FF"/>
                </a:solidFill>
              </a:rPr>
              <a:t> hash map</a:t>
            </a:r>
            <a:endParaRPr lang="en-US" sz="1800" b="1">
              <a:solidFill>
                <a:srgbClr val="3366FF"/>
              </a:solidFill>
            </a:endParaRPr>
          </a:p>
          <a:p>
            <a:pPr marL="342900" lvl="0" indent="-217170" algn="l" rtl="0">
              <a:spcBef>
                <a:spcPts val="630"/>
              </a:spcBef>
              <a:spcAft>
                <a:spcPts val="0"/>
              </a:spcAft>
              <a:buSzPts val="1980"/>
              <a:buNone/>
            </a:pPr>
            <a:endParaRPr sz="1800" b="1" i="1">
              <a:solidFill>
                <a:srgbClr val="3366FF"/>
              </a:solidFill>
            </a:endParaRPr>
          </a:p>
          <a:p>
            <a:pPr marL="342900" lvl="0" indent="-217170" algn="l" rtl="0">
              <a:spcBef>
                <a:spcPts val="630"/>
              </a:spcBef>
              <a:spcAft>
                <a:spcPts val="0"/>
              </a:spcAft>
              <a:buSzPts val="1980"/>
              <a:buNone/>
            </a:pPr>
            <a:endParaRPr sz="1800" b="1" i="1">
              <a:solidFill>
                <a:srgbClr val="3366FF"/>
              </a:solidFill>
            </a:endParaRPr>
          </a:p>
          <a:p>
            <a:pPr marL="342900" lvl="0" indent="-217170" algn="l" rtl="0">
              <a:spcBef>
                <a:spcPts val="630"/>
              </a:spcBef>
              <a:spcAft>
                <a:spcPts val="0"/>
              </a:spcAft>
              <a:buSzPts val="1980"/>
              <a:buNone/>
            </a:pPr>
            <a:endParaRPr sz="1800" b="1" i="1">
              <a:solidFill>
                <a:srgbClr val="3366FF"/>
              </a:solidFill>
            </a:endParaRPr>
          </a:p>
          <a:p>
            <a:pPr marL="342900" lvl="0" indent="-217170" algn="l" rtl="0">
              <a:spcBef>
                <a:spcPts val="630"/>
              </a:spcBef>
              <a:spcAft>
                <a:spcPts val="0"/>
              </a:spcAft>
              <a:buSzPts val="1980"/>
              <a:buNone/>
            </a:pPr>
            <a:endParaRPr sz="1800" b="1" i="1">
              <a:solidFill>
                <a:srgbClr val="3366FF"/>
              </a:solidFill>
            </a:endParaRPr>
          </a:p>
          <a:p>
            <a:pPr marL="342900" lvl="0" indent="-217170" algn="l" rtl="0">
              <a:spcBef>
                <a:spcPts val="630"/>
              </a:spcBef>
              <a:spcAft>
                <a:spcPts val="0"/>
              </a:spcAft>
              <a:buSzPts val="1980"/>
              <a:buNone/>
            </a:pPr>
            <a:endParaRPr sz="1800" b="1" i="1">
              <a:solidFill>
                <a:srgbClr val="3366FF"/>
              </a:solidFill>
            </a:endParaRPr>
          </a:p>
          <a:p>
            <a:pPr marL="342900" lvl="0" indent="-217170" algn="l" rtl="0">
              <a:spcBef>
                <a:spcPts val="630"/>
              </a:spcBef>
              <a:spcAft>
                <a:spcPts val="0"/>
              </a:spcAft>
              <a:buSzPts val="1980"/>
              <a:buNone/>
            </a:pPr>
            <a:endParaRPr sz="1800" b="1" i="1">
              <a:solidFill>
                <a:srgbClr val="3366FF"/>
              </a:solidFill>
            </a:endParaRPr>
          </a:p>
          <a:p>
            <a:pPr marL="342900" lvl="0" indent="-342900" algn="l" rtl="0">
              <a:spcBef>
                <a:spcPts val="630"/>
              </a:spcBef>
              <a:spcAft>
                <a:spcPts val="0"/>
              </a:spcAft>
              <a:buSzPts val="1980"/>
              <a:buFont typeface="Arial" panose="020B0604020202020204"/>
              <a:buNone/>
            </a:pPr>
            <a:endParaRPr sz="1800" b="1" i="1">
              <a:solidFill>
                <a:srgbClr val="3366FF"/>
              </a:solidFill>
            </a:endParaRPr>
          </a:p>
          <a:p>
            <a:pPr marL="342900" lvl="0" indent="-342900" algn="l" rtl="0">
              <a:spcBef>
                <a:spcPts val="630"/>
              </a:spcBef>
              <a:spcAft>
                <a:spcPts val="0"/>
              </a:spcAft>
              <a:buSzPts val="1980"/>
              <a:buChar char="▪"/>
            </a:pPr>
            <a:r>
              <a:rPr lang="en-US" sz="1800" b="1">
                <a:solidFill>
                  <a:srgbClr val="3366FF"/>
                </a:solidFill>
              </a:rPr>
              <a:t>Bitmap</a:t>
            </a:r>
            <a:r>
              <a:rPr lang="en-US" sz="1800"/>
              <a:t> – string of </a:t>
            </a:r>
            <a:r>
              <a:rPr lang="en-US" sz="1800" i="1"/>
              <a:t>n</a:t>
            </a:r>
            <a:r>
              <a:rPr lang="en-US" sz="1800"/>
              <a:t> binary digits representing the status of </a:t>
            </a:r>
            <a:r>
              <a:rPr lang="en-US" sz="1800" i="1"/>
              <a:t>n</a:t>
            </a:r>
            <a:r>
              <a:rPr lang="en-US" sz="1800"/>
              <a:t> items</a:t>
            </a:r>
            <a:endParaRPr lang="en-US" sz="1800"/>
          </a:p>
          <a:p>
            <a:pPr marL="342900" lvl="0" indent="-342900" algn="l" rtl="0">
              <a:spcBef>
                <a:spcPts val="630"/>
              </a:spcBef>
              <a:spcAft>
                <a:spcPts val="0"/>
              </a:spcAft>
              <a:buSzPts val="1980"/>
              <a:buChar char="▪"/>
            </a:pPr>
            <a:r>
              <a:rPr lang="en-US" sz="1800"/>
              <a:t>Linux data structures defined in </a:t>
            </a:r>
            <a:r>
              <a:rPr lang="en-US" sz="1800" b="1" i="1"/>
              <a:t>include</a:t>
            </a:r>
            <a:r>
              <a:rPr lang="en-US" sz="1800"/>
              <a:t> files </a:t>
            </a:r>
            <a:r>
              <a:rPr lang="en-US" sz="1800">
                <a:latin typeface="Courier New" panose="02070309020205020404"/>
                <a:ea typeface="Courier New" panose="02070309020205020404"/>
                <a:cs typeface="Courier New" panose="02070309020205020404"/>
                <a:sym typeface="Courier New" panose="02070309020205020404"/>
              </a:rPr>
              <a:t>&lt;linux/list.h&gt;, &lt;linux/kfifo.h&gt;, &lt;linux/rbtree.h&gt;</a:t>
            </a:r>
            <a:endParaRPr lang="en-US" sz="1800">
              <a:latin typeface="Courier New" panose="02070309020205020404"/>
              <a:ea typeface="Courier New" panose="02070309020205020404"/>
              <a:cs typeface="Courier New" panose="02070309020205020404"/>
              <a:sym typeface="Courier New" panose="02070309020205020404"/>
            </a:endParaR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147320" algn="l" rtl="0">
              <a:spcBef>
                <a:spcPts val="980"/>
              </a:spcBef>
              <a:spcAft>
                <a:spcPts val="0"/>
              </a:spcAft>
              <a:buSzPts val="3080"/>
              <a:buNone/>
            </a:pPr>
          </a:p>
          <a:p>
            <a:pPr marL="342900" lvl="0" indent="-342900" algn="l" rtl="0">
              <a:spcBef>
                <a:spcPts val="980"/>
              </a:spcBef>
              <a:spcAft>
                <a:spcPts val="0"/>
              </a:spcAft>
              <a:buSzPts val="3080"/>
              <a:buFont typeface="Arial" panose="020B0604020202020204"/>
              <a:buNone/>
            </a:pPr>
          </a:p>
          <a:p>
            <a:pPr marL="342900" lvl="0" indent="-147320" algn="l" rtl="0">
              <a:spcBef>
                <a:spcPts val="980"/>
              </a:spcBef>
              <a:spcAft>
                <a:spcPts val="0"/>
              </a:spcAft>
              <a:buSzPts val="3080"/>
              <a:buNone/>
            </a:pPr>
          </a:p>
        </p:txBody>
      </p:sp>
      <p:pic>
        <p:nvPicPr>
          <p:cNvPr id="527" name="Google Shape;527;p73" descr="1_17.pdf"/>
          <p:cNvPicPr preferRelativeResize="0"/>
          <p:nvPr/>
        </p:nvPicPr>
        <p:blipFill rotWithShape="1">
          <a:blip r:embed="rId1"/>
          <a:srcRect/>
          <a:stretch>
            <a:fillRect/>
          </a:stretch>
        </p:blipFill>
        <p:spPr>
          <a:xfrm>
            <a:off x="2092325" y="1863725"/>
            <a:ext cx="4873625" cy="19621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532" name="Shape 532"/>
        <p:cNvGrpSpPr/>
        <p:nvPr/>
      </p:nvGrpSpPr>
      <p:grpSpPr>
        <a:xfrm>
          <a:off x="0" y="0"/>
          <a:ext cx="0" cy="0"/>
          <a:chOff x="0" y="0"/>
          <a:chExt cx="0" cy="0"/>
        </a:xfrm>
      </p:grpSpPr>
      <p:sp>
        <p:nvSpPr>
          <p:cNvPr id="533" name="Google Shape;533;p74"/>
          <p:cNvSpPr txBox="1"/>
          <p:nvPr>
            <p:ph type="ctrTitle"/>
          </p:nvPr>
        </p:nvSpPr>
        <p:spPr>
          <a:xfrm>
            <a:off x="685800" y="685800"/>
            <a:ext cx="7772400" cy="212725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End of Chapter 1</a:t>
            </a:r>
            <a:endParaRPr lang="en-US"/>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24719</Words>
  <Application>WPS Presentation</Application>
  <PresentationFormat/>
  <Paragraphs>652</Paragraphs>
  <Slides>74</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74</vt:i4>
      </vt:variant>
    </vt:vector>
  </HeadingPairs>
  <TitlesOfParts>
    <vt:vector size="89" baseType="lpstr">
      <vt:lpstr>Arial</vt:lpstr>
      <vt:lpstr>SimSun</vt:lpstr>
      <vt:lpstr>Wingdings</vt:lpstr>
      <vt:lpstr>Arial</vt:lpstr>
      <vt:lpstr>Noto Sans Symbols</vt:lpstr>
      <vt:lpstr>Siyam Rupali</vt:lpstr>
      <vt:lpstr>Helvetica Neue</vt:lpstr>
      <vt:lpstr>Arimo</vt:lpstr>
      <vt:lpstr>Times New Roman</vt:lpstr>
      <vt:lpstr>Verdana</vt:lpstr>
      <vt:lpstr>Calibri</vt:lpstr>
      <vt:lpstr>Microsoft YaHei</vt:lpstr>
      <vt:lpstr>Arial Unicode MS</vt:lpstr>
      <vt:lpstr>Courier New</vt:lpstr>
      <vt:lpstr>os-8</vt:lpstr>
      <vt:lpstr>Chapter 1:  Introduction</vt:lpstr>
      <vt:lpstr>Chapter 1: Introduction</vt:lpstr>
      <vt:lpstr>Objectives</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演示文稿</vt:lpstr>
      <vt:lpstr>Computer System Organization</vt:lpstr>
      <vt:lpstr>Computer-System Operation</vt:lpstr>
      <vt:lpstr>Common Functions of Interrupts</vt:lpstr>
      <vt:lpstr>Interrupt Timeline</vt:lpstr>
      <vt:lpstr>Interrupt Handling</vt:lpstr>
      <vt:lpstr>Interrupt-drive I/O Cycle</vt:lpstr>
      <vt:lpstr>I/O Structure</vt:lpstr>
      <vt:lpstr>I/O Structure (Cont.)</vt:lpstr>
      <vt:lpstr>Computer Startup</vt:lpstr>
      <vt:lpstr>PowerPoint 演示文稿</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Distributed Systems</vt:lpstr>
      <vt:lpstr>PowerPoint 演示文稿</vt:lpstr>
      <vt:lpstr>Computer-System Architecture</vt:lpstr>
      <vt:lpstr>Symmetric Multiprocessing Architecture</vt:lpstr>
      <vt:lpstr>Dual-Core Design</vt:lpstr>
      <vt:lpstr>Non-Uniform Memory Access System</vt:lpstr>
      <vt:lpstr>Clustered Systems</vt:lpstr>
      <vt:lpstr>Clustered Systems</vt:lpstr>
      <vt:lpstr>PC Motherboard</vt:lpstr>
      <vt:lpstr>PowerPoint 演示文稿</vt:lpstr>
      <vt:lpstr>Computing Environments</vt:lpstr>
      <vt:lpstr>Traditional</vt:lpstr>
      <vt:lpstr>Mobile</vt:lpstr>
      <vt:lpstr>Client Server</vt:lpstr>
      <vt:lpstr>Peer-to-Peer</vt:lpstr>
      <vt:lpstr>Cloud Computing</vt:lpstr>
      <vt:lpstr>Cloud Computing (Cont.)</vt:lpstr>
      <vt:lpstr>PowerPoint 演示文稿</vt:lpstr>
      <vt:lpstr>Real-Time Embedded Systems</vt:lpstr>
      <vt:lpstr>Free and Open-Source Operating Systems</vt:lpstr>
      <vt:lpstr>The Study of Operating Systems</vt:lpstr>
      <vt:lpstr>Kernel Data Structure</vt:lpstr>
      <vt:lpstr>Kernel Data Structures</vt:lpstr>
      <vt:lpstr>Kernel Data Structures</vt:lpstr>
      <vt:lpstr>Kernel Data Structures</vt:lpstr>
      <vt:lpstr>End of Chapter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Lucent End User</dc:creator>
  <cp:lastModifiedBy>prose</cp:lastModifiedBy>
  <cp:revision>4</cp:revision>
  <dcterms:created xsi:type="dcterms:W3CDTF">2026-02-20T16:24:00Z</dcterms:created>
  <dcterms:modified xsi:type="dcterms:W3CDTF">2026-02-21T06:14:31Z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B763DB89169E4EEEB03FE334548D3D24_12</vt:lpwstr>
  </property>
  <property fmtid="{D5CDD505-2E9C-101B-9397-08002B2CF9AE}" pid="3" name="KSOProductBuildVer">
    <vt:lpwstr>1033-12.2.0.20323</vt:lpwstr>
  </property>
</Properties>
</file>