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7" d="100"/>
          <a:sy n="87" d="100"/>
        </p:scale>
        <p:origin x="528" y="58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89072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368042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5432834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7885459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0143769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077318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497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0441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777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B15CB6-F16C-362B-5689-14C553A55D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3280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5722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293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282E64-6F79-425F-1E72-0DCE477DFD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84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2938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599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3ABFCE-CFBC-0CD4-714F-388AD58076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1234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7936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4753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A2413F-0516-A1EB-C5F9-65CE94761C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414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77756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8954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BF170-E5F2-1620-2DF3-BEEF3D7C3F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1432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4705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615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241E4D-7742-3691-9D63-0FE4223172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8855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569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870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E39CEC-8F1B-3583-2EDA-2E3BC69926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284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4155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694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72908-52DE-3D01-3772-6294655EC5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379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8010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115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4CFBA0-D264-AE62-2DFB-5B5BC9A54F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612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250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638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ED8841-358C-A386-AC87-9D7249B2BA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95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568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212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C620E-1C5B-9E0E-C2A3-95F2227F7B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2668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058236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280285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19038791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94338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9175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379790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28633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5779424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05783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05826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1043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3947112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5669449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68458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7242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4732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08803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3395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17392531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84400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49879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12594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4962535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9108862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04174629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946132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79415306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028819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2991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0631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205789107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850061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31069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3892434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212125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6710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4655706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60739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6569751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6825189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84533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7816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38203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161880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32623753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8213560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15426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9912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93854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40835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215322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13679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07658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250425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20951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2524499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71680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65261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93202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128997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13423145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6595891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841367" name="Title 1"/>
          <p:cNvSpPr>
            <a:spLocks noGrp="1"/>
          </p:cNvSpPr>
          <p:nvPr>
            <p:ph type="ctr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en-US" sz="4400" b="1">
                <a:solidFill>
                  <a:srgbClr val="FF0000"/>
                </a:solidFill>
              </a:rPr>
              <a:t>Requirements of transmitter and receiver in WDM networks, types of tunable lasers, optical amplifiers, SOA and FOA, EDFA and EBFA.</a:t>
            </a:r>
            <a:endParaRPr/>
          </a:p>
        </p:txBody>
      </p:sp>
      <p:sp>
        <p:nvSpPr>
          <p:cNvPr id="666377925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8508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WDM (Wavelength Division Multiplexing)</a:t>
            </a:r>
            <a:r>
              <a:rPr lang="en-US"/>
              <a:t> </a:t>
            </a:r>
            <a:endParaRPr lang="en-US"/>
          </a:p>
        </p:txBody>
      </p:sp>
      <p:sp>
        <p:nvSpPr>
          <p:cNvPr id="17508246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 </a:t>
            </a:r>
            <a:r>
              <a:rPr lang="en-US" b="1"/>
              <a:t>WDM (Wavelength Division Multiplexing)</a:t>
            </a:r>
            <a:r>
              <a:rPr lang="en-US"/>
              <a:t> networks, </a:t>
            </a:r>
            <a:r>
              <a:rPr lang="en-US">
                <a:solidFill>
                  <a:srgbClr val="FF0000"/>
                </a:solidFill>
              </a:rPr>
              <a:t>multiple data signals are sent simultaneously</a:t>
            </a:r>
            <a:r>
              <a:rPr lang="en-US"/>
              <a:t> over a single optical fiber </a:t>
            </a:r>
            <a:r>
              <a:rPr lang="en-US">
                <a:solidFill>
                  <a:srgbClr val="FF0000"/>
                </a:solidFill>
              </a:rPr>
              <a:t>by using different wavelengths (colors) of laser light</a:t>
            </a:r>
            <a:r>
              <a:rPr lang="en-US"/>
              <a:t>. </a:t>
            </a:r>
            <a:endParaRPr/>
          </a:p>
          <a:p>
            <a:pPr>
              <a:defRPr/>
            </a:pPr>
            <a:r>
              <a:rPr lang="en-US"/>
              <a:t>To make this work, the hardware—</a:t>
            </a:r>
            <a:r>
              <a:rPr lang="en-US">
                <a:solidFill>
                  <a:srgbClr val="FF0000"/>
                </a:solidFill>
              </a:rPr>
              <a:t>transmitters, receivers, and amplifiers—must meet specific high-performance requirements</a:t>
            </a:r>
            <a:r>
              <a:rPr lang="en-US"/>
              <a:t>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83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1. Transmitter and Receiver Requirements</a:t>
            </a:r>
            <a:endParaRPr lang="en-US"/>
          </a:p>
        </p:txBody>
      </p:sp>
      <p:sp>
        <p:nvSpPr>
          <p:cNvPr id="1017441929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3600" b="1"/>
              <a:t>Transmitter Requirements:</a:t>
            </a:r>
            <a:endParaRPr/>
          </a:p>
          <a:p>
            <a:pPr lvl="1">
              <a:defRPr/>
            </a:pPr>
            <a:r>
              <a:rPr lang="en-US" sz="3200" b="1"/>
              <a:t>Precision Wavelength:</a:t>
            </a:r>
            <a:r>
              <a:rPr lang="en-US" sz="3200"/>
              <a:t> The laser must emit </a:t>
            </a:r>
            <a:r>
              <a:rPr lang="en-US" sz="3200">
                <a:solidFill>
                  <a:srgbClr val="FF0000"/>
                </a:solidFill>
              </a:rPr>
              <a:t>a very specific wavelength to avoid interfering with adjacent channels </a:t>
            </a:r>
            <a:r>
              <a:rPr lang="en-US" sz="3200"/>
              <a:t>(Crosstalk).</a:t>
            </a:r>
            <a:endParaRPr/>
          </a:p>
          <a:p>
            <a:pPr lvl="1">
              <a:defRPr/>
            </a:pPr>
            <a:r>
              <a:rPr lang="en-US" sz="3200" b="1"/>
              <a:t>Stability:</a:t>
            </a:r>
            <a:r>
              <a:rPr lang="en-US" sz="3200"/>
              <a:t> The wavelength </a:t>
            </a:r>
            <a:r>
              <a:rPr lang="en-US" sz="3200">
                <a:solidFill>
                  <a:srgbClr val="FF0000"/>
                </a:solidFill>
              </a:rPr>
              <a:t>must remain constant regardless of temperature changes </a:t>
            </a:r>
            <a:r>
              <a:rPr lang="en-US" sz="3200"/>
              <a:t>(often using "wavelength lockers").</a:t>
            </a:r>
            <a:endParaRPr/>
          </a:p>
          <a:p>
            <a:pPr lvl="1">
              <a:defRPr/>
            </a:pPr>
            <a:r>
              <a:rPr lang="en-US" sz="3200" b="1"/>
              <a:t>Narrow Linewidth:</a:t>
            </a:r>
            <a:r>
              <a:rPr lang="en-US" sz="3200"/>
              <a:t> The light beam must be </a:t>
            </a:r>
            <a:r>
              <a:rPr lang="en-US" sz="3200">
                <a:solidFill>
                  <a:srgbClr val="FF0000"/>
                </a:solidFill>
              </a:rPr>
              <a:t>"pure" so the signal doesn't spread out (dispersion) over long distances</a:t>
            </a:r>
            <a:r>
              <a:rPr lang="en-US" sz="3200"/>
              <a:t>.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4580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wavelength lockers</a:t>
            </a:r>
            <a:endParaRPr lang="en-US" b="1"/>
          </a:p>
        </p:txBody>
      </p:sp>
      <p:sp>
        <p:nvSpPr>
          <p:cNvPr id="191721242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Wavelength lockers </a:t>
            </a:r>
            <a:r>
              <a:rPr lang="as-IN"/>
              <a:t>হলো অপটিক্যাল কমিউনিকেশন সিস্টেমে ব্যবহৃত একটি গুরুত্বপূর্ণ ডিভাইস, যা লেজারের নির্দিষ্ট তরঙ্গদৈর্ঘ্য (</a:t>
            </a:r>
            <a:r>
              <a:rPr lang="en-US"/>
              <a:t>wavelength) </a:t>
            </a:r>
            <a:r>
              <a:rPr lang="as-IN"/>
              <a:t>স্থির রাখতে সাহায্য করে।</a:t>
            </a:r>
            <a:endParaRPr lang="en-US"/>
          </a:p>
          <a:p>
            <a:pPr>
              <a:defRPr/>
            </a:pPr>
            <a:r>
              <a:rPr lang="as-IN"/>
              <a:t>লেজার থেকে যে আলো বের হয়, তার </a:t>
            </a:r>
            <a:r>
              <a:rPr lang="en-US"/>
              <a:t>wavelength </a:t>
            </a:r>
            <a:r>
              <a:rPr lang="as-IN"/>
              <a:t>কখনো কখনো তাপমাত্রা বা অন্য কারণে পরিবর্তিত হতে পারে। কিন্তু </a:t>
            </a:r>
            <a:r>
              <a:rPr lang="en-US" b="1"/>
              <a:t>fiber optic communication</a:t>
            </a:r>
            <a:r>
              <a:rPr lang="en-US"/>
              <a:t>-</a:t>
            </a:r>
            <a:r>
              <a:rPr lang="as-IN"/>
              <a:t>এ নির্দিষ্ট </a:t>
            </a:r>
            <a:r>
              <a:rPr lang="en-US"/>
              <a:t>wavelength </a:t>
            </a:r>
            <a:r>
              <a:rPr lang="as-IN"/>
              <a:t>খুব গুরুত্বপূর্ণ (বিশেষ করে </a:t>
            </a:r>
            <a:r>
              <a:rPr lang="en-US"/>
              <a:t>WDM </a:t>
            </a:r>
            <a:r>
              <a:rPr lang="as-IN"/>
              <a:t>সিস্টেমে)।</a:t>
            </a:r>
            <a:endParaRPr lang="en-US"/>
          </a:p>
          <a:p>
            <a:pPr lvl="1">
              <a:defRPr/>
            </a:pPr>
            <a:r>
              <a:rPr lang="as-IN"/>
              <a:t>এই </a:t>
            </a:r>
            <a:r>
              <a:rPr lang="en-US"/>
              <a:t>wavelength </a:t>
            </a:r>
            <a:r>
              <a:rPr lang="as-IN"/>
              <a:t>ঠিক রাখার কাজই করে </a:t>
            </a:r>
            <a:r>
              <a:rPr lang="en-US" b="1"/>
              <a:t>wavelength locker</a:t>
            </a:r>
            <a:r>
              <a:rPr lang="en-US"/>
              <a:t>।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013198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3600" b="1"/>
              <a:t>Receiver Requirements:</a:t>
            </a:r>
            <a:endParaRPr/>
          </a:p>
          <a:p>
            <a:pPr lvl="1">
              <a:defRPr/>
            </a:pPr>
            <a:r>
              <a:rPr lang="en-US" sz="3200" b="1"/>
              <a:t>Selectivity:</a:t>
            </a:r>
            <a:r>
              <a:rPr lang="en-US" sz="3200"/>
              <a:t> The receiver must be </a:t>
            </a:r>
            <a:r>
              <a:rPr lang="en-US" sz="3200">
                <a:solidFill>
                  <a:srgbClr val="FF0000"/>
                </a:solidFill>
              </a:rPr>
              <a:t>able to pick out one specific wavelength from the many arriving at the end of the fiber</a:t>
            </a:r>
            <a:r>
              <a:rPr lang="en-US" sz="3200"/>
              <a:t>.</a:t>
            </a:r>
            <a:endParaRPr/>
          </a:p>
          <a:p>
            <a:pPr lvl="1">
              <a:defRPr/>
            </a:pPr>
            <a:r>
              <a:rPr lang="en-US" sz="3200" b="1"/>
              <a:t>Sensitivity:</a:t>
            </a:r>
            <a:r>
              <a:rPr lang="en-US" sz="3200"/>
              <a:t> It must be </a:t>
            </a:r>
            <a:r>
              <a:rPr lang="en-US" sz="3200">
                <a:solidFill>
                  <a:srgbClr val="FF0000"/>
                </a:solidFill>
              </a:rPr>
              <a:t>able to detect very weak signals after they have traveled hundreds of kilometers</a:t>
            </a:r>
            <a:r>
              <a:rPr lang="en-US" sz="3200"/>
              <a:t>.</a:t>
            </a:r>
            <a:endParaRPr/>
          </a:p>
          <a:p>
            <a:pPr lvl="1">
              <a:defRPr/>
            </a:pPr>
            <a:r>
              <a:rPr lang="en-US" sz="3200" b="1"/>
              <a:t>Wide Bandwidth:</a:t>
            </a:r>
            <a:r>
              <a:rPr lang="en-US" sz="3200"/>
              <a:t> It </a:t>
            </a:r>
            <a:r>
              <a:rPr lang="en-US" sz="3200">
                <a:solidFill>
                  <a:srgbClr val="FF0000"/>
                </a:solidFill>
              </a:rPr>
              <a:t>needs to handle the high data rates (e.g., 100Gbps or 400Gbps) sent by the transmitter</a:t>
            </a:r>
            <a:r>
              <a:rPr lang="en-US" sz="3200"/>
              <a:t>.</a:t>
            </a:r>
            <a:endParaRPr/>
          </a:p>
          <a:p>
            <a:pPr>
              <a:defRPr/>
            </a:pPr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2233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2. Types of Tunable Lasers</a:t>
            </a:r>
            <a:br>
              <a:rPr lang="en-US" b="1"/>
            </a:br>
            <a:endParaRPr lang="en-US"/>
          </a:p>
        </p:txBody>
      </p:sp>
      <p:sp>
        <p:nvSpPr>
          <p:cNvPr id="162952925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en-US" sz="3200"/>
              <a:t>A tunable laser </a:t>
            </a:r>
            <a:r>
              <a:rPr lang="en-US" sz="3200">
                <a:solidFill>
                  <a:srgbClr val="FF0000"/>
                </a:solidFill>
              </a:rPr>
              <a:t>can change its operating wavelength</a:t>
            </a:r>
            <a:r>
              <a:rPr lang="en-US" sz="3200"/>
              <a:t>. </a:t>
            </a:r>
            <a:endParaRPr/>
          </a:p>
          <a:p>
            <a:pPr>
              <a:defRPr/>
            </a:pPr>
            <a:r>
              <a:rPr lang="en-US" sz="3200"/>
              <a:t>This is </a:t>
            </a:r>
            <a:r>
              <a:rPr lang="en-US" sz="3200">
                <a:solidFill>
                  <a:srgbClr val="FF0000"/>
                </a:solidFill>
              </a:rPr>
              <a:t>useful because one backup laser can replace any failed laser in a WDM system</a:t>
            </a:r>
            <a:r>
              <a:rPr lang="en-US" sz="3200"/>
              <a:t>.</a:t>
            </a:r>
            <a:endParaRPr/>
          </a:p>
          <a:p>
            <a:pPr lvl="1">
              <a:defRPr/>
            </a:pPr>
            <a:r>
              <a:rPr lang="en-US" sz="2800" b="1"/>
              <a:t>External Cavity Lasers (ECL):</a:t>
            </a:r>
            <a:r>
              <a:rPr lang="en-US" sz="2800"/>
              <a:t> Uses a </a:t>
            </a:r>
            <a:r>
              <a:rPr lang="en-US" sz="2800">
                <a:solidFill>
                  <a:srgbClr val="FF0000"/>
                </a:solidFill>
              </a:rPr>
              <a:t>physical grating that moves to change the color</a:t>
            </a:r>
            <a:r>
              <a:rPr lang="en-US" sz="2800"/>
              <a:t>. Very </a:t>
            </a:r>
            <a:r>
              <a:rPr lang="en-US" sz="2800">
                <a:solidFill>
                  <a:srgbClr val="FF0000"/>
                </a:solidFill>
              </a:rPr>
              <a:t>precise but mechanically complex</a:t>
            </a:r>
            <a:r>
              <a:rPr lang="en-US" sz="2800"/>
              <a:t>.</a:t>
            </a:r>
            <a:endParaRPr/>
          </a:p>
          <a:p>
            <a:pPr lvl="1">
              <a:defRPr/>
            </a:pPr>
            <a:r>
              <a:rPr lang="en-US" sz="2800" b="1"/>
              <a:t>Distributed Br</a:t>
            </a:r>
            <a:r>
              <a:rPr lang="en-US" sz="2800" b="1"/>
              <a:t>agg Reflector (DBR):</a:t>
            </a:r>
            <a:r>
              <a:rPr lang="en-US" sz="2800"/>
              <a:t> </a:t>
            </a:r>
            <a:r>
              <a:rPr lang="en-US" sz="2800">
                <a:solidFill>
                  <a:srgbClr val="FF0000"/>
                </a:solidFill>
              </a:rPr>
              <a:t>Uses electrical current to change the refractive index of a built-in grating, changing the wavelength</a:t>
            </a:r>
            <a:r>
              <a:rPr lang="en-US" sz="2800"/>
              <a:t>.</a:t>
            </a:r>
            <a:endParaRPr/>
          </a:p>
          <a:p>
            <a:pPr lvl="1">
              <a:defRPr/>
            </a:pPr>
            <a:r>
              <a:rPr lang="en-US" sz="2800" b="1"/>
              <a:t>Vertical Cavity Surface Emitting Lasers (VCSEL):</a:t>
            </a:r>
            <a:r>
              <a:rPr lang="en-US" sz="2800"/>
              <a:t> Small and cheap; </a:t>
            </a:r>
            <a:r>
              <a:rPr lang="en-US" sz="2800">
                <a:solidFill>
                  <a:srgbClr val="FF0000"/>
                </a:solidFill>
              </a:rPr>
              <a:t>they tune by moving a tiny top mirror </a:t>
            </a:r>
            <a:r>
              <a:rPr lang="en-US" sz="2800"/>
              <a:t>using MEMS technology.</a:t>
            </a:r>
            <a:endParaRPr/>
          </a:p>
          <a:p>
            <a:pPr>
              <a:defRPr/>
            </a:pP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9362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MEMS technology</a:t>
            </a:r>
            <a:endParaRPr lang="en-US"/>
          </a:p>
        </p:txBody>
      </p:sp>
      <p:sp>
        <p:nvSpPr>
          <p:cNvPr id="1967011315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MEMS technology </a:t>
            </a:r>
            <a:r>
              <a:rPr lang="as-IN"/>
              <a:t>এর পূর্ণরূপ হলো </a:t>
            </a:r>
            <a:r>
              <a:rPr lang="en-US"/>
              <a:t>Micro-Electro-Mechanical Systems।.</a:t>
            </a:r>
            <a:endParaRPr/>
          </a:p>
          <a:p>
            <a:pPr>
              <a:defRPr/>
            </a:pPr>
            <a:r>
              <a:rPr lang="en-US"/>
              <a:t>MEMS </a:t>
            </a:r>
            <a:r>
              <a:rPr lang="as-IN"/>
              <a:t>হলো এমন একটি প্রযুক্তি যেখানে খুব ছোট (</a:t>
            </a:r>
            <a:r>
              <a:rPr lang="en-US"/>
              <a:t>micro-level) </a:t>
            </a:r>
            <a:r>
              <a:rPr lang="en-US" b="1"/>
              <a:t>mechanical + electrical components</a:t>
            </a:r>
            <a:r>
              <a:rPr lang="en-US"/>
              <a:t> </a:t>
            </a:r>
            <a:r>
              <a:rPr lang="as-IN"/>
              <a:t>একসাথে একটি চিপের মধ্যে তৈরি করা হয়।</a:t>
            </a:r>
            <a:endParaRPr lang="en-US"/>
          </a:p>
          <a:p>
            <a:pPr>
              <a:defRPr/>
            </a:pPr>
            <a:r>
              <a:rPr lang="as-IN" b="1"/>
              <a:t>উদাহরণ:</a:t>
            </a:r>
            <a:endParaRPr/>
          </a:p>
          <a:p>
            <a:pPr lvl="1">
              <a:defRPr/>
            </a:pPr>
            <a:r>
              <a:rPr lang="en-US"/>
              <a:t>Mobile phone-</a:t>
            </a:r>
            <a:r>
              <a:rPr lang="as-IN"/>
              <a:t>এর </a:t>
            </a:r>
            <a:r>
              <a:rPr lang="en-US" b="1"/>
              <a:t>accelerometer</a:t>
            </a:r>
            <a:r>
              <a:rPr lang="en-US"/>
              <a:t> (</a:t>
            </a:r>
            <a:r>
              <a:rPr lang="as-IN"/>
              <a:t>ফোন ঘোরালে </a:t>
            </a:r>
            <a:r>
              <a:rPr lang="en-US"/>
              <a:t>screen rotate </a:t>
            </a:r>
            <a:r>
              <a:rPr lang="as-IN"/>
              <a:t>হয়) </a:t>
            </a:r>
            <a:endParaRPr/>
          </a:p>
          <a:p>
            <a:pPr lvl="1">
              <a:defRPr/>
            </a:pPr>
            <a:r>
              <a:rPr lang="en-US"/>
              <a:t>Car airbag sensor </a:t>
            </a:r>
            <a:endParaRPr/>
          </a:p>
          <a:p>
            <a:pPr lvl="1">
              <a:defRPr/>
            </a:pPr>
            <a:r>
              <a:rPr lang="en-US"/>
              <a:t>Inkjet printer head 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7908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3. Optical Amplifiers</a:t>
            </a:r>
            <a:endParaRPr lang="en-US" b="1"/>
          </a:p>
        </p:txBody>
      </p:sp>
      <p:sp>
        <p:nvSpPr>
          <p:cNvPr id="209332834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 the past, to boost a signal, we </a:t>
            </a:r>
            <a:r>
              <a:rPr lang="en-US">
                <a:solidFill>
                  <a:srgbClr val="FF0000"/>
                </a:solidFill>
              </a:rPr>
              <a:t>had to convert light to electricity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amplify it, and turn it back to light</a:t>
            </a:r>
            <a:r>
              <a:rPr lang="en-US"/>
              <a:t>. </a:t>
            </a:r>
            <a:endParaRPr/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Modern </a:t>
            </a:r>
            <a:r>
              <a:rPr lang="en-US" b="1">
                <a:solidFill>
                  <a:srgbClr val="FF0000"/>
                </a:solidFill>
              </a:rPr>
              <a:t>Optical Amplifiers</a:t>
            </a:r>
            <a:r>
              <a:rPr lang="en-US">
                <a:solidFill>
                  <a:srgbClr val="FF0000"/>
                </a:solidFill>
              </a:rPr>
              <a:t> boost the light signal directly</a:t>
            </a:r>
            <a:r>
              <a:rPr lang="en-US"/>
              <a:t>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8308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3. Optical Amplifiers</a:t>
            </a:r>
            <a:endParaRPr lang="en-US" b="1"/>
          </a:p>
        </p:txBody>
      </p:sp>
      <p:sp>
        <p:nvSpPr>
          <p:cNvPr id="76223830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b="1"/>
              <a:t>SOA (Semiconductor Optical Amplifier)</a:t>
            </a:r>
            <a:endParaRPr/>
          </a:p>
          <a:p>
            <a:pPr lvl="1">
              <a:defRPr/>
            </a:pPr>
            <a:r>
              <a:rPr lang="en-US" b="1"/>
              <a:t>Mechanism:</a:t>
            </a:r>
            <a:r>
              <a:rPr lang="en-US"/>
              <a:t> Uses a semiconductor chip (</a:t>
            </a:r>
            <a:r>
              <a:rPr lang="en-US">
                <a:solidFill>
                  <a:srgbClr val="FF0000"/>
                </a:solidFill>
              </a:rPr>
              <a:t>similar to a laser but without the mirrors</a:t>
            </a:r>
            <a:r>
              <a:rPr lang="en-US"/>
              <a:t>).</a:t>
            </a:r>
            <a:endParaRPr/>
          </a:p>
          <a:p>
            <a:pPr lvl="1">
              <a:defRPr/>
            </a:pPr>
            <a:r>
              <a:rPr lang="en-US" b="1"/>
              <a:t>Pros: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Small, can be integrated on circuits</a:t>
            </a:r>
            <a:r>
              <a:rPr lang="en-US"/>
              <a:t>.</a:t>
            </a:r>
            <a:endParaRPr/>
          </a:p>
          <a:p>
            <a:pPr lvl="1">
              <a:defRPr/>
            </a:pPr>
            <a:r>
              <a:rPr lang="en-US" b="1"/>
              <a:t>Cons: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Higher noise and lower power than fiber-based amplifiers</a:t>
            </a:r>
            <a:r>
              <a:rPr lang="en-US"/>
              <a:t>.</a:t>
            </a:r>
            <a:endParaRPr/>
          </a:p>
          <a:p>
            <a:pPr>
              <a:defRPr/>
            </a:pPr>
            <a:r>
              <a:rPr lang="en-US" b="1"/>
              <a:t>EDFA (Erbium-Doped Fiber Amplifier)</a:t>
            </a:r>
            <a:endParaRPr/>
          </a:p>
          <a:p>
            <a:pPr lvl="1">
              <a:defRPr/>
            </a:pPr>
            <a:r>
              <a:rPr lang="en-US" b="1"/>
              <a:t>Mechanism: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A piece of glass fiber is "doped" with Erbium ions</a:t>
            </a:r>
            <a:r>
              <a:rPr lang="en-US"/>
              <a:t>. </a:t>
            </a:r>
            <a:endParaRPr/>
          </a:p>
          <a:p>
            <a:pPr lvl="2">
              <a:defRPr/>
            </a:pPr>
            <a:r>
              <a:rPr lang="en-US"/>
              <a:t>A "pump laser" </a:t>
            </a:r>
            <a:r>
              <a:rPr lang="en-US">
                <a:solidFill>
                  <a:srgbClr val="FF0000"/>
                </a:solidFill>
              </a:rPr>
              <a:t>excites these ions, and when the signal passes through, the ions release energy to boost the signal</a:t>
            </a:r>
            <a:r>
              <a:rPr lang="en-US"/>
              <a:t>.</a:t>
            </a:r>
            <a:endParaRPr/>
          </a:p>
          <a:p>
            <a:pPr lvl="1">
              <a:defRPr/>
            </a:pPr>
            <a:r>
              <a:rPr lang="en-US" b="1"/>
              <a:t>Standard:</a:t>
            </a:r>
            <a:r>
              <a:rPr lang="en-US"/>
              <a:t> This is the </a:t>
            </a:r>
            <a:r>
              <a:rPr lang="en-US">
                <a:solidFill>
                  <a:srgbClr val="FF0000"/>
                </a:solidFill>
              </a:rPr>
              <a:t>"gold standard" for long-distance internet because it can amplify many WDM channels at once without distortion.</a:t>
            </a:r>
            <a:endParaRPr/>
          </a:p>
          <a:p>
            <a:pPr>
              <a:defRPr/>
            </a:pPr>
            <a:r>
              <a:rPr lang="en-US" b="1"/>
              <a:t>EBFA (Erbium-Bismuth Fiber Amplifier)</a:t>
            </a:r>
            <a:endParaRPr/>
          </a:p>
          <a:p>
            <a:pPr lvl="1">
              <a:defRPr/>
            </a:pPr>
            <a:r>
              <a:rPr lang="en-US" b="1"/>
              <a:t>Evolution:</a:t>
            </a:r>
            <a:r>
              <a:rPr lang="en-US"/>
              <a:t> Similar to EDFA </a:t>
            </a:r>
            <a:r>
              <a:rPr lang="en-US">
                <a:solidFill>
                  <a:srgbClr val="FF0000"/>
                </a:solidFill>
              </a:rPr>
              <a:t>but uses Bismuth-doped glass to provide a </a:t>
            </a:r>
            <a:r>
              <a:rPr lang="en-US" b="1">
                <a:solidFill>
                  <a:srgbClr val="FF0000"/>
                </a:solidFill>
              </a:rPr>
              <a:t>wider </a:t>
            </a:r>
            <a:r>
              <a:rPr lang="en-US" b="1"/>
              <a:t>bandwidth</a:t>
            </a:r>
            <a:r>
              <a:rPr lang="en-US"/>
              <a:t>, allowing even </a:t>
            </a:r>
            <a:r>
              <a:rPr lang="en-US">
                <a:solidFill>
                  <a:srgbClr val="FF0000"/>
                </a:solidFill>
              </a:rPr>
              <a:t>more WDM channels to be packed into the fiber</a:t>
            </a:r>
            <a:r>
              <a:rPr lang="en-US"/>
              <a:t>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7705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Example: The Highway Analogy</a:t>
            </a:r>
            <a:endParaRPr lang="en-US"/>
          </a:p>
        </p:txBody>
      </p:sp>
      <p:sp>
        <p:nvSpPr>
          <p:cNvPr id="191774464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Imagine a 40-lane highway (WDM Fiber).</a:t>
            </a:r>
            <a:endParaRPr/>
          </a:p>
          <a:p>
            <a:pPr lvl="1">
              <a:defRPr/>
            </a:pPr>
            <a:r>
              <a:rPr lang="en-US" b="1"/>
              <a:t>Transmitter:</a:t>
            </a:r>
            <a:r>
              <a:rPr lang="en-US"/>
              <a:t> A specialized ramp that ensures </a:t>
            </a:r>
            <a:r>
              <a:rPr lang="en-US">
                <a:solidFill>
                  <a:srgbClr val="FF0000"/>
                </a:solidFill>
              </a:rPr>
              <a:t>only Blue cars enter Lane 1 and only Red cars enter Lane 2</a:t>
            </a:r>
            <a:r>
              <a:rPr lang="en-US"/>
              <a:t>.</a:t>
            </a:r>
            <a:endParaRPr/>
          </a:p>
          <a:p>
            <a:pPr lvl="1">
              <a:defRPr/>
            </a:pPr>
            <a:r>
              <a:rPr lang="en-US" b="1"/>
              <a:t>Receiver:</a:t>
            </a:r>
            <a:r>
              <a:rPr lang="en-US"/>
              <a:t> A specialized exit that </a:t>
            </a:r>
            <a:r>
              <a:rPr lang="en-US">
                <a:solidFill>
                  <a:srgbClr val="FF0000"/>
                </a:solidFill>
              </a:rPr>
              <a:t>only lets the Blue cars off at a specific destination</a:t>
            </a:r>
            <a:r>
              <a:rPr lang="en-US"/>
              <a:t>.</a:t>
            </a:r>
            <a:endParaRPr/>
          </a:p>
          <a:p>
            <a:pPr lvl="1">
              <a:defRPr/>
            </a:pPr>
            <a:r>
              <a:rPr lang="en-US" b="1"/>
              <a:t>Amplifier (EDFA):</a:t>
            </a:r>
            <a:r>
              <a:rPr lang="en-US"/>
              <a:t> A "speed boost" zone in the middle of the highway that </a:t>
            </a:r>
            <a:r>
              <a:rPr lang="en-US">
                <a:solidFill>
                  <a:srgbClr val="FF0000"/>
                </a:solidFill>
              </a:rPr>
              <a:t>gives every car more fuel as they drive through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without them having to stop at a gas station</a:t>
            </a:r>
            <a:r>
              <a:rPr lang="en-US"/>
              <a:t>.</a:t>
            </a:r>
            <a:endParaRPr/>
          </a:p>
          <a:p>
            <a:pPr lvl="1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880472" name="Title 1"/>
          <p:cNvSpPr>
            <a:spLocks noGrp="1"/>
          </p:cNvSpPr>
          <p:nvPr>
            <p:ph type="title"/>
          </p:nvPr>
        </p:nvSpPr>
        <p:spPr bwMode="auto">
          <a:xfrm>
            <a:off x="838200" y="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WDM Power Calculation</a:t>
            </a:r>
            <a:endParaRPr lang="en-US"/>
          </a:p>
        </p:txBody>
      </p:sp>
      <p:sp>
        <p:nvSpPr>
          <p:cNvPr id="2052948621" name="Content Placeholder 2"/>
          <p:cNvSpPr>
            <a:spLocks noGrp="1"/>
          </p:cNvSpPr>
          <p:nvPr>
            <p:ph idx="1"/>
          </p:nvPr>
        </p:nvSpPr>
        <p:spPr bwMode="auto">
          <a:xfrm>
            <a:off x="741484" y="920017"/>
            <a:ext cx="10515600" cy="4351338"/>
          </a:xfrm>
        </p:spPr>
        <p:txBody>
          <a:bodyPr/>
          <a:lstStyle/>
          <a:p>
            <a:pPr>
              <a:defRPr/>
            </a:pPr>
            <a:r>
              <a:rPr lang="en-US"/>
              <a:t>A WDM system has 8 channels. Each channel enters an EDFA with a power of </a:t>
            </a:r>
            <a:r>
              <a:rPr lang="en-US" b="1"/>
              <a:t>-20 </a:t>
            </a:r>
            <a:r>
              <a:rPr lang="en-US" b="1"/>
              <a:t>dBm</a:t>
            </a:r>
            <a:r>
              <a:rPr lang="en-US"/>
              <a:t>. The </a:t>
            </a:r>
            <a:r>
              <a:rPr lang="en-US">
                <a:solidFill>
                  <a:srgbClr val="FF0000"/>
                </a:solidFill>
              </a:rPr>
              <a:t>EDFA (Erbium-Doped Fiber Amplifier) </a:t>
            </a:r>
            <a:r>
              <a:rPr lang="en-US"/>
              <a:t>has a gain of </a:t>
            </a:r>
            <a:r>
              <a:rPr lang="en-US" b="1"/>
              <a:t>25 </a:t>
            </a:r>
            <a:r>
              <a:rPr lang="en-US" b="1"/>
              <a:t>dB</a:t>
            </a:r>
            <a:r>
              <a:rPr lang="en-US"/>
              <a:t>.</a:t>
            </a:r>
            <a:endParaRPr lang="en-US"/>
          </a:p>
          <a:p>
            <a:pPr lvl="1">
              <a:defRPr/>
            </a:pPr>
            <a:r>
              <a:rPr lang="en-US"/>
              <a:t>Calculate the output power of a single channel in </a:t>
            </a:r>
            <a:r>
              <a:rPr lang="en-US"/>
              <a:t>dBm</a:t>
            </a:r>
            <a:r>
              <a:rPr lang="en-US"/>
              <a:t>.</a:t>
            </a:r>
            <a:endParaRPr/>
          </a:p>
          <a:p>
            <a:pPr lvl="1">
              <a:defRPr/>
            </a:pPr>
            <a:r>
              <a:rPr lang="en-US"/>
              <a:t>Calculate the total output power of the EDFA in </a:t>
            </a:r>
            <a:r>
              <a:rPr lang="en-US"/>
              <a:t>milliwatts</a:t>
            </a:r>
            <a:r>
              <a:rPr lang="en-US"/>
              <a:t> (</a:t>
            </a:r>
            <a:r>
              <a:rPr lang="en-US"/>
              <a:t>mW</a:t>
            </a:r>
            <a:r>
              <a:rPr lang="en-US"/>
              <a:t>).</a:t>
            </a:r>
            <a:endParaRPr/>
          </a:p>
          <a:p>
            <a:pPr lvl="1">
              <a:defRPr/>
            </a:pPr>
            <a:endParaRPr lang="en-US"/>
          </a:p>
        </p:txBody>
      </p:sp>
      <p:pic>
        <p:nvPicPr>
          <p:cNvPr id="260738527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85875" y="2937404"/>
            <a:ext cx="8490643" cy="30501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of transmitter and receiver in WDM networks, types of tunable lasers, optical amplifiers, SOA and FOA, EDFA and EBFA.</dc:title>
  <dc:creator>Lenovo</dc:creator>
  <cp:lastModifiedBy/>
  <cp:revision>9</cp:revision>
  <dcterms:created xsi:type="dcterms:W3CDTF">2026-04-01T03:44:15Z</dcterms:created>
  <dcterms:modified xsi:type="dcterms:W3CDTF">2026-04-29T18:48:53Z</dcterms:modified>
</cp:coreProperties>
</file>