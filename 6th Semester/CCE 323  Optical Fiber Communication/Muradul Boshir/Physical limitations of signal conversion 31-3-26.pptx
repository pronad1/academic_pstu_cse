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87" d="100"/>
          <a:sy n="87" d="100"/>
        </p:scale>
        <p:origin x="389" y="58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F6A9D9-8FCC-4E10-B74A-64814028C6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7598B7-EA03-F1E6-C7C2-EE09EFAFCB0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C967E1-D3B8-E983-A735-4F091FDF4E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B880BC-9CA1-88AB-4C5A-122C75A8E84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37D616-3A16-ABD0-378A-4E34106D95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830ACB-AD4B-6833-4DAF-6BA7902B9E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678436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4113411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52038428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D25C055-B408-4243-B31D-8686AF54EE60}" type="datetimeFigureOut">
              <a:rPr lang="en-US"/>
              <a:t>3/31/2026</a:t>
            </a:fld>
            <a:endParaRPr lang="en-US"/>
          </a:p>
        </p:txBody>
      </p:sp>
      <p:sp>
        <p:nvSpPr>
          <p:cNvPr id="95195125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173013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562C83D-7E9B-49E9-B1CB-FA7EF01CA0D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575897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9979488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7713413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D25C055-B408-4243-B31D-8686AF54EE60}" type="datetimeFigureOut">
              <a:rPr lang="en-US"/>
              <a:t>3/31/2026</a:t>
            </a:fld>
            <a:endParaRPr lang="en-US"/>
          </a:p>
        </p:txBody>
      </p:sp>
      <p:sp>
        <p:nvSpPr>
          <p:cNvPr id="31034719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3238906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562C83D-7E9B-49E9-B1CB-FA7EF01CA0D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8847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503896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73100496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D25C055-B408-4243-B31D-8686AF54EE60}" type="datetimeFigureOut">
              <a:rPr lang="en-US"/>
              <a:t>3/31/2026</a:t>
            </a:fld>
            <a:endParaRPr lang="en-US"/>
          </a:p>
        </p:txBody>
      </p:sp>
      <p:sp>
        <p:nvSpPr>
          <p:cNvPr id="48555251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650188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562C83D-7E9B-49E9-B1CB-FA7EF01CA0D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485931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1966918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782318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7881372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D25C055-B408-4243-B31D-8686AF54EE60}" type="datetimeFigureOut">
              <a:rPr lang="en-US"/>
              <a:t>3/31/2026</a:t>
            </a:fld>
            <a:endParaRPr lang="en-US"/>
          </a:p>
        </p:txBody>
      </p:sp>
      <p:sp>
        <p:nvSpPr>
          <p:cNvPr id="105348719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7214723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562C83D-7E9B-49E9-B1CB-FA7EF01CA0D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921328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033999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1209705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0872586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64477881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8890720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D25C055-B408-4243-B31D-8686AF54EE60}" type="datetimeFigureOut">
              <a:rPr lang="en-US"/>
              <a:t>3/31/2026</a:t>
            </a:fld>
            <a:endParaRPr lang="en-US"/>
          </a:p>
        </p:txBody>
      </p:sp>
      <p:sp>
        <p:nvSpPr>
          <p:cNvPr id="9316825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5094383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562C83D-7E9B-49E9-B1CB-FA7EF01CA0D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34882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2285091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D25C055-B408-4243-B31D-8686AF54EE60}" type="datetimeFigureOut">
              <a:rPr lang="en-US"/>
              <a:t>3/31/2026</a:t>
            </a:fld>
            <a:endParaRPr lang="en-US"/>
          </a:p>
        </p:txBody>
      </p:sp>
      <p:sp>
        <p:nvSpPr>
          <p:cNvPr id="43147187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7666588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562C83D-7E9B-49E9-B1CB-FA7EF01CA0D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42091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D25C055-B408-4243-B31D-8686AF54EE60}" type="datetimeFigureOut">
              <a:rPr lang="en-US"/>
              <a:t>3/31/2026</a:t>
            </a:fld>
            <a:endParaRPr lang="en-US"/>
          </a:p>
        </p:txBody>
      </p:sp>
      <p:sp>
        <p:nvSpPr>
          <p:cNvPr id="79566266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0327089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562C83D-7E9B-49E9-B1CB-FA7EF01CA0D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632822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9366524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976473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38780771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D25C055-B408-4243-B31D-8686AF54EE60}" type="datetimeFigureOut">
              <a:rPr lang="en-US"/>
              <a:t>3/31/2026</a:t>
            </a:fld>
            <a:endParaRPr lang="en-US"/>
          </a:p>
        </p:txBody>
      </p:sp>
      <p:sp>
        <p:nvSpPr>
          <p:cNvPr id="46499651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13056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562C83D-7E9B-49E9-B1CB-FA7EF01CA0D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282052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609272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75564255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22181733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D25C055-B408-4243-B31D-8686AF54EE60}" type="datetimeFigureOut">
              <a:rPr lang="en-US"/>
              <a:t>3/31/2026</a:t>
            </a:fld>
            <a:endParaRPr lang="en-US"/>
          </a:p>
        </p:txBody>
      </p:sp>
      <p:sp>
        <p:nvSpPr>
          <p:cNvPr id="109813349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8666252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562C83D-7E9B-49E9-B1CB-FA7EF01CA0D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2191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0503779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6890373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D25C055-B408-4243-B31D-8686AF54EE60}" type="datetimeFigureOut">
              <a:rPr lang="en-US"/>
              <a:t>3/31/2026</a:t>
            </a:fld>
            <a:endParaRPr lang="en-US"/>
          </a:p>
        </p:txBody>
      </p:sp>
      <p:sp>
        <p:nvSpPr>
          <p:cNvPr id="27749249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98772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562C83D-7E9B-49E9-B1CB-FA7EF01CA0D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223314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5426646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553523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D25C055-B408-4243-B31D-8686AF54EE60}" type="datetimeFigureOut">
              <a:rPr lang="en-US"/>
              <a:t>3/31/2026</a:t>
            </a:fld>
            <a:endParaRPr lang="en-US"/>
          </a:p>
        </p:txBody>
      </p:sp>
      <p:sp>
        <p:nvSpPr>
          <p:cNvPr id="115779609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5697335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562C83D-7E9B-49E9-B1CB-FA7EF01CA0D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9224375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2951399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9560819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D25C055-B408-4243-B31D-8686AF54EE60}" type="datetimeFigureOut">
              <a:rPr lang="en-US"/>
              <a:t>3/31/2026</a:t>
            </a:fld>
            <a:endParaRPr lang="en-US"/>
          </a:p>
        </p:txBody>
      </p:sp>
      <p:sp>
        <p:nvSpPr>
          <p:cNvPr id="108578766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6537978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562C83D-7E9B-49E9-B1CB-FA7EF01CA0DD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6127679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Physical limitations of signal conversion</a:t>
            </a:r>
            <a:endParaRPr lang="en-US"/>
          </a:p>
        </p:txBody>
      </p:sp>
      <p:sp>
        <p:nvSpPr>
          <p:cNvPr id="1229525940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33009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b="1"/>
              <a:t>Why this matters for CSE Students</a:t>
            </a:r>
            <a:endParaRPr lang="en-US"/>
          </a:p>
        </p:txBody>
      </p:sp>
      <p:sp>
        <p:nvSpPr>
          <p:cNvPr id="105910584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Understanding the physical limitations of signal conversion is </a:t>
            </a:r>
            <a:r>
              <a:rPr lang="en-US">
                <a:solidFill>
                  <a:srgbClr val="FF0000"/>
                </a:solidFill>
              </a:rPr>
              <a:t>crucial for "Power Budgeting."</a:t>
            </a:r>
            <a:r>
              <a:rPr lang="en-US"/>
              <a:t> </a:t>
            </a:r>
            <a:endParaRPr/>
          </a:p>
          <a:p>
            <a:pPr>
              <a:defRPr/>
            </a:pPr>
            <a:r>
              <a:rPr lang="en-US"/>
              <a:t>If the light signal becomes </a:t>
            </a:r>
            <a:r>
              <a:rPr lang="en-US">
                <a:solidFill>
                  <a:srgbClr val="FF0000"/>
                </a:solidFill>
              </a:rPr>
              <a:t>too weak due to fiber loss</a:t>
            </a:r>
            <a:r>
              <a:rPr lang="en-US"/>
              <a:t>, </a:t>
            </a:r>
            <a:endParaRPr/>
          </a:p>
          <a:p>
            <a:pPr lvl="1">
              <a:defRPr/>
            </a:pPr>
            <a:r>
              <a:rPr lang="en-US"/>
              <a:t>the </a:t>
            </a:r>
            <a:r>
              <a:rPr lang="en-US">
                <a:solidFill>
                  <a:srgbClr val="FF0000"/>
                </a:solidFill>
              </a:rPr>
              <a:t>photocurrent will drop below the noise floor</a:t>
            </a:r>
            <a:r>
              <a:rPr lang="en-US"/>
              <a:t>, leading to a high Bit Error Rate (BER).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415649" name="Title 1"/>
          <p:cNvSpPr>
            <a:spLocks noGrp="1"/>
          </p:cNvSpPr>
          <p:nvPr>
            <p:ph type="title"/>
          </p:nvPr>
        </p:nvSpPr>
        <p:spPr bwMode="auto">
          <a:xfrm>
            <a:off x="653562" y="118941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>
                <a:latin typeface="Arial"/>
                <a:cs typeface="Arial"/>
              </a:rPr>
              <a:t>Concept: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1817650415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Autofit/>
          </a:bodyPr>
          <a:lstStyle/>
          <a:p>
            <a:pPr>
              <a:defRPr/>
            </a:pPr>
            <a:r>
              <a:rPr lang="en-US" sz="3200"/>
              <a:t>In an optical communication system, the receiver's job is to </a:t>
            </a:r>
            <a:r>
              <a:rPr lang="en-US" sz="3200">
                <a:solidFill>
                  <a:srgbClr val="FF0000"/>
                </a:solidFill>
              </a:rPr>
              <a:t>convert light (photons) back into electricity (electrons)</a:t>
            </a:r>
            <a:r>
              <a:rPr lang="en-US" sz="3200"/>
              <a:t>. </a:t>
            </a:r>
            <a:endParaRPr/>
          </a:p>
          <a:p>
            <a:pPr lvl="1">
              <a:defRPr/>
            </a:pPr>
            <a:r>
              <a:rPr lang="en-US" sz="2800"/>
              <a:t>Quantum Efficiency (</a:t>
            </a:r>
            <a:r>
              <a:rPr lang="el-GR" sz="2800"/>
              <a:t>η</a:t>
            </a:r>
            <a:r>
              <a:rPr lang="en-US" sz="2800"/>
              <a:t>): This represents the </a:t>
            </a:r>
            <a:r>
              <a:rPr lang="en-US" sz="2800">
                <a:solidFill>
                  <a:srgbClr val="FF0000"/>
                </a:solidFill>
              </a:rPr>
              <a:t>"success rate" of the photodiode</a:t>
            </a:r>
            <a:r>
              <a:rPr lang="en-US" sz="2800"/>
              <a:t>. A 70% efficiency means that for </a:t>
            </a:r>
            <a:r>
              <a:rPr lang="en-US" sz="2800">
                <a:solidFill>
                  <a:srgbClr val="FF0000"/>
                </a:solidFill>
              </a:rPr>
              <a:t>every 100 photons that hit the detector, only 70 successfully generate an electron-hole pair to create current</a:t>
            </a:r>
            <a:r>
              <a:rPr lang="en-US" sz="2800"/>
              <a:t>.</a:t>
            </a:r>
            <a:endParaRPr/>
          </a:p>
          <a:p>
            <a:pPr lvl="1">
              <a:defRPr/>
            </a:pPr>
            <a:r>
              <a:rPr lang="en-US" sz="2800"/>
              <a:t>Responsivity (R): This is a practical measure for engineers. </a:t>
            </a:r>
            <a:endParaRPr/>
          </a:p>
          <a:p>
            <a:pPr lvl="2">
              <a:defRPr/>
            </a:pPr>
            <a:r>
              <a:rPr lang="en-US" sz="2400"/>
              <a:t>While quantum efficiency is a ratio of particles, </a:t>
            </a:r>
            <a:r>
              <a:rPr lang="en-US" sz="2400">
                <a:solidFill>
                  <a:srgbClr val="FF0000"/>
                </a:solidFill>
              </a:rPr>
              <a:t>Responsivity tells us exactly how many Amperes of current we get for every Watt of light power</a:t>
            </a:r>
            <a:r>
              <a:rPr lang="en-US" sz="2400"/>
              <a:t>. </a:t>
            </a:r>
            <a:endParaRPr/>
          </a:p>
          <a:p>
            <a:pPr lvl="2">
              <a:defRPr/>
            </a:pPr>
            <a:r>
              <a:rPr lang="en-US" sz="2400"/>
              <a:t>It is wavelength-dependent because the energy of a photon changes with its color (wavelength).</a:t>
            </a:r>
            <a:endParaRPr 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9060963" name="Title 1"/>
          <p:cNvSpPr>
            <a:spLocks noGrp="1"/>
          </p:cNvSpPr>
          <p:nvPr>
            <p:ph type="title"/>
          </p:nvPr>
        </p:nvSpPr>
        <p:spPr bwMode="auto">
          <a:xfrm>
            <a:off x="653562" y="118941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>
                <a:latin typeface="Arial"/>
                <a:cs typeface="Arial"/>
              </a:rPr>
              <a:t>Concept: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738947274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Autofit/>
          </a:bodyPr>
          <a:lstStyle/>
          <a:p>
            <a:pPr>
              <a:defRPr/>
            </a:pPr>
            <a:r>
              <a:rPr lang="en-US" sz="3200"/>
              <a:t>Photocurrent (</a:t>
            </a:r>
            <a:r>
              <a:rPr lang="en-US" sz="3200"/>
              <a:t>I</a:t>
            </a:r>
            <a:r>
              <a:rPr lang="en-US"/>
              <a:t>p</a:t>
            </a:r>
            <a:r>
              <a:rPr lang="en-US" sz="3200"/>
              <a:t>): This is the </a:t>
            </a:r>
            <a:r>
              <a:rPr lang="en-US" sz="3200">
                <a:solidFill>
                  <a:srgbClr val="FF0000"/>
                </a:solidFill>
              </a:rPr>
              <a:t>actual electrical signal that will be amplified and processed by the rest of the computer system to recover the transmitted data</a:t>
            </a:r>
            <a:r>
              <a:rPr lang="en-US" sz="3200"/>
              <a:t>.</a:t>
            </a:r>
            <a:endParaRPr 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0290486" name="Title 1"/>
          <p:cNvSpPr>
            <a:spLocks noGrp="1"/>
          </p:cNvSpPr>
          <p:nvPr>
            <p:ph type="title"/>
          </p:nvPr>
        </p:nvSpPr>
        <p:spPr bwMode="auto">
          <a:xfrm>
            <a:off x="838200" y="60198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Exercise: Optical Detector Performance</a:t>
            </a:r>
            <a:endParaRPr lang="en-US"/>
          </a:p>
        </p:txBody>
      </p:sp>
      <p:pic>
        <p:nvPicPr>
          <p:cNvPr id="1076171872" name="Picture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1385761"/>
            <a:ext cx="7271238" cy="1800476"/>
          </a:xfrm>
          <a:prstGeom prst="rect">
            <a:avLst/>
          </a:prstGeom>
        </p:spPr>
      </p:pic>
      <p:pic>
        <p:nvPicPr>
          <p:cNvPr id="924897049" name="Picture 4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353651" y="1046285"/>
            <a:ext cx="5468113" cy="55919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2661895" name="Title 1"/>
          <p:cNvSpPr>
            <a:spLocks noGrp="1"/>
          </p:cNvSpPr>
          <p:nvPr>
            <p:ph type="title"/>
          </p:nvPr>
        </p:nvSpPr>
        <p:spPr bwMode="auto">
          <a:xfrm>
            <a:off x="838200" y="60198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Exercise: Optical Detector Performance</a:t>
            </a:r>
            <a:endParaRPr lang="en-US"/>
          </a:p>
        </p:txBody>
      </p:sp>
      <p:pic>
        <p:nvPicPr>
          <p:cNvPr id="478257839" name="Picture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1385761"/>
            <a:ext cx="7271238" cy="1800476"/>
          </a:xfrm>
          <a:prstGeom prst="rect">
            <a:avLst/>
          </a:prstGeom>
        </p:spPr>
      </p:pic>
      <p:pic>
        <p:nvPicPr>
          <p:cNvPr id="460259572" name="Picture 5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096000" y="3186237"/>
            <a:ext cx="5410955" cy="33246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Physical limitations of signal conversion</dc:title>
  <dc:creator>Lenovo</dc:creator>
  <cp:lastModifiedBy/>
  <cp:revision>3</cp:revision>
  <dcterms:created xsi:type="dcterms:W3CDTF">2026-03-31T05:19:07Z</dcterms:created>
  <dcterms:modified xsi:type="dcterms:W3CDTF">2026-04-13T17:42:59Z</dcterms:modified>
</cp:coreProperties>
</file>