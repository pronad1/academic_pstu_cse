
<file path=[Content_Types].xml><?xml version="1.0" encoding="utf-8"?>
<Types xmlns="http://schemas.openxmlformats.org/package/2006/content-types">
  <Default Extension="xml" ContentType="application/xml"/>
  <Default Extension="wmf" ContentType="image/x-wmf"/>
  <Default Extension="bin" ContentType="application/vnd.openxmlformats-officedocument.oleObject"/>
  <Default Extension="rels" ContentType="application/vnd.openxmlformats-package.relationships+xml"/>
  <Default Extension="jpeg" ContentType="image/jpeg"/>
  <Default Extension="png" ContentType="image/png"/>
  <Override PartName="/ppt/notesSlides/notesSlide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1.xml" ContentType="application/vnd.openxmlformats-officedocument.presentationml.notesSlide+xml"/>
  <Override PartName="/ppt/slides/slide9.xml" ContentType="application/vnd.openxmlformats-officedocument.presentationml.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slides/slide2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6.xml" ContentType="application/vnd.openxmlformats-officedocument.presentationml.slideLayout+xml"/>
  <Override PartName="/docProps/core.xml" ContentType="application/vnd.openxmlformats-package.core-properties+xml"/>
  <Override PartName="/ppt/slideLayouts/slideLayout8.xml" ContentType="application/vnd.openxmlformats-officedocument.presentationml.slideLayout+xml"/>
  <Override PartName="/ppt/presProps.xml" ContentType="application/vnd.openxmlformats-officedocument.presentationml.presProps+xml"/>
  <Override PartName="/ppt/slideLayouts/slideLayout2.xml" ContentType="application/vnd.openxmlformats-officedocument.presentationml.slideLayout+xml"/>
  <Override PartName="/ppt/notesSlides/notesSlide8.xml" ContentType="application/vnd.openxmlformats-officedocument.presentationml.notesSlide+xml"/>
  <Override PartName="/ppt/slides/slide8.xml" ContentType="application/vnd.openxmlformats-officedocument.presentationml.slide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notesSlides/notesSlide2.xml" ContentType="application/vnd.openxmlformats-officedocument.presentationml.notesSlide+xml"/>
  <Override PartName="/ppt/slides/slide7.xml" ContentType="application/vnd.openxmlformats-officedocument.presentationml.slide+xml"/>
  <Override PartName="/ppt/slideLayouts/slideLayout5.xml" ContentType="application/vnd.openxmlformats-officedocument.presentationml.slideLayout+xml"/>
  <Override PartName="/ppt/slideLayouts/slideLayout1.xml" ContentType="application/vnd.openxmlformats-officedocument.presentationml.slideLayout+xml"/>
  <Override PartName="/ppt/notesSlides/notesSlide5.xml" ContentType="application/vnd.openxmlformats-officedocument.presentationml.notesSlide+xml"/>
  <Override PartName="/ppt/slideLayouts/slideLayout4.xml" ContentType="application/vnd.openxmlformats-officedocument.presentationml.slideLayout+xml"/>
  <Override PartName="/ppt/slides/slide3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slideLayout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Slides/notesSlide4.xml" ContentType="application/vnd.openxmlformats-officedocument.presentationml.notesSlide+xml"/>
  <Override PartName="/ppt/slideLayouts/slideLayout11.xml" ContentType="application/vnd.openxmlformats-officedocument.presentationml.slideLayout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aveSubsetFonts="1">
  <p:sldMasterIdLst>
    <p:sldMasterId id="2147483648" r:id="rId1"/>
  </p:sldMasterIdLst>
  <p:notesMasterIdLst>
    <p:notesMasterId r:id="rId1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</p:sldIdLst>
  <p:sldSz cx="12192000" cy="6858000"/>
  <p:notesSz cx="6858000" cy="9144000"/>
  <p:defaultTextStyle>
    <a:defPPr>
      <a:defRPr lang="en-US"/>
    </a:defPPr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87" d="100"/>
          <a:sy n="87" d="100"/>
        </p:scale>
        <p:origin x="528" y="58"/>
      </p:cViewPr>
      <p:guideLst>
        <p:guide pos="3840"/>
        <p:guide pos="2160" orient="horz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 /><Relationship Id="rId15" Type="http://schemas.openxmlformats.org/officeDocument/2006/relationships/tableStyles" Target="tableStyles.xml" /><Relationship Id="rId16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F484F25-B305-C643-CE5C-E3ABB15E932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F7FA174-8015-96C1-9751-0E03D9523F8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C2A842D-15AB-644B-F40C-2BB91A9C1F7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67C7D14-7FBF-D79A-39EB-BEFC7A387A5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972F1FF-AA96-419A-1C89-57872EA40BE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33AACB0-0995-95D1-6FAE-B8FE75A3E63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BE05047-9492-8F82-536E-BBD54663238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6268464-3BCC-231B-2048-02C672FF840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BF1B497-342E-4FF8-84D0-395AC9E867C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77733012" name="Title 1"/>
          <p:cNvSpPr>
            <a:spLocks noGrp="1"/>
          </p:cNvSpPr>
          <p:nvPr>
            <p:ph type="ctrTitle"/>
          </p:nvPr>
        </p:nvSpPr>
        <p:spPr bwMode="auto"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2041299857" name="Subtitle 2"/>
          <p:cNvSpPr>
            <a:spLocks noGrp="1"/>
          </p:cNvSpPr>
          <p:nvPr>
            <p:ph type="subTitle" idx="1"/>
          </p:nvPr>
        </p:nvSpPr>
        <p:spPr bwMode="auto"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763166372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F48EC29D-8AD1-4A1A-B084-27A3BA4F2378}" type="datetimeFigureOut">
              <a:rPr lang="en-US"/>
              <a:t>4/2/2026</a:t>
            </a:fld>
            <a:endParaRPr lang="en-US"/>
          </a:p>
        </p:txBody>
      </p:sp>
      <p:sp>
        <p:nvSpPr>
          <p:cNvPr id="1500660508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946410457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8CBA7428-BDF6-41A1-A129-14396D2572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04482064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318082820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en-US"/>
              <a:t>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868248101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F48EC29D-8AD1-4A1A-B084-27A3BA4F2378}" type="datetimeFigureOut">
              <a:rPr lang="en-US"/>
              <a:t>4/2/2026</a:t>
            </a:fld>
            <a:endParaRPr lang="en-US"/>
          </a:p>
        </p:txBody>
      </p:sp>
      <p:sp>
        <p:nvSpPr>
          <p:cNvPr id="908954900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59658512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8CBA7428-BDF6-41A1-A129-14396D2572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17300615" name="Title 1"/>
          <p:cNvSpPr>
            <a:spLocks noGrp="1"/>
          </p:cNvSpPr>
          <p:nvPr>
            <p:ph type="title"/>
          </p:nvPr>
        </p:nvSpPr>
        <p:spPr bwMode="auto"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593227966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Edit Master text styles</a:t>
            </a:r>
            <a:endParaRPr/>
          </a:p>
        </p:txBody>
      </p:sp>
      <p:sp>
        <p:nvSpPr>
          <p:cNvPr id="530368986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F48EC29D-8AD1-4A1A-B084-27A3BA4F2378}" type="datetimeFigureOut">
              <a:rPr lang="en-US"/>
              <a:t>4/2/2026</a:t>
            </a:fld>
            <a:endParaRPr lang="en-US"/>
          </a:p>
        </p:txBody>
      </p:sp>
      <p:sp>
        <p:nvSpPr>
          <p:cNvPr id="295832833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011270197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8CBA7428-BDF6-41A1-A129-14396D2572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07684380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62367999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838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en-US"/>
              <a:t>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267255683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6172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en-US"/>
              <a:t>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206867892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F48EC29D-8AD1-4A1A-B084-27A3BA4F2378}" type="datetimeFigureOut">
              <a:rPr lang="en-US"/>
              <a:t>4/2/2026</a:t>
            </a:fld>
            <a:endParaRPr lang="en-US"/>
          </a:p>
        </p:txBody>
      </p:sp>
      <p:sp>
        <p:nvSpPr>
          <p:cNvPr id="16524092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67196408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8CBA7428-BDF6-41A1-A129-14396D2572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50375071" name="Title 1"/>
          <p:cNvSpPr>
            <a:spLocks noGrp="1"/>
          </p:cNvSpPr>
          <p:nvPr>
            <p:ph type="title"/>
          </p:nvPr>
        </p:nvSpPr>
        <p:spPr bwMode="auto">
          <a:xfrm>
            <a:off x="839788" y="365125"/>
            <a:ext cx="10515600" cy="1325563"/>
          </a:xfr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452955231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Edit Master text styles</a:t>
            </a:r>
            <a:endParaRPr/>
          </a:p>
        </p:txBody>
      </p:sp>
      <p:sp>
        <p:nvSpPr>
          <p:cNvPr id="1487540640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839788" y="2505074"/>
            <a:ext cx="5157787" cy="3684588"/>
          </a:xfrm>
        </p:spPr>
        <p:txBody>
          <a:bodyPr/>
          <a:lstStyle/>
          <a:p>
            <a:pPr lvl="0">
              <a:defRPr/>
            </a:pPr>
            <a:r>
              <a:rPr lang="en-US"/>
              <a:t>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734273808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Edit Master text styles</a:t>
            </a:r>
            <a:endParaRPr/>
          </a:p>
        </p:txBody>
      </p:sp>
      <p:sp>
        <p:nvSpPr>
          <p:cNvPr id="2133523389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6172200" y="2505074"/>
            <a:ext cx="5183188" cy="3684588"/>
          </a:xfrm>
        </p:spPr>
        <p:txBody>
          <a:bodyPr/>
          <a:lstStyle/>
          <a:p>
            <a:pPr lvl="0">
              <a:defRPr/>
            </a:pPr>
            <a:r>
              <a:rPr lang="en-US"/>
              <a:t>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631846528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F48EC29D-8AD1-4A1A-B084-27A3BA4F2378}" type="datetimeFigureOut">
              <a:rPr lang="en-US"/>
              <a:t>4/2/2026</a:t>
            </a:fld>
            <a:endParaRPr lang="en-US"/>
          </a:p>
        </p:txBody>
      </p:sp>
      <p:sp>
        <p:nvSpPr>
          <p:cNvPr id="1287104637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00391305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8CBA7428-BDF6-41A1-A129-14396D2572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81494695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936034326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F48EC29D-8AD1-4A1A-B084-27A3BA4F2378}" type="datetimeFigureOut">
              <a:rPr lang="en-US"/>
              <a:t>4/2/2026</a:t>
            </a:fld>
            <a:endParaRPr lang="en-US"/>
          </a:p>
        </p:txBody>
      </p:sp>
      <p:sp>
        <p:nvSpPr>
          <p:cNvPr id="588627003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086355739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8CBA7428-BDF6-41A1-A129-14396D2572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46960691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F48EC29D-8AD1-4A1A-B084-27A3BA4F2378}" type="datetimeFigureOut">
              <a:rPr lang="en-US"/>
              <a:t>4/2/2026</a:t>
            </a:fld>
            <a:endParaRPr lang="en-US"/>
          </a:p>
        </p:txBody>
      </p:sp>
      <p:sp>
        <p:nvSpPr>
          <p:cNvPr id="45481981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123910750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8CBA7428-BDF6-41A1-A129-14396D2572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17508282" name="Titl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960152583" name="Content Placeholder 2"/>
          <p:cNvSpPr>
            <a:spLocks noGrp="1"/>
          </p:cNvSpPr>
          <p:nvPr>
            <p:ph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en-US"/>
              <a:t>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329876016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Edit Master text styles</a:t>
            </a:r>
            <a:endParaRPr/>
          </a:p>
        </p:txBody>
      </p:sp>
      <p:sp>
        <p:nvSpPr>
          <p:cNvPr id="2014217679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F48EC29D-8AD1-4A1A-B084-27A3BA4F2378}" type="datetimeFigureOut">
              <a:rPr lang="en-US"/>
              <a:t>4/2/2026</a:t>
            </a:fld>
            <a:endParaRPr lang="en-US"/>
          </a:p>
        </p:txBody>
      </p:sp>
      <p:sp>
        <p:nvSpPr>
          <p:cNvPr id="773127516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418001499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8CBA7428-BDF6-41A1-A129-14396D2572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23086162" name="Titl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040182544" name="Picture Placeholder 2"/>
          <p:cNvSpPr>
            <a:spLocks noGrp="1"/>
          </p:cNvSpPr>
          <p:nvPr>
            <p:ph type="pic"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endParaRPr lang="en-US"/>
          </a:p>
        </p:txBody>
      </p:sp>
      <p:sp>
        <p:nvSpPr>
          <p:cNvPr id="1707891462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Edit Master text styles</a:t>
            </a:r>
            <a:endParaRPr/>
          </a:p>
        </p:txBody>
      </p:sp>
      <p:sp>
        <p:nvSpPr>
          <p:cNvPr id="1818884608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F48EC29D-8AD1-4A1A-B084-27A3BA4F2378}" type="datetimeFigureOut">
              <a:rPr lang="en-US"/>
              <a:t>4/2/2026</a:t>
            </a:fld>
            <a:endParaRPr lang="en-US"/>
          </a:p>
        </p:txBody>
      </p:sp>
      <p:sp>
        <p:nvSpPr>
          <p:cNvPr id="375397103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462298218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8CBA7428-BDF6-41A1-A129-14396D2572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46330943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202866727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en-US"/>
              <a:t>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299388829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F48EC29D-8AD1-4A1A-B084-27A3BA4F2378}" type="datetimeFigureOut">
              <a:rPr lang="en-US"/>
              <a:t>4/2/2026</a:t>
            </a:fld>
            <a:endParaRPr lang="en-US"/>
          </a:p>
        </p:txBody>
      </p:sp>
      <p:sp>
        <p:nvSpPr>
          <p:cNvPr id="1080257430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502830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8CBA7428-BDF6-41A1-A129-14396D2572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43431888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8724900" y="365125"/>
            <a:ext cx="2628900" cy="5811838"/>
          </a:xfrm>
        </p:spPr>
        <p:txBody>
          <a:bodyPr vert="eaVert"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441068723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defRPr/>
            </a:pPr>
            <a:r>
              <a:rPr lang="en-US"/>
              <a:t>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620163545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F48EC29D-8AD1-4A1A-B084-27A3BA4F2378}" type="datetimeFigureOut">
              <a:rPr lang="en-US"/>
              <a:t>4/2/2026</a:t>
            </a:fld>
            <a:endParaRPr lang="en-US"/>
          </a:p>
        </p:txBody>
      </p:sp>
      <p:sp>
        <p:nvSpPr>
          <p:cNvPr id="976279647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1959671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8CBA7428-BDF6-41A1-A129-14396D2572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36856911" name="Title Placeholder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587720288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en-US"/>
              <a:t>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611161968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F48EC29D-8AD1-4A1A-B084-27A3BA4F2378}" type="datetimeFigureOut">
              <a:rPr lang="en-US"/>
              <a:t>4/2/2026</a:t>
            </a:fld>
            <a:endParaRPr lang="en-US"/>
          </a:p>
        </p:txBody>
      </p:sp>
      <p:sp>
        <p:nvSpPr>
          <p:cNvPr id="1742622652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69366872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8CBA7428-BDF6-41A1-A129-14396D2572BF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>
        <a:lnSpc>
          <a:spcPct val="90000"/>
        </a:lnSpc>
        <a:spcBef>
          <a:spcPts val="1000"/>
        </a:spcBef>
        <a:buFont typeface="Arial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9007284" name="Title 1"/>
          <p:cNvSpPr>
            <a:spLocks noGrp="1"/>
          </p:cNvSpPr>
          <p:nvPr>
            <p:ph type="ctr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>
                <a:latin typeface="Arial"/>
                <a:cs typeface="Arial"/>
              </a:rPr>
              <a:t>Passive Components</a:t>
            </a:r>
            <a:endParaRPr lang="en-US">
              <a:latin typeface="Arial"/>
              <a:cs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93910034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In an optical network, </a:t>
            </a:r>
            <a:r>
              <a:rPr lang="en-US" b="1"/>
              <a:t>Passive Components</a:t>
            </a:r>
            <a:r>
              <a:rPr lang="en-US"/>
              <a:t> are devices that </a:t>
            </a:r>
            <a:r>
              <a:rPr lang="en-US">
                <a:solidFill>
                  <a:srgbClr val="FF0000"/>
                </a:solidFill>
              </a:rPr>
              <a:t>do not require electrical power to operate on the optical signal</a:t>
            </a:r>
            <a:r>
              <a:rPr lang="en-US"/>
              <a:t>. </a:t>
            </a:r>
            <a:endParaRPr/>
          </a:p>
          <a:p>
            <a:pPr>
              <a:defRPr/>
            </a:pPr>
            <a:r>
              <a:rPr lang="en-US"/>
              <a:t>They function using the physical properties of light (</a:t>
            </a:r>
            <a:r>
              <a:rPr lang="en-US">
                <a:solidFill>
                  <a:srgbClr val="FF0000"/>
                </a:solidFill>
              </a:rPr>
              <a:t>reflection, refraction, interference, and absorption) to direct, filter, or modify the signal.</a:t>
            </a:r>
            <a:endParaRPr lang="en-US">
              <a:solidFill>
                <a:srgbClr val="FF0000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4994294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Explanation of Passive Components</a:t>
            </a:r>
            <a:endParaRPr lang="en-US"/>
          </a:p>
        </p:txBody>
      </p:sp>
      <p:sp>
        <p:nvSpPr>
          <p:cNvPr id="1351587884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r>
              <a:rPr lang="en-US" b="1"/>
              <a:t>1. </a:t>
            </a:r>
            <a:r>
              <a:rPr lang="en-US" sz="3600" b="1"/>
              <a:t>Mux and </a:t>
            </a:r>
            <a:r>
              <a:rPr lang="en-US" sz="3600" b="1"/>
              <a:t>Demux</a:t>
            </a:r>
            <a:r>
              <a:rPr lang="en-US" sz="3600" b="1"/>
              <a:t> (Multiplexer and </a:t>
            </a:r>
            <a:r>
              <a:rPr lang="en-US" sz="3600" b="1"/>
              <a:t>Demultiplexer</a:t>
            </a:r>
            <a:r>
              <a:rPr lang="en-US" sz="3600" b="1"/>
              <a:t>)</a:t>
            </a:r>
            <a:endParaRPr/>
          </a:p>
          <a:p>
            <a:pPr lvl="1">
              <a:defRPr/>
            </a:pPr>
            <a:r>
              <a:rPr lang="en-US" sz="3200" b="1"/>
              <a:t>Explanation:</a:t>
            </a:r>
            <a:r>
              <a:rPr lang="en-US" sz="3200"/>
              <a:t> A </a:t>
            </a:r>
            <a:r>
              <a:rPr lang="en-US" sz="3200" b="1"/>
              <a:t>Mux</a:t>
            </a:r>
            <a:r>
              <a:rPr lang="en-US" sz="3200"/>
              <a:t> combines multiple light signals of different wavelengths into a single fiber. </a:t>
            </a:r>
            <a:endParaRPr/>
          </a:p>
          <a:p>
            <a:pPr lvl="1">
              <a:defRPr/>
            </a:pPr>
            <a:r>
              <a:rPr lang="en-US" sz="3200"/>
              <a:t>A </a:t>
            </a:r>
            <a:r>
              <a:rPr lang="en-US" sz="3200" b="1"/>
              <a:t>Demux</a:t>
            </a:r>
            <a:r>
              <a:rPr lang="en-US" sz="3200"/>
              <a:t> does the opposite, splitting the combined signal back into individual wavelengths at the receiving end.</a:t>
            </a:r>
            <a:endParaRPr/>
          </a:p>
          <a:p>
            <a:pPr lvl="1">
              <a:defRPr/>
            </a:pPr>
            <a:r>
              <a:rPr lang="en-US" sz="3200" b="1"/>
              <a:t>Example:</a:t>
            </a:r>
            <a:r>
              <a:rPr lang="en-US" sz="3200"/>
              <a:t> Like a highway on-ramp where cars from different streets merge into one large highway, and an off-ramp where they split off to their specific destinations.</a:t>
            </a:r>
            <a:endParaRPr/>
          </a:p>
          <a:p>
            <a:pPr>
              <a:defRPr/>
            </a:pPr>
            <a:endParaRPr lang="en-US" sz="36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9912535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Explanation of Passive Components</a:t>
            </a:r>
            <a:endParaRPr lang="en-US"/>
          </a:p>
        </p:txBody>
      </p:sp>
      <p:sp>
        <p:nvSpPr>
          <p:cNvPr id="586056642" name="Content Placeholder 2"/>
          <p:cNvSpPr>
            <a:spLocks noGrp="1"/>
          </p:cNvSpPr>
          <p:nvPr>
            <p:ph idx="1"/>
          </p:nvPr>
        </p:nvSpPr>
        <p:spPr bwMode="auto"/>
        <p:txBody>
          <a:bodyPr>
            <a:normAutofit fontScale="77500" lnSpcReduction="20000"/>
          </a:bodyPr>
          <a:lstStyle/>
          <a:p>
            <a:pPr>
              <a:defRPr/>
            </a:pPr>
            <a:r>
              <a:rPr lang="en-US" sz="4000" b="1"/>
              <a:t>2. Optical Switches</a:t>
            </a:r>
            <a:endParaRPr/>
          </a:p>
          <a:p>
            <a:pPr lvl="1">
              <a:defRPr/>
            </a:pPr>
            <a:r>
              <a:rPr lang="en-US" sz="3400" b="1"/>
              <a:t>Explanation:</a:t>
            </a:r>
            <a:r>
              <a:rPr lang="en-US" sz="3400"/>
              <a:t> These route </a:t>
            </a:r>
            <a:r>
              <a:rPr lang="en-US" sz="3400">
                <a:solidFill>
                  <a:srgbClr val="FF0000"/>
                </a:solidFill>
              </a:rPr>
              <a:t>an optical signal from one input fiber to one of several output fibers without converting the light to electricity</a:t>
            </a:r>
            <a:r>
              <a:rPr lang="en-US" sz="3400"/>
              <a:t>.</a:t>
            </a:r>
            <a:endParaRPr/>
          </a:p>
          <a:p>
            <a:pPr lvl="1">
              <a:defRPr/>
            </a:pPr>
            <a:r>
              <a:rPr lang="en-US" sz="3400" b="1"/>
              <a:t>Example:</a:t>
            </a:r>
            <a:r>
              <a:rPr lang="en-US" sz="3400"/>
              <a:t> A railroad switch that moves the tracks to guide a train onto a different path.</a:t>
            </a:r>
            <a:endParaRPr/>
          </a:p>
          <a:p>
            <a:pPr>
              <a:defRPr/>
            </a:pPr>
            <a:r>
              <a:rPr lang="en-US" sz="4000" b="1"/>
              <a:t>3. Wavelength Converter</a:t>
            </a:r>
            <a:endParaRPr/>
          </a:p>
          <a:p>
            <a:pPr lvl="1">
              <a:defRPr/>
            </a:pPr>
            <a:r>
              <a:rPr lang="en-US" sz="3400" b="1"/>
              <a:t>Explanation:</a:t>
            </a:r>
            <a:r>
              <a:rPr lang="en-US" sz="3400"/>
              <a:t> A device that </a:t>
            </a:r>
            <a:r>
              <a:rPr lang="en-US" sz="3400">
                <a:solidFill>
                  <a:srgbClr val="FF0000"/>
                </a:solidFill>
              </a:rPr>
              <a:t>changes the wavelength of an incoming signal to a different wavelength for the outgoing signal to avoid "wavelength contention"</a:t>
            </a:r>
            <a:r>
              <a:rPr lang="en-US" sz="3400"/>
              <a:t> (</a:t>
            </a:r>
            <a:r>
              <a:rPr lang="en-US" sz="3400">
                <a:solidFill>
                  <a:schemeClr val="accent6"/>
                </a:solidFill>
              </a:rPr>
              <a:t>two signals trying to use the same "lane").</a:t>
            </a:r>
            <a:endParaRPr/>
          </a:p>
          <a:p>
            <a:pPr lvl="1">
              <a:defRPr/>
            </a:pPr>
            <a:r>
              <a:rPr lang="en-US" sz="3400" b="1"/>
              <a:t>Example:</a:t>
            </a:r>
            <a:r>
              <a:rPr lang="en-US" sz="3400"/>
              <a:t> Painting a car a different color so it can enter a lane reserved for that specific color.</a:t>
            </a:r>
            <a:endParaRPr/>
          </a:p>
          <a:p>
            <a:pPr>
              <a:defRPr/>
            </a:pPr>
            <a:endParaRPr lang="en-US" sz="36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88482974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Explanation of Passive Components</a:t>
            </a:r>
            <a:endParaRPr lang="en-US"/>
          </a:p>
        </p:txBody>
      </p:sp>
      <p:sp>
        <p:nvSpPr>
          <p:cNvPr id="1753370840" name="Content Placeholder 2"/>
          <p:cNvSpPr>
            <a:spLocks noGrp="1"/>
          </p:cNvSpPr>
          <p:nvPr>
            <p:ph idx="1"/>
          </p:nvPr>
        </p:nvSpPr>
        <p:spPr bwMode="auto"/>
        <p:txBody>
          <a:bodyPr>
            <a:normAutofit fontScale="92500" lnSpcReduction="10000"/>
          </a:bodyPr>
          <a:lstStyle/>
          <a:p>
            <a:pPr>
              <a:defRPr/>
            </a:pPr>
            <a:r>
              <a:rPr lang="en-US" b="1"/>
              <a:t>4. Couplers</a:t>
            </a:r>
            <a:endParaRPr/>
          </a:p>
          <a:p>
            <a:pPr lvl="1">
              <a:defRPr/>
            </a:pPr>
            <a:r>
              <a:rPr lang="en-US" b="1"/>
              <a:t>Explanation:</a:t>
            </a:r>
            <a:r>
              <a:rPr lang="en-US"/>
              <a:t> These </a:t>
            </a:r>
            <a:r>
              <a:rPr lang="en-US">
                <a:solidFill>
                  <a:srgbClr val="FF0000"/>
                </a:solidFill>
              </a:rPr>
              <a:t>split a single optical signal into two or more fibers</a:t>
            </a:r>
            <a:r>
              <a:rPr lang="en-US"/>
              <a:t>, </a:t>
            </a:r>
            <a:r>
              <a:rPr lang="en-US">
                <a:solidFill>
                  <a:schemeClr val="accent6"/>
                </a:solidFill>
              </a:rPr>
              <a:t>or combine multiple signals into one</a:t>
            </a:r>
            <a:r>
              <a:rPr lang="en-US"/>
              <a:t>. </a:t>
            </a:r>
            <a:endParaRPr/>
          </a:p>
          <a:p>
            <a:pPr lvl="1">
              <a:defRPr/>
            </a:pPr>
            <a:r>
              <a:rPr lang="en-US"/>
              <a:t>A common type is a </a:t>
            </a:r>
            <a:r>
              <a:rPr lang="en-US" b="1"/>
              <a:t>3dB coupler</a:t>
            </a:r>
            <a:r>
              <a:rPr lang="en-US"/>
              <a:t>, which splits power exactly 50/50.</a:t>
            </a:r>
            <a:endParaRPr/>
          </a:p>
          <a:p>
            <a:pPr lvl="1">
              <a:defRPr/>
            </a:pPr>
            <a:r>
              <a:rPr lang="en-US" b="1"/>
              <a:t>Example:</a:t>
            </a:r>
            <a:r>
              <a:rPr lang="en-US"/>
              <a:t> A Y-shaped water pipe that splits one stream into two.</a:t>
            </a:r>
            <a:endParaRPr/>
          </a:p>
          <a:p>
            <a:pPr>
              <a:defRPr/>
            </a:pPr>
            <a:r>
              <a:rPr lang="en-US" b="1"/>
              <a:t>5. Circulators and Isolators</a:t>
            </a:r>
            <a:endParaRPr/>
          </a:p>
          <a:p>
            <a:pPr lvl="1">
              <a:defRPr/>
            </a:pPr>
            <a:r>
              <a:rPr lang="en-US" b="1"/>
              <a:t>Explanation:</a:t>
            </a:r>
            <a:r>
              <a:rPr lang="en-US"/>
              <a:t> </a:t>
            </a:r>
            <a:endParaRPr/>
          </a:p>
          <a:p>
            <a:pPr lvl="1">
              <a:defRPr/>
            </a:pPr>
            <a:r>
              <a:rPr lang="en-US" b="1"/>
              <a:t>Isolator:</a:t>
            </a:r>
            <a:r>
              <a:rPr lang="en-US"/>
              <a:t> </a:t>
            </a:r>
            <a:r>
              <a:rPr lang="en-US">
                <a:solidFill>
                  <a:schemeClr val="accent6"/>
                </a:solidFill>
              </a:rPr>
              <a:t>Allows light to travel in only </a:t>
            </a:r>
            <a:r>
              <a:rPr lang="en-US" b="1">
                <a:solidFill>
                  <a:schemeClr val="accent6"/>
                </a:solidFill>
              </a:rPr>
              <a:t>one direction</a:t>
            </a:r>
            <a:r>
              <a:rPr lang="en-US">
                <a:solidFill>
                  <a:schemeClr val="accent6"/>
                </a:solidFill>
              </a:rPr>
              <a:t>, preventing reflections from damaging the laser.</a:t>
            </a:r>
            <a:endParaRPr/>
          </a:p>
          <a:p>
            <a:pPr lvl="1">
              <a:defRPr/>
            </a:pPr>
            <a:r>
              <a:rPr lang="en-US" b="1"/>
              <a:t>Circulator:</a:t>
            </a:r>
            <a:r>
              <a:rPr lang="en-US"/>
              <a:t> A multi-port device where light entering Port 1 exits Port 2, and light entering Port 2 exits Port 3.</a:t>
            </a:r>
            <a:endParaRPr/>
          </a:p>
          <a:p>
            <a:pPr lvl="1">
              <a:defRPr/>
            </a:pPr>
            <a:r>
              <a:rPr lang="en-US" b="1"/>
              <a:t>Example:</a:t>
            </a:r>
            <a:r>
              <a:rPr lang="en-US"/>
              <a:t> An Isolator is like a one-way street. A Circulator is like a traffic roundabout.</a:t>
            </a:r>
            <a:endParaRPr/>
          </a:p>
          <a:p>
            <a:pPr>
              <a:defRPr/>
            </a:pPr>
            <a:endParaRPr lang="en-US" sz="36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28396350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Explanation of Passive Components</a:t>
            </a:r>
            <a:endParaRPr lang="en-US"/>
          </a:p>
        </p:txBody>
      </p:sp>
      <p:sp>
        <p:nvSpPr>
          <p:cNvPr id="681184285" name="Content Placeholder 2"/>
          <p:cNvSpPr>
            <a:spLocks noGrp="1"/>
          </p:cNvSpPr>
          <p:nvPr>
            <p:ph idx="1"/>
          </p:nvPr>
        </p:nvSpPr>
        <p:spPr bwMode="auto"/>
        <p:txBody>
          <a:bodyPr>
            <a:normAutofit/>
          </a:bodyPr>
          <a:lstStyle/>
          <a:p>
            <a:pPr>
              <a:defRPr/>
            </a:pPr>
            <a:r>
              <a:rPr lang="en-US" b="1"/>
              <a:t>6. Attenuator</a:t>
            </a:r>
            <a:endParaRPr/>
          </a:p>
          <a:p>
            <a:pPr lvl="1">
              <a:defRPr/>
            </a:pPr>
            <a:r>
              <a:rPr lang="en-US" b="1"/>
              <a:t>Explanation:</a:t>
            </a:r>
            <a:r>
              <a:rPr lang="en-US"/>
              <a:t> A device used </a:t>
            </a:r>
            <a:r>
              <a:rPr lang="en-US">
                <a:solidFill>
                  <a:schemeClr val="accent6"/>
                </a:solidFill>
              </a:rPr>
              <a:t>to </a:t>
            </a:r>
            <a:r>
              <a:rPr lang="en-US" b="1">
                <a:solidFill>
                  <a:schemeClr val="accent6"/>
                </a:solidFill>
              </a:rPr>
              <a:t>reduce the power level</a:t>
            </a:r>
            <a:r>
              <a:rPr lang="en-US">
                <a:solidFill>
                  <a:schemeClr val="accent6"/>
                </a:solidFill>
              </a:rPr>
              <a:t> of an optical signal if it is too strong for the receiver </a:t>
            </a:r>
            <a:r>
              <a:rPr lang="en-US"/>
              <a:t>(which could cause distortion or damage).</a:t>
            </a:r>
            <a:endParaRPr/>
          </a:p>
          <a:p>
            <a:pPr lvl="1">
              <a:defRPr/>
            </a:pPr>
            <a:r>
              <a:rPr lang="en-US" b="1"/>
              <a:t>Example:</a:t>
            </a:r>
            <a:r>
              <a:rPr lang="en-US"/>
              <a:t> </a:t>
            </a:r>
            <a:r>
              <a:rPr lang="en-US">
                <a:solidFill>
                  <a:schemeClr val="accent6"/>
                </a:solidFill>
              </a:rPr>
              <a:t>Wearing sunglasses to reduce the intensity of bright sunlight </a:t>
            </a:r>
            <a:r>
              <a:rPr lang="en-US"/>
              <a:t>so you can see clearly.</a:t>
            </a:r>
            <a:endParaRPr/>
          </a:p>
          <a:p>
            <a:pPr>
              <a:defRPr/>
            </a:pPr>
            <a:r>
              <a:rPr lang="en-US" b="1"/>
              <a:t>7. Optical Filters</a:t>
            </a:r>
            <a:endParaRPr/>
          </a:p>
          <a:p>
            <a:pPr lvl="1">
              <a:defRPr/>
            </a:pPr>
            <a:r>
              <a:rPr lang="en-US" b="1"/>
              <a:t>Explanation:</a:t>
            </a:r>
            <a:r>
              <a:rPr lang="en-US"/>
              <a:t> These </a:t>
            </a:r>
            <a:r>
              <a:rPr lang="en-US">
                <a:solidFill>
                  <a:schemeClr val="accent6"/>
                </a:solidFill>
              </a:rPr>
              <a:t>allow only a specific range of wavelengths to pass through while blocking or reflecting others</a:t>
            </a:r>
            <a:r>
              <a:rPr lang="en-US"/>
              <a:t>.</a:t>
            </a:r>
            <a:endParaRPr/>
          </a:p>
          <a:p>
            <a:pPr lvl="1">
              <a:defRPr/>
            </a:pPr>
            <a:r>
              <a:rPr lang="en-US" b="1"/>
              <a:t>Example:</a:t>
            </a:r>
            <a:r>
              <a:rPr lang="en-US"/>
              <a:t> A coffee filter that lets the liquid through but stops the grounds.</a:t>
            </a:r>
            <a:endParaRPr/>
          </a:p>
          <a:p>
            <a:pPr marL="457200" lvl="1" indent="0">
              <a:buNone/>
              <a:defRPr/>
            </a:pPr>
            <a:endParaRPr lang="en-US"/>
          </a:p>
          <a:p>
            <a:pPr>
              <a:defRPr/>
            </a:pPr>
            <a:endParaRPr lang="en-US" sz="36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60266531" name="Content Placeholder 2"/>
          <p:cNvSpPr>
            <a:spLocks noGrp="1"/>
          </p:cNvSpPr>
          <p:nvPr>
            <p:ph idx="1"/>
          </p:nvPr>
        </p:nvSpPr>
        <p:spPr bwMode="auto">
          <a:xfrm>
            <a:off x="688731" y="295764"/>
            <a:ext cx="10515600" cy="4351338"/>
          </a:xfrm>
        </p:spPr>
        <p:txBody>
          <a:bodyPr/>
          <a:lstStyle/>
          <a:p>
            <a:pPr>
              <a:defRPr/>
            </a:pPr>
            <a:r>
              <a:rPr lang="en-US" b="1"/>
              <a:t>Exercise 1: The Attenuator Problem</a:t>
            </a:r>
            <a:endParaRPr/>
          </a:p>
          <a:p>
            <a:pPr lvl="1">
              <a:defRPr/>
            </a:pPr>
            <a:r>
              <a:rPr lang="en-US"/>
              <a:t>An optical transmitter sends a signal at </a:t>
            </a:r>
            <a:r>
              <a:rPr lang="en-US" b="1"/>
              <a:t>+3 </a:t>
            </a:r>
            <a:r>
              <a:rPr lang="en-US" b="1"/>
              <a:t>dBm</a:t>
            </a:r>
            <a:r>
              <a:rPr lang="en-US"/>
              <a:t>. The receiver has a maximum input power limit (saturation point) of </a:t>
            </a:r>
            <a:r>
              <a:rPr lang="en-US" b="1"/>
              <a:t>-5 </a:t>
            </a:r>
            <a:r>
              <a:rPr lang="en-US" b="1"/>
              <a:t>dBm</a:t>
            </a:r>
            <a:r>
              <a:rPr lang="en-US"/>
              <a:t>. What is the minimum value of an </a:t>
            </a:r>
            <a:r>
              <a:rPr lang="en-US" b="1"/>
              <a:t>Optical Attenuator</a:t>
            </a:r>
            <a:r>
              <a:rPr lang="en-US"/>
              <a:t> needed to protect the receiver if the fiber loss is negligible?</a:t>
            </a:r>
            <a:endParaRPr/>
          </a:p>
          <a:p>
            <a:pPr lvl="1">
              <a:defRPr/>
            </a:pPr>
            <a:endParaRPr lang="en-US"/>
          </a:p>
          <a:p>
            <a:pPr>
              <a:defRPr/>
            </a:pPr>
            <a:endParaRPr lang="en-US"/>
          </a:p>
        </p:txBody>
      </p:sp>
      <p:pic>
        <p:nvPicPr>
          <p:cNvPr id="2050052785" name="Picture 4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1387966" y="2203598"/>
            <a:ext cx="6954220" cy="2000529"/>
          </a:xfrm>
          <a:prstGeom prst="rect">
            <a:avLst/>
          </a:prstGeom>
        </p:spPr>
      </p:pic>
      <p:sp>
        <p:nvSpPr>
          <p:cNvPr id="980014163" name="Rectangle 2"/>
          <p:cNvSpPr>
            <a:spLocks noChangeArrowheads="1" noGrp="1"/>
          </p:cNvSpPr>
          <p:nvPr>
            <p:ph type="title"/>
          </p:nvPr>
        </p:nvSpPr>
        <p:spPr bwMode="auto">
          <a:xfrm>
            <a:off x="1299551" y="4504686"/>
            <a:ext cx="10415031" cy="600164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sz="1800" b="1" i="0" u="none" strike="noStrike" cap="none">
                <a:ln>
                  <a:noFill/>
                </a:ln>
                <a:solidFill>
                  <a:schemeClr val="tx1"/>
                </a:solidFill>
                <a:latin typeface="Google Sans Text"/>
              </a:rPr>
              <a:t>dBm</a:t>
            </a:r>
            <a:r>
              <a:rPr lang="bn-IN" sz="1800" b="0" i="0" u="none" strike="noStrike" cap="none">
                <a:ln>
                  <a:noFill/>
                </a:ln>
                <a:solidFill>
                  <a:schemeClr val="tx1"/>
                </a:solidFill>
                <a:latin typeface="Google Sans Text"/>
                <a:cs typeface="Vrinda"/>
              </a:rPr>
              <a:t> ইউনিটে </a:t>
            </a:r>
            <a:r>
              <a:rPr lang="bn-IN" sz="1800" b="1" i="0" u="none" strike="noStrike" cap="none">
                <a:ln>
                  <a:noFill/>
                </a:ln>
                <a:solidFill>
                  <a:schemeClr val="tx1"/>
                </a:solidFill>
                <a:latin typeface="Google Sans Text"/>
                <a:cs typeface="Vrinda"/>
              </a:rPr>
              <a:t>প্লাস </a:t>
            </a:r>
            <a:r>
              <a:rPr lang="en-US" sz="1800" b="1" i="0" u="none" strike="noStrike" cap="none">
                <a:ln>
                  <a:noFill/>
                </a:ln>
                <a:solidFill>
                  <a:schemeClr val="tx1"/>
                </a:solidFill>
                <a:latin typeface="Google Sans Text"/>
                <a:cs typeface="Vrinda"/>
              </a:rPr>
              <a:t>(+)</a:t>
            </a:r>
            <a:r>
              <a:rPr lang="bn-IN" sz="1800" b="0" i="0" u="none" strike="noStrike" cap="none">
                <a:ln>
                  <a:noFill/>
                </a:ln>
                <a:solidFill>
                  <a:schemeClr val="tx1"/>
                </a:solidFill>
                <a:latin typeface="Google Sans Text"/>
                <a:cs typeface="Vrinda"/>
              </a:rPr>
              <a:t> বা </a:t>
            </a:r>
            <a:r>
              <a:rPr lang="bn-IN" sz="1800" b="1" i="0" u="none" strike="noStrike" cap="none">
                <a:ln>
                  <a:noFill/>
                </a:ln>
                <a:solidFill>
                  <a:schemeClr val="tx1"/>
                </a:solidFill>
                <a:latin typeface="Google Sans Text"/>
                <a:cs typeface="Vrinda"/>
              </a:rPr>
              <a:t>মাইনাস </a:t>
            </a:r>
            <a:r>
              <a:rPr lang="en-US" sz="1800" b="1" i="0" u="none" strike="noStrike" cap="none">
                <a:ln>
                  <a:noFill/>
                </a:ln>
                <a:solidFill>
                  <a:schemeClr val="tx1"/>
                </a:solidFill>
                <a:latin typeface="Google Sans Text"/>
                <a:cs typeface="Vrinda"/>
              </a:rPr>
              <a:t>(-)</a:t>
            </a:r>
            <a:r>
              <a:rPr lang="bn-IN" sz="1800" b="0" i="0" u="none" strike="noStrike" cap="none">
                <a:ln>
                  <a:noFill/>
                </a:ln>
                <a:solidFill>
                  <a:schemeClr val="tx1"/>
                </a:solidFill>
                <a:latin typeface="Google Sans Text"/>
                <a:cs typeface="Vrinda"/>
              </a:rPr>
              <a:t> চিহ্ন দিয়ে বোঝানো হয় যে সিগন্যালের শক্তি </a:t>
            </a:r>
            <a:r>
              <a:rPr lang="bn-IN" sz="1800" b="1" i="0" u="none" strike="noStrike" cap="none">
                <a:ln>
                  <a:noFill/>
                </a:ln>
                <a:solidFill>
                  <a:schemeClr val="tx1"/>
                </a:solidFill>
                <a:latin typeface="Google Sans Text"/>
                <a:cs typeface="Vrinda"/>
              </a:rPr>
              <a:t>১ মিলিওয়াট </a:t>
            </a:r>
            <a:r>
              <a:rPr lang="en-US" sz="1800" b="1" i="0" u="none" strike="noStrike" cap="none">
                <a:ln>
                  <a:noFill/>
                </a:ln>
                <a:solidFill>
                  <a:schemeClr val="tx1"/>
                </a:solidFill>
                <a:latin typeface="Google Sans Text"/>
                <a:cs typeface="Vrinda"/>
              </a:rPr>
              <a:t>(1 </a:t>
            </a:r>
            <a:r>
              <a:rPr lang="en-US" sz="1800" b="1" i="0" u="none" strike="noStrike" cap="none">
                <a:ln>
                  <a:noFill/>
                </a:ln>
                <a:solidFill>
                  <a:schemeClr val="tx1"/>
                </a:solidFill>
                <a:latin typeface="Google Sans Text"/>
                <a:cs typeface="Vrinda"/>
              </a:rPr>
              <a:t>mW</a:t>
            </a:r>
            <a:r>
              <a:rPr lang="en-US" sz="1800" b="1" i="0" u="none" strike="noStrike" cap="none">
                <a:ln>
                  <a:noFill/>
                </a:ln>
                <a:solidFill>
                  <a:schemeClr val="tx1"/>
                </a:solidFill>
                <a:latin typeface="Google Sans Text"/>
                <a:cs typeface="Vrinda"/>
              </a:rPr>
              <a:t>)</a:t>
            </a:r>
            <a:r>
              <a:rPr lang="bn-IN" sz="1800" b="0" i="0" u="none" strike="noStrike" cap="none">
                <a:ln>
                  <a:noFill/>
                </a:ln>
                <a:solidFill>
                  <a:schemeClr val="tx1"/>
                </a:solidFill>
                <a:latin typeface="Google Sans Text"/>
                <a:cs typeface="Vrinda"/>
              </a:rPr>
              <a:t> </a:t>
            </a:r>
            <a:br>
              <a:rPr lang="en-US" sz="1800" b="0" i="0" u="none" strike="noStrike" cap="none">
                <a:ln>
                  <a:noFill/>
                </a:ln>
                <a:solidFill>
                  <a:schemeClr val="tx1"/>
                </a:solidFill>
                <a:latin typeface="Google Sans Text"/>
                <a:cs typeface="Vrinda"/>
              </a:rPr>
            </a:br>
            <a:r>
              <a:rPr lang="bn-IN" sz="1800" b="0" i="0" u="none" strike="noStrike" cap="none">
                <a:ln>
                  <a:noFill/>
                </a:ln>
                <a:solidFill>
                  <a:schemeClr val="tx1"/>
                </a:solidFill>
                <a:latin typeface="Google Sans Text"/>
                <a:cs typeface="Vrinda"/>
              </a:rPr>
              <a:t>থেকে বেশি নাকি কম </a:t>
            </a:r>
            <a:r>
              <a:rPr lang="hi-IN" sz="1800" b="0" i="0" u="none" strike="noStrike" cap="none">
                <a:ln>
                  <a:noFill/>
                </a:ln>
                <a:solidFill>
                  <a:schemeClr val="tx1"/>
                </a:solidFill>
                <a:latin typeface="Google Sans Text"/>
                <a:cs typeface="Mangal"/>
              </a:rPr>
              <a:t>।</a:t>
            </a:r>
            <a:r>
              <a:rPr lang="en-US" sz="1800" b="0" i="0" u="none" strike="noStrike" cap="none">
                <a:ln>
                  <a:noFill/>
                </a:ln>
                <a:solidFill>
                  <a:schemeClr val="tx1"/>
                </a:solidFill>
                <a:latin typeface="Google Sans Text"/>
                <a:cs typeface="Mangal"/>
              </a:rPr>
              <a:t> </a:t>
            </a:r>
            <a:r>
              <a:rPr lang="bn-IN" sz="1800" b="0" i="0" u="none" strike="noStrike" cap="none">
                <a:ln>
                  <a:noFill/>
                </a:ln>
                <a:solidFill>
                  <a:schemeClr val="tx1"/>
                </a:solidFill>
                <a:latin typeface="Google Sans Text"/>
                <a:cs typeface="Vrinda"/>
              </a:rPr>
              <a:t>যেহেতু </a:t>
            </a:r>
            <a:r>
              <a:rPr lang="en-US" sz="1800" b="0" i="0" u="none" strike="noStrike" cap="none">
                <a:ln>
                  <a:noFill/>
                </a:ln>
                <a:solidFill>
                  <a:schemeClr val="tx1"/>
                </a:solidFill>
                <a:latin typeface="Google Sans Text"/>
              </a:rPr>
              <a:t>0 </a:t>
            </a:r>
            <a:r>
              <a:rPr lang="en-US" sz="1800" b="0" i="0" u="none" strike="noStrike" cap="none">
                <a:ln>
                  <a:noFill/>
                </a:ln>
                <a:solidFill>
                  <a:schemeClr val="tx1"/>
                </a:solidFill>
                <a:latin typeface="Google Sans Text"/>
              </a:rPr>
              <a:t>dBm</a:t>
            </a:r>
            <a:r>
              <a:rPr lang="en-US" sz="1800" b="0" i="0" u="none" strike="noStrike" cap="none">
                <a:ln>
                  <a:noFill/>
                </a:ln>
                <a:solidFill>
                  <a:schemeClr val="tx1"/>
                </a:solidFill>
                <a:latin typeface="Google Sans Text"/>
              </a:rPr>
              <a:t> = 1  </a:t>
            </a:r>
            <a:r>
              <a:rPr lang="en-US" sz="1800" b="0" i="0" u="none" strike="noStrike" cap="none">
                <a:ln>
                  <a:noFill/>
                </a:ln>
                <a:solidFill>
                  <a:schemeClr val="tx1"/>
                </a:solidFill>
                <a:latin typeface="Google Sans Text"/>
              </a:rPr>
              <a:t>mW</a:t>
            </a:r>
            <a:r>
              <a:rPr lang="en-US" sz="1800" b="0" i="0" u="none" strike="noStrike" cap="none">
                <a:ln>
                  <a:noFill/>
                </a:ln>
                <a:solidFill>
                  <a:schemeClr val="tx1"/>
                </a:solidFill>
                <a:latin typeface="Google Sans Text"/>
              </a:rPr>
              <a:t>, </a:t>
            </a:r>
            <a:r>
              <a:rPr lang="bn-IN" sz="1800" b="0" i="0" u="none" strike="noStrike" cap="none">
                <a:ln>
                  <a:noFill/>
                </a:ln>
                <a:solidFill>
                  <a:schemeClr val="tx1"/>
                </a:solidFill>
                <a:latin typeface="Google Sans Text"/>
                <a:cs typeface="Vrinda"/>
              </a:rPr>
              <a:t>তাই এর ওপর ভিত্তি করে হিসাবটি করা হয়</a:t>
            </a:r>
            <a:endParaRPr lang="en-US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0951881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77662501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pic>
        <p:nvPicPr>
          <p:cNvPr id="1128500778" name="Picture 4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838200" y="685801"/>
            <a:ext cx="9122030" cy="4379542"/>
          </a:xfrm>
          <a:prstGeom prst="rect">
            <a:avLst/>
          </a:prstGeom>
        </p:spPr>
      </p:pic>
      <p:pic>
        <p:nvPicPr>
          <p:cNvPr id="2120945745" name="Picture 5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3867030" y="5506514"/>
            <a:ext cx="1714739" cy="50489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76739160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62325541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r>
              <a:rPr lang="en-US" sz="2400" b="1"/>
              <a:t>Exercise 2: Coupler Power Calculation</a:t>
            </a:r>
            <a:endParaRPr/>
          </a:p>
          <a:p>
            <a:pPr lvl="1">
              <a:defRPr/>
            </a:pPr>
            <a:r>
              <a:rPr lang="en-US" sz="2000"/>
              <a:t>A laser sends a signal with </a:t>
            </a:r>
            <a:r>
              <a:rPr lang="en-US" sz="2000" b="1"/>
              <a:t>10 </a:t>
            </a:r>
            <a:r>
              <a:rPr lang="en-US" sz="2000" b="1"/>
              <a:t>mW</a:t>
            </a:r>
            <a:r>
              <a:rPr lang="en-US" sz="2000"/>
              <a:t> of power into a </a:t>
            </a:r>
            <a:r>
              <a:rPr lang="en-US" sz="2000" b="1"/>
              <a:t>1:4 symmetric coupler</a:t>
            </a:r>
            <a:r>
              <a:rPr lang="en-US" sz="2000"/>
              <a:t> (a coupler that splits the signal equally into 4 output fibers).</a:t>
            </a:r>
            <a:endParaRPr/>
          </a:p>
          <a:p>
            <a:pPr lvl="1">
              <a:defRPr/>
            </a:pPr>
            <a:r>
              <a:rPr lang="en-US" sz="2000"/>
              <a:t>Calculate the power in </a:t>
            </a:r>
            <a:r>
              <a:rPr lang="en-US" sz="2000" b="1"/>
              <a:t>mW</a:t>
            </a:r>
            <a:r>
              <a:rPr lang="en-US" sz="2000"/>
              <a:t> at each output port (assume no internal excess loss).</a:t>
            </a:r>
            <a:endParaRPr/>
          </a:p>
          <a:p>
            <a:pPr lvl="1">
              <a:defRPr/>
            </a:pPr>
            <a:r>
              <a:rPr lang="en-US" sz="2000"/>
              <a:t>Express the output power of one port in </a:t>
            </a:r>
            <a:r>
              <a:rPr lang="en-US" sz="2000" b="1"/>
              <a:t>dBm</a:t>
            </a:r>
            <a:r>
              <a:rPr lang="en-US" sz="2000"/>
              <a:t>.</a:t>
            </a:r>
            <a:endParaRPr/>
          </a:p>
          <a:p>
            <a:pPr>
              <a:defRPr/>
            </a:pPr>
            <a:endParaRPr lang="en-US"/>
          </a:p>
        </p:txBody>
      </p:sp>
      <p:pic>
        <p:nvPicPr>
          <p:cNvPr id="1987865999" name="Picture 3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1732820" y="3843012"/>
            <a:ext cx="5191850" cy="233395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">
      <a:majorFont>
        <a:latin typeface="Calibri Light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ONLYOFFICE/9.3.1.8</Application>
  <PresentationFormat>On-screen Show (4:3)</PresentationFormat>
  <Paragraphs>0</Paragraphs>
  <Slides>9</Slides>
  <Notes>9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/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Passive Components</dc:title>
  <dc:creator>Lenovo</dc:creator>
  <cp:lastModifiedBy/>
  <cp:revision>7</cp:revision>
  <dcterms:created xsi:type="dcterms:W3CDTF">2026-04-02T04:24:04Z</dcterms:created>
  <dcterms:modified xsi:type="dcterms:W3CDTF">2026-04-14T07:41:34Z</dcterms:modified>
</cp:coreProperties>
</file>