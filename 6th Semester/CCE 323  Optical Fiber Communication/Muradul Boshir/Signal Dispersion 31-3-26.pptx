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7" d="100"/>
          <a:sy n="87" d="100"/>
        </p:scale>
        <p:origin x="528" y="58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C46095-DDC4-FFBD-9BE4-D6AF413EF0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E0F4F1-6208-12A5-658C-64D5B4445E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43D7B-6A1B-41BF-E49D-8D45CAE78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ACAEE0-CED8-549E-DBB5-AFE2CCA544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1575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146042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983794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8CC69C8-8B53-4FDF-AAB7-FE39925D3764}" type="datetimeFigureOut">
              <a:rPr lang="en-US"/>
              <a:t>3/31/2026</a:t>
            </a:fld>
            <a:endParaRPr lang="en-US"/>
          </a:p>
        </p:txBody>
      </p:sp>
      <p:sp>
        <p:nvSpPr>
          <p:cNvPr id="21242577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3481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6B844F4-D5BB-4B6C-9919-0766FCF7BA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0438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933249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400095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8CC69C8-8B53-4FDF-AAB7-FE39925D3764}" type="datetimeFigureOut">
              <a:rPr lang="en-US"/>
              <a:t>3/31/2026</a:t>
            </a:fld>
            <a:endParaRPr lang="en-US"/>
          </a:p>
        </p:txBody>
      </p:sp>
      <p:sp>
        <p:nvSpPr>
          <p:cNvPr id="859227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47658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6B844F4-D5BB-4B6C-9919-0766FCF7BA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42559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110143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5682513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8CC69C8-8B53-4FDF-AAB7-FE39925D3764}" type="datetimeFigureOut">
              <a:rPr lang="en-US"/>
              <a:t>3/31/2026</a:t>
            </a:fld>
            <a:endParaRPr lang="en-US"/>
          </a:p>
        </p:txBody>
      </p:sp>
      <p:sp>
        <p:nvSpPr>
          <p:cNvPr id="9333885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26821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6B844F4-D5BB-4B6C-9919-0766FCF7BA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3046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971388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501759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681815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8CC69C8-8B53-4FDF-AAB7-FE39925D3764}" type="datetimeFigureOut">
              <a:rPr lang="en-US"/>
              <a:t>3/31/2026</a:t>
            </a:fld>
            <a:endParaRPr lang="en-US"/>
          </a:p>
        </p:txBody>
      </p:sp>
      <p:sp>
        <p:nvSpPr>
          <p:cNvPr id="465328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63347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6B844F4-D5BB-4B6C-9919-0766FCF7BA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964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587601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7831394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0290817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85000755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641633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8CC69C8-8B53-4FDF-AAB7-FE39925D3764}" type="datetimeFigureOut">
              <a:rPr lang="en-US"/>
              <a:t>3/31/2026</a:t>
            </a:fld>
            <a:endParaRPr lang="en-US"/>
          </a:p>
        </p:txBody>
      </p:sp>
      <p:sp>
        <p:nvSpPr>
          <p:cNvPr id="185740724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429263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6B844F4-D5BB-4B6C-9919-0766FCF7BA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1961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816333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8CC69C8-8B53-4FDF-AAB7-FE39925D3764}" type="datetimeFigureOut">
              <a:rPr lang="en-US"/>
              <a:t>3/31/2026</a:t>
            </a:fld>
            <a:endParaRPr lang="en-US"/>
          </a:p>
        </p:txBody>
      </p:sp>
      <p:sp>
        <p:nvSpPr>
          <p:cNvPr id="58824896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165909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6B844F4-D5BB-4B6C-9919-0766FCF7BA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31236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8CC69C8-8B53-4FDF-AAB7-FE39925D3764}" type="datetimeFigureOut">
              <a:rPr lang="en-US"/>
              <a:t>3/31/2026</a:t>
            </a:fld>
            <a:endParaRPr lang="en-US"/>
          </a:p>
        </p:txBody>
      </p:sp>
      <p:sp>
        <p:nvSpPr>
          <p:cNvPr id="94724775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483212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6B844F4-D5BB-4B6C-9919-0766FCF7BA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33469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236218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28310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1594944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8CC69C8-8B53-4FDF-AAB7-FE39925D3764}" type="datetimeFigureOut">
              <a:rPr lang="en-US"/>
              <a:t>3/31/2026</a:t>
            </a:fld>
            <a:endParaRPr lang="en-US"/>
          </a:p>
        </p:txBody>
      </p:sp>
      <p:sp>
        <p:nvSpPr>
          <p:cNvPr id="4791193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31583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6B844F4-D5BB-4B6C-9919-0766FCF7BA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8658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816459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89041974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9451784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8CC69C8-8B53-4FDF-AAB7-FE39925D3764}" type="datetimeFigureOut">
              <a:rPr lang="en-US"/>
              <a:t>3/31/2026</a:t>
            </a:fld>
            <a:endParaRPr lang="en-US"/>
          </a:p>
        </p:txBody>
      </p:sp>
      <p:sp>
        <p:nvSpPr>
          <p:cNvPr id="16139212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80823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6B844F4-D5BB-4B6C-9919-0766FCF7BA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9663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655900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06552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8CC69C8-8B53-4FDF-AAB7-FE39925D3764}" type="datetimeFigureOut">
              <a:rPr lang="en-US"/>
              <a:t>3/31/2026</a:t>
            </a:fld>
            <a:endParaRPr lang="en-US"/>
          </a:p>
        </p:txBody>
      </p:sp>
      <p:sp>
        <p:nvSpPr>
          <p:cNvPr id="6385189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96393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6B844F4-D5BB-4B6C-9919-0766FCF7BA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11644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8857913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83825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8CC69C8-8B53-4FDF-AAB7-FE39925D3764}" type="datetimeFigureOut">
              <a:rPr lang="en-US"/>
              <a:t>3/31/2026</a:t>
            </a:fld>
            <a:endParaRPr lang="en-US"/>
          </a:p>
        </p:txBody>
      </p:sp>
      <p:sp>
        <p:nvSpPr>
          <p:cNvPr id="7980574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78114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6B844F4-D5BB-4B6C-9919-0766FCF7BA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06858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834066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0590492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8CC69C8-8B53-4FDF-AAB7-FE39925D3764}" type="datetimeFigureOut">
              <a:rPr lang="en-US"/>
              <a:t>3/31/2026</a:t>
            </a:fld>
            <a:endParaRPr lang="en-US"/>
          </a:p>
        </p:txBody>
      </p:sp>
      <p:sp>
        <p:nvSpPr>
          <p:cNvPr id="4954911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27803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6B844F4-D5BB-4B6C-9919-0766FCF7BAC1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357778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Signal Dispersion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2392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Concept:</a:t>
            </a:r>
            <a:br>
              <a:rPr lang="en-US"/>
            </a:br>
            <a:endParaRPr lang="en-US"/>
          </a:p>
        </p:txBody>
      </p:sp>
      <p:sp>
        <p:nvSpPr>
          <p:cNvPr id="1924766989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/>
          </a:bodyPr>
          <a:lstStyle/>
          <a:p>
            <a:pPr>
              <a:defRPr/>
            </a:pPr>
            <a:r>
              <a:rPr lang="en-US" b="1"/>
              <a:t>Material Dispersion:</a:t>
            </a:r>
            <a:r>
              <a:rPr lang="en-US"/>
              <a:t> This occurs because the refractive index of glass varies with the wavelength of light. </a:t>
            </a:r>
            <a:endParaRPr/>
          </a:p>
          <a:p>
            <a:pPr lvl="1">
              <a:defRPr/>
            </a:pPr>
            <a:r>
              <a:rPr lang="en-US"/>
              <a:t>Since an LED light source isn't "pure" (it contains a range of wavelengths/colors), different colors travel at different speeds through the fiber.</a:t>
            </a:r>
            <a:endParaRPr/>
          </a:p>
          <a:p>
            <a:pPr>
              <a:defRPr/>
            </a:pPr>
            <a:r>
              <a:rPr lang="en-US" b="1"/>
              <a:t>Pulse Broadening:</a:t>
            </a:r>
            <a:r>
              <a:rPr lang="en-US"/>
              <a:t> As these different speeds cause parts of the light pulse to arrive at different times, the pulse "spreads out" or broadens as it travels.</a:t>
            </a:r>
            <a:endParaRPr/>
          </a:p>
          <a:p>
            <a:pPr>
              <a:defRPr/>
            </a:pPr>
            <a:r>
              <a:rPr lang="en-US" b="1"/>
              <a:t>Intersymbol</a:t>
            </a:r>
            <a:r>
              <a:rPr lang="en-US" b="1"/>
              <a:t> Interference (ISI):</a:t>
            </a:r>
            <a:r>
              <a:rPr lang="en-US"/>
              <a:t> For CSE students, the practical impact is </a:t>
            </a:r>
            <a:r>
              <a:rPr lang="en-US" b="1"/>
              <a:t>ISI</a:t>
            </a:r>
            <a:r>
              <a:rPr lang="en-US"/>
              <a:t>. If a pulse broadens too much, it starts overlapping with the pulse representing the next bit. </a:t>
            </a:r>
            <a:endParaRPr/>
          </a:p>
          <a:p>
            <a:pPr lvl="1">
              <a:defRPr/>
            </a:pPr>
            <a:r>
              <a:rPr lang="en-US"/>
              <a:t>The receiver then cannot distinguish between a "1" and a "0".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682857" name="Title 1"/>
          <p:cNvSpPr>
            <a:spLocks noGrp="1"/>
          </p:cNvSpPr>
          <p:nvPr>
            <p:ph type="title"/>
          </p:nvPr>
        </p:nvSpPr>
        <p:spPr bwMode="auto">
          <a:xfrm>
            <a:off x="61546" y="365125"/>
            <a:ext cx="11292254" cy="1325563"/>
          </a:xfrm>
        </p:spPr>
        <p:txBody>
          <a:bodyPr/>
          <a:lstStyle/>
          <a:p>
            <a:pPr>
              <a:defRPr/>
            </a:pPr>
            <a:r>
              <a:rPr lang="en-US"/>
              <a:t>Exercise: Material Dispersion and Pulse Broadening</a:t>
            </a:r>
            <a:endParaRPr lang="en-US"/>
          </a:p>
        </p:txBody>
      </p:sp>
      <p:pic>
        <p:nvPicPr>
          <p:cNvPr id="824569894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0364" y="2054369"/>
            <a:ext cx="6759876" cy="2098797"/>
          </a:xfrm>
          <a:prstGeom prst="rect">
            <a:avLst/>
          </a:prstGeom>
        </p:spPr>
      </p:pic>
      <p:pic>
        <p:nvPicPr>
          <p:cNvPr id="650504862" name="Picture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465319" y="1625795"/>
            <a:ext cx="4810873" cy="43953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29925" name="Title 1"/>
          <p:cNvSpPr>
            <a:spLocks noGrp="1"/>
          </p:cNvSpPr>
          <p:nvPr>
            <p:ph type="title"/>
          </p:nvPr>
        </p:nvSpPr>
        <p:spPr bwMode="auto">
          <a:xfrm>
            <a:off x="61546" y="365125"/>
            <a:ext cx="11292254" cy="1325563"/>
          </a:xfrm>
        </p:spPr>
        <p:txBody>
          <a:bodyPr/>
          <a:lstStyle/>
          <a:p>
            <a:pPr>
              <a:defRPr/>
            </a:pPr>
            <a:r>
              <a:rPr lang="en-US"/>
              <a:t>Exercise: Material Dispersion and Pulse Broadening</a:t>
            </a:r>
            <a:endParaRPr lang="en-US"/>
          </a:p>
        </p:txBody>
      </p:sp>
      <p:pic>
        <p:nvPicPr>
          <p:cNvPr id="1039626026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547" y="1690688"/>
            <a:ext cx="6759876" cy="2098797"/>
          </a:xfrm>
          <a:prstGeom prst="rect">
            <a:avLst/>
          </a:prstGeom>
        </p:spPr>
      </p:pic>
      <p:pic>
        <p:nvPicPr>
          <p:cNvPr id="199538774" name="Picture 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129130" y="1825625"/>
            <a:ext cx="5001323" cy="3419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Dispersion</dc:title>
  <dc:creator>Lenovo</dc:creator>
  <cp:lastModifiedBy/>
  <cp:revision>2</cp:revision>
  <dcterms:created xsi:type="dcterms:W3CDTF">2026-03-31T05:35:43Z</dcterms:created>
  <dcterms:modified xsi:type="dcterms:W3CDTF">2026-04-13T18:40:17Z</dcterms:modified>
</cp:coreProperties>
</file>