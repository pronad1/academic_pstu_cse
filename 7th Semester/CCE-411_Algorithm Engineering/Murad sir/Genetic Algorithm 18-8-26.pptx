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0" r:id="rId4"/>
    <p:sldId id="271" r:id="rId5"/>
    <p:sldId id="272" r:id="rId6"/>
    <p:sldId id="273" r:id="rId7"/>
    <p:sldId id="274" r:id="rId8"/>
    <p:sldId id="275" r:id="rId9"/>
    <p:sldId id="282" r:id="rId10"/>
    <p:sldId id="276" r:id="rId11"/>
    <p:sldId id="277" r:id="rId12"/>
    <p:sldId id="278" r:id="rId13"/>
    <p:sldId id="279" r:id="rId14"/>
    <p:sldId id="280" r:id="rId15"/>
    <p:sldId id="264" r:id="rId16"/>
    <p:sldId id="260" r:id="rId17"/>
    <p:sldId id="281" r:id="rId18"/>
    <p:sldId id="266" r:id="rId19"/>
    <p:sldId id="261" r:id="rId20"/>
    <p:sldId id="267" r:id="rId21"/>
    <p:sldId id="262" r:id="rId22"/>
    <p:sldId id="268" r:id="rId23"/>
    <p:sldId id="263" r:id="rId24"/>
    <p:sldId id="26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3F7EFB-A65C-DC57-ADD1-89D92A223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E67F8B7C-419F-0A8D-335F-33F856A02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B2EF759-5F66-64B3-B81A-76111871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E8A95B9-6881-A865-676B-90BA20F0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F98CDE0-5AEF-05CF-56BF-16D01C49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5726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A777D97-00A9-6246-84F0-0DC7CF92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64AE28-5DCA-4887-FCC5-F357C5C5D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40E803-1F61-B939-FF83-F5D5EFAA5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87C0607-FBAB-E4F4-71D5-CC6D8E11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958E277-2DD0-EF6D-9208-50377BA2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4228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7CC4BD-7624-DD82-C7D7-4EF73412D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D6D1382-013E-E781-FDBD-2940FCE91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5DA97B6-D2C9-172C-F864-7ED8C2B89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C98E51-62E6-21B4-96CF-B0B428239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755214D-A481-101C-0A10-6D605680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977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E30DDD-DC36-D380-C78E-18BEF7F33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BFF9E5-5A2A-5727-72BC-76DD0E27A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096290B-4D7A-FC1F-1750-3D9B43A3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AFA2FE1-7610-5519-92CF-5455395A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E9E84A0-6066-8F13-9482-D1D777683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10BEAF6-E447-FB95-EC69-0C2F89DA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6724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47698F-8E14-4084-3BE1-A4B2E84C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B469E74-91B2-0AB1-A328-098D1D369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9805494-F204-E357-D31F-93715783A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44DF331-63AE-7F0B-BD77-035C24842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77645DC-6C46-F3CB-C8D9-9ECB16086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E83E1B73-C1A1-36D1-2334-D05559EA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F20A179-6FD6-F949-5323-D9B4FB08D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2067550-EFA4-2C13-F287-9E6C8579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403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77B9C2-6E89-518B-3A1D-BC4F49C8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91651B93-2FD8-A7D3-4B6D-7F527A61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D4B7CEB-AB3C-817E-DD8A-BD2C3ADC0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DD02B59-63BE-7103-FFC5-918DB1882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88033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7A3EC24-5DBE-D914-096E-F9965CCD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63DDAB4-48A2-9946-F4C1-97AA1C32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DA62F81-82C6-DB9D-52A1-8B3D782B7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13674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190FF3-8DC6-6F07-AFB8-036B34A7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CF4EA6-7615-F6FE-11B0-FFDBE0E26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957C110-C407-5A93-85F4-D27047958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E3DC9FE-91DF-2105-1533-BD97758A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6B5A973-456E-0236-04B5-C51D4BF27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73C4FD5-347F-EE2B-F4A7-84306C4A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86133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2C00C0-50D3-2163-1760-0BF508F0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C0B4A6E-D0C7-5B54-9F78-8EA023009F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59DC66A-94D8-22C7-2E82-34DFEC383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527855C-DB5D-BE9E-F9A1-16059C0B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BCD0C71-1740-6E80-97C7-32A3A9AA6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998C34A-82CA-688B-28A6-4683685B7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5588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C3F0F3-B7A1-1CE6-129D-C3F3008EB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14D8B0C7-1A9B-2B67-3865-47EF4F408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02FCE47-136D-0DBC-9644-942C0CF6E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64882A2-82DB-D7E8-FA59-92B537B8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A24D070-566B-7D28-53BA-20B5283F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8601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795A62-D42D-6548-96EF-0CC2C3EF7D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977D52C-E9C5-49DD-F77E-FBE052E4FB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D6AC546-8D34-9992-2B09-7FA7A4E4B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4200503-2B2C-61B0-EABA-3E395924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BEDF1F-734E-2FB2-A8A1-FDE4F2E9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2000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A12DF9F-9D9C-2A3E-6A84-266C24B22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D7800C0-9126-07A4-EE0C-60DB11115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3050410-854D-EF9F-59E4-073B75CF0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10AEE-E44D-445D-A527-000DF9D2109A}" type="datetimeFigureOut">
              <a:rPr lang="en-US" smtClean="0"/>
              <a:pPr/>
              <a:t>18-Aug-26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1A701C-9C29-C2FA-D329-BFCA09EC64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08DB412-B0A3-2751-B581-9A8D86C36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92116-8F4B-4E22-8E74-7D483EECF5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243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357CC4-6780-9E45-EA59-777FE1A729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0F0F"/>
                </a:solidFill>
                <a:latin typeface="YouTube Sans"/>
              </a:rPr>
              <a:t>Genetic Algorithm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9571F43-F52F-F604-D583-D2C0DF8380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0631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2F5D689-65BB-9301-8F45-071658BA0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718" y="794718"/>
            <a:ext cx="6718619" cy="4802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2748F15-C4A7-D64E-B0B5-740E868D79CC}"/>
              </a:ext>
            </a:extLst>
          </p:cNvPr>
          <p:cNvSpPr txBox="1"/>
          <p:nvPr/>
        </p:nvSpPr>
        <p:spPr>
          <a:xfrm>
            <a:off x="8097078" y="4532243"/>
            <a:ext cx="1417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offspring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1D0CD64A-59EE-BCC2-D2E6-9C7C1B9B8AD0}"/>
              </a:ext>
            </a:extLst>
          </p:cNvPr>
          <p:cNvCxnSpPr/>
          <p:nvPr/>
        </p:nvCxnSpPr>
        <p:spPr>
          <a:xfrm flipH="1">
            <a:off x="7368208" y="4716909"/>
            <a:ext cx="728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9" y="1156541"/>
            <a:ext cx="5589314" cy="434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992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2748F15-C4A7-D64E-B0B5-740E868D79CC}"/>
              </a:ext>
            </a:extLst>
          </p:cNvPr>
          <p:cNvSpPr txBox="1"/>
          <p:nvPr/>
        </p:nvSpPr>
        <p:spPr>
          <a:xfrm>
            <a:off x="8097078" y="4532243"/>
            <a:ext cx="1417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offspring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1D0CD64A-59EE-BCC2-D2E6-9C7C1B9B8AD0}"/>
              </a:ext>
            </a:extLst>
          </p:cNvPr>
          <p:cNvCxnSpPr/>
          <p:nvPr/>
        </p:nvCxnSpPr>
        <p:spPr>
          <a:xfrm flipH="1">
            <a:off x="7368208" y="4716909"/>
            <a:ext cx="728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77" y="739526"/>
            <a:ext cx="9583615" cy="597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8012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2748F15-C4A7-D64E-B0B5-740E868D79CC}"/>
              </a:ext>
            </a:extLst>
          </p:cNvPr>
          <p:cNvSpPr txBox="1"/>
          <p:nvPr/>
        </p:nvSpPr>
        <p:spPr>
          <a:xfrm>
            <a:off x="8097078" y="4532243"/>
            <a:ext cx="1417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offspring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1D0CD64A-59EE-BCC2-D2E6-9C7C1B9B8AD0}"/>
              </a:ext>
            </a:extLst>
          </p:cNvPr>
          <p:cNvCxnSpPr/>
          <p:nvPr/>
        </p:nvCxnSpPr>
        <p:spPr>
          <a:xfrm flipH="1">
            <a:off x="7368208" y="4716909"/>
            <a:ext cx="7288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132"/>
            <a:ext cx="5860288" cy="53851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266" y="1165132"/>
            <a:ext cx="5458072" cy="538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6280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6871"/>
            <a:ext cx="5187462" cy="53851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576" y="1443347"/>
            <a:ext cx="6855762" cy="451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2487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593"/>
            <a:ext cx="6855762" cy="45121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645" y="1825625"/>
            <a:ext cx="5578323" cy="4077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5004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" y="1368425"/>
            <a:ext cx="5578323" cy="40771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408" y="1293008"/>
            <a:ext cx="6636804" cy="489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3806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64" y="1239716"/>
            <a:ext cx="5928874" cy="41618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494" y="1212836"/>
            <a:ext cx="5371381" cy="4964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2147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910" y="1"/>
            <a:ext cx="10515600" cy="51318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Stopping Condition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6" y="513185"/>
            <a:ext cx="8516539" cy="29722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5728" y="3485400"/>
            <a:ext cx="8392696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33293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9857424" cy="31618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10576" y="4618108"/>
            <a:ext cx="6046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s-IN" dirty="0">
                <a:solidFill>
                  <a:srgbClr val="FF0000"/>
                </a:solidFill>
              </a:rPr>
              <a:t>(অর্থাৎ, সেরা সমাধানটি নিয়ে কোনো নাড়াচাড়া করা যাবে না!)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2908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6789"/>
            <a:ext cx="9108249" cy="376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3682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1512993"/>
            <a:ext cx="11110578" cy="362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14591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3629"/>
            <a:ext cx="5837688" cy="4863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71" y="1313629"/>
            <a:ext cx="6294129" cy="486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4944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38" y="527539"/>
            <a:ext cx="12192000" cy="9938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</a:t>
            </a:r>
            <a: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  <a:t>Flowchart</a:t>
            </a:r>
            <a:br>
              <a:rPr lang="en-US" b="1" i="0" dirty="0" smtClean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825625"/>
            <a:ext cx="685506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" y="845910"/>
            <a:ext cx="12166138" cy="26656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514" y="3658251"/>
            <a:ext cx="8497486" cy="237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8579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35973CE-B9EB-64D9-6B7B-7DE48A020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Explained With Flowchart</a:t>
            </a:r>
            <a:b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</a:br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B0A12D-5A26-9226-D001-1E4E315AB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https://www.youtube.com/watch?v=nas28_u-dJw</a:t>
            </a:r>
          </a:p>
        </p:txBody>
      </p:sp>
    </p:spTree>
    <p:extLst>
      <p:ext uri="{BB962C8B-B14F-4D97-AF65-F5344CB8AC3E}">
        <p14:creationId xmlns:p14="http://schemas.microsoft.com/office/powerpoint/2010/main" xmlns="" val="249815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3E97DF-5201-C22E-457D-12759AD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1109"/>
            <a:ext cx="11353800" cy="344001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Vs Traditional Algorithm </a:t>
            </a:r>
            <a:b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80D437-FDFC-459C-E2BF-0BDC3D88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110"/>
            <a:ext cx="12191999" cy="609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94922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3E97DF-5201-C22E-457D-12759ADF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Vs Traditional Algorithm </a:t>
            </a:r>
            <a:b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80D437-FDFC-459C-E2BF-0BDC3D88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7C09647-8310-D276-E85E-BEE928315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81" y="1690688"/>
            <a:ext cx="11614638" cy="49731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95692" y="1186962"/>
            <a:ext cx="21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 of steps are finite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8721969" y="1547446"/>
            <a:ext cx="1037493" cy="808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50757" y="1253887"/>
            <a:ext cx="4016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Specially in case of optimization problem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1732085" y="1573491"/>
            <a:ext cx="2620107" cy="188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70650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3E97DF-5201-C22E-457D-12759ADF0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Genetic Algorithm Vs Traditional Algorithm </a:t>
            </a:r>
            <a:b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80D437-FDFC-459C-E2BF-0BDC3D881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https://www.youtube.com/watch?v=ew0kqWuNpMo</a:t>
            </a:r>
          </a:p>
        </p:txBody>
      </p:sp>
    </p:spTree>
    <p:extLst>
      <p:ext uri="{BB962C8B-B14F-4D97-AF65-F5344CB8AC3E}">
        <p14:creationId xmlns:p14="http://schemas.microsoft.com/office/powerpoint/2010/main" xmlns="" val="121787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41CFAF-348D-02D7-298F-E06F5DB0F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Convergence Criteria / Termination Condition in Genetic Algorithm</a:t>
            </a:r>
            <a:b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4EB24C-B3B4-E10C-1AF0-040F9EAD6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B2927BB-E1CF-488C-9B35-0BFB5532D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70" y="1396448"/>
            <a:ext cx="9952381" cy="54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9544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https://www.youtube.com/watch?v=lQz9oVot6fE</a:t>
            </a:r>
          </a:p>
        </p:txBody>
      </p:sp>
    </p:spTree>
    <p:extLst>
      <p:ext uri="{BB962C8B-B14F-4D97-AF65-F5344CB8AC3E}">
        <p14:creationId xmlns:p14="http://schemas.microsoft.com/office/powerpoint/2010/main" xmlns="" val="372043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3D121F-FFA0-B182-078A-F38D5DD9B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Encoding Technique : Binary Encoding in Genetic Algorithm </a:t>
            </a:r>
            <a:b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2C5EA77-46EF-36A2-619B-546AC9875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B313CF7-C2A3-9C05-E4CF-80C500581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935" y="1351722"/>
            <a:ext cx="10320130" cy="550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7100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https://www.youtube.com/watch?v=2cPwk4fBAUA</a:t>
            </a:r>
          </a:p>
        </p:txBody>
      </p:sp>
    </p:spTree>
    <p:extLst>
      <p:ext uri="{BB962C8B-B14F-4D97-AF65-F5344CB8AC3E}">
        <p14:creationId xmlns:p14="http://schemas.microsoft.com/office/powerpoint/2010/main" xmlns="" val="802000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0EF9F1-3A55-08C6-3224-A63C82E09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  <a:t>Fitness Evaluation : Fitness Function / Objective Function</a:t>
            </a:r>
            <a:br>
              <a:rPr lang="en-US" b="1" i="0" dirty="0">
                <a:solidFill>
                  <a:srgbClr val="0F0F0F"/>
                </a:solidFill>
                <a:effectLst/>
                <a:latin typeface="YouTub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F95040A-DF59-AC98-FA35-95DA69B1A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70" y="1825625"/>
            <a:ext cx="7527234" cy="4351338"/>
          </a:xfrm>
        </p:spPr>
        <p:txBody>
          <a:bodyPr/>
          <a:lstStyle/>
          <a:p>
            <a:r>
              <a:rPr lang="en-US" dirty="0"/>
              <a:t>objective function-shortest</a:t>
            </a:r>
          </a:p>
          <a:p>
            <a:pPr marL="0" indent="0">
              <a:buNone/>
            </a:pPr>
            <a:r>
              <a:rPr lang="en-US" dirty="0"/>
              <a:t> path</a:t>
            </a:r>
          </a:p>
          <a:p>
            <a:r>
              <a:rPr lang="en-US" dirty="0"/>
              <a:t>Constraints-all city once </a:t>
            </a:r>
          </a:p>
          <a:p>
            <a:pPr marL="0" indent="0">
              <a:buNone/>
            </a:pPr>
            <a:r>
              <a:rPr lang="en-US" dirty="0"/>
              <a:t>Visit &amp; return to starting </a:t>
            </a:r>
          </a:p>
          <a:p>
            <a:pPr marL="0" indent="0">
              <a:buNone/>
            </a:pPr>
            <a:r>
              <a:rPr lang="en-US" dirty="0"/>
              <a:t>point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0FBE38F4-03B3-D0A5-D7B3-1362DF21D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304" y="1417120"/>
            <a:ext cx="7169426" cy="51683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C72B9766-6AC4-DEE8-F078-AF1F246BAAAB}"/>
              </a:ext>
            </a:extLst>
          </p:cNvPr>
          <p:cNvSpPr txBox="1"/>
          <p:nvPr/>
        </p:nvSpPr>
        <p:spPr>
          <a:xfrm>
            <a:off x="3342861" y="1204159"/>
            <a:ext cx="2885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travelling salesman problem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037D54B5-192F-941F-7AD6-4EDDE9EF0F10}"/>
              </a:ext>
            </a:extLst>
          </p:cNvPr>
          <p:cNvCxnSpPr/>
          <p:nvPr/>
        </p:nvCxnSpPr>
        <p:spPr>
          <a:xfrm>
            <a:off x="5141843" y="1590261"/>
            <a:ext cx="516835" cy="6228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8D10F8E9-F1F3-68DF-5B8B-68181E9C7296}"/>
              </a:ext>
            </a:extLst>
          </p:cNvPr>
          <p:cNvSpPr txBox="1"/>
          <p:nvPr/>
        </p:nvSpPr>
        <p:spPr>
          <a:xfrm>
            <a:off x="9650896" y="834827"/>
            <a:ext cx="2421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b="1" i="0" dirty="0">
                <a:solidFill>
                  <a:srgbClr val="273239"/>
                </a:solidFill>
                <a:effectLst/>
                <a:latin typeface="Source Sans 3"/>
              </a:rPr>
              <a:t>0/1 Knapsack Problem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613E854A-7D82-BBC1-1747-9D0497D0BD55}"/>
              </a:ext>
            </a:extLst>
          </p:cNvPr>
          <p:cNvCxnSpPr/>
          <p:nvPr/>
        </p:nvCxnSpPr>
        <p:spPr>
          <a:xfrm flipH="1">
            <a:off x="9395791" y="1204159"/>
            <a:ext cx="954157" cy="1273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19400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https://www.youtube.com/watch?v=6xsxHr6e0zY</a:t>
            </a:r>
          </a:p>
        </p:txBody>
      </p:sp>
    </p:spTree>
    <p:extLst>
      <p:ext uri="{BB962C8B-B14F-4D97-AF65-F5344CB8AC3E}">
        <p14:creationId xmlns:p14="http://schemas.microsoft.com/office/powerpoint/2010/main" xmlns="" val="3044507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168</Words>
  <Application>Microsoft Office PowerPoint</Application>
  <PresentationFormat>Custom</PresentationFormat>
  <Paragraphs>39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Genetic Algorithm</vt:lpstr>
      <vt:lpstr>Genetic Algorithm Explained With Flowchart </vt:lpstr>
      <vt:lpstr>Genetic Algorithm Explained With Flowchart </vt:lpstr>
      <vt:lpstr>Genetic Algorithm Explained With Flowchart </vt:lpstr>
      <vt:lpstr>Genetic Algorithm Explained With Flowchart </vt:lpstr>
      <vt:lpstr>Genetic Algorithm Explained With Flowchart </vt:lpstr>
      <vt:lpstr>Genetic Algorithm Explained With Flowchart </vt:lpstr>
      <vt:lpstr>Genetic Algorithm Explained With Flowchart </vt:lpstr>
      <vt:lpstr>Stopping Condition</vt:lpstr>
      <vt:lpstr>Genetic Algorithm Explained With Flowchart </vt:lpstr>
      <vt:lpstr>Genetic Algorithm Explained With Flowchart </vt:lpstr>
      <vt:lpstr>Genetic Algorithm Explained With Flowchart </vt:lpstr>
      <vt:lpstr>Genetic Algorithm Explained With Flowchart </vt:lpstr>
      <vt:lpstr>Genetic Algorithm Explained With Flowchart </vt:lpstr>
      <vt:lpstr>Genetic Algorithm Explained With Flowchart  </vt:lpstr>
      <vt:lpstr>Genetic Algorithm Vs Traditional Algorithm  </vt:lpstr>
      <vt:lpstr>Genetic Algorithm Vs Traditional Algorithm  </vt:lpstr>
      <vt:lpstr>Genetic Algorithm Vs Traditional Algorithm  </vt:lpstr>
      <vt:lpstr>Convergence Criteria / Termination Condition in Genetic Algorithm </vt:lpstr>
      <vt:lpstr>Slide 20</vt:lpstr>
      <vt:lpstr>Encoding Technique : Binary Encoding in Genetic Algorithm  </vt:lpstr>
      <vt:lpstr>Slide 22</vt:lpstr>
      <vt:lpstr>Fitness Evaluation : Fitness Function / Objective Function </vt:lpstr>
      <vt:lpstr>Slide 24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cce</dc:creator>
  <cp:lastModifiedBy>Lenovo</cp:lastModifiedBy>
  <cp:revision>31</cp:revision>
  <dcterms:created xsi:type="dcterms:W3CDTF">2023-10-09T16:14:43Z</dcterms:created>
  <dcterms:modified xsi:type="dcterms:W3CDTF">2026-08-18T04:07:19Z</dcterms:modified>
</cp:coreProperties>
</file>