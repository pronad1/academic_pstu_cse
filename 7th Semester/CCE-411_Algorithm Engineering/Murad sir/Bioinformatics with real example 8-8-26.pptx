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57" r:id="rId8"/>
    <p:sldId id="258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32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4918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567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5582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6255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042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503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2679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9855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276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3270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7F3B6-63F4-4498-BF67-4C19FF4C6BD1}" type="datetimeFigureOut">
              <a:rPr lang="en-US" smtClean="0"/>
              <a:pPr/>
              <a:t>09-Aug-26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1F17B-315F-4CB1-9FA1-B92DC7D73B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171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Bioinformatics with real example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28005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43" y="365125"/>
            <a:ext cx="11001880" cy="494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89229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41" y="365125"/>
            <a:ext cx="11321148" cy="353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6366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46" y="280628"/>
            <a:ext cx="10306088" cy="601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4284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41" y="158262"/>
            <a:ext cx="9933790" cy="657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30476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253961639"/>
              </p:ext>
            </p:extLst>
          </p:nvPr>
        </p:nvGraphicFramePr>
        <p:xfrm>
          <a:off x="0" y="391499"/>
          <a:ext cx="12191999" cy="58092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55291">
                  <a:extLst>
                    <a:ext uri="{9D8B030D-6E8A-4147-A177-3AD203B41FA5}">
                      <a16:colId xmlns:a16="http://schemas.microsoft.com/office/drawing/2014/main" xmlns="" val="4294205472"/>
                    </a:ext>
                  </a:extLst>
                </a:gridCol>
                <a:gridCol w="4816616">
                  <a:extLst>
                    <a:ext uri="{9D8B030D-6E8A-4147-A177-3AD203B41FA5}">
                      <a16:colId xmlns:a16="http://schemas.microsoft.com/office/drawing/2014/main" xmlns="" val="473789614"/>
                    </a:ext>
                  </a:extLst>
                </a:gridCol>
                <a:gridCol w="4724382">
                  <a:extLst>
                    <a:ext uri="{9D8B030D-6E8A-4147-A177-3AD203B41FA5}">
                      <a16:colId xmlns:a16="http://schemas.microsoft.com/office/drawing/2014/main" xmlns="" val="3717976726"/>
                    </a:ext>
                  </a:extLst>
                </a:gridCol>
                <a:gridCol w="95710">
                  <a:extLst>
                    <a:ext uri="{9D8B030D-6E8A-4147-A177-3AD203B41FA5}">
                      <a16:colId xmlns:a16="http://schemas.microsoft.com/office/drawing/2014/main" xmlns="" val="4056359976"/>
                    </a:ext>
                  </a:extLst>
                </a:gridCol>
              </a:tblGrid>
              <a:tr h="5512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effectLst/>
                        </a:rPr>
                        <a:t>Story Element</a:t>
                      </a:r>
                      <a:endParaRPr lang="en-US" sz="3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effectLst/>
                        </a:rPr>
                        <a:t>Bioinformatics Term</a:t>
                      </a:r>
                      <a:endParaRPr lang="en-US" sz="3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effectLst/>
                        </a:rPr>
                        <a:t>Real-World Concept</a:t>
                      </a:r>
                      <a:endParaRPr lang="en-US" sz="3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xmlns="" val="2001585174"/>
                  </a:ext>
                </a:extLst>
              </a:tr>
              <a:tr h="10600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3-Billion-Letter DNA Book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Genomic Data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The total set of genetic instructions in an organism.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xmlns="" val="2816351750"/>
                  </a:ext>
                </a:extLst>
              </a:tr>
              <a:tr h="15689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Digital Search Tools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Bioinformatics Software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Fast computer algorithms designed to scan billions of data points.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xmlns="" val="1626968647"/>
                  </a:ext>
                </a:extLst>
              </a:tr>
              <a:tr h="10600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Finding the Single Typo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Variant Calling / SNP Identification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Identifying mutations or genetic variations that cause disease.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xmlns="" val="1893661172"/>
                  </a:ext>
                </a:extLst>
              </a:tr>
              <a:tr h="15689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Global Reference Repositories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Biological Databases (NCBI,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</a:rPr>
                        <a:t>UniProt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</a:rPr>
                        <a:t>Public repositories storing genetic and protein structure data submitted worldwide.</a:t>
                      </a:r>
                      <a:endParaRPr lang="en-US" sz="3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xmlns="" val="2571122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23406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Bioinformatics with real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Bioinformatics</a:t>
            </a:r>
            <a:r>
              <a:rPr lang="en-US" dirty="0" smtClean="0"/>
              <a:t> is the interdisciplinary field that </a:t>
            </a:r>
            <a:r>
              <a:rPr lang="en-US" dirty="0" smtClean="0">
                <a:solidFill>
                  <a:srgbClr val="FF0000"/>
                </a:solidFill>
              </a:rPr>
              <a:t>combines biology, computer science, mathematics, and statistics to analyze and interpret biological data</a:t>
            </a:r>
            <a:r>
              <a:rPr lang="en-US" dirty="0" smtClean="0"/>
              <a:t>—especially </a:t>
            </a:r>
            <a:r>
              <a:rPr lang="en-US" dirty="0" smtClean="0">
                <a:solidFill>
                  <a:srgbClr val="FF0000"/>
                </a:solidFill>
              </a:rPr>
              <a:t>large and complex datasets like DNA, RNA, and protein sequences.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1365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Bangladesh-specific real example of bioinformatics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5" y="1655517"/>
            <a:ext cx="11471206" cy="475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95204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Bangladesh-specific real example of bioinformatics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12192000" cy="311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49014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129</Words>
  <Application>Microsoft Office PowerPoint</Application>
  <PresentationFormat>Custom</PresentationFormat>
  <Paragraphs>20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Bioinformatics with real example</vt:lpstr>
      <vt:lpstr>Slide 2</vt:lpstr>
      <vt:lpstr>Slide 3</vt:lpstr>
      <vt:lpstr>Slide 4</vt:lpstr>
      <vt:lpstr>Slide 5</vt:lpstr>
      <vt:lpstr>Slide 6</vt:lpstr>
      <vt:lpstr>Bioinformatics with real example</vt:lpstr>
      <vt:lpstr>Bangladesh-specific real example of bioinformatics</vt:lpstr>
      <vt:lpstr>Bangladesh-specific real example of bioinformatics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 with real example</dc:title>
  <dc:creator>Lenovo</dc:creator>
  <cp:lastModifiedBy>Lenovo</cp:lastModifiedBy>
  <cp:revision>5</cp:revision>
  <dcterms:created xsi:type="dcterms:W3CDTF">2025-08-12T10:38:13Z</dcterms:created>
  <dcterms:modified xsi:type="dcterms:W3CDTF">2026-08-09T03:28:40Z</dcterms:modified>
</cp:coreProperties>
</file>