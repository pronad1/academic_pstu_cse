
<file path=[Content_Types].xml><?xml version="1.0" encoding="utf-8"?>
<Types xmlns="http://schemas.openxmlformats.org/package/2006/content-types"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78" r:id="rId5"/>
    <p:sldId id="279" r:id="rId6"/>
    <p:sldId id="280" r:id="rId7"/>
    <p:sldId id="281" r:id="rId8"/>
    <p:sldId id="282" r:id="rId9"/>
    <p:sldId id="283" r:id="rId10"/>
    <p:sldId id="284" r:id="rId11"/>
    <p:sldId id="268" r:id="rId12"/>
    <p:sldId id="259" r:id="rId13"/>
    <p:sldId id="289" r:id="rId14"/>
    <p:sldId id="290" r:id="rId15"/>
    <p:sldId id="291" r:id="rId16"/>
    <p:sldId id="292" r:id="rId17"/>
    <p:sldId id="263" r:id="rId18"/>
    <p:sldId id="273" r:id="rId19"/>
    <p:sldId id="274" r:id="rId20"/>
    <p:sldId id="264" r:id="rId21"/>
    <p:sldId id="265" r:id="rId22"/>
    <p:sldId id="275" r:id="rId23"/>
    <p:sldId id="276" r:id="rId24"/>
    <p:sldId id="286" r:id="rId25"/>
    <p:sldId id="287" r:id="rId26"/>
    <p:sldId id="288" r:id="rId27"/>
    <p:sldId id="285" r:id="rId28"/>
    <p:sldId id="277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emf"/><Relationship Id="rId1" Type="http://schemas.openxmlformats.org/officeDocument/2006/relationships/package" Target="../embeddings/Document1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dirty="0"/>
              <a:t>Understanding Heuristic Algorithms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sz="3600" dirty="0"/>
              <a:t>Balancing Speed, Practicality, and Optimality in Computer Science</a:t>
            </a: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5241"/>
            <a:ext cx="10515600" cy="746760"/>
          </a:xfrm>
        </p:spPr>
        <p:txBody>
          <a:bodyPr/>
          <a:lstStyle/>
          <a:p>
            <a:r>
              <a:rPr lang="en-US" dirty="0"/>
              <a:t>The Hook – An Everyday Story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14400"/>
            <a:ext cx="111252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5241"/>
            <a:ext cx="10515600" cy="746760"/>
          </a:xfrm>
        </p:spPr>
        <p:txBody>
          <a:bodyPr/>
          <a:lstStyle/>
          <a:p>
            <a:r>
              <a:rPr lang="en-US" dirty="0"/>
              <a:t>Formal Definition &amp; Core Concept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99" y="923575"/>
            <a:ext cx="10121412" cy="54772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040"/>
            <a:ext cx="11430000" cy="653998"/>
          </a:xfrm>
        </p:spPr>
        <p:txBody>
          <a:bodyPr>
            <a:normAutofit fontScale="90000"/>
          </a:bodyPr>
          <a:lstStyle/>
          <a:p>
            <a:r>
              <a:rPr lang="en-US" dirty="0"/>
              <a:t>Mathematical Example – The Knapsack Problem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90600"/>
            <a:ext cx="6782747" cy="60110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0938"/>
            <a:ext cx="5791200" cy="24958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040"/>
            <a:ext cx="11430000" cy="653998"/>
          </a:xfrm>
        </p:spPr>
        <p:txBody>
          <a:bodyPr>
            <a:normAutofit fontScale="90000"/>
          </a:bodyPr>
          <a:lstStyle/>
          <a:p>
            <a:r>
              <a:rPr lang="en-US" dirty="0"/>
              <a:t>Mathematical Example – The Knapsack Problem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239" y="1600200"/>
            <a:ext cx="8859486" cy="27721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dirty="0"/>
              <a:t>Heuristic vs. Exact Algorithms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123628"/>
            <a:ext cx="10972800" cy="49723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Applications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75940"/>
            <a:ext cx="9154803" cy="4401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&amp; Takeaways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" y="3886199"/>
            <a:ext cx="11963400" cy="22907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"Fast and good enough is usually better than perfect and infinite."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663649"/>
            <a:ext cx="8773749" cy="19147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Algorithm With Real 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99" y="1600200"/>
            <a:ext cx="11318827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/>
              <a:t>Heuristic function in artificial intelligence</a:t>
            </a:r>
            <a:br>
              <a:rPr lang="en-US"/>
            </a:br>
            <a:endParaRPr lang="en-US"/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7106" y="1143000"/>
            <a:ext cx="4741506" cy="32198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76800" y="1219200"/>
            <a:ext cx="7467600" cy="2508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This calculation measures how far the current board (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Start state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) is from the target board (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Goal state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) in an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8-Puzzle Game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using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Heuristic Function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(</a:t>
            </a:r>
            <a:r>
              <a:rPr kumimoji="0" lang="en-US" altLang="en-US" sz="32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h(n)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).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7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dirty="0"/>
              <a:t>Heuristic function in artificial intelligence</a:t>
            </a:r>
            <a:br>
              <a:rPr lang="en-US" dirty="0"/>
            </a:br>
            <a:endParaRPr dirty="0"/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7106" y="1143000"/>
            <a:ext cx="5579706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513465"/>
            <a:ext cx="6096851" cy="63445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7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dirty="0"/>
              <a:t>Heuristic function in artificial intelligence</a:t>
            </a:r>
            <a:br>
              <a:rPr lang="en-US" dirty="0"/>
            </a:br>
            <a:endParaRPr dirty="0"/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7106" y="1143000"/>
            <a:ext cx="5579706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354" y="1238658"/>
            <a:ext cx="5977026" cy="33333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0"/>
            <a:ext cx="11811000" cy="6826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599" y="144378"/>
            <a:ext cx="9996183" cy="64850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 dirty="0"/>
              <a:t>What is the difference between algorithm and a heuristic?</a:t>
            </a:r>
            <a:br>
              <a:rPr lang="en-US" dirty="0"/>
            </a:br>
            <a:endParaRPr dirty="0"/>
          </a:p>
        </p:txBody>
      </p:sp>
      <p:sp>
        <p:nvSpPr>
          <p:cNvPr id="129" name="Google Shape;129;p8"/>
          <p:cNvSpPr txBox="1">
            <a:spLocks noGrp="1"/>
          </p:cNvSpPr>
          <p:nvPr>
            <p:ph type="body" idx="1"/>
          </p:nvPr>
        </p:nvSpPr>
        <p:spPr>
          <a:xfrm>
            <a:off x="304800" y="1447800"/>
            <a:ext cx="107442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3900" dirty="0"/>
              <a:t>An algorithm is a </a:t>
            </a:r>
            <a:r>
              <a:rPr lang="en-US" sz="3900" dirty="0">
                <a:solidFill>
                  <a:srgbClr val="FF0000"/>
                </a:solidFill>
              </a:rPr>
              <a:t>step-wise procedure for solving a specific problem in a finite number of steps</a:t>
            </a:r>
            <a:r>
              <a:rPr lang="en-US" sz="3900" dirty="0"/>
              <a:t>. </a:t>
            </a:r>
            <a:endParaRPr sz="39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3900" dirty="0"/>
              <a:t>The result (output) of an algorithm is predictable and reproducible given the same parameters (input). </a:t>
            </a:r>
            <a:endParaRPr sz="39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3900" dirty="0"/>
              <a:t>A heuristic is an educated guess </a:t>
            </a:r>
            <a:r>
              <a:rPr lang="en-US" sz="3900" dirty="0">
                <a:solidFill>
                  <a:srgbClr val="FF0000"/>
                </a:solidFill>
              </a:rPr>
              <a:t>which serves as a guide for subsequent explorations</a:t>
            </a:r>
            <a:r>
              <a:rPr lang="en-US" sz="3900" dirty="0"/>
              <a:t>.</a:t>
            </a:r>
            <a:endParaRPr sz="3900"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15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 b="1" dirty="0">
                <a:latin typeface="+mj-lt"/>
              </a:rPr>
              <a:t>What is the difference between algorithm and a heuristic?</a:t>
            </a:r>
            <a:br>
              <a:rPr lang="en-US" dirty="0"/>
            </a:br>
            <a:endParaRPr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152400" y="1295400"/>
          <a:ext cx="12039600" cy="6024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Document" r:id="rId1" imgW="5947410" imgH="3646805" progId="Word.Document.12">
                  <p:embed/>
                </p:oleObj>
              </mc:Choice>
              <mc:Fallback>
                <p:oleObj name="Document" r:id="rId1" imgW="5947410" imgH="3646805" progId="Word.Document.12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295400"/>
                        <a:ext cx="12039600" cy="60242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12115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r>
              <a:rPr lang="en-US" b="1" dirty="0">
                <a:latin typeface="+mj-lt"/>
              </a:rPr>
              <a:t>What is the difference between algorithm and a heuristic?</a:t>
            </a:r>
            <a:br>
              <a:rPr lang="en-US" dirty="0"/>
            </a:b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505955"/>
            <a:ext cx="1090038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/>
              <a:t>Are algorithms better than heuristics?</a:t>
            </a:r>
            <a:br>
              <a:rPr lang="en-US"/>
            </a:br>
            <a:endParaRPr lang="en-US"/>
          </a:p>
        </p:txBody>
      </p:sp>
      <p:sp>
        <p:nvSpPr>
          <p:cNvPr id="135" name="Google Shape;135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dirty="0"/>
              <a:t>While algorithms provide step-by-step procedures that can guarantee solutions, </a:t>
            </a:r>
            <a:r>
              <a:rPr lang="en-US" sz="3600" b="1" dirty="0"/>
              <a:t>heuristics are faster and provide shortcuts for getting to solutions</a:t>
            </a:r>
            <a:r>
              <a:rPr lang="en-US" sz="3600" dirty="0"/>
              <a:t>, </a:t>
            </a:r>
            <a:r>
              <a:rPr lang="en-US" sz="3600" dirty="0">
                <a:solidFill>
                  <a:srgbClr val="FF0000"/>
                </a:solidFill>
              </a:rPr>
              <a:t>though this has the potential to cause errors.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b="1" dirty="0">
                <a:latin typeface="+mj-lt"/>
              </a:rPr>
              <a:t>Is an algorithm a type of heuristic?</a:t>
            </a:r>
            <a:br>
              <a:rPr lang="en-US" b="1" dirty="0">
                <a:latin typeface="+mj-lt"/>
              </a:rPr>
            </a:br>
            <a:endParaRPr b="1" dirty="0">
              <a:latin typeface="+mj-lt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1" y="1976438"/>
            <a:ext cx="11887200" cy="320516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28600"/>
            <a:ext cx="10515600" cy="1325563"/>
          </a:xfrm>
        </p:spPr>
        <p:txBody>
          <a:bodyPr/>
          <a:lstStyle/>
          <a:p>
            <a:r>
              <a:rPr lang="en-US" b="1" dirty="0">
                <a:latin typeface="+mj-lt"/>
              </a:rPr>
              <a:t>Well-known Heuristic Algorithms</a:t>
            </a:r>
            <a:endParaRPr lang="en-US" b="1" dirty="0"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838200"/>
            <a:ext cx="3962400" cy="59957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585545"/>
            <a:ext cx="6873008" cy="33674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6019" y="-1805"/>
            <a:ext cx="10515600" cy="1325563"/>
          </a:xfrm>
        </p:spPr>
        <p:txBody>
          <a:bodyPr/>
          <a:lstStyle/>
          <a:p>
            <a:r>
              <a:rPr lang="en-US" dirty="0"/>
              <a:t>A* Search with 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62448"/>
            <a:ext cx="9916909" cy="56776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6019" y="-1805"/>
            <a:ext cx="10515600" cy="1325563"/>
          </a:xfrm>
        </p:spPr>
        <p:txBody>
          <a:bodyPr/>
          <a:lstStyle/>
          <a:p>
            <a:r>
              <a:rPr lang="en-US" dirty="0"/>
              <a:t>A* Search with 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5625"/>
            <a:ext cx="9050013" cy="350568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6019" y="-1805"/>
            <a:ext cx="10515600" cy="763805"/>
          </a:xfrm>
        </p:spPr>
        <p:txBody>
          <a:bodyPr/>
          <a:lstStyle/>
          <a:p>
            <a:r>
              <a:rPr lang="en-US" dirty="0"/>
              <a:t>A* Search with 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609600"/>
            <a:ext cx="5611008" cy="6019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62000"/>
            <a:ext cx="5277587" cy="386769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6019" y="-1805"/>
            <a:ext cx="10515600" cy="763805"/>
          </a:xfrm>
        </p:spPr>
        <p:txBody>
          <a:bodyPr/>
          <a:lstStyle/>
          <a:p>
            <a:r>
              <a:rPr lang="en-US" dirty="0"/>
              <a:t>A* Search with 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524000"/>
            <a:ext cx="9297698" cy="220058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 with 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90651"/>
            <a:ext cx="5791200" cy="47863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499" y="1392206"/>
            <a:ext cx="6378493" cy="4122777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2590800"/>
            <a:ext cx="4214669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 Search with 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6152081"/>
            <a:ext cx="11658600" cy="477319"/>
          </a:xfrm>
        </p:spPr>
        <p:txBody>
          <a:bodyPr>
            <a:normAutofit fontScale="92500"/>
          </a:bodyPr>
          <a:lstStyle/>
          <a:p>
            <a:r>
              <a:rPr lang="en-US" sz="1600" b="1" dirty="0">
                <a:latin typeface="+mj-lt"/>
              </a:rPr>
              <a:t>Shortest path found in 4 moves, and we didn’t check every single cell blindly — the heuristic guided us toward the goal.</a:t>
            </a:r>
            <a:endParaRPr lang="en-US" sz="1600" b="1" dirty="0"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287230"/>
            <a:ext cx="6172200" cy="48648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1731</Words>
  <Application>WPS Presentation</Application>
  <PresentationFormat>Widescreen</PresentationFormat>
  <Paragraphs>64</Paragraphs>
  <Slides>26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Arial</vt:lpstr>
      <vt:lpstr>SimSun</vt:lpstr>
      <vt:lpstr>Wingdings</vt:lpstr>
      <vt:lpstr>Arial</vt:lpstr>
      <vt:lpstr>Calibri</vt:lpstr>
      <vt:lpstr>Google Sans Text</vt:lpstr>
      <vt:lpstr>Siyam Rupali</vt:lpstr>
      <vt:lpstr>Microsoft YaHei</vt:lpstr>
      <vt:lpstr>Arial Unicode MS</vt:lpstr>
      <vt:lpstr>Office Theme</vt:lpstr>
      <vt:lpstr>Word.Document.12</vt:lpstr>
      <vt:lpstr>Understanding Heuristic Algorithms</vt:lpstr>
      <vt:lpstr>The Hook – An Everyday Story</vt:lpstr>
      <vt:lpstr>Formal Definition &amp; Core Concept</vt:lpstr>
      <vt:lpstr>Mathematical Example – The Knapsack Problem</vt:lpstr>
      <vt:lpstr>Mathematical Example – The Knapsack Problem</vt:lpstr>
      <vt:lpstr>Heuristic vs. Exact Algorithms</vt:lpstr>
      <vt:lpstr>Real-World Applications</vt:lpstr>
      <vt:lpstr>Summary &amp; Takeaways</vt:lpstr>
      <vt:lpstr>Heuristic Algorithm With Real Example</vt:lpstr>
      <vt:lpstr>Heuristic function in artificial intelligence </vt:lpstr>
      <vt:lpstr>Heuristic function in artificial intelligence </vt:lpstr>
      <vt:lpstr>Heuristic function in artificial intelligence </vt:lpstr>
      <vt:lpstr>PowerPoint 演示文稿</vt:lpstr>
      <vt:lpstr>PowerPoint 演示文稿</vt:lpstr>
      <vt:lpstr>What is the difference between algorithm and a heuristic? </vt:lpstr>
      <vt:lpstr>What is the difference between algorithm and a heuristic? </vt:lpstr>
      <vt:lpstr>What is the difference between algorithm and a heuristic? </vt:lpstr>
      <vt:lpstr>Are algorithms better than heuristics? </vt:lpstr>
      <vt:lpstr>Is an algorithm a type of heuristic? </vt:lpstr>
      <vt:lpstr>Well-known Heuristic Algorithms</vt:lpstr>
      <vt:lpstr>A* Search with example</vt:lpstr>
      <vt:lpstr>A* Search with example</vt:lpstr>
      <vt:lpstr>A* Search with example</vt:lpstr>
      <vt:lpstr>A* Search with example</vt:lpstr>
      <vt:lpstr>A* Search with example</vt:lpstr>
      <vt:lpstr>A* Search with example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HEURISTIC ALGORITHM</dc:title>
  <dc:creator>Dean CSE</dc:creator>
  <cp:lastModifiedBy>PROSENJIT MONDOL</cp:lastModifiedBy>
  <cp:revision>20</cp:revision>
  <dcterms:created xsi:type="dcterms:W3CDTF">2022-08-15T09:28:00Z</dcterms:created>
  <dcterms:modified xsi:type="dcterms:W3CDTF">2026-09-18T02:17:48Z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5651B3A102F3425988F7640D90F9EAAF_12</vt:lpwstr>
  </property>
  <property fmtid="{D5CDD505-2E9C-101B-9397-08002B2CF9AE}" pid="3" name="KSOProductBuildVer">
    <vt:lpwstr>1033-12.2.0.20323</vt:lpwstr>
  </property>
</Properties>
</file>