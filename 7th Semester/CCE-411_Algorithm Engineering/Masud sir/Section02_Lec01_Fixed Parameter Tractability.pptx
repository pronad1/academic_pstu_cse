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83" r:id="rId3"/>
    <p:sldId id="282" r:id="rId4"/>
    <p:sldId id="258" r:id="rId5"/>
    <p:sldId id="262" r:id="rId6"/>
    <p:sldId id="263" r:id="rId7"/>
    <p:sldId id="264" r:id="rId8"/>
    <p:sldId id="265" r:id="rId9"/>
    <p:sldId id="266" r:id="rId10"/>
    <p:sldId id="267" r:id="rId11"/>
    <p:sldId id="278" r:id="rId12"/>
    <p:sldId id="279" r:id="rId13"/>
    <p:sldId id="272" r:id="rId14"/>
    <p:sldId id="270" r:id="rId15"/>
    <p:sldId id="273" r:id="rId16"/>
    <p:sldId id="275" r:id="rId17"/>
    <p:sldId id="274" r:id="rId18"/>
    <p:sldId id="271" r:id="rId19"/>
    <p:sldId id="276" r:id="rId20"/>
    <p:sldId id="280" r:id="rId21"/>
    <p:sldId id="281" r:id="rId22"/>
    <p:sldId id="259" r:id="rId23"/>
    <p:sldId id="277" r:id="rId24"/>
    <p:sldId id="260" r:id="rId25"/>
    <p:sldId id="261" r:id="rId2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82" d="100"/>
          <a:sy n="82" d="100"/>
        </p:scale>
        <p:origin x="643"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11/3/2021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11/3/2021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11/3/2021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11/3/2021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smtClean="0"/>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D57F1E4F-1CFF-5643-939E-217C01CDF565}" type="slidenum">
              <a:rPr lang="en-US" dirty="0"/>
              <a:pPr/>
              <a:t>‹#›</a:t>
            </a:fld>
            <a:endParaRPr lang="en-US"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smtClean="0"/>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smtClean="0"/>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11/3/2021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11/3/2021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11/3/2021</a:t>
            </a:fld>
            <a:endParaRPr lang="en-US"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60" r:id="rId10"/>
    <p:sldLayoutId id="2147483661" r:id="rId11"/>
    <p:sldLayoutId id="2147483662" r:id="rId12"/>
    <p:sldLayoutId id="2147483663" r:id="rId13"/>
    <p:sldLayoutId id="2147483664" r:id="rId14"/>
    <p:sldLayoutId id="2147483658" r:id="rId15"/>
    <p:sldLayoutId id="2147483659"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hyperlink" Target="https://en.wikipedia.org/wiki/Parameterized_complexity" TargetMode="External"/><Relationship Id="rId2" Type="http://schemas.openxmlformats.org/officeDocument/2006/relationships/hyperlink" Target="https://en.wikipedia.org/wiki/Algorithm" TargetMode="External"/><Relationship Id="rId1" Type="http://schemas.openxmlformats.org/officeDocument/2006/relationships/slideLayout" Target="../slideLayouts/slideLayout1.xml"/><Relationship Id="rId5" Type="http://schemas.openxmlformats.org/officeDocument/2006/relationships/hyperlink" Target="https://en.wikipedia.org/wiki/Fixed-parameter_tractability" TargetMode="External"/><Relationship Id="rId4" Type="http://schemas.openxmlformats.org/officeDocument/2006/relationships/hyperlink" Target="https://en.wikipedia.org/wiki/Polynomial_time" TargetMode="Externa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30592" y="517849"/>
            <a:ext cx="8915399" cy="909735"/>
          </a:xfrm>
        </p:spPr>
        <p:txBody>
          <a:bodyPr>
            <a:normAutofit fontScale="90000"/>
          </a:bodyPr>
          <a:lstStyle/>
          <a:p>
            <a:r>
              <a:rPr lang="en-US" dirty="0" smtClean="0"/>
              <a:t>Fixed Parameter Tractability</a:t>
            </a:r>
            <a:endParaRPr lang="en-US" dirty="0"/>
          </a:p>
        </p:txBody>
      </p:sp>
      <p:sp>
        <p:nvSpPr>
          <p:cNvPr id="3" name="Subtitle 2"/>
          <p:cNvSpPr>
            <a:spLocks noGrp="1"/>
          </p:cNvSpPr>
          <p:nvPr>
            <p:ph type="subTitle" idx="1"/>
          </p:nvPr>
        </p:nvSpPr>
        <p:spPr>
          <a:xfrm>
            <a:off x="1754155" y="1558212"/>
            <a:ext cx="9750457" cy="4991877"/>
          </a:xfrm>
        </p:spPr>
        <p:txBody>
          <a:bodyPr>
            <a:normAutofit/>
          </a:bodyPr>
          <a:lstStyle/>
          <a:p>
            <a:pPr marL="285750" indent="-285750">
              <a:buFont typeface="Wingdings" panose="05000000000000000000" pitchFamily="2" charset="2"/>
              <a:buChar char="ü"/>
            </a:pPr>
            <a:r>
              <a:rPr lang="en-US" dirty="0"/>
              <a:t>One of the ways to cope with hard problems in practice is to realized that problem instances </a:t>
            </a:r>
            <a:r>
              <a:rPr lang="en-US" dirty="0" smtClean="0"/>
              <a:t>may be </a:t>
            </a:r>
            <a:r>
              <a:rPr lang="en-US" dirty="0"/>
              <a:t>associated with some “parameters” related to their complexity. </a:t>
            </a:r>
            <a:endParaRPr lang="en-US" dirty="0" smtClean="0"/>
          </a:p>
          <a:p>
            <a:pPr marL="285750" indent="-285750">
              <a:buFont typeface="Wingdings" panose="05000000000000000000" pitchFamily="2" charset="2"/>
              <a:buChar char="ü"/>
            </a:pPr>
            <a:r>
              <a:rPr lang="en-US" dirty="0" smtClean="0"/>
              <a:t>If </a:t>
            </a:r>
            <a:r>
              <a:rPr lang="en-US" dirty="0"/>
              <a:t>the parameter of an </a:t>
            </a:r>
            <a:r>
              <a:rPr lang="en-US" dirty="0" smtClean="0"/>
              <a:t>instance is </a:t>
            </a:r>
            <a:r>
              <a:rPr lang="en-US" dirty="0"/>
              <a:t>small, we might have some hope in finding a polynomial time solution to that instance. </a:t>
            </a:r>
            <a:endParaRPr lang="en-US" dirty="0" smtClean="0"/>
          </a:p>
          <a:p>
            <a:pPr marL="285750" indent="-285750">
              <a:buFont typeface="Wingdings" panose="05000000000000000000" pitchFamily="2" charset="2"/>
              <a:buChar char="ü"/>
            </a:pPr>
            <a:r>
              <a:rPr lang="en-US" dirty="0" smtClean="0"/>
              <a:t>This idea </a:t>
            </a:r>
            <a:r>
              <a:rPr lang="en-US" dirty="0"/>
              <a:t>has been investigated in the 1990’s by </a:t>
            </a:r>
            <a:r>
              <a:rPr lang="en-US" dirty="0" err="1"/>
              <a:t>Downian</a:t>
            </a:r>
            <a:r>
              <a:rPr lang="en-US" dirty="0"/>
              <a:t> and Fellowes in their work on fixed </a:t>
            </a:r>
            <a:r>
              <a:rPr lang="en-US" dirty="0" smtClean="0"/>
              <a:t>parameter tractability.</a:t>
            </a:r>
          </a:p>
          <a:p>
            <a:pPr algn="just"/>
            <a:r>
              <a:rPr lang="en-US" b="1" i="1" dirty="0">
                <a:solidFill>
                  <a:srgbClr val="C00000"/>
                </a:solidFill>
              </a:rPr>
              <a:t>Definition </a:t>
            </a:r>
            <a:r>
              <a:rPr lang="en-US" b="1" i="1" dirty="0" smtClean="0">
                <a:solidFill>
                  <a:srgbClr val="C00000"/>
                </a:solidFill>
              </a:rPr>
              <a:t>1: </a:t>
            </a:r>
            <a:r>
              <a:rPr lang="en-US" b="1" i="1" dirty="0">
                <a:solidFill>
                  <a:srgbClr val="C00000"/>
                </a:solidFill>
              </a:rPr>
              <a:t>A parameter is a function from problem instances to the set of natural numbers</a:t>
            </a:r>
            <a:r>
              <a:rPr lang="en-US" b="1" i="1" dirty="0" smtClean="0">
                <a:solidFill>
                  <a:srgbClr val="C00000"/>
                </a:solidFill>
              </a:rPr>
              <a:t>.</a:t>
            </a:r>
          </a:p>
          <a:p>
            <a:pPr marL="285750" indent="-285750" algn="just">
              <a:buFont typeface="Wingdings" panose="05000000000000000000" pitchFamily="2" charset="2"/>
              <a:buChar char="Ø"/>
            </a:pPr>
            <a:r>
              <a:rPr lang="en-US" dirty="0"/>
              <a:t>In this way, a parameter is an integer associated with an instance of a problem. Clearly, the </a:t>
            </a:r>
            <a:r>
              <a:rPr lang="en-US" dirty="0" smtClean="0"/>
              <a:t>input size </a:t>
            </a:r>
            <a:r>
              <a:rPr lang="en-US" dirty="0"/>
              <a:t>n is a parameter (although we might not be able to achieve anything new by seeing n in </a:t>
            </a:r>
            <a:r>
              <a:rPr lang="en-US" dirty="0" smtClean="0"/>
              <a:t>this light</a:t>
            </a:r>
            <a:r>
              <a:rPr lang="en-US" dirty="0"/>
              <a:t>). </a:t>
            </a:r>
            <a:endParaRPr lang="en-US" dirty="0" smtClean="0"/>
          </a:p>
          <a:p>
            <a:pPr marL="285750" indent="-285750" algn="just">
              <a:buFont typeface="Wingdings" panose="05000000000000000000" pitchFamily="2" charset="2"/>
              <a:buChar char="Ø"/>
            </a:pPr>
            <a:r>
              <a:rPr lang="en-US" dirty="0" smtClean="0"/>
              <a:t>Other </a:t>
            </a:r>
            <a:r>
              <a:rPr lang="en-US" dirty="0"/>
              <a:t>examples include the number of processors in a multi-processor scheduling problem</a:t>
            </a:r>
            <a:r>
              <a:rPr lang="en-US" dirty="0" smtClean="0"/>
              <a:t>, and </a:t>
            </a:r>
            <a:r>
              <a:rPr lang="en-US" dirty="0"/>
              <a:t>the number of distinct item sizes in the bin packing problems. </a:t>
            </a:r>
            <a:endParaRPr lang="en-US" dirty="0" smtClean="0"/>
          </a:p>
          <a:p>
            <a:pPr algn="just"/>
            <a:r>
              <a:rPr lang="en-US" dirty="0" smtClean="0"/>
              <a:t>The </a:t>
            </a:r>
            <a:r>
              <a:rPr lang="en-US" dirty="0"/>
              <a:t>value of the optimal </a:t>
            </a:r>
            <a:r>
              <a:rPr lang="en-US" dirty="0" smtClean="0"/>
              <a:t>solution can </a:t>
            </a:r>
            <a:r>
              <a:rPr lang="en-US" dirty="0"/>
              <a:t>also be regarded as a parameter.</a:t>
            </a:r>
            <a:endParaRPr lang="en-US" dirty="0">
              <a:solidFill>
                <a:schemeClr val="tx1"/>
              </a:solidFill>
            </a:endParaRPr>
          </a:p>
        </p:txBody>
      </p:sp>
    </p:spTree>
    <p:extLst>
      <p:ext uri="{BB962C8B-B14F-4D97-AF65-F5344CB8AC3E}">
        <p14:creationId xmlns:p14="http://schemas.microsoft.com/office/powerpoint/2010/main" val="65896612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30592" y="517849"/>
            <a:ext cx="8915399" cy="909735"/>
          </a:xfrm>
        </p:spPr>
        <p:txBody>
          <a:bodyPr>
            <a:normAutofit fontScale="90000"/>
          </a:bodyPr>
          <a:lstStyle/>
          <a:p>
            <a:r>
              <a:rPr lang="en-US" dirty="0" smtClean="0"/>
              <a:t>Fixed Parameter Tractability</a:t>
            </a:r>
            <a:endParaRPr lang="en-US" dirty="0"/>
          </a:p>
        </p:txBody>
      </p:sp>
      <p:sp>
        <p:nvSpPr>
          <p:cNvPr id="3" name="Subtitle 2"/>
          <p:cNvSpPr>
            <a:spLocks noGrp="1"/>
          </p:cNvSpPr>
          <p:nvPr>
            <p:ph type="subTitle" idx="1"/>
          </p:nvPr>
        </p:nvSpPr>
        <p:spPr>
          <a:xfrm>
            <a:off x="1754155" y="2006082"/>
            <a:ext cx="9750457" cy="4544007"/>
          </a:xfrm>
        </p:spPr>
        <p:txBody>
          <a:bodyPr>
            <a:normAutofit/>
          </a:bodyPr>
          <a:lstStyle/>
          <a:p>
            <a:endParaRPr lang="en-US" dirty="0" smtClean="0"/>
          </a:p>
          <a:p>
            <a:endParaRPr lang="en-US" dirty="0" smtClean="0"/>
          </a:p>
          <a:p>
            <a:endParaRPr lang="en-US" dirty="0"/>
          </a:p>
          <a:p>
            <a:pPr algn="just"/>
            <a:r>
              <a:rPr lang="en-US" dirty="0" smtClean="0"/>
              <a:t>Definition 2: </a:t>
            </a:r>
            <a:r>
              <a:rPr lang="en-US" b="1" i="1" dirty="0">
                <a:solidFill>
                  <a:srgbClr val="C00000"/>
                </a:solidFill>
              </a:rPr>
              <a:t>We say that a problem is fixed parameter tractable (FPT) with respect to parameter </a:t>
            </a:r>
            <a:r>
              <a:rPr lang="en-US" b="1" i="1" dirty="0" smtClean="0">
                <a:solidFill>
                  <a:srgbClr val="C00000"/>
                </a:solidFill>
              </a:rPr>
              <a:t>k if </a:t>
            </a:r>
            <a:r>
              <a:rPr lang="en-US" b="1" i="1" dirty="0">
                <a:solidFill>
                  <a:srgbClr val="C00000"/>
                </a:solidFill>
              </a:rPr>
              <a:t>there exists a solution running in f(k)×</a:t>
            </a:r>
            <a:r>
              <a:rPr lang="en-US" b="1" i="1" dirty="0" smtClean="0">
                <a:solidFill>
                  <a:srgbClr val="C00000"/>
                </a:solidFill>
              </a:rPr>
              <a:t>n </a:t>
            </a:r>
            <a:r>
              <a:rPr lang="en-US" b="1" i="1" baseline="30000" dirty="0" smtClean="0">
                <a:solidFill>
                  <a:srgbClr val="C00000"/>
                </a:solidFill>
              </a:rPr>
              <a:t>O(1</a:t>
            </a:r>
            <a:r>
              <a:rPr lang="en-US" b="1" i="1" baseline="30000" dirty="0">
                <a:solidFill>
                  <a:srgbClr val="C00000"/>
                </a:solidFill>
              </a:rPr>
              <a:t>)</a:t>
            </a:r>
            <a:r>
              <a:rPr lang="en-US" b="1" i="1" dirty="0">
                <a:solidFill>
                  <a:srgbClr val="C00000"/>
                </a:solidFill>
              </a:rPr>
              <a:t> time, where f is a function of k which is </a:t>
            </a:r>
            <a:r>
              <a:rPr lang="en-US" b="1" i="1" dirty="0" smtClean="0">
                <a:solidFill>
                  <a:srgbClr val="C00000"/>
                </a:solidFill>
              </a:rPr>
              <a:t>independent of </a:t>
            </a:r>
            <a:r>
              <a:rPr lang="en-US" b="1" i="1" dirty="0">
                <a:solidFill>
                  <a:srgbClr val="C00000"/>
                </a:solidFill>
              </a:rPr>
              <a:t>n.</a:t>
            </a:r>
          </a:p>
        </p:txBody>
      </p:sp>
    </p:spTree>
    <p:extLst>
      <p:ext uri="{BB962C8B-B14F-4D97-AF65-F5344CB8AC3E}">
        <p14:creationId xmlns:p14="http://schemas.microsoft.com/office/powerpoint/2010/main" val="270556917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30592" y="517849"/>
            <a:ext cx="8915399" cy="909735"/>
          </a:xfrm>
        </p:spPr>
        <p:txBody>
          <a:bodyPr>
            <a:normAutofit fontScale="90000"/>
          </a:bodyPr>
          <a:lstStyle/>
          <a:p>
            <a:r>
              <a:rPr lang="en-US" dirty="0" smtClean="0"/>
              <a:t>Fixed Parameter Tractability</a:t>
            </a:r>
            <a:endParaRPr lang="en-US" dirty="0"/>
          </a:p>
        </p:txBody>
      </p:sp>
      <p:sp>
        <p:nvSpPr>
          <p:cNvPr id="3" name="Subtitle 2"/>
          <p:cNvSpPr>
            <a:spLocks noGrp="1"/>
          </p:cNvSpPr>
          <p:nvPr>
            <p:ph type="subTitle" idx="1"/>
          </p:nvPr>
        </p:nvSpPr>
        <p:spPr>
          <a:xfrm>
            <a:off x="2589213" y="2006082"/>
            <a:ext cx="8915399" cy="4544007"/>
          </a:xfrm>
        </p:spPr>
        <p:txBody>
          <a:bodyPr>
            <a:normAutofit/>
          </a:bodyPr>
          <a:lstStyle/>
          <a:p>
            <a:pPr algn="ctr"/>
            <a:r>
              <a:rPr lang="en-US" dirty="0" smtClean="0"/>
              <a:t> </a:t>
            </a:r>
            <a:r>
              <a:rPr lang="en-US" sz="2400" b="1" dirty="0" smtClean="0">
                <a:solidFill>
                  <a:srgbClr val="FF0000"/>
                </a:solidFill>
              </a:rPr>
              <a:t>Pick any two from followings</a:t>
            </a:r>
          </a:p>
          <a:p>
            <a:pPr marL="342900" indent="-342900">
              <a:buAutoNum type="arabicPeriod"/>
            </a:pPr>
            <a:r>
              <a:rPr lang="en-US" dirty="0" smtClean="0"/>
              <a:t>Hard Problem      </a:t>
            </a:r>
          </a:p>
          <a:p>
            <a:pPr marL="342900" indent="-342900">
              <a:buAutoNum type="arabicPeriod"/>
            </a:pPr>
            <a:r>
              <a:rPr lang="en-US" dirty="0" smtClean="0"/>
              <a:t>Fast (Polynomial time) Algorithms </a:t>
            </a:r>
          </a:p>
          <a:p>
            <a:pPr marL="342900" indent="-342900">
              <a:buAutoNum type="arabicPeriod"/>
            </a:pPr>
            <a:r>
              <a:rPr lang="en-US" dirty="0" smtClean="0"/>
              <a:t>Exact Solution </a:t>
            </a:r>
          </a:p>
          <a:p>
            <a:r>
              <a:rPr lang="en-US" dirty="0"/>
              <a:t> </a:t>
            </a:r>
            <a:r>
              <a:rPr lang="en-US" dirty="0" smtClean="0"/>
              <a:t> </a:t>
            </a:r>
          </a:p>
          <a:p>
            <a:pPr algn="ctr"/>
            <a:r>
              <a:rPr lang="en-US" sz="2400" b="1" dirty="0" smtClean="0">
                <a:solidFill>
                  <a:srgbClr val="FF0000"/>
                </a:solidFill>
              </a:rPr>
              <a:t>Combinations</a:t>
            </a:r>
          </a:p>
          <a:p>
            <a:pPr marL="285750" indent="-285750">
              <a:buFont typeface="Wingdings" panose="05000000000000000000" pitchFamily="2" charset="2"/>
              <a:buChar char="Ø"/>
            </a:pPr>
            <a:r>
              <a:rPr lang="en-US" dirty="0" smtClean="0"/>
              <a:t>Hard Problems + Fast Algorithms  --------- </a:t>
            </a:r>
            <a:r>
              <a:rPr lang="en-US" dirty="0"/>
              <a:t>Approximation </a:t>
            </a:r>
            <a:r>
              <a:rPr lang="en-US" dirty="0" smtClean="0"/>
              <a:t>Algorithm</a:t>
            </a:r>
          </a:p>
          <a:p>
            <a:pPr marL="285750" indent="-285750">
              <a:buFont typeface="Wingdings" panose="05000000000000000000" pitchFamily="2" charset="2"/>
              <a:buChar char="Ø"/>
            </a:pPr>
            <a:r>
              <a:rPr lang="en-US" dirty="0" smtClean="0"/>
              <a:t>Fast Algorithms + Exact Solution ------------ Polynomial Time</a:t>
            </a:r>
          </a:p>
          <a:p>
            <a:pPr marL="285750" indent="-285750">
              <a:buFont typeface="Wingdings" panose="05000000000000000000" pitchFamily="2" charset="2"/>
              <a:buChar char="Ø"/>
            </a:pPr>
            <a:r>
              <a:rPr lang="en-US" dirty="0" smtClean="0"/>
              <a:t>Hard Problem + Exact Solution ------------- </a:t>
            </a:r>
            <a:r>
              <a:rPr lang="en-US" dirty="0"/>
              <a:t>Fixed Parameter </a:t>
            </a:r>
            <a:r>
              <a:rPr lang="en-US" dirty="0" smtClean="0"/>
              <a:t>Tractability</a:t>
            </a:r>
            <a:br>
              <a:rPr lang="en-US" dirty="0" smtClean="0"/>
            </a:br>
            <a:r>
              <a:rPr lang="en-US" dirty="0" smtClean="0"/>
              <a:t>  (To sacrifice how fast things are,  to be somewhere in between polynomial and exponential. This is an area called FTP) </a:t>
            </a:r>
            <a:endParaRPr lang="en-US" dirty="0"/>
          </a:p>
        </p:txBody>
      </p:sp>
    </p:spTree>
    <p:extLst>
      <p:ext uri="{BB962C8B-B14F-4D97-AF65-F5344CB8AC3E}">
        <p14:creationId xmlns:p14="http://schemas.microsoft.com/office/powerpoint/2010/main" val="2135323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2600" y="97972"/>
            <a:ext cx="8915399" cy="704461"/>
          </a:xfrm>
        </p:spPr>
        <p:txBody>
          <a:bodyPr>
            <a:normAutofit/>
          </a:bodyPr>
          <a:lstStyle/>
          <a:p>
            <a:pPr algn="ctr"/>
            <a:r>
              <a:rPr lang="en-US" sz="3200" b="1" dirty="0" smtClean="0">
                <a:solidFill>
                  <a:srgbClr val="C00000"/>
                </a:solidFill>
                <a:effectLst>
                  <a:outerShdw blurRad="38100" dist="38100" dir="2700000" algn="tl">
                    <a:srgbClr val="000000">
                      <a:alpha val="43137"/>
                    </a:srgbClr>
                  </a:outerShdw>
                </a:effectLst>
              </a:rPr>
              <a:t>Fixed Parameter Tractability</a:t>
            </a:r>
            <a:endParaRPr lang="en-US" sz="3200" b="1" dirty="0">
              <a:solidFill>
                <a:srgbClr val="C0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812176" y="1123066"/>
            <a:ext cx="10208028" cy="5593617"/>
          </a:xfrm>
        </p:spPr>
        <p:txBody>
          <a:bodyPr>
            <a:normAutofit lnSpcReduction="10000"/>
          </a:bodyPr>
          <a:lstStyle/>
          <a:p>
            <a:pPr algn="ctr"/>
            <a:r>
              <a:rPr lang="en-US" dirty="0" smtClean="0">
                <a:solidFill>
                  <a:srgbClr val="FF0000"/>
                </a:solidFill>
              </a:rPr>
              <a:t>What is parameter business?</a:t>
            </a:r>
          </a:p>
          <a:p>
            <a:r>
              <a:rPr lang="en-US" i="1" dirty="0" smtClean="0"/>
              <a:t> </a:t>
            </a:r>
            <a:r>
              <a:rPr lang="en-US" b="1" i="1" dirty="0" smtClean="0">
                <a:solidFill>
                  <a:srgbClr val="FF0000"/>
                </a:solidFill>
                <a:effectLst>
                  <a:outerShdw blurRad="38100" dist="38100" dir="2700000" algn="tl">
                    <a:srgbClr val="000000">
                      <a:alpha val="43137"/>
                    </a:srgbClr>
                  </a:outerShdw>
                </a:effectLst>
              </a:rPr>
              <a:t>Idea:</a:t>
            </a:r>
            <a:r>
              <a:rPr lang="en-US" i="1" dirty="0" smtClean="0"/>
              <a:t> Aim for exact algorithm, but confine exponential dependence to a parameter.</a:t>
            </a:r>
          </a:p>
          <a:p>
            <a:r>
              <a:rPr lang="en-US" i="1" dirty="0" smtClean="0"/>
              <a:t>We use parameter all the times.</a:t>
            </a:r>
          </a:p>
          <a:p>
            <a:endParaRPr lang="en-US" i="1" dirty="0" smtClean="0"/>
          </a:p>
          <a:p>
            <a:r>
              <a:rPr lang="en-US" dirty="0" smtClean="0"/>
              <a:t>For examples:</a:t>
            </a:r>
          </a:p>
          <a:p>
            <a:pPr marL="285750" indent="-285750">
              <a:buFont typeface="Wingdings" panose="05000000000000000000" pitchFamily="2" charset="2"/>
              <a:buChar char="v"/>
            </a:pPr>
            <a:r>
              <a:rPr lang="en-US" dirty="0" smtClean="0"/>
              <a:t>On a graph there’s two typical parameters. The number of vertices and the number of edges.</a:t>
            </a:r>
          </a:p>
          <a:p>
            <a:pPr marL="285750" indent="-285750">
              <a:buFont typeface="Wingdings" panose="05000000000000000000" pitchFamily="2" charset="2"/>
              <a:buChar char="v"/>
            </a:pPr>
            <a:r>
              <a:rPr lang="en-US" dirty="0" smtClean="0"/>
              <a:t>If you’re sorting an array. The usual parameter you think about is the size of array.</a:t>
            </a:r>
          </a:p>
          <a:p>
            <a:endParaRPr lang="en-US" dirty="0" smtClean="0"/>
          </a:p>
          <a:p>
            <a:r>
              <a:rPr lang="en-US" dirty="0" smtClean="0"/>
              <a:t>A parameter, in general, is just some kind of size or complexity. We’re going to call it </a:t>
            </a:r>
            <a:r>
              <a:rPr lang="en-US" i="1" dirty="0" smtClean="0"/>
              <a:t>k</a:t>
            </a:r>
            <a:r>
              <a:rPr lang="en-US" dirty="0" smtClean="0"/>
              <a:t> of x- </a:t>
            </a:r>
          </a:p>
          <a:p>
            <a:r>
              <a:rPr lang="en-US" dirty="0" smtClean="0"/>
              <a:t>Parameter = </a:t>
            </a:r>
            <a:r>
              <a:rPr lang="en-US" i="1" dirty="0" smtClean="0"/>
              <a:t>k(x),</a:t>
            </a:r>
            <a:r>
              <a:rPr lang="en-US" dirty="0" smtClean="0"/>
              <a:t> Nonnegative integer, where </a:t>
            </a:r>
            <a:r>
              <a:rPr lang="en-US" i="1" dirty="0" smtClean="0"/>
              <a:t>x</a:t>
            </a:r>
            <a:r>
              <a:rPr lang="en-US" dirty="0" smtClean="0"/>
              <a:t> is input. </a:t>
            </a:r>
          </a:p>
          <a:p>
            <a:r>
              <a:rPr lang="en-US" dirty="0" smtClean="0"/>
              <a:t>In vertex cover, you are given a graph, we’re going to define some function of that graph. </a:t>
            </a:r>
          </a:p>
          <a:p>
            <a:pPr algn="just"/>
            <a:r>
              <a:rPr lang="en-US" dirty="0" smtClean="0"/>
              <a:t> Just some measure of how tough your problem is. And what we would like is running time that is exponential in </a:t>
            </a:r>
            <a:r>
              <a:rPr lang="en-US" i="1" dirty="0" smtClean="0"/>
              <a:t>k</a:t>
            </a:r>
            <a:r>
              <a:rPr lang="en-US" dirty="0" smtClean="0"/>
              <a:t>, but polynomial in everything else. Polynomial  in the size of the problem. </a:t>
            </a:r>
            <a:endParaRPr lang="en-US" dirty="0"/>
          </a:p>
        </p:txBody>
      </p:sp>
    </p:spTree>
    <p:extLst>
      <p:ext uri="{BB962C8B-B14F-4D97-AF65-F5344CB8AC3E}">
        <p14:creationId xmlns:p14="http://schemas.microsoft.com/office/powerpoint/2010/main" val="147864056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2600" y="97972"/>
            <a:ext cx="8915399" cy="704461"/>
          </a:xfrm>
        </p:spPr>
        <p:txBody>
          <a:bodyPr>
            <a:normAutofit/>
          </a:bodyPr>
          <a:lstStyle/>
          <a:p>
            <a:pPr algn="ctr"/>
            <a:r>
              <a:rPr lang="en-US" sz="3200" b="1" dirty="0" smtClean="0">
                <a:solidFill>
                  <a:srgbClr val="C00000"/>
                </a:solidFill>
                <a:effectLst>
                  <a:outerShdw blurRad="38100" dist="38100" dir="2700000" algn="tl">
                    <a:srgbClr val="000000">
                      <a:alpha val="43137"/>
                    </a:srgbClr>
                  </a:outerShdw>
                </a:effectLst>
              </a:rPr>
              <a:t>Fixed Parameter Tractability</a:t>
            </a:r>
            <a:endParaRPr lang="en-US" sz="3200" b="1" dirty="0">
              <a:solidFill>
                <a:srgbClr val="C0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756285" y="802433"/>
            <a:ext cx="10208028" cy="5593617"/>
          </a:xfrm>
        </p:spPr>
        <p:txBody>
          <a:bodyPr>
            <a:normAutofit fontScale="55000" lnSpcReduction="20000"/>
          </a:bodyPr>
          <a:lstStyle/>
          <a:p>
            <a:pPr algn="ctr"/>
            <a:r>
              <a:rPr lang="en-US" sz="2900" dirty="0" smtClean="0">
                <a:solidFill>
                  <a:srgbClr val="FF0000"/>
                </a:solidFill>
              </a:rPr>
              <a:t>What is parameter business?</a:t>
            </a:r>
          </a:p>
          <a:p>
            <a:r>
              <a:rPr lang="en-US" sz="3200" b="1" dirty="0" smtClean="0">
                <a:solidFill>
                  <a:srgbClr val="FF0000"/>
                </a:solidFill>
              </a:rPr>
              <a:t>Goal: Polynomial in problem size </a:t>
            </a:r>
            <a:r>
              <a:rPr lang="en-US" sz="3200" b="1" i="1" dirty="0" smtClean="0">
                <a:solidFill>
                  <a:srgbClr val="FF0000"/>
                </a:solidFill>
              </a:rPr>
              <a:t>n</a:t>
            </a:r>
            <a:r>
              <a:rPr lang="en-US" sz="3200" b="1" dirty="0" smtClean="0">
                <a:solidFill>
                  <a:srgbClr val="FF0000"/>
                </a:solidFill>
              </a:rPr>
              <a:t>, exponential in parameter </a:t>
            </a:r>
            <a:r>
              <a:rPr lang="en-US" sz="3200" b="1" i="1" dirty="0" smtClean="0">
                <a:solidFill>
                  <a:srgbClr val="FF0000"/>
                </a:solidFill>
              </a:rPr>
              <a:t>k</a:t>
            </a:r>
          </a:p>
          <a:p>
            <a:endParaRPr lang="en-US" sz="3200" dirty="0" smtClean="0"/>
          </a:p>
          <a:p>
            <a:r>
              <a:rPr lang="en-US" sz="3200" dirty="0" smtClean="0"/>
              <a:t>If you want to achieve this, FPT, What you get is an exact algorithm for your problem that runs really fast provided </a:t>
            </a:r>
            <a:r>
              <a:rPr lang="en-US" sz="3200" i="1" dirty="0" smtClean="0"/>
              <a:t>k</a:t>
            </a:r>
            <a:r>
              <a:rPr lang="en-US" sz="3200" dirty="0" smtClean="0"/>
              <a:t> is small.</a:t>
            </a:r>
          </a:p>
          <a:p>
            <a:r>
              <a:rPr lang="en-US" sz="3200" dirty="0" smtClean="0"/>
              <a:t>You know the problem is NP-hard in general, but as long as this measure </a:t>
            </a:r>
            <a:r>
              <a:rPr lang="en-US" sz="3200" i="1" dirty="0" smtClean="0"/>
              <a:t>k</a:t>
            </a:r>
            <a:r>
              <a:rPr lang="en-US" sz="3200" dirty="0" smtClean="0"/>
              <a:t> is reasonably small. I’m able to solve it really fast.</a:t>
            </a:r>
          </a:p>
          <a:p>
            <a:endParaRPr lang="en-US" sz="3200" dirty="0" smtClean="0"/>
          </a:p>
          <a:p>
            <a:r>
              <a:rPr lang="en-US" sz="3200" dirty="0" smtClean="0"/>
              <a:t>If you can define a parameter, and you know the that in your practical scenarios that parameter will be small, then you’re golden. </a:t>
            </a:r>
          </a:p>
          <a:p>
            <a:r>
              <a:rPr lang="en-US" sz="3200" dirty="0" smtClean="0"/>
              <a:t>Then you can actually solve the problem in a reasonable amount of time and get an exact solution. No approximation here.</a:t>
            </a:r>
          </a:p>
          <a:p>
            <a:endParaRPr lang="en-US" sz="3200" dirty="0" smtClean="0"/>
          </a:p>
          <a:p>
            <a:r>
              <a:rPr lang="en-US" sz="3200" dirty="0" smtClean="0"/>
              <a:t>Parameterized </a:t>
            </a:r>
            <a:r>
              <a:rPr lang="en-US" sz="3200" dirty="0"/>
              <a:t>Problem = Problem +  Parameter </a:t>
            </a:r>
          </a:p>
          <a:p>
            <a:r>
              <a:rPr lang="en-US" sz="3200" dirty="0"/>
              <a:t>                              Problem w.r.t parameter </a:t>
            </a:r>
            <a:r>
              <a:rPr lang="en-US" sz="3200" i="1" dirty="0"/>
              <a:t>k</a:t>
            </a:r>
          </a:p>
          <a:p>
            <a:r>
              <a:rPr lang="en-US" sz="3200" dirty="0"/>
              <a:t>In general, for a single problem there may be several natural parameters. Usually there’s actually one obvious parameter.</a:t>
            </a:r>
          </a:p>
        </p:txBody>
      </p:sp>
    </p:spTree>
    <p:extLst>
      <p:ext uri="{BB962C8B-B14F-4D97-AF65-F5344CB8AC3E}">
        <p14:creationId xmlns:p14="http://schemas.microsoft.com/office/powerpoint/2010/main" val="17964837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2600" y="97972"/>
            <a:ext cx="8915399" cy="704461"/>
          </a:xfrm>
        </p:spPr>
        <p:txBody>
          <a:bodyPr>
            <a:normAutofit/>
          </a:bodyPr>
          <a:lstStyle/>
          <a:p>
            <a:pPr algn="ctr"/>
            <a:r>
              <a:rPr lang="en-US" sz="3200" b="1" dirty="0" smtClean="0">
                <a:solidFill>
                  <a:srgbClr val="C00000"/>
                </a:solidFill>
                <a:effectLst>
                  <a:outerShdw blurRad="38100" dist="38100" dir="2700000" algn="tl">
                    <a:srgbClr val="000000">
                      <a:alpha val="43137"/>
                    </a:srgbClr>
                  </a:outerShdw>
                </a:effectLst>
              </a:rPr>
              <a:t>Fixed Parameter Tractability</a:t>
            </a:r>
            <a:endParaRPr lang="en-US" sz="3200" b="1" dirty="0">
              <a:solidFill>
                <a:srgbClr val="C0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756285" y="1123066"/>
            <a:ext cx="10208028" cy="5593617"/>
          </a:xfrm>
        </p:spPr>
        <p:txBody>
          <a:bodyPr>
            <a:normAutofit/>
          </a:bodyPr>
          <a:lstStyle/>
          <a:p>
            <a:pPr algn="ctr"/>
            <a:r>
              <a:rPr lang="en-US" i="1" dirty="0" smtClean="0">
                <a:solidFill>
                  <a:srgbClr val="FF0000"/>
                </a:solidFill>
              </a:rPr>
              <a:t>k</a:t>
            </a:r>
            <a:r>
              <a:rPr lang="en-US" dirty="0" smtClean="0">
                <a:solidFill>
                  <a:srgbClr val="FF0000"/>
                </a:solidFill>
              </a:rPr>
              <a:t>- Vertex Cover (k means Parameterized Problem)</a:t>
            </a:r>
          </a:p>
          <a:p>
            <a:r>
              <a:rPr lang="en-US" i="1" dirty="0"/>
              <a:t> [Vertex cover is a set of vertices that cover all the edges ] </a:t>
            </a:r>
          </a:p>
          <a:p>
            <a:endParaRPr lang="en-US" dirty="0"/>
          </a:p>
          <a:p>
            <a:r>
              <a:rPr lang="en-US" dirty="0" smtClean="0"/>
              <a:t>Given: graph </a:t>
            </a:r>
            <a:r>
              <a:rPr lang="en-US" i="1" dirty="0" smtClean="0"/>
              <a:t>G(V,E)</a:t>
            </a:r>
          </a:p>
          <a:p>
            <a:r>
              <a:rPr lang="en-US" dirty="0"/>
              <a:t> </a:t>
            </a:r>
            <a:r>
              <a:rPr lang="en-US" dirty="0" smtClean="0"/>
              <a:t>            nonnegative integer </a:t>
            </a:r>
            <a:r>
              <a:rPr lang="en-US" i="1" dirty="0" smtClean="0"/>
              <a:t>k</a:t>
            </a:r>
          </a:p>
          <a:p>
            <a:r>
              <a:rPr lang="en-US" dirty="0" smtClean="0"/>
              <a:t>Decision version of a vertex cover………….</a:t>
            </a:r>
          </a:p>
          <a:p>
            <a:r>
              <a:rPr lang="en-US" dirty="0" smtClean="0"/>
              <a:t>Question: Is there a vertex cover of size </a:t>
            </a:r>
            <a:r>
              <a:rPr lang="en-US" i="1" dirty="0" smtClean="0"/>
              <a:t>k     </a:t>
            </a:r>
            <a:r>
              <a:rPr lang="en-US" dirty="0" smtClean="0"/>
              <a:t>---say less than or equal to </a:t>
            </a:r>
            <a:r>
              <a:rPr lang="en-US" i="1" dirty="0" smtClean="0"/>
              <a:t>k                                           </a:t>
            </a:r>
            <a:r>
              <a:rPr lang="en-US" dirty="0" smtClean="0"/>
              <a:t>—is there a vertex cover? </a:t>
            </a:r>
          </a:p>
          <a:p>
            <a:r>
              <a:rPr lang="en-US" dirty="0"/>
              <a:t> </a:t>
            </a:r>
            <a:r>
              <a:rPr lang="en-US" dirty="0" smtClean="0"/>
              <a:t>        Is there a  vertex cover S ≤ V</a:t>
            </a:r>
          </a:p>
          <a:p>
            <a:r>
              <a:rPr lang="en-US" dirty="0"/>
              <a:t> </a:t>
            </a:r>
            <a:r>
              <a:rPr lang="en-US" dirty="0" smtClean="0"/>
              <a:t>                size of |S</a:t>
            </a:r>
            <a:r>
              <a:rPr lang="en-US" dirty="0"/>
              <a:t>| ≤ </a:t>
            </a:r>
            <a:r>
              <a:rPr lang="en-US" dirty="0" smtClean="0"/>
              <a:t>k ?  </a:t>
            </a:r>
          </a:p>
          <a:p>
            <a:r>
              <a:rPr lang="en-US" dirty="0" smtClean="0"/>
              <a:t>And we want the size of </a:t>
            </a:r>
            <a:r>
              <a:rPr lang="en-US" i="1" dirty="0" smtClean="0"/>
              <a:t>S</a:t>
            </a:r>
            <a:r>
              <a:rPr lang="en-US" dirty="0" smtClean="0"/>
              <a:t> to be less than or equal to </a:t>
            </a:r>
            <a:r>
              <a:rPr lang="en-US" i="1" dirty="0" smtClean="0"/>
              <a:t>k</a:t>
            </a:r>
            <a:r>
              <a:rPr lang="en-US" dirty="0" smtClean="0"/>
              <a:t>. So, every for every edge, we need to choose one of the two end points.</a:t>
            </a:r>
          </a:p>
          <a:p>
            <a:r>
              <a:rPr lang="en-US" dirty="0" smtClean="0"/>
              <a:t>We want the total number of chosen vertices to be, at most, </a:t>
            </a:r>
            <a:r>
              <a:rPr lang="en-US" i="1" dirty="0" smtClean="0"/>
              <a:t>k</a:t>
            </a:r>
            <a:r>
              <a:rPr lang="en-US" dirty="0" smtClean="0"/>
              <a:t>.</a:t>
            </a:r>
          </a:p>
          <a:p>
            <a:r>
              <a:rPr lang="en-US" dirty="0" smtClean="0"/>
              <a:t>And so that’s a regular decision problem.</a:t>
            </a:r>
          </a:p>
          <a:p>
            <a:endParaRPr lang="en-US" dirty="0" smtClean="0"/>
          </a:p>
          <a:p>
            <a:endParaRPr lang="en-US" dirty="0" smtClean="0"/>
          </a:p>
        </p:txBody>
      </p:sp>
    </p:spTree>
    <p:extLst>
      <p:ext uri="{BB962C8B-B14F-4D97-AF65-F5344CB8AC3E}">
        <p14:creationId xmlns:p14="http://schemas.microsoft.com/office/powerpoint/2010/main" val="91912935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2600" y="97972"/>
            <a:ext cx="8915399" cy="704461"/>
          </a:xfrm>
        </p:spPr>
        <p:txBody>
          <a:bodyPr>
            <a:normAutofit/>
          </a:bodyPr>
          <a:lstStyle/>
          <a:p>
            <a:pPr algn="ctr"/>
            <a:r>
              <a:rPr lang="en-US" sz="3200" b="1" dirty="0" smtClean="0">
                <a:solidFill>
                  <a:srgbClr val="C00000"/>
                </a:solidFill>
                <a:effectLst>
                  <a:outerShdw blurRad="38100" dist="38100" dir="2700000" algn="tl">
                    <a:srgbClr val="000000">
                      <a:alpha val="43137"/>
                    </a:srgbClr>
                  </a:outerShdw>
                </a:effectLst>
              </a:rPr>
              <a:t>Fixed Parameter Tractability</a:t>
            </a:r>
            <a:endParaRPr lang="en-US" sz="3200" b="1" dirty="0">
              <a:solidFill>
                <a:srgbClr val="C0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756285" y="1123066"/>
            <a:ext cx="10208028" cy="5593617"/>
          </a:xfrm>
        </p:spPr>
        <p:txBody>
          <a:bodyPr>
            <a:normAutofit/>
          </a:bodyPr>
          <a:lstStyle/>
          <a:p>
            <a:pPr algn="ctr"/>
            <a:r>
              <a:rPr lang="en-US" i="1" dirty="0" smtClean="0">
                <a:solidFill>
                  <a:srgbClr val="FF0000"/>
                </a:solidFill>
              </a:rPr>
              <a:t>k</a:t>
            </a:r>
            <a:r>
              <a:rPr lang="en-US" dirty="0" smtClean="0">
                <a:solidFill>
                  <a:srgbClr val="FF0000"/>
                </a:solidFill>
              </a:rPr>
              <a:t>- Vertex Cover (k means Parameterized Problem)</a:t>
            </a:r>
          </a:p>
          <a:p>
            <a:r>
              <a:rPr lang="en-US" i="1" dirty="0"/>
              <a:t> </a:t>
            </a:r>
            <a:r>
              <a:rPr lang="en-US" dirty="0" smtClean="0">
                <a:solidFill>
                  <a:schemeClr val="bg1">
                    <a:lumMod val="65000"/>
                  </a:schemeClr>
                </a:solidFill>
              </a:rPr>
              <a:t>Given: graph G(V,E)</a:t>
            </a:r>
          </a:p>
          <a:p>
            <a:r>
              <a:rPr lang="en-US" dirty="0">
                <a:solidFill>
                  <a:schemeClr val="bg1">
                    <a:lumMod val="65000"/>
                  </a:schemeClr>
                </a:solidFill>
              </a:rPr>
              <a:t> </a:t>
            </a:r>
            <a:r>
              <a:rPr lang="en-US" dirty="0" smtClean="0">
                <a:solidFill>
                  <a:schemeClr val="bg1">
                    <a:lumMod val="65000"/>
                  </a:schemeClr>
                </a:solidFill>
              </a:rPr>
              <a:t>            nonnegative integer k</a:t>
            </a:r>
          </a:p>
          <a:p>
            <a:r>
              <a:rPr lang="en-US" dirty="0" smtClean="0">
                <a:solidFill>
                  <a:schemeClr val="bg1">
                    <a:lumMod val="65000"/>
                  </a:schemeClr>
                </a:solidFill>
              </a:rPr>
              <a:t>Decision version of a vertex cover………….</a:t>
            </a:r>
          </a:p>
          <a:p>
            <a:r>
              <a:rPr lang="en-US" dirty="0" smtClean="0">
                <a:solidFill>
                  <a:schemeClr val="bg1">
                    <a:lumMod val="65000"/>
                  </a:schemeClr>
                </a:solidFill>
              </a:rPr>
              <a:t>Question: Is there a vertex cover of size k---say less than or equal to k—is there a vertex cover? </a:t>
            </a:r>
          </a:p>
          <a:p>
            <a:r>
              <a:rPr lang="en-US" dirty="0">
                <a:solidFill>
                  <a:schemeClr val="bg1">
                    <a:lumMod val="65000"/>
                  </a:schemeClr>
                </a:solidFill>
              </a:rPr>
              <a:t> </a:t>
            </a:r>
            <a:r>
              <a:rPr lang="en-US" dirty="0" smtClean="0">
                <a:solidFill>
                  <a:schemeClr val="bg1">
                    <a:lumMod val="65000"/>
                  </a:schemeClr>
                </a:solidFill>
              </a:rPr>
              <a:t>        Is there a  vertex cover S≤V</a:t>
            </a:r>
          </a:p>
          <a:p>
            <a:r>
              <a:rPr lang="en-US" dirty="0">
                <a:solidFill>
                  <a:schemeClr val="bg1">
                    <a:lumMod val="65000"/>
                  </a:schemeClr>
                </a:solidFill>
              </a:rPr>
              <a:t> </a:t>
            </a:r>
            <a:r>
              <a:rPr lang="en-US" dirty="0" smtClean="0">
                <a:solidFill>
                  <a:schemeClr val="bg1">
                    <a:lumMod val="65000"/>
                  </a:schemeClr>
                </a:solidFill>
              </a:rPr>
              <a:t>               of size |S</a:t>
            </a:r>
            <a:r>
              <a:rPr lang="en-US" dirty="0">
                <a:solidFill>
                  <a:schemeClr val="bg1">
                    <a:lumMod val="65000"/>
                  </a:schemeClr>
                </a:solidFill>
              </a:rPr>
              <a:t>| ≤ k</a:t>
            </a:r>
            <a:r>
              <a:rPr lang="en-US" dirty="0" smtClean="0">
                <a:solidFill>
                  <a:schemeClr val="bg1">
                    <a:lumMod val="65000"/>
                  </a:schemeClr>
                </a:solidFill>
              </a:rPr>
              <a:t>?  </a:t>
            </a:r>
          </a:p>
          <a:p>
            <a:r>
              <a:rPr lang="en-US" dirty="0" smtClean="0"/>
              <a:t>But for a parameterized problem, we also to define a parameter function. And that parameter function – guess what? </a:t>
            </a:r>
            <a:r>
              <a:rPr lang="en-US" i="1" dirty="0"/>
              <a:t>k</a:t>
            </a:r>
            <a:r>
              <a:rPr lang="en-US" dirty="0" smtClean="0"/>
              <a:t>.</a:t>
            </a:r>
          </a:p>
          <a:p>
            <a:r>
              <a:rPr lang="en-US" dirty="0" smtClean="0"/>
              <a:t>Parameter: </a:t>
            </a:r>
            <a:r>
              <a:rPr lang="en-US" i="1" dirty="0" smtClean="0"/>
              <a:t>k</a:t>
            </a:r>
          </a:p>
          <a:p>
            <a:r>
              <a:rPr lang="en-US" dirty="0" smtClean="0"/>
              <a:t>Most problem, a lot of problems, especially decision versions of optimization problems-</a:t>
            </a:r>
          </a:p>
          <a:p>
            <a:r>
              <a:rPr lang="en-US" dirty="0" smtClean="0"/>
              <a:t>We are minimizing the vertex cover-</a:t>
            </a:r>
          </a:p>
          <a:p>
            <a:r>
              <a:rPr lang="en-US" dirty="0" smtClean="0"/>
              <a:t>We want to decide whether there’s one of size of most </a:t>
            </a:r>
            <a:r>
              <a:rPr lang="en-US" i="1" dirty="0" smtClean="0"/>
              <a:t>k</a:t>
            </a:r>
            <a:r>
              <a:rPr lang="en-US" dirty="0" smtClean="0"/>
              <a:t>. </a:t>
            </a:r>
          </a:p>
          <a:p>
            <a:endParaRPr lang="en-US" dirty="0" smtClean="0"/>
          </a:p>
        </p:txBody>
      </p:sp>
    </p:spTree>
    <p:extLst>
      <p:ext uri="{BB962C8B-B14F-4D97-AF65-F5344CB8AC3E}">
        <p14:creationId xmlns:p14="http://schemas.microsoft.com/office/powerpoint/2010/main" val="8622361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2600" y="97972"/>
            <a:ext cx="8915399" cy="704461"/>
          </a:xfrm>
        </p:spPr>
        <p:txBody>
          <a:bodyPr>
            <a:normAutofit/>
          </a:bodyPr>
          <a:lstStyle/>
          <a:p>
            <a:pPr algn="ctr"/>
            <a:r>
              <a:rPr lang="en-US" sz="3200" b="1" dirty="0" smtClean="0">
                <a:solidFill>
                  <a:srgbClr val="C00000"/>
                </a:solidFill>
                <a:effectLst>
                  <a:outerShdw blurRad="38100" dist="38100" dir="2700000" algn="tl">
                    <a:srgbClr val="000000">
                      <a:alpha val="43137"/>
                    </a:srgbClr>
                  </a:outerShdw>
                </a:effectLst>
              </a:rPr>
              <a:t>Fixed Parameter Tractability</a:t>
            </a:r>
            <a:endParaRPr lang="en-US" sz="3200" b="1" dirty="0">
              <a:solidFill>
                <a:srgbClr val="C0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756285" y="1123066"/>
            <a:ext cx="10208028" cy="5593617"/>
          </a:xfrm>
        </p:spPr>
        <p:txBody>
          <a:bodyPr>
            <a:normAutofit/>
          </a:bodyPr>
          <a:lstStyle/>
          <a:p>
            <a:pPr algn="ctr"/>
            <a:r>
              <a:rPr lang="en-US" i="1" dirty="0" smtClean="0">
                <a:solidFill>
                  <a:srgbClr val="FF0000"/>
                </a:solidFill>
              </a:rPr>
              <a:t>k</a:t>
            </a:r>
            <a:r>
              <a:rPr lang="en-US" dirty="0" smtClean="0">
                <a:solidFill>
                  <a:srgbClr val="FF0000"/>
                </a:solidFill>
              </a:rPr>
              <a:t>- Vertex Cover (k means Parameterized Problem)</a:t>
            </a:r>
          </a:p>
          <a:p>
            <a:r>
              <a:rPr lang="en-US" dirty="0" smtClean="0"/>
              <a:t>I guess the first note is that </a:t>
            </a:r>
            <a:r>
              <a:rPr lang="en-US" i="1" dirty="0" smtClean="0"/>
              <a:t>k</a:t>
            </a:r>
            <a:r>
              <a:rPr lang="en-US" dirty="0" smtClean="0"/>
              <a:t> can actually be small</a:t>
            </a:r>
            <a:br>
              <a:rPr lang="en-US" dirty="0" smtClean="0"/>
            </a:br>
            <a:r>
              <a:rPr lang="en-US" dirty="0" smtClean="0"/>
              <a:t>You have the vertices but what’s the smallest vertices cover?</a:t>
            </a:r>
          </a:p>
          <a:p>
            <a:r>
              <a:rPr lang="en-US" dirty="0" smtClean="0"/>
              <a:t> Answer: 1</a:t>
            </a:r>
          </a:p>
          <a:p>
            <a:r>
              <a:rPr lang="en-US" dirty="0" smtClean="0"/>
              <a:t>Everyone’s holding up one finger. You choose the center as VC.</a:t>
            </a:r>
          </a:p>
          <a:p>
            <a:endParaRPr lang="en-US" dirty="0" smtClean="0"/>
          </a:p>
          <a:p>
            <a:r>
              <a:rPr lang="en-US" dirty="0" smtClean="0"/>
              <a:t>So it can be that </a:t>
            </a:r>
            <a:r>
              <a:rPr lang="en-US" i="1" dirty="0" smtClean="0"/>
              <a:t>k</a:t>
            </a:r>
            <a:r>
              <a:rPr lang="en-US" dirty="0" smtClean="0"/>
              <a:t> is much smaller than </a:t>
            </a:r>
            <a:r>
              <a:rPr lang="en-US" i="1" dirty="0" smtClean="0"/>
              <a:t>V</a:t>
            </a:r>
            <a:r>
              <a:rPr lang="en-US" dirty="0" smtClean="0"/>
              <a:t>, and our goal here is we’re going to get some polynomial dependence in the size of the graph, but we’re going to get an exponential dependence on </a:t>
            </a:r>
            <a:r>
              <a:rPr lang="en-US" i="1" dirty="0" smtClean="0"/>
              <a:t>k</a:t>
            </a:r>
            <a:r>
              <a:rPr lang="en-US" dirty="0" smtClean="0"/>
              <a:t>.</a:t>
            </a:r>
          </a:p>
          <a:p>
            <a:endParaRPr lang="en-US" dirty="0"/>
          </a:p>
          <a:p>
            <a:endParaRPr lang="en-US" dirty="0" smtClean="0"/>
          </a:p>
          <a:p>
            <a:r>
              <a:rPr lang="en-US" dirty="0" smtClean="0"/>
              <a:t>Let’s start with – what would be the really obvious </a:t>
            </a:r>
          </a:p>
          <a:p>
            <a:r>
              <a:rPr lang="en-US" dirty="0"/>
              <a:t> </a:t>
            </a:r>
            <a:r>
              <a:rPr lang="en-US" dirty="0" smtClean="0"/>
              <a:t> brute force solution to vertex cover?</a:t>
            </a:r>
            <a:endParaRPr lang="en-US" dirty="0"/>
          </a:p>
          <a:p>
            <a:endParaRPr lang="en-US" dirty="0" smtClean="0"/>
          </a:p>
        </p:txBody>
      </p:sp>
      <p:grpSp>
        <p:nvGrpSpPr>
          <p:cNvPr id="41" name="Group 40"/>
          <p:cNvGrpSpPr/>
          <p:nvPr/>
        </p:nvGrpSpPr>
        <p:grpSpPr>
          <a:xfrm>
            <a:off x="9293739" y="4188500"/>
            <a:ext cx="1821239" cy="1440221"/>
            <a:chOff x="9293739" y="4188500"/>
            <a:chExt cx="1821239" cy="1440221"/>
          </a:xfrm>
        </p:grpSpPr>
        <p:sp>
          <p:nvSpPr>
            <p:cNvPr id="4" name="Oval 3"/>
            <p:cNvSpPr/>
            <p:nvPr/>
          </p:nvSpPr>
          <p:spPr>
            <a:xfrm>
              <a:off x="10201920" y="4810640"/>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10500500" y="4188501"/>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10872382" y="4908387"/>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9638972" y="5236835"/>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9293739" y="4597407"/>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10559046" y="5432778"/>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9754051" y="4188500"/>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a:stCxn id="4" idx="0"/>
              <a:endCxn id="5" idx="3"/>
            </p:cNvCxnSpPr>
            <p:nvPr/>
          </p:nvCxnSpPr>
          <p:spPr>
            <a:xfrm flipV="1">
              <a:off x="10332999" y="4355749"/>
              <a:ext cx="203028" cy="4357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4" idx="1"/>
              <a:endCxn id="10" idx="5"/>
            </p:cNvCxnSpPr>
            <p:nvPr/>
          </p:nvCxnSpPr>
          <p:spPr>
            <a:xfrm flipH="1" flipV="1">
              <a:off x="9961120" y="4355748"/>
              <a:ext cx="286108" cy="4644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9838925" y="4960736"/>
              <a:ext cx="444761" cy="34735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4" idx="2"/>
              <a:endCxn id="8" idx="5"/>
            </p:cNvCxnSpPr>
            <p:nvPr/>
          </p:nvCxnSpPr>
          <p:spPr>
            <a:xfrm flipH="1" flipV="1">
              <a:off x="9500808" y="4764655"/>
              <a:ext cx="710893" cy="124829"/>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a:endCxn id="6" idx="2"/>
            </p:cNvCxnSpPr>
            <p:nvPr/>
          </p:nvCxnSpPr>
          <p:spPr>
            <a:xfrm>
              <a:off x="10428744" y="4928111"/>
              <a:ext cx="443638" cy="78248"/>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4" name="Straight Connector 23"/>
          <p:cNvCxnSpPr/>
          <p:nvPr/>
        </p:nvCxnSpPr>
        <p:spPr>
          <a:xfrm>
            <a:off x="10416850" y="4979065"/>
            <a:ext cx="271355" cy="593443"/>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9298857" y="5848607"/>
            <a:ext cx="2068284" cy="369332"/>
          </a:xfrm>
          <a:prstGeom prst="rect">
            <a:avLst/>
          </a:prstGeom>
          <a:noFill/>
        </p:spPr>
        <p:txBody>
          <a:bodyPr wrap="square" rtlCol="0">
            <a:spAutoFit/>
          </a:bodyPr>
          <a:lstStyle/>
          <a:p>
            <a:r>
              <a:rPr lang="en-US" dirty="0" smtClean="0"/>
              <a:t>Fig: Star graph</a:t>
            </a:r>
            <a:endParaRPr lang="en-US" dirty="0"/>
          </a:p>
        </p:txBody>
      </p:sp>
    </p:spTree>
    <p:extLst>
      <p:ext uri="{BB962C8B-B14F-4D97-AF65-F5344CB8AC3E}">
        <p14:creationId xmlns:p14="http://schemas.microsoft.com/office/powerpoint/2010/main" val="17716242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2600" y="97972"/>
            <a:ext cx="8915399" cy="704461"/>
          </a:xfrm>
        </p:spPr>
        <p:txBody>
          <a:bodyPr>
            <a:normAutofit/>
          </a:bodyPr>
          <a:lstStyle/>
          <a:p>
            <a:pPr algn="ctr"/>
            <a:r>
              <a:rPr lang="en-US" sz="3200" b="1" dirty="0" smtClean="0">
                <a:solidFill>
                  <a:srgbClr val="C00000"/>
                </a:solidFill>
                <a:effectLst>
                  <a:outerShdw blurRad="38100" dist="38100" dir="2700000" algn="tl">
                    <a:srgbClr val="000000">
                      <a:alpha val="43137"/>
                    </a:srgbClr>
                  </a:outerShdw>
                </a:effectLst>
              </a:rPr>
              <a:t>Fixed Parameter Tractability</a:t>
            </a:r>
            <a:endParaRPr lang="en-US" sz="3200" b="1" dirty="0">
              <a:solidFill>
                <a:srgbClr val="C00000"/>
              </a:solidFill>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1756285" y="1123066"/>
                <a:ext cx="10208028" cy="5593617"/>
              </a:xfrm>
            </p:spPr>
            <p:txBody>
              <a:bodyPr>
                <a:normAutofit fontScale="92500" lnSpcReduction="10000"/>
              </a:bodyPr>
              <a:lstStyle/>
              <a:p>
                <a:pPr algn="ctr"/>
                <a:r>
                  <a:rPr lang="en-US" i="1" dirty="0" smtClean="0">
                    <a:solidFill>
                      <a:srgbClr val="FF0000"/>
                    </a:solidFill>
                  </a:rPr>
                  <a:t>k</a:t>
                </a:r>
                <a:r>
                  <a:rPr lang="en-US" dirty="0" smtClean="0">
                    <a:solidFill>
                      <a:srgbClr val="FF0000"/>
                    </a:solidFill>
                  </a:rPr>
                  <a:t>- Vertex Cover (k means Parameterized Problem)</a:t>
                </a:r>
              </a:p>
              <a:p>
                <a:r>
                  <a:rPr lang="en-US" dirty="0" smtClean="0"/>
                  <a:t>Let’s start with –what would be the really obvious brute force solution to vertex cover?</a:t>
                </a:r>
                <a:endParaRPr lang="en-US" dirty="0"/>
              </a:p>
              <a:p>
                <a:pPr algn="ctr"/>
                <a:r>
                  <a:rPr lang="en-US" b="1" dirty="0" smtClean="0"/>
                  <a:t>Brute-force Algorithm</a:t>
                </a:r>
              </a:p>
              <a:p>
                <a:r>
                  <a:rPr lang="en-US" dirty="0" smtClean="0"/>
                  <a:t>[ What ‘s the obvious algorithm to solve this?</a:t>
                </a:r>
              </a:p>
              <a:p>
                <a:r>
                  <a:rPr lang="en-US" dirty="0" smtClean="0"/>
                  <a:t>How many combination of </a:t>
                </a:r>
                <a:r>
                  <a:rPr lang="en-US" i="1" dirty="0" smtClean="0"/>
                  <a:t>k</a:t>
                </a:r>
                <a:r>
                  <a:rPr lang="en-US" dirty="0" smtClean="0"/>
                  <a:t> vertices are there? And chooses </a:t>
                </a:r>
                <a:r>
                  <a:rPr lang="en-US" i="1" dirty="0" smtClean="0"/>
                  <a:t>k</a:t>
                </a:r>
                <a:r>
                  <a:rPr lang="en-US" dirty="0" smtClean="0"/>
                  <a:t>, if it’s a vertex cover.</a:t>
                </a:r>
              </a:p>
              <a:p>
                <a:r>
                  <a:rPr lang="en-US" dirty="0" smtClean="0"/>
                  <a:t>So try all and choose</a:t>
                </a:r>
                <a:r>
                  <a:rPr lang="en-US" i="1" dirty="0" smtClean="0"/>
                  <a:t> k</a:t>
                </a:r>
                <a:r>
                  <a:rPr lang="en-US" dirty="0" smtClean="0"/>
                  <a:t>. I guess,</a:t>
                </a:r>
                <a:r>
                  <a:rPr lang="en-US" i="1" dirty="0" smtClean="0"/>
                  <a:t> V </a:t>
                </a:r>
                <a:r>
                  <a:rPr lang="en-US" dirty="0" smtClean="0"/>
                  <a:t>choose </a:t>
                </a:r>
                <a:r>
                  <a:rPr lang="en-US" i="1" dirty="0" smtClean="0"/>
                  <a:t>k</a:t>
                </a:r>
                <a:r>
                  <a:rPr lang="en-US" dirty="0" smtClean="0"/>
                  <a:t>, subsets of </a:t>
                </a:r>
                <a:r>
                  <a:rPr lang="en-US" i="1" dirty="0" smtClean="0"/>
                  <a:t>k</a:t>
                </a:r>
                <a:r>
                  <a:rPr lang="en-US" dirty="0" smtClean="0"/>
                  <a:t> vertices.]</a:t>
                </a:r>
              </a:p>
              <a:p>
                <a:endParaRPr lang="en-US" dirty="0"/>
              </a:p>
              <a:p>
                <a:r>
                  <a:rPr lang="en-US" dirty="0" smtClean="0"/>
                  <a:t>-----Try all </a:t>
                </a:r>
                <a14:m>
                  <m:oMath xmlns:m="http://schemas.openxmlformats.org/officeDocument/2006/math">
                    <m:d>
                      <m:dPr>
                        <m:ctrlPr>
                          <a:rPr lang="pt-BR" i="1">
                            <a:latin typeface="Cambria Math" panose="02040503050406030204" pitchFamily="18" charset="0"/>
                          </a:rPr>
                        </m:ctrlPr>
                      </m:dPr>
                      <m:e>
                        <m:f>
                          <m:fPr>
                            <m:type m:val="noBar"/>
                            <m:ctrlPr>
                              <a:rPr lang="pt-BR" i="1">
                                <a:latin typeface="Cambria Math" panose="02040503050406030204" pitchFamily="18" charset="0"/>
                              </a:rPr>
                            </m:ctrlPr>
                          </m:fPr>
                          <m:num>
                            <m:r>
                              <a:rPr lang="en-US" i="1">
                                <a:latin typeface="Cambria Math" panose="02040503050406030204" pitchFamily="18" charset="0"/>
                              </a:rPr>
                              <m:t>𝑉</m:t>
                            </m:r>
                          </m:num>
                          <m:den>
                            <m:r>
                              <a:rPr lang="pt-BR" i="1">
                                <a:latin typeface="Cambria Math" panose="02040503050406030204" pitchFamily="18" charset="0"/>
                              </a:rPr>
                              <m:t>𝑘</m:t>
                            </m:r>
                          </m:den>
                        </m:f>
                      </m:e>
                    </m:d>
                  </m:oMath>
                </a14:m>
                <a:r>
                  <a:rPr lang="en-US" dirty="0" smtClean="0"/>
                  <a:t> subsets of k vertices</a:t>
                </a:r>
              </a:p>
              <a:p>
                <a:r>
                  <a:rPr lang="en-US" dirty="0" smtClean="0"/>
                  <a:t>----- Test each for coverage</a:t>
                </a:r>
              </a:p>
              <a:p>
                <a:r>
                  <a:rPr lang="en-US" dirty="0" smtClean="0"/>
                  <a:t>The problem is NP</a:t>
                </a:r>
              </a:p>
              <a:p>
                <a:r>
                  <a:rPr lang="en-US" dirty="0" smtClean="0"/>
                  <a:t>What’s the running time of algorithm? </a:t>
                </a:r>
                <a:r>
                  <a:rPr lang="el-GR" dirty="0" smtClean="0"/>
                  <a:t>Ο</a:t>
                </a:r>
                <a:r>
                  <a:rPr lang="en-US" dirty="0" smtClean="0"/>
                  <a:t>(</a:t>
                </a:r>
                <a:r>
                  <a:rPr lang="pt-BR" dirty="0" smtClean="0"/>
                  <a:t> </a:t>
                </a:r>
                <a14:m>
                  <m:oMath xmlns:m="http://schemas.openxmlformats.org/officeDocument/2006/math">
                    <m:sSup>
                      <m:sSupPr>
                        <m:ctrlPr>
                          <a:rPr lang="pt-BR" i="1">
                            <a:latin typeface="Cambria Math" panose="02040503050406030204" pitchFamily="18" charset="0"/>
                          </a:rPr>
                        </m:ctrlPr>
                      </m:sSupPr>
                      <m:e>
                        <m:r>
                          <a:rPr lang="en-US" b="0" i="1" smtClean="0">
                            <a:latin typeface="Cambria Math" panose="02040503050406030204" pitchFamily="18" charset="0"/>
                          </a:rPr>
                          <m:t>𝐸</m:t>
                        </m:r>
                        <m:r>
                          <a:rPr lang="en-US" b="0" i="1" smtClean="0">
                            <a:latin typeface="Cambria Math" panose="02040503050406030204" pitchFamily="18" charset="0"/>
                          </a:rPr>
                          <m:t>∗</m:t>
                        </m:r>
                        <m:r>
                          <a:rPr lang="en-US" b="0" i="1" smtClean="0">
                            <a:latin typeface="Cambria Math" panose="02040503050406030204" pitchFamily="18" charset="0"/>
                          </a:rPr>
                          <m:t>𝑉</m:t>
                        </m:r>
                      </m:e>
                      <m:sup>
                        <m:r>
                          <a:rPr lang="pt-BR" i="1">
                            <a:latin typeface="Cambria Math" panose="02040503050406030204" pitchFamily="18" charset="0"/>
                          </a:rPr>
                          <m:t>𝑘</m:t>
                        </m:r>
                      </m:sup>
                    </m:sSup>
                  </m:oMath>
                </a14:m>
                <a:r>
                  <a:rPr lang="en-US" dirty="0" smtClean="0"/>
                  <a:t>)</a:t>
                </a:r>
              </a:p>
              <a:p>
                <a:r>
                  <a:rPr lang="en-US" dirty="0" smtClean="0"/>
                  <a:t>It’s obviously exponential. The dependence on E and V. </a:t>
                </a:r>
              </a:p>
              <a:p>
                <a:r>
                  <a:rPr lang="en-US" dirty="0" smtClean="0"/>
                  <a:t>When running time, like this, </a:t>
                </a:r>
                <a14:m>
                  <m:oMath xmlns:m="http://schemas.openxmlformats.org/officeDocument/2006/math">
                    <m:sSup>
                      <m:sSupPr>
                        <m:ctrlPr>
                          <a:rPr lang="pt-BR" i="1">
                            <a:latin typeface="Cambria Math" panose="02040503050406030204" pitchFamily="18" charset="0"/>
                          </a:rPr>
                        </m:ctrlPr>
                      </m:sSupPr>
                      <m:e>
                        <m:r>
                          <a:rPr lang="en-US" b="0" i="1" smtClean="0">
                            <a:latin typeface="Cambria Math" panose="02040503050406030204" pitchFamily="18" charset="0"/>
                          </a:rPr>
                          <m:t> </m:t>
                        </m:r>
                        <m:r>
                          <a:rPr lang="en-US" b="0" i="1" smtClean="0">
                            <a:latin typeface="Cambria Math" panose="02040503050406030204" pitchFamily="18" charset="0"/>
                          </a:rPr>
                          <m:t>𝑛</m:t>
                        </m:r>
                      </m:e>
                      <m:sup>
                        <m:r>
                          <a:rPr lang="en-US" b="0" i="1" smtClean="0">
                            <a:latin typeface="Cambria Math" panose="02040503050406030204" pitchFamily="18" charset="0"/>
                          </a:rPr>
                          <m:t>𝑓</m:t>
                        </m:r>
                        <m:r>
                          <a:rPr lang="en-US" b="0" i="1" smtClean="0">
                            <a:latin typeface="Cambria Math" panose="02040503050406030204" pitchFamily="18" charset="0"/>
                          </a:rPr>
                          <m:t>(</m:t>
                        </m:r>
                        <m:r>
                          <a:rPr lang="pt-BR" i="1">
                            <a:latin typeface="Cambria Math" panose="02040503050406030204" pitchFamily="18" charset="0"/>
                          </a:rPr>
                          <m:t>𝑘</m:t>
                        </m:r>
                        <m:r>
                          <a:rPr lang="en-US" b="0" i="1" smtClean="0">
                            <a:latin typeface="Cambria Math" panose="02040503050406030204" pitchFamily="18" charset="0"/>
                          </a:rPr>
                          <m:t>)</m:t>
                        </m:r>
                      </m:sup>
                    </m:sSup>
                  </m:oMath>
                </a14:m>
                <a:r>
                  <a:rPr lang="en-US" dirty="0" smtClean="0"/>
                  <a:t> , it’s a slow algorithm. N=E+V.</a:t>
                </a:r>
              </a:p>
              <a:p>
                <a:r>
                  <a:rPr lang="en-US" dirty="0" smtClean="0"/>
                  <a:t>If k=2, it’s a large graph. If k=10, this is very impractical.</a:t>
                </a:r>
              </a:p>
              <a:p>
                <a:r>
                  <a:rPr lang="en-US" dirty="0" smtClean="0"/>
                  <a:t>Exponent depends on k. It’s a bad case.</a:t>
                </a:r>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1756285" y="1123066"/>
                <a:ext cx="10208028" cy="5593617"/>
              </a:xfrm>
              <a:blipFill rotWithShape="0">
                <a:blip r:embed="rId2"/>
                <a:stretch>
                  <a:fillRect l="-358" t="-763"/>
                </a:stretch>
              </a:blipFill>
            </p:spPr>
            <p:txBody>
              <a:bodyPr/>
              <a:lstStyle/>
              <a:p>
                <a:r>
                  <a:rPr lang="en-US">
                    <a:noFill/>
                  </a:rPr>
                  <a:t> </a:t>
                </a:r>
              </a:p>
            </p:txBody>
          </p:sp>
        </mc:Fallback>
      </mc:AlternateContent>
      <p:grpSp>
        <p:nvGrpSpPr>
          <p:cNvPr id="41" name="Group 40"/>
          <p:cNvGrpSpPr/>
          <p:nvPr/>
        </p:nvGrpSpPr>
        <p:grpSpPr>
          <a:xfrm>
            <a:off x="9293739" y="4188500"/>
            <a:ext cx="1821239" cy="1440221"/>
            <a:chOff x="9293739" y="4188500"/>
            <a:chExt cx="1821239" cy="1440221"/>
          </a:xfrm>
        </p:grpSpPr>
        <p:sp>
          <p:nvSpPr>
            <p:cNvPr id="4" name="Oval 3"/>
            <p:cNvSpPr/>
            <p:nvPr/>
          </p:nvSpPr>
          <p:spPr>
            <a:xfrm>
              <a:off x="10201920" y="4810640"/>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10500500" y="4188501"/>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10872382" y="4908387"/>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9638972" y="5236835"/>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9293739" y="4597407"/>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10559046" y="5432778"/>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9754051" y="4188500"/>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a:stCxn id="4" idx="0"/>
              <a:endCxn id="5" idx="3"/>
            </p:cNvCxnSpPr>
            <p:nvPr/>
          </p:nvCxnSpPr>
          <p:spPr>
            <a:xfrm flipV="1">
              <a:off x="10332999" y="4355749"/>
              <a:ext cx="203028" cy="4357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4" idx="1"/>
              <a:endCxn id="10" idx="5"/>
            </p:cNvCxnSpPr>
            <p:nvPr/>
          </p:nvCxnSpPr>
          <p:spPr>
            <a:xfrm flipH="1" flipV="1">
              <a:off x="9961120" y="4355748"/>
              <a:ext cx="286108" cy="4644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9838925" y="4960736"/>
              <a:ext cx="444761" cy="34735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4" idx="2"/>
              <a:endCxn id="8" idx="5"/>
            </p:cNvCxnSpPr>
            <p:nvPr/>
          </p:nvCxnSpPr>
          <p:spPr>
            <a:xfrm flipH="1" flipV="1">
              <a:off x="9500808" y="4764655"/>
              <a:ext cx="710893" cy="124829"/>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a:endCxn id="6" idx="2"/>
            </p:cNvCxnSpPr>
            <p:nvPr/>
          </p:nvCxnSpPr>
          <p:spPr>
            <a:xfrm>
              <a:off x="10428744" y="4928111"/>
              <a:ext cx="443638" cy="78248"/>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4" name="Straight Connector 23"/>
          <p:cNvCxnSpPr/>
          <p:nvPr/>
        </p:nvCxnSpPr>
        <p:spPr>
          <a:xfrm>
            <a:off x="10416850" y="4979065"/>
            <a:ext cx="271355" cy="593443"/>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9298857" y="5848607"/>
            <a:ext cx="2068284" cy="369332"/>
          </a:xfrm>
          <a:prstGeom prst="rect">
            <a:avLst/>
          </a:prstGeom>
          <a:noFill/>
        </p:spPr>
        <p:txBody>
          <a:bodyPr wrap="square" rtlCol="0">
            <a:spAutoFit/>
          </a:bodyPr>
          <a:lstStyle/>
          <a:p>
            <a:r>
              <a:rPr lang="en-US" dirty="0" smtClean="0"/>
              <a:t>Fig: Star graph</a:t>
            </a:r>
            <a:endParaRPr lang="en-US" dirty="0"/>
          </a:p>
        </p:txBody>
      </p:sp>
    </p:spTree>
    <p:extLst>
      <p:ext uri="{BB962C8B-B14F-4D97-AF65-F5344CB8AC3E}">
        <p14:creationId xmlns:p14="http://schemas.microsoft.com/office/powerpoint/2010/main" val="28388113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2600" y="97972"/>
            <a:ext cx="8915399" cy="704461"/>
          </a:xfrm>
        </p:spPr>
        <p:txBody>
          <a:bodyPr>
            <a:normAutofit/>
          </a:bodyPr>
          <a:lstStyle/>
          <a:p>
            <a:pPr algn="ctr"/>
            <a:r>
              <a:rPr lang="en-US" sz="3200" b="1" dirty="0" smtClean="0">
                <a:solidFill>
                  <a:srgbClr val="C00000"/>
                </a:solidFill>
                <a:effectLst>
                  <a:outerShdw blurRad="38100" dist="38100" dir="2700000" algn="tl">
                    <a:srgbClr val="000000">
                      <a:alpha val="43137"/>
                    </a:srgbClr>
                  </a:outerShdw>
                </a:effectLst>
              </a:rPr>
              <a:t>Fixed Parameter Tractability</a:t>
            </a:r>
            <a:endParaRPr lang="en-US" sz="3200" b="1" dirty="0">
              <a:solidFill>
                <a:srgbClr val="C00000"/>
              </a:solidFill>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1756285" y="1123066"/>
                <a:ext cx="10208028" cy="5593617"/>
              </a:xfrm>
            </p:spPr>
            <p:txBody>
              <a:bodyPr>
                <a:normAutofit/>
              </a:bodyPr>
              <a:lstStyle/>
              <a:p>
                <a:pPr algn="ctr"/>
                <a:r>
                  <a:rPr lang="en-US" i="1" dirty="0" smtClean="0">
                    <a:solidFill>
                      <a:srgbClr val="FF0000"/>
                    </a:solidFill>
                  </a:rPr>
                  <a:t>k</a:t>
                </a:r>
                <a:r>
                  <a:rPr lang="en-US" dirty="0" smtClean="0">
                    <a:solidFill>
                      <a:srgbClr val="FF0000"/>
                    </a:solidFill>
                  </a:rPr>
                  <a:t>- Vertex Cover (k, means Parameterized Problem)</a:t>
                </a:r>
              </a:p>
              <a:p>
                <a:endParaRPr lang="en-US" i="1" dirty="0" smtClean="0">
                  <a:solidFill>
                    <a:srgbClr val="00B050"/>
                  </a:solidFill>
                </a:endParaRPr>
              </a:p>
              <a:p>
                <a:r>
                  <a:rPr lang="en-US" i="1" dirty="0" smtClean="0">
                    <a:solidFill>
                      <a:srgbClr val="00B050"/>
                    </a:solidFill>
                  </a:rPr>
                  <a:t>[The good case is that the exponent doesn't depends on k. It’s a small change but it’s big one]</a:t>
                </a:r>
              </a:p>
              <a:p>
                <a:endParaRPr lang="en-US" i="1" dirty="0" smtClean="0"/>
              </a:p>
              <a:p>
                <a:r>
                  <a:rPr lang="en-US" i="1" dirty="0" smtClean="0"/>
                  <a:t>Parameterized problem: </a:t>
                </a:r>
                <a:r>
                  <a:rPr lang="en-US" dirty="0" smtClean="0"/>
                  <a:t>Parameterized problem is fixed parameter tractable (FPT) if it can be solved in f of k times polynomial in n, we can write it in this way </a:t>
                </a:r>
                <a14:m>
                  <m:oMath xmlns:m="http://schemas.openxmlformats.org/officeDocument/2006/math">
                    <m:sSup>
                      <m:sSupPr>
                        <m:ctrlPr>
                          <a:rPr lang="pt-BR" i="1">
                            <a:latin typeface="Cambria Math" panose="02040503050406030204" pitchFamily="18" charset="0"/>
                          </a:rPr>
                        </m:ctrlPr>
                      </m:sSupPr>
                      <m:e>
                        <m:r>
                          <a:rPr lang="en-US" b="0" i="1" smtClean="0">
                            <a:latin typeface="Cambria Math" panose="02040503050406030204" pitchFamily="18" charset="0"/>
                          </a:rPr>
                          <m:t>𝑓</m:t>
                        </m:r>
                        <m:d>
                          <m:dPr>
                            <m:ctrlPr>
                              <a:rPr lang="en-US" b="0" i="1" smtClean="0">
                                <a:latin typeface="Cambria Math" panose="02040503050406030204" pitchFamily="18" charset="0"/>
                              </a:rPr>
                            </m:ctrlPr>
                          </m:dPr>
                          <m:e>
                            <m:r>
                              <a:rPr lang="en-US" b="0" i="1" smtClean="0">
                                <a:latin typeface="Cambria Math" panose="02040503050406030204" pitchFamily="18" charset="0"/>
                              </a:rPr>
                              <m:t>𝑘</m:t>
                            </m:r>
                          </m:e>
                        </m:d>
                        <m:r>
                          <a:rPr lang="en-US" b="0" i="1" smtClean="0">
                            <a:latin typeface="Cambria Math" panose="02040503050406030204" pitchFamily="18" charset="0"/>
                          </a:rPr>
                          <m:t>. </m:t>
                        </m:r>
                        <m:r>
                          <a:rPr lang="en-US" b="0" i="1" smtClean="0">
                            <a:latin typeface="Cambria Math" panose="02040503050406030204" pitchFamily="18" charset="0"/>
                          </a:rPr>
                          <m:t>𝑛</m:t>
                        </m:r>
                      </m:e>
                      <m:sup>
                        <m:r>
                          <m:rPr>
                            <m:nor/>
                          </m:rPr>
                          <a:rPr lang="el-GR" dirty="0"/>
                          <m:t>Ο</m:t>
                        </m:r>
                        <m:r>
                          <a:rPr lang="en-US" b="0" i="1" smtClean="0">
                            <a:latin typeface="Cambria Math" panose="02040503050406030204" pitchFamily="18" charset="0"/>
                          </a:rPr>
                          <m:t>(1)</m:t>
                        </m:r>
                      </m:sup>
                    </m:sSup>
                    <m:r>
                      <a:rPr lang="en-US" b="0" i="0" smtClean="0">
                        <a:latin typeface="Cambria Math" panose="02040503050406030204" pitchFamily="18" charset="0"/>
                      </a:rPr>
                      <m:t>.</m:t>
                    </m:r>
                  </m:oMath>
                </a14:m>
                <a:endParaRPr lang="en-US" dirty="0" smtClean="0"/>
              </a:p>
              <a:p>
                <a:endParaRPr lang="en-US" dirty="0" smtClean="0"/>
              </a:p>
              <a:p>
                <a:pPr marL="285750" indent="-285750">
                  <a:buFont typeface="Symbol" panose="05050102010706020507" pitchFamily="18" charset="2"/>
                  <a:buChar char="Þ"/>
                </a:pPr>
                <a:r>
                  <a:rPr lang="en-US" dirty="0" smtClean="0"/>
                  <a:t>The exponent of n doesn’t depend on k. The factor </a:t>
                </a:r>
                <a14:m>
                  <m:oMath xmlns:m="http://schemas.openxmlformats.org/officeDocument/2006/math">
                    <m:sSup>
                      <m:sSupPr>
                        <m:ctrlPr>
                          <a:rPr lang="pt-BR" i="1">
                            <a:latin typeface="Cambria Math" panose="02040503050406030204" pitchFamily="18" charset="0"/>
                          </a:rPr>
                        </m:ctrlPr>
                      </m:sSupPr>
                      <m:e>
                        <m:r>
                          <a:rPr lang="en-US" i="1">
                            <a:latin typeface="Cambria Math" panose="02040503050406030204" pitchFamily="18" charset="0"/>
                          </a:rPr>
                          <m:t> </m:t>
                        </m:r>
                        <m:r>
                          <a:rPr lang="en-US" i="1">
                            <a:latin typeface="Cambria Math" panose="02040503050406030204" pitchFamily="18" charset="0"/>
                          </a:rPr>
                          <m:t>𝑛</m:t>
                        </m:r>
                      </m:e>
                      <m:sup>
                        <m:r>
                          <m:rPr>
                            <m:nor/>
                          </m:rPr>
                          <a:rPr lang="el-GR" dirty="0"/>
                          <m:t>Ο</m:t>
                        </m:r>
                        <m:r>
                          <a:rPr lang="en-US" i="1">
                            <a:latin typeface="Cambria Math" panose="02040503050406030204" pitchFamily="18" charset="0"/>
                          </a:rPr>
                          <m:t>(1)</m:t>
                        </m:r>
                      </m:sup>
                    </m:sSup>
                  </m:oMath>
                </a14:m>
                <a:r>
                  <a:rPr lang="en-US" dirty="0" smtClean="0"/>
                  <a:t> means that it’s independent on n &amp; k. If NP hard problem, the function </a:t>
                </a:r>
                <a14:m>
                  <m:oMath xmlns:m="http://schemas.openxmlformats.org/officeDocument/2006/math">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𝑘</m:t>
                        </m:r>
                      </m:e>
                    </m:d>
                    <m:r>
                      <a:rPr lang="en-US" b="0" i="1" smtClean="0">
                        <a:latin typeface="Cambria Math" panose="02040503050406030204" pitchFamily="18" charset="0"/>
                      </a:rPr>
                      <m:t> </m:t>
                    </m:r>
                  </m:oMath>
                </a14:m>
                <a:r>
                  <a:rPr lang="en-US" dirty="0" smtClean="0"/>
                  <a:t> can be exponential in k.</a:t>
                </a:r>
              </a:p>
              <a:p>
                <a:pPr marL="285750" indent="-285750">
                  <a:buFont typeface="Symbol" panose="05050102010706020507" pitchFamily="18" charset="2"/>
                  <a:buChar char="Þ"/>
                </a:pPr>
                <a:r>
                  <a:rPr lang="en-US" dirty="0" smtClean="0"/>
                  <a:t>This </a:t>
                </a:r>
                <a14:m>
                  <m:oMath xmlns:m="http://schemas.openxmlformats.org/officeDocument/2006/math">
                    <m:sSup>
                      <m:sSupPr>
                        <m:ctrlPr>
                          <a:rPr lang="pt-BR" i="1">
                            <a:latin typeface="Cambria Math" panose="02040503050406030204" pitchFamily="18" charset="0"/>
                          </a:rPr>
                        </m:ctrlPr>
                      </m:sSupPr>
                      <m:e>
                        <m:r>
                          <a:rPr lang="en-US" i="1">
                            <a:latin typeface="Cambria Math" panose="02040503050406030204" pitchFamily="18" charset="0"/>
                          </a:rPr>
                          <m:t>𝑓</m:t>
                        </m:r>
                        <m:d>
                          <m:dPr>
                            <m:ctrlPr>
                              <a:rPr lang="en-US" i="1">
                                <a:latin typeface="Cambria Math" panose="02040503050406030204" pitchFamily="18" charset="0"/>
                              </a:rPr>
                            </m:ctrlPr>
                          </m:dPr>
                          <m:e>
                            <m:r>
                              <a:rPr lang="en-US" i="1">
                                <a:latin typeface="Cambria Math" panose="02040503050406030204" pitchFamily="18" charset="0"/>
                              </a:rPr>
                              <m:t>𝑘</m:t>
                            </m:r>
                          </m:e>
                        </m:d>
                        <m:r>
                          <a:rPr lang="en-US" i="1">
                            <a:latin typeface="Cambria Math" panose="02040503050406030204" pitchFamily="18" charset="0"/>
                          </a:rPr>
                          <m:t>. </m:t>
                        </m:r>
                        <m:r>
                          <a:rPr lang="en-US" i="1">
                            <a:latin typeface="Cambria Math" panose="02040503050406030204" pitchFamily="18" charset="0"/>
                          </a:rPr>
                          <m:t>𝑛</m:t>
                        </m:r>
                      </m:e>
                      <m:sup>
                        <m:r>
                          <m:rPr>
                            <m:nor/>
                          </m:rPr>
                          <a:rPr lang="el-GR" dirty="0"/>
                          <m:t>Ο</m:t>
                        </m:r>
                        <m:r>
                          <a:rPr lang="en-US" i="1">
                            <a:latin typeface="Cambria Math" panose="02040503050406030204" pitchFamily="18" charset="0"/>
                          </a:rPr>
                          <m:t>(1)</m:t>
                        </m:r>
                      </m:sup>
                    </m:sSup>
                    <m:r>
                      <a:rPr lang="en-US" b="0" i="0" smtClean="0">
                        <a:latin typeface="Cambria Math" panose="02040503050406030204" pitchFamily="18" charset="0"/>
                      </a:rPr>
                      <m:t> </m:t>
                    </m:r>
                  </m:oMath>
                </a14:m>
                <a:r>
                  <a:rPr lang="en-US" dirty="0" smtClean="0"/>
                  <a:t>is much better than </a:t>
                </a:r>
                <a:r>
                  <a:rPr lang="el-GR" dirty="0"/>
                  <a:t>Ο</a:t>
                </a:r>
                <a:r>
                  <a:rPr lang="en-US" dirty="0"/>
                  <a:t>(</a:t>
                </a:r>
                <a:r>
                  <a:rPr lang="pt-BR" dirty="0"/>
                  <a:t> </a:t>
                </a:r>
                <a14:m>
                  <m:oMath xmlns:m="http://schemas.openxmlformats.org/officeDocument/2006/math">
                    <m:sSup>
                      <m:sSupPr>
                        <m:ctrlPr>
                          <a:rPr lang="pt-BR" i="1">
                            <a:latin typeface="Cambria Math" panose="02040503050406030204" pitchFamily="18" charset="0"/>
                          </a:rPr>
                        </m:ctrlPr>
                      </m:sSupPr>
                      <m:e>
                        <m:r>
                          <a:rPr lang="en-US" i="1">
                            <a:latin typeface="Cambria Math" panose="02040503050406030204" pitchFamily="18" charset="0"/>
                          </a:rPr>
                          <m:t>𝐸</m:t>
                        </m:r>
                        <m:r>
                          <a:rPr lang="en-US" i="1">
                            <a:latin typeface="Cambria Math" panose="02040503050406030204" pitchFamily="18" charset="0"/>
                          </a:rPr>
                          <m:t>∗</m:t>
                        </m:r>
                        <m:r>
                          <a:rPr lang="en-US" i="1">
                            <a:latin typeface="Cambria Math" panose="02040503050406030204" pitchFamily="18" charset="0"/>
                          </a:rPr>
                          <m:t>𝑉</m:t>
                        </m:r>
                      </m:e>
                      <m:sup>
                        <m:r>
                          <a:rPr lang="pt-BR" i="1">
                            <a:latin typeface="Cambria Math" panose="02040503050406030204" pitchFamily="18" charset="0"/>
                          </a:rPr>
                          <m:t>𝑘</m:t>
                        </m:r>
                      </m:sup>
                    </m:sSup>
                  </m:oMath>
                </a14:m>
                <a:r>
                  <a:rPr lang="en-US" dirty="0" smtClean="0"/>
                  <a:t>).</a:t>
                </a:r>
                <a:endParaRPr lang="en-US" dirty="0"/>
              </a:p>
              <a:p>
                <a:endParaRPr lang="en-US" dirty="0"/>
              </a:p>
              <a:p>
                <a:endParaRPr lang="en-US" dirty="0" smtClean="0"/>
              </a:p>
              <a:p>
                <a:endParaRPr lang="en-US" dirty="0"/>
              </a:p>
              <a:p>
                <a:endParaRPr lang="en-US" dirty="0"/>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1756285" y="1123066"/>
                <a:ext cx="10208028" cy="5593617"/>
              </a:xfrm>
              <a:blipFill rotWithShape="0">
                <a:blip r:embed="rId2"/>
                <a:stretch>
                  <a:fillRect l="-478" t="-545" r="-657"/>
                </a:stretch>
              </a:blipFill>
            </p:spPr>
            <p:txBody>
              <a:bodyPr/>
              <a:lstStyle/>
              <a:p>
                <a:r>
                  <a:rPr lang="en-US">
                    <a:noFill/>
                  </a:rPr>
                  <a:t> </a:t>
                </a:r>
              </a:p>
            </p:txBody>
          </p:sp>
        </mc:Fallback>
      </mc:AlternateContent>
      <p:grpSp>
        <p:nvGrpSpPr>
          <p:cNvPr id="41" name="Group 40"/>
          <p:cNvGrpSpPr/>
          <p:nvPr/>
        </p:nvGrpSpPr>
        <p:grpSpPr>
          <a:xfrm>
            <a:off x="9738582" y="4712900"/>
            <a:ext cx="1821239" cy="1440221"/>
            <a:chOff x="9293739" y="4188500"/>
            <a:chExt cx="1821239" cy="1440221"/>
          </a:xfrm>
        </p:grpSpPr>
        <p:sp>
          <p:nvSpPr>
            <p:cNvPr id="4" name="Oval 3"/>
            <p:cNvSpPr/>
            <p:nvPr/>
          </p:nvSpPr>
          <p:spPr>
            <a:xfrm>
              <a:off x="10201920" y="4810640"/>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10500500" y="4188501"/>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10872382" y="4908387"/>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9638972" y="5236835"/>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9293739" y="4597407"/>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10559046" y="5432778"/>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9754051" y="4188500"/>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a:stCxn id="4" idx="0"/>
              <a:endCxn id="5" idx="3"/>
            </p:cNvCxnSpPr>
            <p:nvPr/>
          </p:nvCxnSpPr>
          <p:spPr>
            <a:xfrm flipV="1">
              <a:off x="10332999" y="4355749"/>
              <a:ext cx="203028" cy="4357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4" idx="1"/>
              <a:endCxn id="10" idx="5"/>
            </p:cNvCxnSpPr>
            <p:nvPr/>
          </p:nvCxnSpPr>
          <p:spPr>
            <a:xfrm flipH="1" flipV="1">
              <a:off x="9961120" y="4355748"/>
              <a:ext cx="286108" cy="4644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9838925" y="4960736"/>
              <a:ext cx="444761" cy="34735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4" idx="2"/>
              <a:endCxn id="8" idx="5"/>
            </p:cNvCxnSpPr>
            <p:nvPr/>
          </p:nvCxnSpPr>
          <p:spPr>
            <a:xfrm flipH="1" flipV="1">
              <a:off x="9500808" y="4764655"/>
              <a:ext cx="710893" cy="124829"/>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a:endCxn id="6" idx="2"/>
            </p:cNvCxnSpPr>
            <p:nvPr/>
          </p:nvCxnSpPr>
          <p:spPr>
            <a:xfrm>
              <a:off x="10428744" y="4928111"/>
              <a:ext cx="443638" cy="78248"/>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4" name="Straight Connector 23"/>
          <p:cNvCxnSpPr/>
          <p:nvPr/>
        </p:nvCxnSpPr>
        <p:spPr>
          <a:xfrm>
            <a:off x="10777842" y="5474082"/>
            <a:ext cx="271355" cy="593443"/>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9213086" y="6313438"/>
            <a:ext cx="2068284" cy="369332"/>
          </a:xfrm>
          <a:prstGeom prst="rect">
            <a:avLst/>
          </a:prstGeom>
          <a:noFill/>
        </p:spPr>
        <p:txBody>
          <a:bodyPr wrap="square" rtlCol="0">
            <a:spAutoFit/>
          </a:bodyPr>
          <a:lstStyle/>
          <a:p>
            <a:r>
              <a:rPr lang="en-US" dirty="0" smtClean="0"/>
              <a:t>Fig: Star graph</a:t>
            </a:r>
            <a:endParaRPr lang="en-US" dirty="0"/>
          </a:p>
        </p:txBody>
      </p:sp>
    </p:spTree>
    <p:extLst>
      <p:ext uri="{BB962C8B-B14F-4D97-AF65-F5344CB8AC3E}">
        <p14:creationId xmlns:p14="http://schemas.microsoft.com/office/powerpoint/2010/main" val="26680064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2600" y="97972"/>
            <a:ext cx="8915399" cy="704461"/>
          </a:xfrm>
        </p:spPr>
        <p:txBody>
          <a:bodyPr>
            <a:normAutofit/>
          </a:bodyPr>
          <a:lstStyle/>
          <a:p>
            <a:pPr algn="ctr"/>
            <a:r>
              <a:rPr lang="en-US" sz="3200" b="1" dirty="0" smtClean="0">
                <a:solidFill>
                  <a:srgbClr val="C00000"/>
                </a:solidFill>
                <a:effectLst>
                  <a:outerShdw blurRad="38100" dist="38100" dir="2700000" algn="tl">
                    <a:srgbClr val="000000">
                      <a:alpha val="43137"/>
                    </a:srgbClr>
                  </a:outerShdw>
                </a:effectLst>
              </a:rPr>
              <a:t>Fixed Parameter Tractability</a:t>
            </a:r>
            <a:endParaRPr lang="en-US" sz="3200" b="1" dirty="0">
              <a:solidFill>
                <a:srgbClr val="C0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756285" y="1123066"/>
            <a:ext cx="10208028" cy="5593617"/>
          </a:xfrm>
        </p:spPr>
        <p:txBody>
          <a:bodyPr>
            <a:normAutofit/>
          </a:bodyPr>
          <a:lstStyle/>
          <a:p>
            <a:pPr algn="ctr"/>
            <a:r>
              <a:rPr lang="en-US" i="1" dirty="0" smtClean="0">
                <a:solidFill>
                  <a:srgbClr val="FF0000"/>
                </a:solidFill>
              </a:rPr>
              <a:t>k</a:t>
            </a:r>
            <a:r>
              <a:rPr lang="en-US" dirty="0" smtClean="0">
                <a:solidFill>
                  <a:srgbClr val="FF0000"/>
                </a:solidFill>
              </a:rPr>
              <a:t>- Vertex Cover (k, means Parameterized Problem)</a:t>
            </a:r>
          </a:p>
          <a:p>
            <a:r>
              <a:rPr lang="en-US" i="1" dirty="0" smtClean="0">
                <a:solidFill>
                  <a:srgbClr val="00B050"/>
                </a:solidFill>
              </a:rPr>
              <a:t>[The good case is that the exponent doesn't depends on k. It’s a small change but it’s big one]</a:t>
            </a:r>
          </a:p>
          <a:p>
            <a:endParaRPr lang="en-US" i="1" dirty="0" smtClean="0"/>
          </a:p>
          <a:p>
            <a:endParaRPr lang="en-US" dirty="0"/>
          </a:p>
          <a:p>
            <a:endParaRPr lang="en-US" dirty="0" smtClean="0"/>
          </a:p>
          <a:p>
            <a:endParaRPr lang="en-US" dirty="0"/>
          </a:p>
          <a:p>
            <a:endParaRPr lang="en-US" dirty="0"/>
          </a:p>
        </p:txBody>
      </p:sp>
      <p:pic>
        <p:nvPicPr>
          <p:cNvPr id="11" name="Picture 10"/>
          <p:cNvPicPr>
            <a:picLocks noChangeAspect="1"/>
          </p:cNvPicPr>
          <p:nvPr/>
        </p:nvPicPr>
        <p:blipFill>
          <a:blip r:embed="rId2"/>
          <a:stretch>
            <a:fillRect/>
          </a:stretch>
        </p:blipFill>
        <p:spPr>
          <a:xfrm>
            <a:off x="2402600" y="2952944"/>
            <a:ext cx="9401175" cy="2762250"/>
          </a:xfrm>
          <a:prstGeom prst="rect">
            <a:avLst/>
          </a:prstGeom>
        </p:spPr>
      </p:pic>
    </p:spTree>
    <p:extLst>
      <p:ext uri="{BB962C8B-B14F-4D97-AF65-F5344CB8AC3E}">
        <p14:creationId xmlns:p14="http://schemas.microsoft.com/office/powerpoint/2010/main" val="40269663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2600" y="97972"/>
            <a:ext cx="8915399" cy="704461"/>
          </a:xfrm>
        </p:spPr>
        <p:txBody>
          <a:bodyPr>
            <a:normAutofit/>
          </a:bodyPr>
          <a:lstStyle/>
          <a:p>
            <a:pPr algn="ctr"/>
            <a:r>
              <a:rPr lang="en-US" sz="3200" b="1" dirty="0" smtClean="0">
                <a:solidFill>
                  <a:srgbClr val="C00000"/>
                </a:solidFill>
                <a:effectLst>
                  <a:outerShdw blurRad="38100" dist="38100" dir="2700000" algn="tl">
                    <a:srgbClr val="000000">
                      <a:alpha val="43137"/>
                    </a:srgbClr>
                  </a:outerShdw>
                </a:effectLst>
              </a:rPr>
              <a:t>Fixed Parameter Tractability</a:t>
            </a:r>
            <a:endParaRPr lang="en-US" sz="3200" b="1" dirty="0">
              <a:solidFill>
                <a:srgbClr val="C0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756285" y="1123066"/>
            <a:ext cx="10208028" cy="5593617"/>
          </a:xfrm>
        </p:spPr>
        <p:txBody>
          <a:bodyPr>
            <a:normAutofit/>
          </a:bodyPr>
          <a:lstStyle/>
          <a:p>
            <a:pPr algn="ctr"/>
            <a:r>
              <a:rPr lang="en-US" i="1" dirty="0" smtClean="0">
                <a:solidFill>
                  <a:srgbClr val="FF0000"/>
                </a:solidFill>
              </a:rPr>
              <a:t>k</a:t>
            </a:r>
            <a:r>
              <a:rPr lang="en-US" dirty="0" smtClean="0">
                <a:solidFill>
                  <a:srgbClr val="FF0000"/>
                </a:solidFill>
              </a:rPr>
              <a:t>- Vertex Cover (k, means Parameterized Problem)</a:t>
            </a:r>
          </a:p>
          <a:p>
            <a:r>
              <a:rPr lang="en-US" i="1" dirty="0" smtClean="0">
                <a:solidFill>
                  <a:srgbClr val="00B050"/>
                </a:solidFill>
              </a:rPr>
              <a:t>[The good case is that the exponent doesn't depends on k. It’s a small change but it’s big one]</a:t>
            </a:r>
          </a:p>
          <a:p>
            <a:endParaRPr lang="en-US" i="1" dirty="0" smtClean="0"/>
          </a:p>
          <a:p>
            <a:endParaRPr lang="en-US" dirty="0"/>
          </a:p>
          <a:p>
            <a:endParaRPr lang="en-US" dirty="0" smtClean="0"/>
          </a:p>
          <a:p>
            <a:endParaRPr lang="en-US" dirty="0"/>
          </a:p>
          <a:p>
            <a:endParaRPr lang="en-US" dirty="0"/>
          </a:p>
        </p:txBody>
      </p:sp>
      <p:pic>
        <p:nvPicPr>
          <p:cNvPr id="4" name="Picture 3"/>
          <p:cNvPicPr>
            <a:picLocks noChangeAspect="1"/>
          </p:cNvPicPr>
          <p:nvPr/>
        </p:nvPicPr>
        <p:blipFill>
          <a:blip r:embed="rId2"/>
          <a:stretch>
            <a:fillRect/>
          </a:stretch>
        </p:blipFill>
        <p:spPr>
          <a:xfrm>
            <a:off x="2374024" y="2106583"/>
            <a:ext cx="8943975" cy="4610100"/>
          </a:xfrm>
          <a:prstGeom prst="rect">
            <a:avLst/>
          </a:prstGeom>
        </p:spPr>
      </p:pic>
    </p:spTree>
    <p:extLst>
      <p:ext uri="{BB962C8B-B14F-4D97-AF65-F5344CB8AC3E}">
        <p14:creationId xmlns:p14="http://schemas.microsoft.com/office/powerpoint/2010/main" val="154205940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2600" y="97972"/>
            <a:ext cx="8915399" cy="704461"/>
          </a:xfrm>
        </p:spPr>
        <p:txBody>
          <a:bodyPr>
            <a:normAutofit/>
          </a:bodyPr>
          <a:lstStyle/>
          <a:p>
            <a:pPr algn="ctr"/>
            <a:r>
              <a:rPr lang="en-US" sz="3200" b="1" dirty="0" smtClean="0">
                <a:solidFill>
                  <a:srgbClr val="C00000"/>
                </a:solidFill>
                <a:effectLst>
                  <a:outerShdw blurRad="38100" dist="38100" dir="2700000" algn="tl">
                    <a:srgbClr val="000000">
                      <a:alpha val="43137"/>
                    </a:srgbClr>
                  </a:outerShdw>
                </a:effectLst>
              </a:rPr>
              <a:t>Fixed Parameter Tractability</a:t>
            </a:r>
            <a:endParaRPr lang="en-US" sz="3200" b="1" dirty="0">
              <a:solidFill>
                <a:srgbClr val="C0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756285" y="1123066"/>
            <a:ext cx="10208028" cy="5593617"/>
          </a:xfrm>
        </p:spPr>
        <p:txBody>
          <a:bodyPr>
            <a:normAutofit/>
          </a:bodyPr>
          <a:lstStyle/>
          <a:p>
            <a:r>
              <a:rPr lang="en-US" sz="2400" i="1" dirty="0" smtClean="0">
                <a:solidFill>
                  <a:srgbClr val="00B050"/>
                </a:solidFill>
              </a:rPr>
              <a:t>Bounded-search Tree algorithm</a:t>
            </a:r>
          </a:p>
          <a:p>
            <a:endParaRPr lang="en-US" dirty="0"/>
          </a:p>
          <a:p>
            <a:r>
              <a:rPr lang="en-US" dirty="0"/>
              <a:t>The bounded search tree method attempts to do an exhaustive search on the problem space. However, it uses the parameter to cut of branches of the search tree so that the running time is still polynomial in n. </a:t>
            </a:r>
            <a:endParaRPr lang="en-US" dirty="0" smtClean="0"/>
          </a:p>
          <a:p>
            <a:endParaRPr lang="en-US" dirty="0"/>
          </a:p>
          <a:p>
            <a:r>
              <a:rPr lang="en-US" dirty="0"/>
              <a:t>We illustrate the method by showing that the vertex cover problem is fixed parameter tractable with respect to the size of the optimal cover</a:t>
            </a:r>
            <a:r>
              <a:rPr lang="en-US" dirty="0" smtClean="0"/>
              <a:t>.</a:t>
            </a:r>
          </a:p>
          <a:p>
            <a:endParaRPr lang="en-US" dirty="0"/>
          </a:p>
          <a:p>
            <a:r>
              <a:rPr lang="en-US" dirty="0" smtClean="0"/>
              <a:t>Main </a:t>
            </a:r>
            <a:r>
              <a:rPr lang="en-US" dirty="0"/>
              <a:t>idea </a:t>
            </a:r>
            <a:endParaRPr lang="en-US" dirty="0" smtClean="0"/>
          </a:p>
          <a:p>
            <a:r>
              <a:rPr lang="en-US" dirty="0" smtClean="0"/>
              <a:t>• </a:t>
            </a:r>
            <a:r>
              <a:rPr lang="en-US" dirty="0"/>
              <a:t>Pick one edge. </a:t>
            </a:r>
            <a:endParaRPr lang="en-US" dirty="0" smtClean="0"/>
          </a:p>
          <a:p>
            <a:r>
              <a:rPr lang="en-US" dirty="0" smtClean="0"/>
              <a:t>• </a:t>
            </a:r>
            <a:r>
              <a:rPr lang="en-US" dirty="0"/>
              <a:t>One of its endpoint must be covered. </a:t>
            </a:r>
            <a:endParaRPr lang="en-US" dirty="0" smtClean="0"/>
          </a:p>
          <a:p>
            <a:r>
              <a:rPr lang="en-US" dirty="0" smtClean="0"/>
              <a:t>• </a:t>
            </a:r>
            <a:r>
              <a:rPr lang="en-US" dirty="0"/>
              <a:t>Try both and do the </a:t>
            </a:r>
            <a:r>
              <a:rPr lang="en-US" dirty="0" smtClean="0"/>
              <a:t>recursion.</a:t>
            </a:r>
            <a:endParaRPr lang="en-US" dirty="0"/>
          </a:p>
        </p:txBody>
      </p:sp>
    </p:spTree>
    <p:extLst>
      <p:ext uri="{BB962C8B-B14F-4D97-AF65-F5344CB8AC3E}">
        <p14:creationId xmlns:p14="http://schemas.microsoft.com/office/powerpoint/2010/main" val="4024053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2600" y="97972"/>
            <a:ext cx="8915399" cy="704461"/>
          </a:xfrm>
        </p:spPr>
        <p:txBody>
          <a:bodyPr>
            <a:normAutofit/>
          </a:bodyPr>
          <a:lstStyle/>
          <a:p>
            <a:pPr algn="ctr"/>
            <a:r>
              <a:rPr lang="en-US" sz="3200" b="1" dirty="0" smtClean="0">
                <a:solidFill>
                  <a:srgbClr val="C00000"/>
                </a:solidFill>
                <a:effectLst>
                  <a:outerShdw blurRad="38100" dist="38100" dir="2700000" algn="tl">
                    <a:srgbClr val="000000">
                      <a:alpha val="43137"/>
                    </a:srgbClr>
                  </a:outerShdw>
                </a:effectLst>
              </a:rPr>
              <a:t>Fixed Parameter Tractability</a:t>
            </a:r>
            <a:endParaRPr lang="en-US" sz="3200" b="1" dirty="0">
              <a:solidFill>
                <a:srgbClr val="C0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756285" y="1123066"/>
            <a:ext cx="10208028" cy="5593617"/>
          </a:xfrm>
        </p:spPr>
        <p:txBody>
          <a:bodyPr>
            <a:normAutofit/>
          </a:bodyPr>
          <a:lstStyle/>
          <a:p>
            <a:pPr algn="ctr"/>
            <a:r>
              <a:rPr lang="en-US" i="1" dirty="0" smtClean="0">
                <a:solidFill>
                  <a:srgbClr val="FF0000"/>
                </a:solidFill>
              </a:rPr>
              <a:t>k</a:t>
            </a:r>
            <a:r>
              <a:rPr lang="en-US" dirty="0" smtClean="0">
                <a:solidFill>
                  <a:srgbClr val="FF0000"/>
                </a:solidFill>
              </a:rPr>
              <a:t>- Vertex Cover (k, means Parameterized Problem)</a:t>
            </a:r>
          </a:p>
          <a:p>
            <a:r>
              <a:rPr lang="en-US" i="1" dirty="0" smtClean="0">
                <a:solidFill>
                  <a:srgbClr val="00B050"/>
                </a:solidFill>
              </a:rPr>
              <a:t>Bounded-search Tree algorithm</a:t>
            </a:r>
          </a:p>
          <a:p>
            <a:r>
              <a:rPr lang="en-US" dirty="0" smtClean="0">
                <a:solidFill>
                  <a:schemeClr val="tx1"/>
                </a:solidFill>
              </a:rPr>
              <a:t>----- Consider any edge e = (</a:t>
            </a:r>
            <a:r>
              <a:rPr lang="en-US" dirty="0" err="1" smtClean="0">
                <a:solidFill>
                  <a:schemeClr val="tx1"/>
                </a:solidFill>
              </a:rPr>
              <a:t>u,v</a:t>
            </a:r>
            <a:r>
              <a:rPr lang="en-US" dirty="0" smtClean="0">
                <a:solidFill>
                  <a:schemeClr val="tx1"/>
                </a:solidFill>
              </a:rPr>
              <a:t>)                                              </a:t>
            </a:r>
          </a:p>
          <a:p>
            <a:r>
              <a:rPr lang="en-US" dirty="0" smtClean="0"/>
              <a:t>----- </a:t>
            </a:r>
            <a:r>
              <a:rPr lang="en-US" dirty="0" smtClean="0">
                <a:solidFill>
                  <a:schemeClr val="tx1"/>
                </a:solidFill>
              </a:rPr>
              <a:t>Either u  S  or u </a:t>
            </a:r>
            <a:r>
              <a:rPr lang="en-US" dirty="0">
                <a:solidFill>
                  <a:schemeClr val="tx1"/>
                </a:solidFill>
              </a:rPr>
              <a:t> </a:t>
            </a:r>
            <a:r>
              <a:rPr lang="en-US" dirty="0" smtClean="0">
                <a:solidFill>
                  <a:schemeClr val="tx1"/>
                </a:solidFill>
              </a:rPr>
              <a:t>S (or both)</a:t>
            </a:r>
          </a:p>
          <a:p>
            <a:r>
              <a:rPr lang="en-US" dirty="0" smtClean="0">
                <a:solidFill>
                  <a:schemeClr val="tx1"/>
                </a:solidFill>
              </a:rPr>
              <a:t>----- Guess</a:t>
            </a:r>
          </a:p>
          <a:p>
            <a:r>
              <a:rPr lang="en-US" dirty="0">
                <a:solidFill>
                  <a:schemeClr val="tx1"/>
                </a:solidFill>
              </a:rPr>
              <a:t> </a:t>
            </a:r>
            <a:r>
              <a:rPr lang="en-US" dirty="0" smtClean="0">
                <a:solidFill>
                  <a:schemeClr val="tx1"/>
                </a:solidFill>
              </a:rPr>
              <a:t>                 (1) </a:t>
            </a:r>
            <a:r>
              <a:rPr lang="en-US" dirty="0">
                <a:solidFill>
                  <a:schemeClr val="tx1"/>
                </a:solidFill>
              </a:rPr>
              <a:t>u  </a:t>
            </a:r>
            <a:r>
              <a:rPr lang="en-US" dirty="0" smtClean="0">
                <a:solidFill>
                  <a:schemeClr val="tx1"/>
                </a:solidFill>
              </a:rPr>
              <a:t>S:  delete u &amp; incident edges</a:t>
            </a:r>
          </a:p>
          <a:p>
            <a:r>
              <a:rPr lang="en-US" dirty="0">
                <a:solidFill>
                  <a:schemeClr val="tx1"/>
                </a:solidFill>
              </a:rPr>
              <a:t> </a:t>
            </a:r>
            <a:r>
              <a:rPr lang="en-US" dirty="0" smtClean="0">
                <a:solidFill>
                  <a:schemeClr val="tx1"/>
                </a:solidFill>
              </a:rPr>
              <a:t>                                  decrement k</a:t>
            </a:r>
          </a:p>
          <a:p>
            <a:r>
              <a:rPr lang="en-US" dirty="0" smtClean="0"/>
              <a:t>                                    </a:t>
            </a:r>
            <a:r>
              <a:rPr lang="en-US" dirty="0" err="1" smtClean="0"/>
              <a:t>recurse</a:t>
            </a:r>
            <a:r>
              <a:rPr lang="en-US" dirty="0" smtClean="0"/>
              <a:t> on G’ and K’</a:t>
            </a:r>
          </a:p>
          <a:p>
            <a:r>
              <a:rPr lang="en-US" dirty="0"/>
              <a:t> </a:t>
            </a:r>
            <a:r>
              <a:rPr lang="en-US" dirty="0" smtClean="0"/>
              <a:t>                 (2) </a:t>
            </a:r>
            <a:r>
              <a:rPr lang="en-US" dirty="0" smtClean="0">
                <a:solidFill>
                  <a:schemeClr val="tx1"/>
                </a:solidFill>
              </a:rPr>
              <a:t>v </a:t>
            </a:r>
            <a:r>
              <a:rPr lang="en-US" dirty="0">
                <a:solidFill>
                  <a:schemeClr val="tx1"/>
                </a:solidFill>
              </a:rPr>
              <a:t> S: delete </a:t>
            </a:r>
            <a:r>
              <a:rPr lang="en-US" dirty="0" smtClean="0">
                <a:solidFill>
                  <a:schemeClr val="tx1"/>
                </a:solidFill>
              </a:rPr>
              <a:t>v </a:t>
            </a:r>
            <a:r>
              <a:rPr lang="en-US" dirty="0">
                <a:solidFill>
                  <a:schemeClr val="tx1"/>
                </a:solidFill>
              </a:rPr>
              <a:t>&amp; incident edges</a:t>
            </a:r>
          </a:p>
          <a:p>
            <a:r>
              <a:rPr lang="en-US" dirty="0" smtClean="0"/>
              <a:t>                                 </a:t>
            </a:r>
            <a:r>
              <a:rPr lang="en-US" dirty="0" smtClean="0">
                <a:solidFill>
                  <a:schemeClr val="tx1"/>
                </a:solidFill>
              </a:rPr>
              <a:t>decrement </a:t>
            </a:r>
            <a:r>
              <a:rPr lang="en-US" dirty="0">
                <a:solidFill>
                  <a:schemeClr val="tx1"/>
                </a:solidFill>
              </a:rPr>
              <a:t>k</a:t>
            </a:r>
            <a:r>
              <a:rPr lang="en-US" dirty="0" smtClean="0"/>
              <a:t> </a:t>
            </a:r>
          </a:p>
          <a:p>
            <a:r>
              <a:rPr lang="en-US" dirty="0"/>
              <a:t>                                  </a:t>
            </a:r>
            <a:r>
              <a:rPr lang="en-US" dirty="0" err="1"/>
              <a:t>recurse</a:t>
            </a:r>
            <a:r>
              <a:rPr lang="en-US" dirty="0"/>
              <a:t> on </a:t>
            </a:r>
            <a:r>
              <a:rPr lang="en-US" dirty="0" smtClean="0"/>
              <a:t>G’’ </a:t>
            </a:r>
            <a:r>
              <a:rPr lang="en-US" dirty="0"/>
              <a:t>and K</a:t>
            </a:r>
            <a:r>
              <a:rPr lang="en-US" dirty="0" smtClean="0"/>
              <a:t>’’</a:t>
            </a:r>
            <a:endParaRPr lang="en-US" dirty="0"/>
          </a:p>
          <a:p>
            <a:endParaRPr lang="en-US" dirty="0"/>
          </a:p>
        </p:txBody>
      </p:sp>
      <p:grpSp>
        <p:nvGrpSpPr>
          <p:cNvPr id="41" name="Group 40"/>
          <p:cNvGrpSpPr/>
          <p:nvPr/>
        </p:nvGrpSpPr>
        <p:grpSpPr>
          <a:xfrm>
            <a:off x="9738582" y="4712900"/>
            <a:ext cx="1821239" cy="1440221"/>
            <a:chOff x="9293739" y="4188500"/>
            <a:chExt cx="1821239" cy="1440221"/>
          </a:xfrm>
        </p:grpSpPr>
        <p:sp>
          <p:nvSpPr>
            <p:cNvPr id="4" name="Oval 3"/>
            <p:cNvSpPr/>
            <p:nvPr/>
          </p:nvSpPr>
          <p:spPr>
            <a:xfrm>
              <a:off x="10201920" y="4810640"/>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Oval 4"/>
            <p:cNvSpPr/>
            <p:nvPr/>
          </p:nvSpPr>
          <p:spPr>
            <a:xfrm>
              <a:off x="10500500" y="4188501"/>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Oval 5"/>
            <p:cNvSpPr/>
            <p:nvPr/>
          </p:nvSpPr>
          <p:spPr>
            <a:xfrm>
              <a:off x="10872382" y="4908387"/>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9638972" y="5236835"/>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9293739" y="4597407"/>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10559046" y="5432778"/>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a:off x="9754051" y="4188500"/>
              <a:ext cx="242596" cy="19594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Connector 11"/>
            <p:cNvCxnSpPr>
              <a:stCxn id="4" idx="0"/>
              <a:endCxn id="5" idx="3"/>
            </p:cNvCxnSpPr>
            <p:nvPr/>
          </p:nvCxnSpPr>
          <p:spPr>
            <a:xfrm flipV="1">
              <a:off x="10332999" y="4355749"/>
              <a:ext cx="203028" cy="435763"/>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4" idx="1"/>
              <a:endCxn id="10" idx="5"/>
            </p:cNvCxnSpPr>
            <p:nvPr/>
          </p:nvCxnSpPr>
          <p:spPr>
            <a:xfrm flipH="1" flipV="1">
              <a:off x="9961120" y="4355748"/>
              <a:ext cx="286108" cy="464459"/>
            </a:xfrm>
            <a:prstGeom prst="line">
              <a:avLst/>
            </a:prstGeom>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flipH="1">
              <a:off x="9838925" y="4960736"/>
              <a:ext cx="444761" cy="347352"/>
            </a:xfrm>
            <a:prstGeom prst="line">
              <a:avLst/>
            </a:prstGeom>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4" idx="2"/>
              <a:endCxn id="8" idx="5"/>
            </p:cNvCxnSpPr>
            <p:nvPr/>
          </p:nvCxnSpPr>
          <p:spPr>
            <a:xfrm flipH="1" flipV="1">
              <a:off x="9500808" y="4764655"/>
              <a:ext cx="710893" cy="124829"/>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p:cNvCxnSpPr>
              <a:endCxn id="6" idx="2"/>
            </p:cNvCxnSpPr>
            <p:nvPr/>
          </p:nvCxnSpPr>
          <p:spPr>
            <a:xfrm>
              <a:off x="10428744" y="4928111"/>
              <a:ext cx="443638" cy="78248"/>
            </a:xfrm>
            <a:prstGeom prst="line">
              <a:avLst/>
            </a:prstGeom>
          </p:spPr>
          <p:style>
            <a:lnRef idx="1">
              <a:schemeClr val="accent1"/>
            </a:lnRef>
            <a:fillRef idx="0">
              <a:schemeClr val="accent1"/>
            </a:fillRef>
            <a:effectRef idx="0">
              <a:schemeClr val="accent1"/>
            </a:effectRef>
            <a:fontRef idx="minor">
              <a:schemeClr val="tx1"/>
            </a:fontRef>
          </p:style>
        </p:cxnSp>
      </p:grpSp>
      <p:cxnSp>
        <p:nvCxnSpPr>
          <p:cNvPr id="24" name="Straight Connector 23"/>
          <p:cNvCxnSpPr/>
          <p:nvPr/>
        </p:nvCxnSpPr>
        <p:spPr>
          <a:xfrm>
            <a:off x="10777842" y="5474082"/>
            <a:ext cx="271355" cy="593443"/>
          </a:xfrm>
          <a:prstGeom prst="line">
            <a:avLst/>
          </a:prstGeom>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9213086" y="6313438"/>
            <a:ext cx="2068284" cy="369332"/>
          </a:xfrm>
          <a:prstGeom prst="rect">
            <a:avLst/>
          </a:prstGeom>
          <a:noFill/>
        </p:spPr>
        <p:txBody>
          <a:bodyPr wrap="square" rtlCol="0">
            <a:spAutoFit/>
          </a:bodyPr>
          <a:lstStyle/>
          <a:p>
            <a:r>
              <a:rPr lang="en-US" dirty="0" smtClean="0"/>
              <a:t>Fig: Star graph</a:t>
            </a:r>
            <a:endParaRPr lang="en-US" dirty="0"/>
          </a:p>
        </p:txBody>
      </p:sp>
      <p:grpSp>
        <p:nvGrpSpPr>
          <p:cNvPr id="15" name="Group 14"/>
          <p:cNvGrpSpPr/>
          <p:nvPr/>
        </p:nvGrpSpPr>
        <p:grpSpPr>
          <a:xfrm>
            <a:off x="9040469" y="1982421"/>
            <a:ext cx="2113017" cy="270588"/>
            <a:chOff x="9040469" y="1982421"/>
            <a:chExt cx="2113017" cy="270588"/>
          </a:xfrm>
        </p:grpSpPr>
        <p:sp>
          <p:nvSpPr>
            <p:cNvPr id="11" name="Oval 10"/>
            <p:cNvSpPr/>
            <p:nvPr/>
          </p:nvSpPr>
          <p:spPr>
            <a:xfrm>
              <a:off x="9040469" y="1982421"/>
              <a:ext cx="345233" cy="2705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smtClean="0"/>
                <a:t>u</a:t>
              </a:r>
              <a:endParaRPr lang="en-US" dirty="0"/>
            </a:p>
          </p:txBody>
        </p:sp>
        <p:sp>
          <p:nvSpPr>
            <p:cNvPr id="21" name="Oval 20"/>
            <p:cNvSpPr/>
            <p:nvPr/>
          </p:nvSpPr>
          <p:spPr>
            <a:xfrm>
              <a:off x="10808253" y="1982421"/>
              <a:ext cx="345233" cy="27058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v</a:t>
              </a:r>
            </a:p>
          </p:txBody>
        </p:sp>
        <p:cxnSp>
          <p:nvCxnSpPr>
            <p:cNvPr id="14" name="Straight Connector 13"/>
            <p:cNvCxnSpPr>
              <a:stCxn id="11" idx="6"/>
              <a:endCxn id="21" idx="2"/>
            </p:cNvCxnSpPr>
            <p:nvPr/>
          </p:nvCxnSpPr>
          <p:spPr>
            <a:xfrm>
              <a:off x="9385702" y="2117715"/>
              <a:ext cx="1422551" cy="0"/>
            </a:xfrm>
            <a:prstGeom prst="line">
              <a:avLst/>
            </a:prstGeom>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1600193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2600" y="97972"/>
            <a:ext cx="8915399" cy="704461"/>
          </a:xfrm>
        </p:spPr>
        <p:txBody>
          <a:bodyPr>
            <a:normAutofit/>
          </a:bodyPr>
          <a:lstStyle/>
          <a:p>
            <a:pPr algn="ctr"/>
            <a:r>
              <a:rPr lang="en-US" sz="3200" b="1" dirty="0" smtClean="0">
                <a:solidFill>
                  <a:srgbClr val="C00000"/>
                </a:solidFill>
                <a:effectLst>
                  <a:outerShdw blurRad="38100" dist="38100" dir="2700000" algn="tl">
                    <a:srgbClr val="000000">
                      <a:alpha val="43137"/>
                    </a:srgbClr>
                  </a:outerShdw>
                </a:effectLst>
              </a:rPr>
              <a:t>Fixed Parameter Tractability</a:t>
            </a:r>
            <a:endParaRPr lang="en-US" sz="3200" b="1" dirty="0">
              <a:solidFill>
                <a:srgbClr val="C0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710578" y="1123063"/>
            <a:ext cx="10208028" cy="5593617"/>
          </a:xfrm>
        </p:spPr>
        <p:txBody>
          <a:bodyPr>
            <a:normAutofit/>
          </a:bodyPr>
          <a:lstStyle/>
          <a:p>
            <a:r>
              <a:rPr lang="en-US" i="1" dirty="0" smtClean="0">
                <a:solidFill>
                  <a:srgbClr val="00B050"/>
                </a:solidFill>
              </a:rPr>
              <a:t>Bounded-search Tree algorithm</a:t>
            </a:r>
          </a:p>
          <a:p>
            <a:r>
              <a:rPr lang="en-US" dirty="0" smtClean="0"/>
              <a:t>Running Time computation: Draw a recursion tree. This is a divide-and-conquer algorithm in a very weak sense. We start up here with a problem of size n and a parameter k.</a:t>
            </a:r>
          </a:p>
          <a:p>
            <a:endParaRPr lang="en-US" dirty="0"/>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en-US" dirty="0" smtClean="0"/>
              <a:t>         Base case: k=0, return whether |E|=0.  It’s vertex cover, cover all of the edges.</a:t>
            </a:r>
            <a:endParaRPr lang="en-US" dirty="0"/>
          </a:p>
        </p:txBody>
      </p:sp>
      <p:grpSp>
        <p:nvGrpSpPr>
          <p:cNvPr id="74" name="Group 73"/>
          <p:cNvGrpSpPr/>
          <p:nvPr/>
        </p:nvGrpSpPr>
        <p:grpSpPr>
          <a:xfrm>
            <a:off x="1183859" y="2230016"/>
            <a:ext cx="10888177" cy="4205661"/>
            <a:chOff x="1183859" y="2230016"/>
            <a:chExt cx="10888177" cy="4205661"/>
          </a:xfrm>
        </p:grpSpPr>
        <p:grpSp>
          <p:nvGrpSpPr>
            <p:cNvPr id="68" name="Group 67"/>
            <p:cNvGrpSpPr/>
            <p:nvPr/>
          </p:nvGrpSpPr>
          <p:grpSpPr>
            <a:xfrm>
              <a:off x="1211123" y="2372177"/>
              <a:ext cx="10777002" cy="3638034"/>
              <a:chOff x="1211123" y="2372177"/>
              <a:chExt cx="10777002" cy="3638034"/>
            </a:xfrm>
          </p:grpSpPr>
          <p:grpSp>
            <p:nvGrpSpPr>
              <p:cNvPr id="63" name="Group 62"/>
              <p:cNvGrpSpPr/>
              <p:nvPr/>
            </p:nvGrpSpPr>
            <p:grpSpPr>
              <a:xfrm>
                <a:off x="1211123" y="2372177"/>
                <a:ext cx="10777002" cy="3007213"/>
                <a:chOff x="1211123" y="2372177"/>
                <a:chExt cx="10777002" cy="3007213"/>
              </a:xfrm>
            </p:grpSpPr>
            <p:sp>
              <p:nvSpPr>
                <p:cNvPr id="6" name="Flowchart: Process 5"/>
                <p:cNvSpPr/>
                <p:nvPr/>
              </p:nvSpPr>
              <p:spPr>
                <a:xfrm>
                  <a:off x="5698670" y="2372177"/>
                  <a:ext cx="914400"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 k</a:t>
                  </a:r>
                  <a:endParaRPr lang="en-US" dirty="0"/>
                </a:p>
              </p:txBody>
            </p:sp>
            <p:sp>
              <p:nvSpPr>
                <p:cNvPr id="8" name="Flowchart: Process 7"/>
                <p:cNvSpPr/>
                <p:nvPr/>
              </p:nvSpPr>
              <p:spPr>
                <a:xfrm>
                  <a:off x="3229372" y="2859055"/>
                  <a:ext cx="1257759" cy="454308"/>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n</a:t>
                  </a:r>
                  <a:r>
                    <a:rPr lang="en-US" dirty="0" smtClean="0"/>
                    <a:t>-1, k-1</a:t>
                  </a:r>
                  <a:endParaRPr lang="en-US" dirty="0"/>
                </a:p>
              </p:txBody>
            </p:sp>
            <p:sp>
              <p:nvSpPr>
                <p:cNvPr id="11" name="Flowchart: Process 10"/>
                <p:cNvSpPr/>
                <p:nvPr/>
              </p:nvSpPr>
              <p:spPr>
                <a:xfrm>
                  <a:off x="2402600" y="3919870"/>
                  <a:ext cx="1151143"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n-2, k-2</a:t>
                  </a:r>
                  <a:endParaRPr lang="en-US" dirty="0"/>
                </a:p>
              </p:txBody>
            </p:sp>
            <p:sp>
              <p:nvSpPr>
                <p:cNvPr id="21" name="Flowchart: Process 20"/>
                <p:cNvSpPr/>
                <p:nvPr/>
              </p:nvSpPr>
              <p:spPr>
                <a:xfrm>
                  <a:off x="7822317" y="2998006"/>
                  <a:ext cx="1257759" cy="454308"/>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n</a:t>
                  </a:r>
                  <a:r>
                    <a:rPr lang="en-US" dirty="0" smtClean="0"/>
                    <a:t>-1, k-1</a:t>
                  </a:r>
                  <a:endParaRPr lang="en-US" dirty="0"/>
                </a:p>
              </p:txBody>
            </p:sp>
            <p:sp>
              <p:nvSpPr>
                <p:cNvPr id="22" name="Flowchart: Process 21"/>
                <p:cNvSpPr/>
                <p:nvPr/>
              </p:nvSpPr>
              <p:spPr>
                <a:xfrm>
                  <a:off x="4886356" y="3919869"/>
                  <a:ext cx="1151143"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n-2, k-2</a:t>
                  </a:r>
                  <a:endParaRPr lang="en-US" dirty="0"/>
                </a:p>
              </p:txBody>
            </p:sp>
            <p:sp>
              <p:nvSpPr>
                <p:cNvPr id="23" name="Flowchart: Process 22"/>
                <p:cNvSpPr/>
                <p:nvPr/>
              </p:nvSpPr>
              <p:spPr>
                <a:xfrm>
                  <a:off x="7160603" y="3919868"/>
                  <a:ext cx="1151143"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n-2, k-2</a:t>
                  </a:r>
                  <a:endParaRPr lang="en-US" dirty="0"/>
                </a:p>
              </p:txBody>
            </p:sp>
            <p:sp>
              <p:nvSpPr>
                <p:cNvPr id="24" name="Flowchart: Process 23"/>
                <p:cNvSpPr/>
                <p:nvPr/>
              </p:nvSpPr>
              <p:spPr>
                <a:xfrm>
                  <a:off x="9434850" y="3919867"/>
                  <a:ext cx="1151143"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n-2, k-2</a:t>
                  </a:r>
                  <a:endParaRPr lang="en-US" dirty="0"/>
                </a:p>
              </p:txBody>
            </p:sp>
            <p:sp>
              <p:nvSpPr>
                <p:cNvPr id="25" name="Flowchart: Process 24"/>
                <p:cNvSpPr/>
                <p:nvPr/>
              </p:nvSpPr>
              <p:spPr>
                <a:xfrm>
                  <a:off x="1211123" y="5080749"/>
                  <a:ext cx="1151143"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n-3, k-3</a:t>
                  </a:r>
                  <a:endParaRPr lang="en-US" dirty="0"/>
                </a:p>
              </p:txBody>
            </p:sp>
            <p:sp>
              <p:nvSpPr>
                <p:cNvPr id="26" name="Flowchart: Process 25"/>
                <p:cNvSpPr/>
                <p:nvPr/>
              </p:nvSpPr>
              <p:spPr>
                <a:xfrm>
                  <a:off x="10836982" y="5080748"/>
                  <a:ext cx="1151143"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n-3, k-3</a:t>
                  </a:r>
                  <a:endParaRPr lang="en-US" dirty="0"/>
                </a:p>
              </p:txBody>
            </p:sp>
            <p:sp>
              <p:nvSpPr>
                <p:cNvPr id="27" name="Flowchart: Process 26"/>
                <p:cNvSpPr/>
                <p:nvPr/>
              </p:nvSpPr>
              <p:spPr>
                <a:xfrm>
                  <a:off x="9601928" y="5080752"/>
                  <a:ext cx="1151143"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n-3, k-3</a:t>
                  </a:r>
                  <a:endParaRPr lang="en-US" dirty="0"/>
                </a:p>
              </p:txBody>
            </p:sp>
            <p:sp>
              <p:nvSpPr>
                <p:cNvPr id="28" name="Flowchart: Process 27"/>
                <p:cNvSpPr/>
                <p:nvPr/>
              </p:nvSpPr>
              <p:spPr>
                <a:xfrm>
                  <a:off x="8311746" y="5080752"/>
                  <a:ext cx="1151143"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n-3, k-3</a:t>
                  </a:r>
                  <a:endParaRPr lang="en-US" dirty="0"/>
                </a:p>
              </p:txBody>
            </p:sp>
            <p:sp>
              <p:nvSpPr>
                <p:cNvPr id="29" name="Flowchart: Process 28"/>
                <p:cNvSpPr/>
                <p:nvPr/>
              </p:nvSpPr>
              <p:spPr>
                <a:xfrm>
                  <a:off x="6830583" y="5080811"/>
                  <a:ext cx="1151143"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n-3, k-3</a:t>
                  </a:r>
                  <a:endParaRPr lang="en-US" dirty="0"/>
                </a:p>
              </p:txBody>
            </p:sp>
            <p:sp>
              <p:nvSpPr>
                <p:cNvPr id="30" name="Flowchart: Process 29"/>
                <p:cNvSpPr/>
                <p:nvPr/>
              </p:nvSpPr>
              <p:spPr>
                <a:xfrm>
                  <a:off x="5461927" y="5080751"/>
                  <a:ext cx="1151143"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n-3, k-3</a:t>
                  </a:r>
                  <a:endParaRPr lang="en-US" dirty="0"/>
                </a:p>
              </p:txBody>
            </p:sp>
            <p:sp>
              <p:nvSpPr>
                <p:cNvPr id="31" name="Flowchart: Process 30"/>
                <p:cNvSpPr/>
                <p:nvPr/>
              </p:nvSpPr>
              <p:spPr>
                <a:xfrm>
                  <a:off x="4171745" y="5080750"/>
                  <a:ext cx="1151143"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n-3, k-3</a:t>
                  </a:r>
                  <a:endParaRPr lang="en-US" dirty="0"/>
                </a:p>
              </p:txBody>
            </p:sp>
            <p:sp>
              <p:nvSpPr>
                <p:cNvPr id="32" name="Flowchart: Process 31"/>
                <p:cNvSpPr/>
                <p:nvPr/>
              </p:nvSpPr>
              <p:spPr>
                <a:xfrm>
                  <a:off x="2742024" y="5080749"/>
                  <a:ext cx="1151143"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n-3, k-3</a:t>
                  </a:r>
                  <a:endParaRPr lang="en-US" dirty="0"/>
                </a:p>
              </p:txBody>
            </p:sp>
            <p:cxnSp>
              <p:nvCxnSpPr>
                <p:cNvPr id="34" name="Straight Connector 33"/>
                <p:cNvCxnSpPr>
                  <a:stCxn id="6" idx="1"/>
                  <a:endCxn id="8" idx="3"/>
                </p:cNvCxnSpPr>
                <p:nvPr/>
              </p:nvCxnSpPr>
              <p:spPr>
                <a:xfrm flipH="1">
                  <a:off x="4487131" y="2521467"/>
                  <a:ext cx="1211539" cy="5647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6" idx="3"/>
                  <a:endCxn id="21" idx="1"/>
                </p:cNvCxnSpPr>
                <p:nvPr/>
              </p:nvCxnSpPr>
              <p:spPr>
                <a:xfrm>
                  <a:off x="6613070" y="2521467"/>
                  <a:ext cx="1209247" cy="703693"/>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8" idx="2"/>
                  <a:endCxn id="22" idx="0"/>
                </p:cNvCxnSpPr>
                <p:nvPr/>
              </p:nvCxnSpPr>
              <p:spPr>
                <a:xfrm>
                  <a:off x="3858252" y="3313363"/>
                  <a:ext cx="1603676" cy="6065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8" idx="2"/>
                  <a:endCxn id="11" idx="0"/>
                </p:cNvCxnSpPr>
                <p:nvPr/>
              </p:nvCxnSpPr>
              <p:spPr>
                <a:xfrm flipH="1">
                  <a:off x="2978172" y="3313363"/>
                  <a:ext cx="880080" cy="606507"/>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21" idx="2"/>
                  <a:endCxn id="23" idx="0"/>
                </p:cNvCxnSpPr>
                <p:nvPr/>
              </p:nvCxnSpPr>
              <p:spPr>
                <a:xfrm flipH="1">
                  <a:off x="7736175" y="3452314"/>
                  <a:ext cx="715022" cy="467554"/>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21" idx="2"/>
                  <a:endCxn id="24" idx="0"/>
                </p:cNvCxnSpPr>
                <p:nvPr/>
              </p:nvCxnSpPr>
              <p:spPr>
                <a:xfrm>
                  <a:off x="8451197" y="3452314"/>
                  <a:ext cx="1559225" cy="467553"/>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11" idx="2"/>
                  <a:endCxn id="25" idx="0"/>
                </p:cNvCxnSpPr>
                <p:nvPr/>
              </p:nvCxnSpPr>
              <p:spPr>
                <a:xfrm flipH="1">
                  <a:off x="1786695" y="4218449"/>
                  <a:ext cx="1191477" cy="862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11" idx="2"/>
                  <a:endCxn id="32" idx="0"/>
                </p:cNvCxnSpPr>
                <p:nvPr/>
              </p:nvCxnSpPr>
              <p:spPr>
                <a:xfrm>
                  <a:off x="2978172" y="4218449"/>
                  <a:ext cx="339424" cy="862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22" idx="2"/>
                  <a:endCxn id="31" idx="0"/>
                </p:cNvCxnSpPr>
                <p:nvPr/>
              </p:nvCxnSpPr>
              <p:spPr>
                <a:xfrm flipH="1">
                  <a:off x="4747317" y="4218448"/>
                  <a:ext cx="714611" cy="862302"/>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22" idx="2"/>
                  <a:endCxn id="30" idx="0"/>
                </p:cNvCxnSpPr>
                <p:nvPr/>
              </p:nvCxnSpPr>
              <p:spPr>
                <a:xfrm>
                  <a:off x="5461928" y="4218448"/>
                  <a:ext cx="575571" cy="862303"/>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23" idx="2"/>
                  <a:endCxn id="29" idx="0"/>
                </p:cNvCxnSpPr>
                <p:nvPr/>
              </p:nvCxnSpPr>
              <p:spPr>
                <a:xfrm flipH="1">
                  <a:off x="7406155" y="4218447"/>
                  <a:ext cx="330020" cy="862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23" idx="2"/>
                  <a:endCxn id="28" idx="0"/>
                </p:cNvCxnSpPr>
                <p:nvPr/>
              </p:nvCxnSpPr>
              <p:spPr>
                <a:xfrm>
                  <a:off x="7736175" y="4218447"/>
                  <a:ext cx="1151143" cy="862305"/>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24" idx="2"/>
                  <a:endCxn id="27" idx="0"/>
                </p:cNvCxnSpPr>
                <p:nvPr/>
              </p:nvCxnSpPr>
              <p:spPr>
                <a:xfrm>
                  <a:off x="10010422" y="4218446"/>
                  <a:ext cx="167078" cy="862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p:cNvCxnSpPr>
                  <a:stCxn id="24" idx="2"/>
                  <a:endCxn id="26" idx="0"/>
                </p:cNvCxnSpPr>
                <p:nvPr/>
              </p:nvCxnSpPr>
              <p:spPr>
                <a:xfrm>
                  <a:off x="10010422" y="4218446"/>
                  <a:ext cx="1402132" cy="862302"/>
                </a:xfrm>
                <a:prstGeom prst="line">
                  <a:avLst/>
                </a:prstGeom>
              </p:spPr>
              <p:style>
                <a:lnRef idx="1">
                  <a:schemeClr val="accent1"/>
                </a:lnRef>
                <a:fillRef idx="0">
                  <a:schemeClr val="accent1"/>
                </a:fillRef>
                <a:effectRef idx="0">
                  <a:schemeClr val="accent1"/>
                </a:effectRef>
                <a:fontRef idx="minor">
                  <a:schemeClr val="tx1"/>
                </a:fontRef>
              </p:style>
            </p:cxnSp>
          </p:grpSp>
          <p:sp>
            <p:nvSpPr>
              <p:cNvPr id="65" name="Flowchart: Connector 64"/>
              <p:cNvSpPr/>
              <p:nvPr/>
            </p:nvSpPr>
            <p:spPr>
              <a:xfrm>
                <a:off x="1641059" y="5533053"/>
                <a:ext cx="145636" cy="166905"/>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6" name="Flowchart: Connector 65"/>
              <p:cNvSpPr/>
              <p:nvPr/>
            </p:nvSpPr>
            <p:spPr>
              <a:xfrm>
                <a:off x="1530183" y="5843306"/>
                <a:ext cx="145636" cy="166905"/>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sp>
          <p:nvSpPr>
            <p:cNvPr id="67" name="Flowchart: Process 66"/>
            <p:cNvSpPr/>
            <p:nvPr/>
          </p:nvSpPr>
          <p:spPr>
            <a:xfrm>
              <a:off x="1183859" y="6137098"/>
              <a:ext cx="914400"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K=0</a:t>
              </a:r>
              <a:endParaRPr lang="en-US" dirty="0"/>
            </a:p>
          </p:txBody>
        </p:sp>
        <p:cxnSp>
          <p:nvCxnSpPr>
            <p:cNvPr id="70" name="Straight Connector 69"/>
            <p:cNvCxnSpPr/>
            <p:nvPr/>
          </p:nvCxnSpPr>
          <p:spPr>
            <a:xfrm>
              <a:off x="12002517" y="2230016"/>
              <a:ext cx="69519" cy="4056371"/>
            </a:xfrm>
            <a:prstGeom prst="line">
              <a:avLst/>
            </a:prstGeom>
          </p:spPr>
          <p:style>
            <a:lnRef idx="1">
              <a:schemeClr val="accent1"/>
            </a:lnRef>
            <a:fillRef idx="0">
              <a:schemeClr val="accent1"/>
            </a:fillRef>
            <a:effectRef idx="0">
              <a:schemeClr val="accent1"/>
            </a:effectRef>
            <a:fontRef idx="minor">
              <a:schemeClr val="tx1"/>
            </a:fontRef>
          </p:style>
        </p:cxnSp>
      </p:grpSp>
      <p:sp>
        <p:nvSpPr>
          <p:cNvPr id="73" name="Flowchart: Process 72"/>
          <p:cNvSpPr/>
          <p:nvPr/>
        </p:nvSpPr>
        <p:spPr>
          <a:xfrm>
            <a:off x="11527277" y="2895110"/>
            <a:ext cx="342476" cy="191099"/>
          </a:xfrm>
          <a:prstGeom prst="flowChartProcess">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K</a:t>
            </a:r>
            <a:endParaRPr lang="en-US" dirty="0"/>
          </a:p>
        </p:txBody>
      </p:sp>
    </p:spTree>
    <p:extLst>
      <p:ext uri="{BB962C8B-B14F-4D97-AF65-F5344CB8AC3E}">
        <p14:creationId xmlns:p14="http://schemas.microsoft.com/office/powerpoint/2010/main" val="26794331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2600" y="97972"/>
            <a:ext cx="8915399" cy="704461"/>
          </a:xfrm>
        </p:spPr>
        <p:txBody>
          <a:bodyPr>
            <a:normAutofit/>
          </a:bodyPr>
          <a:lstStyle/>
          <a:p>
            <a:pPr algn="ctr"/>
            <a:r>
              <a:rPr lang="en-US" sz="3200" b="1" dirty="0" smtClean="0">
                <a:solidFill>
                  <a:srgbClr val="C00000"/>
                </a:solidFill>
                <a:effectLst>
                  <a:outerShdw blurRad="38100" dist="38100" dir="2700000" algn="tl">
                    <a:srgbClr val="000000">
                      <a:alpha val="43137"/>
                    </a:srgbClr>
                  </a:outerShdw>
                </a:effectLst>
              </a:rPr>
              <a:t>Fixed Parameter Tractability</a:t>
            </a:r>
            <a:endParaRPr lang="en-US" sz="3200" b="1" dirty="0">
              <a:solidFill>
                <a:srgbClr val="C00000"/>
              </a:solidFill>
              <a:effectLst>
                <a:outerShdw blurRad="38100" dist="38100" dir="2700000" algn="tl">
                  <a:srgbClr val="000000">
                    <a:alpha val="43137"/>
                  </a:srgbClr>
                </a:outerShdw>
              </a:effectLst>
            </a:endParaRPr>
          </a:p>
        </p:txBody>
      </p:sp>
      <mc:AlternateContent xmlns:mc="http://schemas.openxmlformats.org/markup-compatibility/2006" xmlns:a14="http://schemas.microsoft.com/office/drawing/2010/main">
        <mc:Choice Requires="a14">
          <p:sp>
            <p:nvSpPr>
              <p:cNvPr id="3" name="Subtitle 2"/>
              <p:cNvSpPr>
                <a:spLocks noGrp="1"/>
              </p:cNvSpPr>
              <p:nvPr>
                <p:ph type="subTitle" idx="1"/>
              </p:nvPr>
            </p:nvSpPr>
            <p:spPr>
              <a:xfrm>
                <a:off x="1710578" y="933061"/>
                <a:ext cx="10208028" cy="5783619"/>
              </a:xfrm>
            </p:spPr>
            <p:txBody>
              <a:bodyPr>
                <a:normAutofit/>
              </a:bodyPr>
              <a:lstStyle/>
              <a:p>
                <a:r>
                  <a:rPr lang="en-US" i="1" dirty="0" smtClean="0">
                    <a:solidFill>
                      <a:srgbClr val="00B050"/>
                    </a:solidFill>
                  </a:rPr>
                  <a:t>Bounded-search Tree algorithm</a:t>
                </a:r>
              </a:p>
              <a:p>
                <a:r>
                  <a:rPr lang="en-US" dirty="0" smtClean="0"/>
                  <a:t>Running Time computation: starting with k and ending with k=0, So the depth of the tree is k. The number of nodes </a:t>
                </a:r>
                <a14:m>
                  <m:oMath xmlns:m="http://schemas.openxmlformats.org/officeDocument/2006/math">
                    <m:sSup>
                      <m:sSupPr>
                        <m:ctrlPr>
                          <a:rPr lang="pt-BR" i="1">
                            <a:latin typeface="Cambria Math" panose="02040503050406030204" pitchFamily="18" charset="0"/>
                          </a:rPr>
                        </m:ctrlPr>
                      </m:sSupPr>
                      <m:e>
                        <m:r>
                          <a:rPr lang="en-US" b="0" i="1" smtClean="0">
                            <a:latin typeface="Cambria Math" panose="02040503050406030204" pitchFamily="18" charset="0"/>
                          </a:rPr>
                          <m:t>2</m:t>
                        </m:r>
                      </m:e>
                      <m:sup>
                        <m:r>
                          <a:rPr lang="pt-BR" i="1">
                            <a:latin typeface="Cambria Math" panose="02040503050406030204" pitchFamily="18" charset="0"/>
                          </a:rPr>
                          <m:t>𝑘</m:t>
                        </m:r>
                      </m:sup>
                    </m:sSup>
                  </m:oMath>
                </a14:m>
                <a:r>
                  <a:rPr lang="en-US" dirty="0" smtClean="0"/>
                  <a:t> , running time </a:t>
                </a:r>
                <a:r>
                  <a:rPr lang="el-GR" dirty="0"/>
                  <a:t>Ο</a:t>
                </a:r>
                <a:r>
                  <a:rPr lang="en-US" dirty="0"/>
                  <a:t>(</a:t>
                </a:r>
                <a:r>
                  <a:rPr lang="pt-BR" dirty="0"/>
                  <a:t> </a:t>
                </a:r>
                <a14:m>
                  <m:oMath xmlns:m="http://schemas.openxmlformats.org/officeDocument/2006/math">
                    <m:sSup>
                      <m:sSupPr>
                        <m:ctrlPr>
                          <a:rPr lang="pt-BR" i="1">
                            <a:latin typeface="Cambria Math" panose="02040503050406030204" pitchFamily="18" charset="0"/>
                          </a:rPr>
                        </m:ctrlPr>
                      </m:sSupPr>
                      <m:e>
                        <m:r>
                          <a:rPr lang="en-US" i="1">
                            <a:latin typeface="Cambria Math" panose="02040503050406030204" pitchFamily="18" charset="0"/>
                          </a:rPr>
                          <m:t>𝑉</m:t>
                        </m:r>
                        <m:r>
                          <a:rPr lang="en-US" b="0" i="1" smtClean="0">
                            <a:latin typeface="Cambria Math" panose="02040503050406030204" pitchFamily="18" charset="0"/>
                          </a:rPr>
                          <m:t>∗2</m:t>
                        </m:r>
                      </m:e>
                      <m:sup>
                        <m:r>
                          <a:rPr lang="pt-BR" i="1">
                            <a:latin typeface="Cambria Math" panose="02040503050406030204" pitchFamily="18" charset="0"/>
                          </a:rPr>
                          <m:t>𝑘</m:t>
                        </m:r>
                      </m:sup>
                    </m:sSup>
                  </m:oMath>
                </a14:m>
                <a:r>
                  <a:rPr lang="en-US" dirty="0"/>
                  <a:t>).</a:t>
                </a:r>
              </a:p>
              <a:p>
                <a:endParaRPr lang="en-US" dirty="0"/>
              </a:p>
              <a:p>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endParaRPr lang="en-US" dirty="0"/>
              </a:p>
              <a:p>
                <a:r>
                  <a:rPr lang="en-US" dirty="0" smtClean="0"/>
                  <a:t>         </a:t>
                </a:r>
              </a:p>
              <a:p>
                <a:r>
                  <a:rPr lang="en-US" dirty="0"/>
                  <a:t> </a:t>
                </a:r>
                <a:r>
                  <a:rPr lang="en-US" dirty="0" smtClean="0"/>
                  <a:t>          Base case: k=0, return whether |E|=0.  It’s vertex cover, cover all of the edges.</a:t>
                </a:r>
                <a:endParaRPr lang="en-US" dirty="0"/>
              </a:p>
            </p:txBody>
          </p:sp>
        </mc:Choice>
        <mc:Fallback xmlns="">
          <p:sp>
            <p:nvSpPr>
              <p:cNvPr id="3" name="Subtitle 2"/>
              <p:cNvSpPr>
                <a:spLocks noGrp="1" noRot="1" noChangeAspect="1" noMove="1" noResize="1" noEditPoints="1" noAdjustHandles="1" noChangeArrowheads="1" noChangeShapeType="1" noTextEdit="1"/>
              </p:cNvSpPr>
              <p:nvPr>
                <p:ph type="subTitle" idx="1"/>
              </p:nvPr>
            </p:nvSpPr>
            <p:spPr>
              <a:xfrm>
                <a:off x="1710578" y="933061"/>
                <a:ext cx="10208028" cy="5783619"/>
              </a:xfrm>
              <a:blipFill rotWithShape="0">
                <a:blip r:embed="rId2"/>
                <a:stretch>
                  <a:fillRect l="-538" t="-527" r="-119"/>
                </a:stretch>
              </a:blipFill>
            </p:spPr>
            <p:txBody>
              <a:bodyPr/>
              <a:lstStyle/>
              <a:p>
                <a:r>
                  <a:rPr lang="en-US">
                    <a:noFill/>
                  </a:rPr>
                  <a:t> </a:t>
                </a:r>
              </a:p>
            </p:txBody>
          </p:sp>
        </mc:Fallback>
      </mc:AlternateContent>
      <p:grpSp>
        <p:nvGrpSpPr>
          <p:cNvPr id="74" name="Group 73"/>
          <p:cNvGrpSpPr/>
          <p:nvPr/>
        </p:nvGrpSpPr>
        <p:grpSpPr>
          <a:xfrm>
            <a:off x="1183859" y="2230016"/>
            <a:ext cx="10888177" cy="4205661"/>
            <a:chOff x="1183859" y="2230016"/>
            <a:chExt cx="10888177" cy="4205661"/>
          </a:xfrm>
        </p:grpSpPr>
        <p:grpSp>
          <p:nvGrpSpPr>
            <p:cNvPr id="68" name="Group 67"/>
            <p:cNvGrpSpPr/>
            <p:nvPr/>
          </p:nvGrpSpPr>
          <p:grpSpPr>
            <a:xfrm>
              <a:off x="1211123" y="2372177"/>
              <a:ext cx="10777002" cy="3638034"/>
              <a:chOff x="1211123" y="2372177"/>
              <a:chExt cx="10777002" cy="3638034"/>
            </a:xfrm>
          </p:grpSpPr>
          <p:grpSp>
            <p:nvGrpSpPr>
              <p:cNvPr id="63" name="Group 62"/>
              <p:cNvGrpSpPr/>
              <p:nvPr/>
            </p:nvGrpSpPr>
            <p:grpSpPr>
              <a:xfrm>
                <a:off x="1211123" y="2372177"/>
                <a:ext cx="10777002" cy="3007213"/>
                <a:chOff x="1211123" y="2372177"/>
                <a:chExt cx="10777002" cy="3007213"/>
              </a:xfrm>
            </p:grpSpPr>
            <p:sp>
              <p:nvSpPr>
                <p:cNvPr id="6" name="Flowchart: Process 5"/>
                <p:cNvSpPr/>
                <p:nvPr/>
              </p:nvSpPr>
              <p:spPr>
                <a:xfrm>
                  <a:off x="5698670" y="2372177"/>
                  <a:ext cx="914400"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 k</a:t>
                  </a:r>
                  <a:endParaRPr lang="en-US" dirty="0"/>
                </a:p>
              </p:txBody>
            </p:sp>
            <p:sp>
              <p:nvSpPr>
                <p:cNvPr id="8" name="Flowchart: Process 7"/>
                <p:cNvSpPr/>
                <p:nvPr/>
              </p:nvSpPr>
              <p:spPr>
                <a:xfrm>
                  <a:off x="3229372" y="2859055"/>
                  <a:ext cx="1257759" cy="454308"/>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n</a:t>
                  </a:r>
                  <a:r>
                    <a:rPr lang="en-US" dirty="0" smtClean="0"/>
                    <a:t>-1, k-1</a:t>
                  </a:r>
                  <a:endParaRPr lang="en-US" dirty="0"/>
                </a:p>
              </p:txBody>
            </p:sp>
            <p:sp>
              <p:nvSpPr>
                <p:cNvPr id="11" name="Flowchart: Process 10"/>
                <p:cNvSpPr/>
                <p:nvPr/>
              </p:nvSpPr>
              <p:spPr>
                <a:xfrm>
                  <a:off x="2402600" y="3919870"/>
                  <a:ext cx="1151143"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n-2, k-2</a:t>
                  </a:r>
                  <a:endParaRPr lang="en-US" dirty="0"/>
                </a:p>
              </p:txBody>
            </p:sp>
            <p:sp>
              <p:nvSpPr>
                <p:cNvPr id="21" name="Flowchart: Process 20"/>
                <p:cNvSpPr/>
                <p:nvPr/>
              </p:nvSpPr>
              <p:spPr>
                <a:xfrm>
                  <a:off x="7822317" y="2998006"/>
                  <a:ext cx="1257759" cy="454308"/>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n</a:t>
                  </a:r>
                  <a:r>
                    <a:rPr lang="en-US" dirty="0" smtClean="0"/>
                    <a:t>-1, k-1</a:t>
                  </a:r>
                  <a:endParaRPr lang="en-US" dirty="0"/>
                </a:p>
              </p:txBody>
            </p:sp>
            <p:sp>
              <p:nvSpPr>
                <p:cNvPr id="22" name="Flowchart: Process 21"/>
                <p:cNvSpPr/>
                <p:nvPr/>
              </p:nvSpPr>
              <p:spPr>
                <a:xfrm>
                  <a:off x="4886356" y="3919869"/>
                  <a:ext cx="1151143"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n-2, k-2</a:t>
                  </a:r>
                  <a:endParaRPr lang="en-US" dirty="0"/>
                </a:p>
              </p:txBody>
            </p:sp>
            <p:sp>
              <p:nvSpPr>
                <p:cNvPr id="23" name="Flowchart: Process 22"/>
                <p:cNvSpPr/>
                <p:nvPr/>
              </p:nvSpPr>
              <p:spPr>
                <a:xfrm>
                  <a:off x="7160603" y="3919868"/>
                  <a:ext cx="1151143"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n-2, k-2</a:t>
                  </a:r>
                  <a:endParaRPr lang="en-US" dirty="0"/>
                </a:p>
              </p:txBody>
            </p:sp>
            <p:sp>
              <p:nvSpPr>
                <p:cNvPr id="24" name="Flowchart: Process 23"/>
                <p:cNvSpPr/>
                <p:nvPr/>
              </p:nvSpPr>
              <p:spPr>
                <a:xfrm>
                  <a:off x="9434850" y="3919867"/>
                  <a:ext cx="1151143"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n-2, k-2</a:t>
                  </a:r>
                  <a:endParaRPr lang="en-US" dirty="0"/>
                </a:p>
              </p:txBody>
            </p:sp>
            <p:sp>
              <p:nvSpPr>
                <p:cNvPr id="25" name="Flowchart: Process 24"/>
                <p:cNvSpPr/>
                <p:nvPr/>
              </p:nvSpPr>
              <p:spPr>
                <a:xfrm>
                  <a:off x="1211123" y="5080749"/>
                  <a:ext cx="1151143"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n-3, k-3</a:t>
                  </a:r>
                  <a:endParaRPr lang="en-US" dirty="0"/>
                </a:p>
              </p:txBody>
            </p:sp>
            <p:sp>
              <p:nvSpPr>
                <p:cNvPr id="26" name="Flowchart: Process 25"/>
                <p:cNvSpPr/>
                <p:nvPr/>
              </p:nvSpPr>
              <p:spPr>
                <a:xfrm>
                  <a:off x="10836982" y="5080748"/>
                  <a:ext cx="1151143"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n-3, k-3</a:t>
                  </a:r>
                  <a:endParaRPr lang="en-US" dirty="0"/>
                </a:p>
              </p:txBody>
            </p:sp>
            <p:sp>
              <p:nvSpPr>
                <p:cNvPr id="27" name="Flowchart: Process 26"/>
                <p:cNvSpPr/>
                <p:nvPr/>
              </p:nvSpPr>
              <p:spPr>
                <a:xfrm>
                  <a:off x="9601928" y="5080752"/>
                  <a:ext cx="1151143"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n-3, k-3</a:t>
                  </a:r>
                  <a:endParaRPr lang="en-US" dirty="0"/>
                </a:p>
              </p:txBody>
            </p:sp>
            <p:sp>
              <p:nvSpPr>
                <p:cNvPr id="28" name="Flowchart: Process 27"/>
                <p:cNvSpPr/>
                <p:nvPr/>
              </p:nvSpPr>
              <p:spPr>
                <a:xfrm>
                  <a:off x="8311746" y="5080752"/>
                  <a:ext cx="1151143"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n-3, k-3</a:t>
                  </a:r>
                  <a:endParaRPr lang="en-US" dirty="0"/>
                </a:p>
              </p:txBody>
            </p:sp>
            <p:sp>
              <p:nvSpPr>
                <p:cNvPr id="29" name="Flowchart: Process 28"/>
                <p:cNvSpPr/>
                <p:nvPr/>
              </p:nvSpPr>
              <p:spPr>
                <a:xfrm>
                  <a:off x="6830583" y="5080811"/>
                  <a:ext cx="1151143"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n-3, k-3</a:t>
                  </a:r>
                  <a:endParaRPr lang="en-US" dirty="0"/>
                </a:p>
              </p:txBody>
            </p:sp>
            <p:sp>
              <p:nvSpPr>
                <p:cNvPr id="30" name="Flowchart: Process 29"/>
                <p:cNvSpPr/>
                <p:nvPr/>
              </p:nvSpPr>
              <p:spPr>
                <a:xfrm>
                  <a:off x="5461927" y="5080751"/>
                  <a:ext cx="1151143"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n-3, k-3</a:t>
                  </a:r>
                  <a:endParaRPr lang="en-US" dirty="0"/>
                </a:p>
              </p:txBody>
            </p:sp>
            <p:sp>
              <p:nvSpPr>
                <p:cNvPr id="31" name="Flowchart: Process 30"/>
                <p:cNvSpPr/>
                <p:nvPr/>
              </p:nvSpPr>
              <p:spPr>
                <a:xfrm>
                  <a:off x="4171745" y="5080750"/>
                  <a:ext cx="1151143"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n-3, k-3</a:t>
                  </a:r>
                  <a:endParaRPr lang="en-US" dirty="0"/>
                </a:p>
              </p:txBody>
            </p:sp>
            <p:sp>
              <p:nvSpPr>
                <p:cNvPr id="32" name="Flowchart: Process 31"/>
                <p:cNvSpPr/>
                <p:nvPr/>
              </p:nvSpPr>
              <p:spPr>
                <a:xfrm>
                  <a:off x="2742024" y="5080749"/>
                  <a:ext cx="1151143"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n-3, k-3</a:t>
                  </a:r>
                  <a:endParaRPr lang="en-US" dirty="0"/>
                </a:p>
              </p:txBody>
            </p:sp>
            <p:cxnSp>
              <p:nvCxnSpPr>
                <p:cNvPr id="34" name="Straight Connector 33"/>
                <p:cNvCxnSpPr>
                  <a:stCxn id="6" idx="1"/>
                  <a:endCxn id="8" idx="3"/>
                </p:cNvCxnSpPr>
                <p:nvPr/>
              </p:nvCxnSpPr>
              <p:spPr>
                <a:xfrm flipH="1">
                  <a:off x="4487131" y="2521467"/>
                  <a:ext cx="1211539" cy="564742"/>
                </a:xfrm>
                <a:prstGeom prst="line">
                  <a:avLst/>
                </a:prstGeom>
              </p:spPr>
              <p:style>
                <a:lnRef idx="1">
                  <a:schemeClr val="accent1"/>
                </a:lnRef>
                <a:fillRef idx="0">
                  <a:schemeClr val="accent1"/>
                </a:fillRef>
                <a:effectRef idx="0">
                  <a:schemeClr val="accent1"/>
                </a:effectRef>
                <a:fontRef idx="minor">
                  <a:schemeClr val="tx1"/>
                </a:fontRef>
              </p:style>
            </p:cxnSp>
            <p:cxnSp>
              <p:nvCxnSpPr>
                <p:cNvPr id="36" name="Straight Connector 35"/>
                <p:cNvCxnSpPr>
                  <a:stCxn id="6" idx="3"/>
                  <a:endCxn id="21" idx="1"/>
                </p:cNvCxnSpPr>
                <p:nvPr/>
              </p:nvCxnSpPr>
              <p:spPr>
                <a:xfrm>
                  <a:off x="6613070" y="2521467"/>
                  <a:ext cx="1209247" cy="703693"/>
                </a:xfrm>
                <a:prstGeom prst="line">
                  <a:avLst/>
                </a:prstGeom>
              </p:spPr>
              <p:style>
                <a:lnRef idx="1">
                  <a:schemeClr val="accent1"/>
                </a:lnRef>
                <a:fillRef idx="0">
                  <a:schemeClr val="accent1"/>
                </a:fillRef>
                <a:effectRef idx="0">
                  <a:schemeClr val="accent1"/>
                </a:effectRef>
                <a:fontRef idx="minor">
                  <a:schemeClr val="tx1"/>
                </a:fontRef>
              </p:style>
            </p:cxnSp>
            <p:cxnSp>
              <p:nvCxnSpPr>
                <p:cNvPr id="40" name="Straight Connector 39"/>
                <p:cNvCxnSpPr>
                  <a:stCxn id="8" idx="2"/>
                  <a:endCxn id="22" idx="0"/>
                </p:cNvCxnSpPr>
                <p:nvPr/>
              </p:nvCxnSpPr>
              <p:spPr>
                <a:xfrm>
                  <a:off x="3858252" y="3313363"/>
                  <a:ext cx="1603676" cy="606506"/>
                </a:xfrm>
                <a:prstGeom prst="line">
                  <a:avLst/>
                </a:prstGeom>
              </p:spPr>
              <p:style>
                <a:lnRef idx="1">
                  <a:schemeClr val="accent1"/>
                </a:lnRef>
                <a:fillRef idx="0">
                  <a:schemeClr val="accent1"/>
                </a:fillRef>
                <a:effectRef idx="0">
                  <a:schemeClr val="accent1"/>
                </a:effectRef>
                <a:fontRef idx="minor">
                  <a:schemeClr val="tx1"/>
                </a:fontRef>
              </p:style>
            </p:cxnSp>
            <p:cxnSp>
              <p:nvCxnSpPr>
                <p:cNvPr id="42" name="Straight Connector 41"/>
                <p:cNvCxnSpPr>
                  <a:stCxn id="8" idx="2"/>
                  <a:endCxn id="11" idx="0"/>
                </p:cNvCxnSpPr>
                <p:nvPr/>
              </p:nvCxnSpPr>
              <p:spPr>
                <a:xfrm flipH="1">
                  <a:off x="2978172" y="3313363"/>
                  <a:ext cx="880080" cy="606507"/>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21" idx="2"/>
                  <a:endCxn id="23" idx="0"/>
                </p:cNvCxnSpPr>
                <p:nvPr/>
              </p:nvCxnSpPr>
              <p:spPr>
                <a:xfrm flipH="1">
                  <a:off x="7736175" y="3452314"/>
                  <a:ext cx="715022" cy="467554"/>
                </a:xfrm>
                <a:prstGeom prst="line">
                  <a:avLst/>
                </a:prstGeom>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21" idx="2"/>
                  <a:endCxn id="24" idx="0"/>
                </p:cNvCxnSpPr>
                <p:nvPr/>
              </p:nvCxnSpPr>
              <p:spPr>
                <a:xfrm>
                  <a:off x="8451197" y="3452314"/>
                  <a:ext cx="1559225" cy="467553"/>
                </a:xfrm>
                <a:prstGeom prst="line">
                  <a:avLst/>
                </a:prstGeom>
              </p:spPr>
              <p:style>
                <a:lnRef idx="1">
                  <a:schemeClr val="accent1"/>
                </a:lnRef>
                <a:fillRef idx="0">
                  <a:schemeClr val="accent1"/>
                </a:fillRef>
                <a:effectRef idx="0">
                  <a:schemeClr val="accent1"/>
                </a:effectRef>
                <a:fontRef idx="minor">
                  <a:schemeClr val="tx1"/>
                </a:fontRef>
              </p:style>
            </p:cxnSp>
            <p:cxnSp>
              <p:nvCxnSpPr>
                <p:cNvPr id="48" name="Straight Connector 47"/>
                <p:cNvCxnSpPr>
                  <a:stCxn id="11" idx="2"/>
                  <a:endCxn id="25" idx="0"/>
                </p:cNvCxnSpPr>
                <p:nvPr/>
              </p:nvCxnSpPr>
              <p:spPr>
                <a:xfrm flipH="1">
                  <a:off x="1786695" y="4218449"/>
                  <a:ext cx="1191477" cy="862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11" idx="2"/>
                  <a:endCxn id="32" idx="0"/>
                </p:cNvCxnSpPr>
                <p:nvPr/>
              </p:nvCxnSpPr>
              <p:spPr>
                <a:xfrm>
                  <a:off x="2978172" y="4218449"/>
                  <a:ext cx="339424" cy="862300"/>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22" idx="2"/>
                  <a:endCxn id="31" idx="0"/>
                </p:cNvCxnSpPr>
                <p:nvPr/>
              </p:nvCxnSpPr>
              <p:spPr>
                <a:xfrm flipH="1">
                  <a:off x="4747317" y="4218448"/>
                  <a:ext cx="714611" cy="862302"/>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p:cNvCxnSpPr>
                  <a:stCxn id="22" idx="2"/>
                  <a:endCxn id="30" idx="0"/>
                </p:cNvCxnSpPr>
                <p:nvPr/>
              </p:nvCxnSpPr>
              <p:spPr>
                <a:xfrm>
                  <a:off x="5461928" y="4218448"/>
                  <a:ext cx="575571" cy="862303"/>
                </a:xfrm>
                <a:prstGeom prst="line">
                  <a:avLst/>
                </a:prstGeom>
              </p:spPr>
              <p:style>
                <a:lnRef idx="1">
                  <a:schemeClr val="accent1"/>
                </a:lnRef>
                <a:fillRef idx="0">
                  <a:schemeClr val="accent1"/>
                </a:fillRef>
                <a:effectRef idx="0">
                  <a:schemeClr val="accent1"/>
                </a:effectRef>
                <a:fontRef idx="minor">
                  <a:schemeClr val="tx1"/>
                </a:fontRef>
              </p:style>
            </p:cxnSp>
            <p:cxnSp>
              <p:nvCxnSpPr>
                <p:cNvPr id="56" name="Straight Connector 55"/>
                <p:cNvCxnSpPr>
                  <a:stCxn id="23" idx="2"/>
                  <a:endCxn id="29" idx="0"/>
                </p:cNvCxnSpPr>
                <p:nvPr/>
              </p:nvCxnSpPr>
              <p:spPr>
                <a:xfrm flipH="1">
                  <a:off x="7406155" y="4218447"/>
                  <a:ext cx="330020" cy="862364"/>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23" idx="2"/>
                  <a:endCxn id="28" idx="0"/>
                </p:cNvCxnSpPr>
                <p:nvPr/>
              </p:nvCxnSpPr>
              <p:spPr>
                <a:xfrm>
                  <a:off x="7736175" y="4218447"/>
                  <a:ext cx="1151143" cy="862305"/>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p:cNvCxnSpPr>
                  <a:stCxn id="24" idx="2"/>
                  <a:endCxn id="27" idx="0"/>
                </p:cNvCxnSpPr>
                <p:nvPr/>
              </p:nvCxnSpPr>
              <p:spPr>
                <a:xfrm>
                  <a:off x="10010422" y="4218446"/>
                  <a:ext cx="167078" cy="862306"/>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p:cNvCxnSpPr>
                  <a:stCxn id="24" idx="2"/>
                  <a:endCxn id="26" idx="0"/>
                </p:cNvCxnSpPr>
                <p:nvPr/>
              </p:nvCxnSpPr>
              <p:spPr>
                <a:xfrm>
                  <a:off x="10010422" y="4218446"/>
                  <a:ext cx="1402132" cy="862302"/>
                </a:xfrm>
                <a:prstGeom prst="line">
                  <a:avLst/>
                </a:prstGeom>
              </p:spPr>
              <p:style>
                <a:lnRef idx="1">
                  <a:schemeClr val="accent1"/>
                </a:lnRef>
                <a:fillRef idx="0">
                  <a:schemeClr val="accent1"/>
                </a:fillRef>
                <a:effectRef idx="0">
                  <a:schemeClr val="accent1"/>
                </a:effectRef>
                <a:fontRef idx="minor">
                  <a:schemeClr val="tx1"/>
                </a:fontRef>
              </p:style>
            </p:cxnSp>
          </p:grpSp>
          <p:sp>
            <p:nvSpPr>
              <p:cNvPr id="65" name="Flowchart: Connector 64"/>
              <p:cNvSpPr/>
              <p:nvPr/>
            </p:nvSpPr>
            <p:spPr>
              <a:xfrm>
                <a:off x="1641059" y="5533053"/>
                <a:ext cx="145636" cy="166905"/>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66" name="Flowchart: Connector 65"/>
              <p:cNvSpPr/>
              <p:nvPr/>
            </p:nvSpPr>
            <p:spPr>
              <a:xfrm>
                <a:off x="1530183" y="5843306"/>
                <a:ext cx="145636" cy="166905"/>
              </a:xfrm>
              <a:prstGeom prst="flowChartConnector">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sp>
          <p:nvSpPr>
            <p:cNvPr id="67" name="Flowchart: Process 66"/>
            <p:cNvSpPr/>
            <p:nvPr/>
          </p:nvSpPr>
          <p:spPr>
            <a:xfrm>
              <a:off x="1183859" y="6137098"/>
              <a:ext cx="914400" cy="298579"/>
            </a:xfrm>
            <a:prstGeom prst="flowChartProcess">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K=0</a:t>
              </a:r>
              <a:endParaRPr lang="en-US" dirty="0"/>
            </a:p>
          </p:txBody>
        </p:sp>
        <p:cxnSp>
          <p:nvCxnSpPr>
            <p:cNvPr id="70" name="Straight Connector 69"/>
            <p:cNvCxnSpPr/>
            <p:nvPr/>
          </p:nvCxnSpPr>
          <p:spPr>
            <a:xfrm>
              <a:off x="12002517" y="2230016"/>
              <a:ext cx="69519" cy="4056371"/>
            </a:xfrm>
            <a:prstGeom prst="line">
              <a:avLst/>
            </a:prstGeom>
          </p:spPr>
          <p:style>
            <a:lnRef idx="1">
              <a:schemeClr val="accent1"/>
            </a:lnRef>
            <a:fillRef idx="0">
              <a:schemeClr val="accent1"/>
            </a:fillRef>
            <a:effectRef idx="0">
              <a:schemeClr val="accent1"/>
            </a:effectRef>
            <a:fontRef idx="minor">
              <a:schemeClr val="tx1"/>
            </a:fontRef>
          </p:style>
        </p:cxnSp>
      </p:grpSp>
      <p:sp>
        <p:nvSpPr>
          <p:cNvPr id="73" name="Flowchart: Process 72"/>
          <p:cNvSpPr/>
          <p:nvPr/>
        </p:nvSpPr>
        <p:spPr>
          <a:xfrm>
            <a:off x="11527277" y="2895110"/>
            <a:ext cx="342476" cy="191099"/>
          </a:xfrm>
          <a:prstGeom prst="flowChartProcess">
            <a:avLst/>
          </a:prstGeom>
          <a:ln>
            <a:noFill/>
          </a:ln>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K</a:t>
            </a:r>
            <a:endParaRPr lang="en-US" dirty="0"/>
          </a:p>
        </p:txBody>
      </p:sp>
    </p:spTree>
    <p:extLst>
      <p:ext uri="{BB962C8B-B14F-4D97-AF65-F5344CB8AC3E}">
        <p14:creationId xmlns:p14="http://schemas.microsoft.com/office/powerpoint/2010/main" val="8417579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2600" y="97972"/>
            <a:ext cx="8915399" cy="704461"/>
          </a:xfrm>
        </p:spPr>
        <p:txBody>
          <a:bodyPr>
            <a:normAutofit/>
          </a:bodyPr>
          <a:lstStyle/>
          <a:p>
            <a:pPr algn="ctr"/>
            <a:r>
              <a:rPr lang="en-US" sz="3200" b="1" dirty="0" smtClean="0">
                <a:solidFill>
                  <a:srgbClr val="C00000"/>
                </a:solidFill>
                <a:effectLst>
                  <a:outerShdw blurRad="38100" dist="38100" dir="2700000" algn="tl">
                    <a:srgbClr val="000000">
                      <a:alpha val="43137"/>
                    </a:srgbClr>
                  </a:outerShdw>
                </a:effectLst>
              </a:rPr>
              <a:t>Fixed Parameter Tractability</a:t>
            </a:r>
            <a:endParaRPr lang="en-US" sz="3200" b="1" dirty="0">
              <a:solidFill>
                <a:srgbClr val="C0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756285" y="802434"/>
            <a:ext cx="10208028" cy="5914250"/>
          </a:xfrm>
        </p:spPr>
        <p:txBody>
          <a:bodyPr>
            <a:normAutofit/>
          </a:bodyPr>
          <a:lstStyle/>
          <a:p>
            <a:r>
              <a:rPr lang="en-US" i="1" dirty="0" smtClean="0">
                <a:solidFill>
                  <a:srgbClr val="00B050"/>
                </a:solidFill>
              </a:rPr>
              <a:t>Bounded-search Tree algorithm</a:t>
            </a:r>
          </a:p>
          <a:p>
            <a:endParaRPr lang="en-US" dirty="0"/>
          </a:p>
          <a:p>
            <a:endParaRPr lang="en-US" dirty="0"/>
          </a:p>
        </p:txBody>
      </p:sp>
      <p:pic>
        <p:nvPicPr>
          <p:cNvPr id="4" name="Picture 3"/>
          <p:cNvPicPr>
            <a:picLocks noChangeAspect="1"/>
          </p:cNvPicPr>
          <p:nvPr/>
        </p:nvPicPr>
        <p:blipFill>
          <a:blip r:embed="rId2"/>
          <a:stretch>
            <a:fillRect/>
          </a:stretch>
        </p:blipFill>
        <p:spPr>
          <a:xfrm>
            <a:off x="1892850" y="1175657"/>
            <a:ext cx="9115425" cy="5541027"/>
          </a:xfrm>
          <a:prstGeom prst="rect">
            <a:avLst/>
          </a:prstGeom>
        </p:spPr>
      </p:pic>
    </p:spTree>
    <p:extLst>
      <p:ext uri="{BB962C8B-B14F-4D97-AF65-F5344CB8AC3E}">
        <p14:creationId xmlns:p14="http://schemas.microsoft.com/office/powerpoint/2010/main" val="32084146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2600" y="97972"/>
            <a:ext cx="8915399" cy="704461"/>
          </a:xfrm>
        </p:spPr>
        <p:txBody>
          <a:bodyPr>
            <a:normAutofit/>
          </a:bodyPr>
          <a:lstStyle/>
          <a:p>
            <a:pPr algn="ctr"/>
            <a:r>
              <a:rPr lang="en-US" sz="3200" b="1" dirty="0" smtClean="0">
                <a:solidFill>
                  <a:srgbClr val="C00000"/>
                </a:solidFill>
                <a:effectLst>
                  <a:outerShdw blurRad="38100" dist="38100" dir="2700000" algn="tl">
                    <a:srgbClr val="000000">
                      <a:alpha val="43137"/>
                    </a:srgbClr>
                  </a:outerShdw>
                </a:effectLst>
              </a:rPr>
              <a:t>Fixed Parameter Tractability</a:t>
            </a:r>
            <a:endParaRPr lang="en-US" sz="3200" b="1" dirty="0">
              <a:solidFill>
                <a:srgbClr val="C0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756285" y="1123066"/>
            <a:ext cx="10208028" cy="5593617"/>
          </a:xfrm>
        </p:spPr>
        <p:txBody>
          <a:bodyPr>
            <a:normAutofit/>
          </a:bodyPr>
          <a:lstStyle/>
          <a:p>
            <a:r>
              <a:rPr lang="en-US" i="1" dirty="0" smtClean="0">
                <a:solidFill>
                  <a:srgbClr val="00B050"/>
                </a:solidFill>
              </a:rPr>
              <a:t>Bounded-search Tree algorithm</a:t>
            </a:r>
          </a:p>
          <a:p>
            <a:endParaRPr lang="en-US" dirty="0"/>
          </a:p>
          <a:p>
            <a:endParaRPr lang="en-US" dirty="0"/>
          </a:p>
        </p:txBody>
      </p:sp>
      <p:pic>
        <p:nvPicPr>
          <p:cNvPr id="4" name="Picture 3"/>
          <p:cNvPicPr>
            <a:picLocks noChangeAspect="1"/>
          </p:cNvPicPr>
          <p:nvPr/>
        </p:nvPicPr>
        <p:blipFill>
          <a:blip r:embed="rId2"/>
          <a:stretch>
            <a:fillRect/>
          </a:stretch>
        </p:blipFill>
        <p:spPr>
          <a:xfrm>
            <a:off x="2521793" y="1681843"/>
            <a:ext cx="7372350" cy="4800600"/>
          </a:xfrm>
          <a:prstGeom prst="rect">
            <a:avLst/>
          </a:prstGeom>
        </p:spPr>
      </p:pic>
    </p:spTree>
    <p:extLst>
      <p:ext uri="{BB962C8B-B14F-4D97-AF65-F5344CB8AC3E}">
        <p14:creationId xmlns:p14="http://schemas.microsoft.com/office/powerpoint/2010/main" val="345782659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2600" y="97972"/>
            <a:ext cx="8915399" cy="704461"/>
          </a:xfrm>
        </p:spPr>
        <p:txBody>
          <a:bodyPr>
            <a:normAutofit/>
          </a:bodyPr>
          <a:lstStyle/>
          <a:p>
            <a:pPr algn="ctr"/>
            <a:r>
              <a:rPr lang="en-US" sz="3200" b="1" dirty="0" smtClean="0">
                <a:solidFill>
                  <a:srgbClr val="C00000"/>
                </a:solidFill>
                <a:effectLst>
                  <a:outerShdw blurRad="38100" dist="38100" dir="2700000" algn="tl">
                    <a:srgbClr val="000000">
                      <a:alpha val="43137"/>
                    </a:srgbClr>
                  </a:outerShdw>
                </a:effectLst>
              </a:rPr>
              <a:t>Fixed Parameter Tractability</a:t>
            </a:r>
            <a:endParaRPr lang="en-US" sz="3200" b="1" dirty="0">
              <a:solidFill>
                <a:srgbClr val="C0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756285" y="1123066"/>
            <a:ext cx="10208028" cy="5593617"/>
          </a:xfrm>
        </p:spPr>
        <p:txBody>
          <a:bodyPr>
            <a:normAutofit/>
          </a:bodyPr>
          <a:lstStyle/>
          <a:p>
            <a:r>
              <a:rPr lang="en-US" i="1" dirty="0" smtClean="0">
                <a:solidFill>
                  <a:srgbClr val="00B050"/>
                </a:solidFill>
              </a:rPr>
              <a:t>Bounded-search Tree algorithm</a:t>
            </a:r>
          </a:p>
          <a:p>
            <a:endParaRPr lang="en-US" dirty="0"/>
          </a:p>
          <a:p>
            <a:endParaRPr lang="en-US" dirty="0"/>
          </a:p>
        </p:txBody>
      </p:sp>
      <p:pic>
        <p:nvPicPr>
          <p:cNvPr id="4" name="Picture 3"/>
          <p:cNvPicPr>
            <a:picLocks noChangeAspect="1"/>
          </p:cNvPicPr>
          <p:nvPr/>
        </p:nvPicPr>
        <p:blipFill>
          <a:blip r:embed="rId2"/>
          <a:stretch>
            <a:fillRect/>
          </a:stretch>
        </p:blipFill>
        <p:spPr>
          <a:xfrm>
            <a:off x="2595660" y="2413032"/>
            <a:ext cx="8362950" cy="2181225"/>
          </a:xfrm>
          <a:prstGeom prst="rect">
            <a:avLst/>
          </a:prstGeom>
        </p:spPr>
      </p:pic>
    </p:spTree>
    <p:extLst>
      <p:ext uri="{BB962C8B-B14F-4D97-AF65-F5344CB8AC3E}">
        <p14:creationId xmlns:p14="http://schemas.microsoft.com/office/powerpoint/2010/main" val="8253222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30592" y="88641"/>
            <a:ext cx="8915399" cy="704461"/>
          </a:xfrm>
        </p:spPr>
        <p:txBody>
          <a:bodyPr>
            <a:normAutofit/>
          </a:bodyPr>
          <a:lstStyle/>
          <a:p>
            <a:pPr algn="ctr"/>
            <a:r>
              <a:rPr lang="en-US" sz="3200" b="1" dirty="0" smtClean="0">
                <a:solidFill>
                  <a:srgbClr val="C00000"/>
                </a:solidFill>
                <a:effectLst>
                  <a:outerShdw blurRad="38100" dist="38100" dir="2700000" algn="tl">
                    <a:srgbClr val="000000">
                      <a:alpha val="43137"/>
                    </a:srgbClr>
                  </a:outerShdw>
                </a:effectLst>
              </a:rPr>
              <a:t>Fixed Parameter Tractability</a:t>
            </a:r>
            <a:endParaRPr lang="en-US" sz="3200" b="1" dirty="0">
              <a:solidFill>
                <a:srgbClr val="C0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763487" y="1026367"/>
            <a:ext cx="9741126" cy="5598368"/>
          </a:xfrm>
        </p:spPr>
        <p:txBody>
          <a:bodyPr>
            <a:normAutofit lnSpcReduction="10000"/>
          </a:bodyPr>
          <a:lstStyle/>
          <a:p>
            <a:r>
              <a:rPr lang="en-US" dirty="0" smtClean="0"/>
              <a:t> </a:t>
            </a:r>
            <a:r>
              <a:rPr lang="en-US" sz="2800" b="1" dirty="0" err="1" smtClean="0">
                <a:solidFill>
                  <a:srgbClr val="FF0000"/>
                </a:solidFill>
              </a:rPr>
              <a:t>Kernelization</a:t>
            </a:r>
            <a:r>
              <a:rPr lang="en-US" sz="2800" b="1" dirty="0" smtClean="0">
                <a:solidFill>
                  <a:srgbClr val="FF0000"/>
                </a:solidFill>
              </a:rPr>
              <a:t>:</a:t>
            </a:r>
            <a:endParaRPr lang="en-US" dirty="0" smtClean="0"/>
          </a:p>
          <a:p>
            <a:pPr algn="just"/>
            <a:r>
              <a:rPr lang="en-US" dirty="0"/>
              <a:t>A </a:t>
            </a:r>
            <a:r>
              <a:rPr lang="en-US" b="1" dirty="0" err="1"/>
              <a:t>kernelization</a:t>
            </a:r>
            <a:r>
              <a:rPr lang="en-US" dirty="0"/>
              <a:t> is a technique for designing efficient </a:t>
            </a:r>
            <a:r>
              <a:rPr lang="en-US" dirty="0">
                <a:solidFill>
                  <a:schemeClr val="tx1"/>
                </a:solidFill>
                <a:hlinkClick r:id="rId2" tooltip="Algorithm"/>
              </a:rPr>
              <a:t>algorithms</a:t>
            </a:r>
            <a:r>
              <a:rPr lang="en-US" dirty="0"/>
              <a:t> that achieve their efficiency by a preprocessing stage in which inputs to the algorithm are replaced by a smaller input, called a "kernel". </a:t>
            </a:r>
            <a:endParaRPr lang="en-US" dirty="0" smtClean="0"/>
          </a:p>
          <a:p>
            <a:pPr algn="just"/>
            <a:r>
              <a:rPr lang="en-US" dirty="0" err="1" smtClean="0"/>
              <a:t>Kernelization</a:t>
            </a:r>
            <a:r>
              <a:rPr lang="en-US" dirty="0" smtClean="0"/>
              <a:t> </a:t>
            </a:r>
            <a:r>
              <a:rPr lang="en-US" dirty="0"/>
              <a:t>is often achieved by applying a set of reduction rules that cut away parts of the instance that are easy to handle. </a:t>
            </a:r>
            <a:endParaRPr lang="en-US" dirty="0" smtClean="0"/>
          </a:p>
          <a:p>
            <a:pPr algn="just"/>
            <a:endParaRPr lang="en-US" dirty="0" smtClean="0"/>
          </a:p>
          <a:p>
            <a:pPr algn="just"/>
            <a:r>
              <a:rPr lang="en-US" dirty="0" smtClean="0"/>
              <a:t>In</a:t>
            </a:r>
            <a:r>
              <a:rPr lang="en-US" dirty="0"/>
              <a:t> </a:t>
            </a:r>
            <a:r>
              <a:rPr lang="en-US" dirty="0">
                <a:hlinkClick r:id="rId3" tooltip="Parameterized complexity"/>
              </a:rPr>
              <a:t>parameterized complexity theory</a:t>
            </a:r>
            <a:r>
              <a:rPr lang="en-US" dirty="0"/>
              <a:t>, it is often possible to prove that a kernel with guaranteed bounds on the size of a kernel (as a function of some parameter associated to the problem) can be found in </a:t>
            </a:r>
            <a:r>
              <a:rPr lang="en-US" dirty="0">
                <a:hlinkClick r:id="rId4" tooltip="Polynomial time"/>
              </a:rPr>
              <a:t>polynomial time</a:t>
            </a:r>
            <a:r>
              <a:rPr lang="en-US" dirty="0"/>
              <a:t>. </a:t>
            </a:r>
            <a:endParaRPr lang="en-US" dirty="0" smtClean="0"/>
          </a:p>
          <a:p>
            <a:pPr algn="just"/>
            <a:endParaRPr lang="en-US" dirty="0" smtClean="0"/>
          </a:p>
          <a:p>
            <a:pPr algn="just"/>
            <a:r>
              <a:rPr lang="en-US" dirty="0" smtClean="0"/>
              <a:t>When </a:t>
            </a:r>
            <a:r>
              <a:rPr lang="en-US" dirty="0"/>
              <a:t>this is possible, it results in a </a:t>
            </a:r>
            <a:r>
              <a:rPr lang="en-US" dirty="0">
                <a:hlinkClick r:id="rId5" tooltip="Fixed-parameter tractability"/>
              </a:rPr>
              <a:t>fixed-parameter tractable</a:t>
            </a:r>
            <a:r>
              <a:rPr lang="en-US" dirty="0"/>
              <a:t> algorithm whose running time is the sum of the (polynomial time) </a:t>
            </a:r>
            <a:r>
              <a:rPr lang="en-US" dirty="0" err="1"/>
              <a:t>kernelization</a:t>
            </a:r>
            <a:r>
              <a:rPr lang="en-US" dirty="0"/>
              <a:t> step and the (non-polynomial but bounded by the parameter) time to solve the kernel. </a:t>
            </a:r>
            <a:endParaRPr lang="en-US" dirty="0" smtClean="0"/>
          </a:p>
          <a:p>
            <a:pPr algn="just"/>
            <a:endParaRPr lang="en-US" dirty="0" smtClean="0"/>
          </a:p>
          <a:p>
            <a:pPr algn="just"/>
            <a:r>
              <a:rPr lang="en-US" dirty="0" smtClean="0"/>
              <a:t>Indeed</a:t>
            </a:r>
            <a:r>
              <a:rPr lang="en-US" dirty="0"/>
              <a:t>, every problem that can be solved by a fixed-parameter tractable algorithm can be solved by a </a:t>
            </a:r>
            <a:r>
              <a:rPr lang="en-US" dirty="0" err="1"/>
              <a:t>kernelization</a:t>
            </a:r>
            <a:r>
              <a:rPr lang="en-US" dirty="0"/>
              <a:t> algorithm of this type.</a:t>
            </a:r>
            <a:endParaRPr lang="en-US" dirty="0" smtClean="0"/>
          </a:p>
          <a:p>
            <a:endParaRPr lang="en-US" dirty="0"/>
          </a:p>
          <a:p>
            <a:endParaRPr lang="en-US" dirty="0"/>
          </a:p>
        </p:txBody>
      </p:sp>
    </p:spTree>
    <p:extLst>
      <p:ext uri="{BB962C8B-B14F-4D97-AF65-F5344CB8AC3E}">
        <p14:creationId xmlns:p14="http://schemas.microsoft.com/office/powerpoint/2010/main" val="619941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30592" y="88641"/>
            <a:ext cx="8915399" cy="704461"/>
          </a:xfrm>
        </p:spPr>
        <p:txBody>
          <a:bodyPr>
            <a:normAutofit/>
          </a:bodyPr>
          <a:lstStyle/>
          <a:p>
            <a:pPr algn="ctr"/>
            <a:r>
              <a:rPr lang="en-US" sz="3200" b="1" dirty="0" smtClean="0">
                <a:solidFill>
                  <a:srgbClr val="C00000"/>
                </a:solidFill>
                <a:effectLst>
                  <a:outerShdw blurRad="38100" dist="38100" dir="2700000" algn="tl">
                    <a:srgbClr val="000000">
                      <a:alpha val="43137"/>
                    </a:srgbClr>
                  </a:outerShdw>
                </a:effectLst>
              </a:rPr>
              <a:t>Fixed Parameter Tractability</a:t>
            </a:r>
            <a:endParaRPr lang="en-US" sz="3200" b="1" dirty="0">
              <a:solidFill>
                <a:srgbClr val="C0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763486" y="1026367"/>
            <a:ext cx="10338317" cy="5598368"/>
          </a:xfrm>
        </p:spPr>
        <p:txBody>
          <a:bodyPr>
            <a:normAutofit lnSpcReduction="10000"/>
          </a:bodyPr>
          <a:lstStyle/>
          <a:p>
            <a:r>
              <a:rPr lang="en-US" dirty="0" smtClean="0"/>
              <a:t> </a:t>
            </a:r>
            <a:r>
              <a:rPr lang="en-US" sz="2800" b="1" dirty="0" err="1" smtClean="0">
                <a:solidFill>
                  <a:srgbClr val="FF0000"/>
                </a:solidFill>
              </a:rPr>
              <a:t>Kernelization</a:t>
            </a:r>
            <a:r>
              <a:rPr lang="en-US" sz="2800" b="1" dirty="0" smtClean="0">
                <a:solidFill>
                  <a:srgbClr val="FF0000"/>
                </a:solidFill>
              </a:rPr>
              <a:t>:</a:t>
            </a:r>
            <a:endParaRPr lang="en-US" dirty="0" smtClean="0"/>
          </a:p>
          <a:p>
            <a:pPr algn="just"/>
            <a:r>
              <a:rPr lang="en-US" dirty="0" smtClean="0"/>
              <a:t>A </a:t>
            </a:r>
            <a:r>
              <a:rPr lang="en-US" dirty="0"/>
              <a:t>kernel is a problem instance whose solution can be easily (i.e. in </a:t>
            </a:r>
            <a:r>
              <a:rPr lang="en-US" dirty="0" smtClean="0"/>
              <a:t>polynomial time</a:t>
            </a:r>
            <a:r>
              <a:rPr lang="en-US" dirty="0"/>
              <a:t>) extended to a solution to the original problem</a:t>
            </a:r>
            <a:r>
              <a:rPr lang="en-US" dirty="0" smtClean="0"/>
              <a:t>.</a:t>
            </a:r>
          </a:p>
          <a:p>
            <a:pPr algn="just"/>
            <a:r>
              <a:rPr lang="en-US" dirty="0" smtClean="0"/>
              <a:t>The </a:t>
            </a:r>
            <a:r>
              <a:rPr lang="en-US" dirty="0"/>
              <a:t>kernel of a problem </a:t>
            </a:r>
            <a:r>
              <a:rPr lang="en-US" dirty="0" smtClean="0"/>
              <a:t>instance is </a:t>
            </a:r>
            <a:r>
              <a:rPr lang="en-US" dirty="0"/>
              <a:t>its “hard” part. By identifying the kernel of a problem instance, we get a smaller problem, and </a:t>
            </a:r>
            <a:r>
              <a:rPr lang="en-US" dirty="0" smtClean="0"/>
              <a:t>if the </a:t>
            </a:r>
            <a:r>
              <a:rPr lang="en-US" dirty="0"/>
              <a:t>size of the kernel is small, we can hope to solve the problem much faster</a:t>
            </a:r>
            <a:r>
              <a:rPr lang="en-US" dirty="0" smtClean="0"/>
              <a:t>.</a:t>
            </a:r>
          </a:p>
          <a:p>
            <a:pPr algn="just"/>
            <a:endParaRPr lang="en-US" dirty="0" smtClean="0"/>
          </a:p>
          <a:p>
            <a:pPr marL="285750" indent="-285750" algn="just">
              <a:buFont typeface="Wingdings" panose="05000000000000000000" pitchFamily="2" charset="2"/>
              <a:buChar char="q"/>
            </a:pPr>
            <a:r>
              <a:rPr lang="en-US" dirty="0"/>
              <a:t>As an example, consider </a:t>
            </a:r>
            <a:r>
              <a:rPr lang="en-US" dirty="0" smtClean="0"/>
              <a:t>the </a:t>
            </a:r>
            <a:r>
              <a:rPr lang="en-US" dirty="0"/>
              <a:t>vertex cover problem with parameter k, the size of the </a:t>
            </a:r>
            <a:r>
              <a:rPr lang="en-US" dirty="0" smtClean="0"/>
              <a:t>smallest vertex </a:t>
            </a:r>
            <a:r>
              <a:rPr lang="en-US" dirty="0"/>
              <a:t>cover. </a:t>
            </a:r>
            <a:r>
              <a:rPr lang="en-US" dirty="0" smtClean="0"/>
              <a:t>Observe </a:t>
            </a:r>
            <a:r>
              <a:rPr lang="en-US" dirty="0"/>
              <a:t>that every vertex with degree more than k has to be in the cover. </a:t>
            </a:r>
            <a:endParaRPr lang="en-US" dirty="0" smtClean="0"/>
          </a:p>
          <a:p>
            <a:pPr marL="285750" indent="-285750" algn="just">
              <a:buFont typeface="Wingdings" panose="05000000000000000000" pitchFamily="2" charset="2"/>
              <a:buChar char="q"/>
            </a:pPr>
            <a:r>
              <a:rPr lang="en-US" dirty="0" smtClean="0"/>
              <a:t>Then </a:t>
            </a:r>
            <a:r>
              <a:rPr lang="en-US" dirty="0"/>
              <a:t>all of its neighbors must be in the cover to cover its incident edges, </a:t>
            </a:r>
            <a:r>
              <a:rPr lang="en-US" dirty="0" smtClean="0"/>
              <a:t>and this </a:t>
            </a:r>
            <a:r>
              <a:rPr lang="en-US" dirty="0"/>
              <a:t>makes the size of the cover greater than k. </a:t>
            </a:r>
            <a:endParaRPr lang="en-US" dirty="0" smtClean="0"/>
          </a:p>
          <a:p>
            <a:pPr marL="285750" indent="-285750" algn="just">
              <a:buFont typeface="Wingdings" panose="05000000000000000000" pitchFamily="2" charset="2"/>
              <a:buChar char="q"/>
            </a:pPr>
            <a:r>
              <a:rPr lang="en-US" dirty="0" smtClean="0"/>
              <a:t>So</a:t>
            </a:r>
            <a:r>
              <a:rPr lang="en-US" dirty="0"/>
              <a:t>, we can add such vertices to the cover, </a:t>
            </a:r>
            <a:r>
              <a:rPr lang="en-US" dirty="0" smtClean="0"/>
              <a:t>remove their </a:t>
            </a:r>
            <a:r>
              <a:rPr lang="en-US" dirty="0"/>
              <a:t>incident edges, and try to find an optimal vertex cover in the remaining graph. </a:t>
            </a:r>
            <a:endParaRPr lang="en-US" dirty="0" smtClean="0"/>
          </a:p>
          <a:p>
            <a:pPr marL="285750" indent="-285750" algn="just">
              <a:buFont typeface="Wingdings" panose="05000000000000000000" pitchFamily="2" charset="2"/>
              <a:buChar char="q"/>
            </a:pPr>
            <a:r>
              <a:rPr lang="en-US" dirty="0" smtClean="0"/>
              <a:t>This remaining graph </a:t>
            </a:r>
            <a:r>
              <a:rPr lang="en-US" dirty="0"/>
              <a:t>is the kernel of the problem because its smallest vertex cover, </a:t>
            </a:r>
            <a:r>
              <a:rPr lang="en-US" dirty="0" smtClean="0"/>
              <a:t>with </a:t>
            </a:r>
            <a:r>
              <a:rPr lang="en-US" dirty="0"/>
              <a:t>the set of </a:t>
            </a:r>
            <a:r>
              <a:rPr lang="en-US" dirty="0" smtClean="0"/>
              <a:t>vertices with </a:t>
            </a:r>
            <a:r>
              <a:rPr lang="en-US" dirty="0"/>
              <a:t>degree more than k in the original graph, gives an optimal solution to the original problem.</a:t>
            </a:r>
            <a:endParaRPr lang="en-US" dirty="0" smtClean="0"/>
          </a:p>
          <a:p>
            <a:endParaRPr lang="en-US" dirty="0"/>
          </a:p>
          <a:p>
            <a:endParaRPr lang="en-US" dirty="0"/>
          </a:p>
        </p:txBody>
      </p:sp>
    </p:spTree>
    <p:extLst>
      <p:ext uri="{BB962C8B-B14F-4D97-AF65-F5344CB8AC3E}">
        <p14:creationId xmlns:p14="http://schemas.microsoft.com/office/powerpoint/2010/main" val="25037162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30592" y="88641"/>
            <a:ext cx="8915399" cy="704461"/>
          </a:xfrm>
        </p:spPr>
        <p:txBody>
          <a:bodyPr>
            <a:normAutofit/>
          </a:bodyPr>
          <a:lstStyle/>
          <a:p>
            <a:pPr algn="ctr"/>
            <a:r>
              <a:rPr lang="en-US" sz="3200" b="1" dirty="0" smtClean="0">
                <a:solidFill>
                  <a:srgbClr val="C00000"/>
                </a:solidFill>
                <a:effectLst>
                  <a:outerShdw blurRad="38100" dist="38100" dir="2700000" algn="tl">
                    <a:srgbClr val="000000">
                      <a:alpha val="43137"/>
                    </a:srgbClr>
                  </a:outerShdw>
                </a:effectLst>
              </a:rPr>
              <a:t>Fixed Parameter Tractability</a:t>
            </a:r>
            <a:endParaRPr lang="en-US" sz="3200" b="1" dirty="0">
              <a:solidFill>
                <a:srgbClr val="C0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763487" y="1026367"/>
            <a:ext cx="9741126" cy="5598368"/>
          </a:xfrm>
        </p:spPr>
        <p:txBody>
          <a:bodyPr>
            <a:normAutofit/>
          </a:bodyPr>
          <a:lstStyle/>
          <a:p>
            <a:r>
              <a:rPr lang="en-US" dirty="0" smtClean="0"/>
              <a:t> </a:t>
            </a:r>
            <a:r>
              <a:rPr lang="en-US" sz="2800" b="1" dirty="0" smtClean="0">
                <a:solidFill>
                  <a:srgbClr val="FF0000"/>
                </a:solidFill>
              </a:rPr>
              <a:t>Kernelization: </a:t>
            </a:r>
            <a:r>
              <a:rPr lang="en-US" dirty="0" smtClean="0"/>
              <a:t>It’s a polynomial-time algorithm converting input (</a:t>
            </a:r>
            <a:r>
              <a:rPr lang="en-US" dirty="0" err="1" smtClean="0"/>
              <a:t>x,k</a:t>
            </a:r>
            <a:r>
              <a:rPr lang="en-US" dirty="0" smtClean="0"/>
              <a:t>) into equivalent small input (</a:t>
            </a:r>
            <a:r>
              <a:rPr lang="en-US" dirty="0" err="1" smtClean="0"/>
              <a:t>x’,k</a:t>
            </a:r>
            <a:r>
              <a:rPr lang="en-US" dirty="0" smtClean="0"/>
              <a:t>’). Where answer (</a:t>
            </a:r>
            <a:r>
              <a:rPr lang="en-US" dirty="0" err="1" smtClean="0"/>
              <a:t>x,k</a:t>
            </a:r>
            <a:r>
              <a:rPr lang="en-US" dirty="0" smtClean="0"/>
              <a:t>) = answer (</a:t>
            </a:r>
            <a:r>
              <a:rPr lang="en-US" dirty="0" err="1" smtClean="0"/>
              <a:t>x’,k</a:t>
            </a:r>
            <a:r>
              <a:rPr lang="en-US" dirty="0" smtClean="0"/>
              <a:t>’).</a:t>
            </a:r>
          </a:p>
          <a:p>
            <a:r>
              <a:rPr lang="en-US" dirty="0" smtClean="0"/>
              <a:t>Small means              |x’| = n’ ≤ f(k)</a:t>
            </a:r>
            <a:endParaRPr lang="en-US" dirty="0"/>
          </a:p>
          <a:p>
            <a:r>
              <a:rPr lang="en-US" dirty="0" smtClean="0"/>
              <a:t>So, we started with probably a giant problem, x excise n, and we have a parameter k, which we presume is relatively small.</a:t>
            </a:r>
          </a:p>
          <a:p>
            <a:r>
              <a:rPr lang="en-US" dirty="0" smtClean="0"/>
              <a:t>And we convert it into a new input x prime that’s very small. Its size is a function of k. No more dependence on n. n has disappeared from the problem.</a:t>
            </a:r>
          </a:p>
          <a:p>
            <a:endParaRPr lang="en-US" dirty="0" smtClean="0"/>
          </a:p>
          <a:p>
            <a:r>
              <a:rPr lang="en-US" dirty="0" smtClean="0"/>
              <a:t>We start with something a size n. We produced something the size as function of k. And then ---OK---there’s some other parameter k prime-----doesn’t matter much what it is. It’s going to also be a function of k.</a:t>
            </a:r>
          </a:p>
          <a:p>
            <a:endParaRPr lang="en-US" dirty="0"/>
          </a:p>
          <a:p>
            <a:r>
              <a:rPr lang="en-US" dirty="0" smtClean="0"/>
              <a:t>So we started with something of size n. We produced something of size k. In polynomial time.</a:t>
            </a:r>
          </a:p>
          <a:p>
            <a:r>
              <a:rPr lang="en-US" dirty="0" smtClean="0"/>
              <a:t>Because we start with giant problem small k, and we </a:t>
            </a:r>
            <a:r>
              <a:rPr lang="en-US" dirty="0" err="1" smtClean="0"/>
              <a:t>kernelize</a:t>
            </a:r>
            <a:r>
              <a:rPr lang="en-US" dirty="0" smtClean="0"/>
              <a:t> it down---- so here’s the </a:t>
            </a:r>
            <a:endParaRPr lang="en-US" dirty="0"/>
          </a:p>
          <a:p>
            <a:endParaRPr lang="en-US" dirty="0"/>
          </a:p>
          <a:p>
            <a:endParaRPr lang="en-US" dirty="0"/>
          </a:p>
        </p:txBody>
      </p:sp>
    </p:spTree>
    <p:extLst>
      <p:ext uri="{BB962C8B-B14F-4D97-AF65-F5344CB8AC3E}">
        <p14:creationId xmlns:p14="http://schemas.microsoft.com/office/powerpoint/2010/main" val="9462321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30592" y="88641"/>
            <a:ext cx="8915399" cy="704461"/>
          </a:xfrm>
        </p:spPr>
        <p:txBody>
          <a:bodyPr>
            <a:normAutofit/>
          </a:bodyPr>
          <a:lstStyle/>
          <a:p>
            <a:pPr algn="ctr"/>
            <a:r>
              <a:rPr lang="en-US" sz="3200" b="1" dirty="0" smtClean="0">
                <a:solidFill>
                  <a:srgbClr val="C00000"/>
                </a:solidFill>
                <a:effectLst>
                  <a:outerShdw blurRad="38100" dist="38100" dir="2700000" algn="tl">
                    <a:srgbClr val="000000">
                      <a:alpha val="43137"/>
                    </a:srgbClr>
                  </a:outerShdw>
                </a:effectLst>
              </a:rPr>
              <a:t>Fixed Parameter Tractability</a:t>
            </a:r>
            <a:endParaRPr lang="en-US" sz="3200" b="1" dirty="0">
              <a:solidFill>
                <a:srgbClr val="C0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1763487" y="1026367"/>
            <a:ext cx="9741126" cy="5598368"/>
          </a:xfrm>
        </p:spPr>
        <p:txBody>
          <a:bodyPr>
            <a:normAutofit lnSpcReduction="10000"/>
          </a:bodyPr>
          <a:lstStyle/>
          <a:p>
            <a:r>
              <a:rPr lang="en-US" dirty="0" smtClean="0"/>
              <a:t> </a:t>
            </a:r>
            <a:r>
              <a:rPr lang="en-US" sz="2800" b="1" dirty="0" smtClean="0">
                <a:solidFill>
                  <a:srgbClr val="FF0000"/>
                </a:solidFill>
              </a:rPr>
              <a:t>Kernelization: </a:t>
            </a:r>
            <a:r>
              <a:rPr lang="en-US" dirty="0" smtClean="0"/>
              <a:t>It’s a polynomial-time algorithm converting input (</a:t>
            </a:r>
            <a:r>
              <a:rPr lang="en-US" dirty="0" err="1" smtClean="0"/>
              <a:t>x,k</a:t>
            </a:r>
            <a:r>
              <a:rPr lang="en-US" dirty="0" smtClean="0"/>
              <a:t>) into equivalent small input (</a:t>
            </a:r>
            <a:r>
              <a:rPr lang="en-US" dirty="0" err="1" smtClean="0"/>
              <a:t>x’,k</a:t>
            </a:r>
            <a:r>
              <a:rPr lang="en-US" dirty="0" smtClean="0"/>
              <a:t>’). Where answer (</a:t>
            </a:r>
            <a:r>
              <a:rPr lang="en-US" dirty="0" err="1" smtClean="0"/>
              <a:t>x,k</a:t>
            </a:r>
            <a:r>
              <a:rPr lang="en-US" dirty="0" smtClean="0"/>
              <a:t>) = answer (</a:t>
            </a:r>
            <a:r>
              <a:rPr lang="en-US" dirty="0" err="1" smtClean="0"/>
              <a:t>x’,k</a:t>
            </a:r>
            <a:r>
              <a:rPr lang="en-US" dirty="0" smtClean="0"/>
              <a:t>’).</a:t>
            </a:r>
          </a:p>
          <a:p>
            <a:r>
              <a:rPr lang="en-US" dirty="0" smtClean="0"/>
              <a:t>Small means              |x’| = n’ ≤ f(k)</a:t>
            </a:r>
            <a:endParaRPr lang="en-US" dirty="0"/>
          </a:p>
          <a:p>
            <a:r>
              <a:rPr lang="en-US" dirty="0" smtClean="0"/>
              <a:t>Because we start with giant problem small k, and we </a:t>
            </a:r>
            <a:r>
              <a:rPr lang="en-US" dirty="0" err="1" smtClean="0"/>
              <a:t>kernelize</a:t>
            </a:r>
            <a:r>
              <a:rPr lang="en-US" dirty="0" smtClean="0"/>
              <a:t> it down---- so here’s the </a:t>
            </a:r>
            <a:endParaRPr lang="en-US" dirty="0"/>
          </a:p>
          <a:p>
            <a:endParaRPr lang="en-US" dirty="0"/>
          </a:p>
          <a:p>
            <a:r>
              <a:rPr lang="en-US" dirty="0" smtClean="0"/>
              <a:t> </a:t>
            </a:r>
          </a:p>
          <a:p>
            <a:r>
              <a:rPr lang="en-US" dirty="0"/>
              <a:t> </a:t>
            </a:r>
            <a:r>
              <a:rPr lang="en-US" dirty="0" smtClean="0"/>
              <a:t>                                                                     Kernel</a:t>
            </a:r>
          </a:p>
          <a:p>
            <a:endParaRPr lang="en-US" dirty="0"/>
          </a:p>
          <a:p>
            <a:endParaRPr lang="en-US" dirty="0" smtClean="0"/>
          </a:p>
          <a:p>
            <a:endParaRPr lang="en-US" dirty="0" smtClean="0"/>
          </a:p>
          <a:p>
            <a:r>
              <a:rPr lang="en-US" dirty="0" smtClean="0"/>
              <a:t>But somehow, magically, this </a:t>
            </a:r>
            <a:r>
              <a:rPr lang="en-US" dirty="0" err="1" smtClean="0"/>
              <a:t>kernelization</a:t>
            </a:r>
            <a:r>
              <a:rPr lang="en-US" dirty="0" smtClean="0"/>
              <a:t> procedure produces a new problem that’s only a little bit bigger than k.</a:t>
            </a:r>
          </a:p>
          <a:p>
            <a:r>
              <a:rPr lang="en-US" dirty="0" smtClean="0"/>
              <a:t>So we take the big problem, we make it down to this small thing.</a:t>
            </a:r>
          </a:p>
          <a:p>
            <a:r>
              <a:rPr lang="en-US" dirty="0" smtClean="0"/>
              <a:t>You can run any algorithm you want, any finite algorithm applied to this instance will run in some function of k time.</a:t>
            </a:r>
            <a:endParaRPr lang="en-US" dirty="0"/>
          </a:p>
          <a:p>
            <a:endParaRPr lang="en-US" dirty="0"/>
          </a:p>
        </p:txBody>
      </p:sp>
      <p:grpSp>
        <p:nvGrpSpPr>
          <p:cNvPr id="17" name="Group 16"/>
          <p:cNvGrpSpPr/>
          <p:nvPr/>
        </p:nvGrpSpPr>
        <p:grpSpPr>
          <a:xfrm>
            <a:off x="2998221" y="2915816"/>
            <a:ext cx="7271657" cy="1819469"/>
            <a:chOff x="2967134" y="2985796"/>
            <a:chExt cx="7271657" cy="1819469"/>
          </a:xfrm>
        </p:grpSpPr>
        <p:sp>
          <p:nvSpPr>
            <p:cNvPr id="4" name="Oval 3"/>
            <p:cNvSpPr/>
            <p:nvPr/>
          </p:nvSpPr>
          <p:spPr>
            <a:xfrm>
              <a:off x="2967134" y="2985796"/>
              <a:ext cx="2155371" cy="1819469"/>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n</a:t>
              </a:r>
              <a:endParaRPr lang="en-US" dirty="0"/>
            </a:p>
          </p:txBody>
        </p:sp>
        <p:sp>
          <p:nvSpPr>
            <p:cNvPr id="5" name="Oval 4"/>
            <p:cNvSpPr/>
            <p:nvPr/>
          </p:nvSpPr>
          <p:spPr>
            <a:xfrm>
              <a:off x="4161454" y="3620277"/>
              <a:ext cx="793102" cy="72778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k</a:t>
              </a:r>
              <a:endParaRPr lang="en-US" dirty="0"/>
            </a:p>
          </p:txBody>
        </p:sp>
        <p:sp>
          <p:nvSpPr>
            <p:cNvPr id="6" name="Oval 5"/>
            <p:cNvSpPr/>
            <p:nvPr/>
          </p:nvSpPr>
          <p:spPr>
            <a:xfrm>
              <a:off x="8686800" y="3349691"/>
              <a:ext cx="1551991" cy="1184988"/>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smtClean="0"/>
                <a:t>n</a:t>
              </a:r>
              <a:endParaRPr lang="en-US" dirty="0"/>
            </a:p>
          </p:txBody>
        </p:sp>
        <p:sp>
          <p:nvSpPr>
            <p:cNvPr id="7" name="Oval 6"/>
            <p:cNvSpPr/>
            <p:nvPr/>
          </p:nvSpPr>
          <p:spPr>
            <a:xfrm>
              <a:off x="9554547" y="3531636"/>
              <a:ext cx="684244" cy="727788"/>
            </a:xfrm>
            <a:prstGeom prst="ellipse">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smtClean="0"/>
                <a:t>k</a:t>
              </a:r>
              <a:endParaRPr lang="en-US" dirty="0"/>
            </a:p>
          </p:txBody>
        </p:sp>
      </p:grpSp>
      <p:cxnSp>
        <p:nvCxnSpPr>
          <p:cNvPr id="16" name="Straight Arrow Connector 15"/>
          <p:cNvCxnSpPr>
            <a:stCxn id="4" idx="6"/>
            <a:endCxn id="6" idx="2"/>
          </p:cNvCxnSpPr>
          <p:nvPr/>
        </p:nvCxnSpPr>
        <p:spPr>
          <a:xfrm>
            <a:off x="5153592" y="3825551"/>
            <a:ext cx="3564295" cy="46654"/>
          </a:xfrm>
          <a:prstGeom prst="straightConnector1">
            <a:avLst/>
          </a:prstGeom>
          <a:ln>
            <a:tailEnd type="triangle"/>
          </a:ln>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367464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2600" y="97972"/>
            <a:ext cx="8915399" cy="704461"/>
          </a:xfrm>
        </p:spPr>
        <p:txBody>
          <a:bodyPr>
            <a:normAutofit/>
          </a:bodyPr>
          <a:lstStyle/>
          <a:p>
            <a:pPr algn="ctr"/>
            <a:r>
              <a:rPr lang="en-US" sz="4000" b="1" dirty="0" smtClean="0">
                <a:solidFill>
                  <a:srgbClr val="C00000"/>
                </a:solidFill>
                <a:effectLst>
                  <a:outerShdw blurRad="38100" dist="38100" dir="2700000" algn="tl">
                    <a:srgbClr val="000000">
                      <a:alpha val="43137"/>
                    </a:srgbClr>
                  </a:outerShdw>
                </a:effectLst>
              </a:rPr>
              <a:t>Fixed Parameter Tractability</a:t>
            </a:r>
            <a:endParaRPr lang="en-US" sz="4000" b="1" dirty="0">
              <a:solidFill>
                <a:srgbClr val="C0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2589213" y="2006083"/>
            <a:ext cx="8915399" cy="3897580"/>
          </a:xfrm>
        </p:spPr>
        <p:txBody>
          <a:bodyPr>
            <a:normAutofit/>
          </a:bodyPr>
          <a:lstStyle/>
          <a:p>
            <a:pPr algn="ctr"/>
            <a:r>
              <a:rPr lang="en-US" dirty="0" smtClean="0"/>
              <a:t> </a:t>
            </a:r>
            <a:endParaRPr lang="en-US" dirty="0"/>
          </a:p>
        </p:txBody>
      </p:sp>
    </p:spTree>
    <p:extLst>
      <p:ext uri="{BB962C8B-B14F-4D97-AF65-F5344CB8AC3E}">
        <p14:creationId xmlns:p14="http://schemas.microsoft.com/office/powerpoint/2010/main" val="24607757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402600" y="97972"/>
            <a:ext cx="8915399" cy="704461"/>
          </a:xfrm>
        </p:spPr>
        <p:txBody>
          <a:bodyPr>
            <a:normAutofit/>
          </a:bodyPr>
          <a:lstStyle/>
          <a:p>
            <a:pPr algn="ctr"/>
            <a:r>
              <a:rPr lang="en-US" sz="4000" b="1" dirty="0" smtClean="0">
                <a:solidFill>
                  <a:srgbClr val="C00000"/>
                </a:solidFill>
                <a:effectLst>
                  <a:outerShdw blurRad="38100" dist="38100" dir="2700000" algn="tl">
                    <a:srgbClr val="000000">
                      <a:alpha val="43137"/>
                    </a:srgbClr>
                  </a:outerShdw>
                </a:effectLst>
              </a:rPr>
              <a:t>Fixed Parameter Tractability</a:t>
            </a:r>
            <a:endParaRPr lang="en-US" sz="4000" b="1" dirty="0">
              <a:solidFill>
                <a:srgbClr val="C00000"/>
              </a:solidFill>
              <a:effectLst>
                <a:outerShdw blurRad="38100" dist="38100" dir="2700000" algn="tl">
                  <a:srgbClr val="000000">
                    <a:alpha val="43137"/>
                  </a:srgbClr>
                </a:outerShdw>
              </a:effectLst>
            </a:endParaRPr>
          </a:p>
        </p:txBody>
      </p:sp>
      <p:sp>
        <p:nvSpPr>
          <p:cNvPr id="3" name="Subtitle 2"/>
          <p:cNvSpPr>
            <a:spLocks noGrp="1"/>
          </p:cNvSpPr>
          <p:nvPr>
            <p:ph type="subTitle" idx="1"/>
          </p:nvPr>
        </p:nvSpPr>
        <p:spPr>
          <a:xfrm>
            <a:off x="2589213" y="2006083"/>
            <a:ext cx="8915399" cy="3897580"/>
          </a:xfrm>
        </p:spPr>
        <p:txBody>
          <a:bodyPr>
            <a:normAutofit/>
          </a:bodyPr>
          <a:lstStyle/>
          <a:p>
            <a:pPr algn="ctr"/>
            <a:r>
              <a:rPr lang="en-US" dirty="0" smtClean="0"/>
              <a:t> </a:t>
            </a:r>
            <a:endParaRPr lang="en-US" dirty="0"/>
          </a:p>
        </p:txBody>
      </p:sp>
    </p:spTree>
    <p:extLst>
      <p:ext uri="{BB962C8B-B14F-4D97-AF65-F5344CB8AC3E}">
        <p14:creationId xmlns:p14="http://schemas.microsoft.com/office/powerpoint/2010/main" val="68835054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docProps/app.xml><?xml version="1.0" encoding="utf-8"?>
<Properties xmlns="http://schemas.openxmlformats.org/officeDocument/2006/extended-properties" xmlns:vt="http://schemas.openxmlformats.org/officeDocument/2006/docPropsVTypes">
  <Template>Wisp</Template>
  <TotalTime>1275</TotalTime>
  <Words>2081</Words>
  <Application>Microsoft Office PowerPoint</Application>
  <PresentationFormat>Widescreen</PresentationFormat>
  <Paragraphs>272</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Cambria Math</vt:lpstr>
      <vt:lpstr>Century Gothic</vt:lpstr>
      <vt:lpstr>Symbol</vt:lpstr>
      <vt:lpstr>Wingdings</vt:lpstr>
      <vt:lpstr>Wingdings 3</vt:lpstr>
      <vt:lpstr>Wisp</vt:lpstr>
      <vt:lpstr>Fixed Parameter Tractability</vt:lpstr>
      <vt:lpstr>Fixed Parameter Tractability</vt:lpstr>
      <vt:lpstr>Fixed Parameter Tractability</vt:lpstr>
      <vt:lpstr>Fixed Parameter Tractability</vt:lpstr>
      <vt:lpstr>Fixed Parameter Tractability</vt:lpstr>
      <vt:lpstr>Fixed Parameter Tractability</vt:lpstr>
      <vt:lpstr>Fixed Parameter Tractability</vt:lpstr>
      <vt:lpstr>Fixed Parameter Tractability</vt:lpstr>
      <vt:lpstr>Fixed Parameter Tractability</vt:lpstr>
      <vt:lpstr>Fixed Parameter Tractability</vt:lpstr>
      <vt:lpstr>Fixed Parameter Tractability</vt:lpstr>
      <vt:lpstr>Fixed Parameter Tractability</vt:lpstr>
      <vt:lpstr>Fixed Parameter Tractability</vt:lpstr>
      <vt:lpstr>Fixed Parameter Tractability</vt:lpstr>
      <vt:lpstr>Fixed Parameter Tractability</vt:lpstr>
      <vt:lpstr>Fixed Parameter Tractability</vt:lpstr>
      <vt:lpstr>Fixed Parameter Tractability</vt:lpstr>
      <vt:lpstr>Fixed Parameter Tractability</vt:lpstr>
      <vt:lpstr>Fixed Parameter Tractability</vt:lpstr>
      <vt:lpstr>Fixed Parameter Tractability</vt:lpstr>
      <vt:lpstr>Fixed Parameter Tractability</vt:lpstr>
      <vt:lpstr>Fixed Parameter Tractability</vt:lpstr>
      <vt:lpstr>Fixed Parameter Tractability</vt:lpstr>
      <vt:lpstr>Fixed Parameter Tractability</vt:lpstr>
      <vt:lpstr>Fixed Parameter Tractability</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Fixed Parameter tractibility</dc:title>
  <dc:creator>Md.Abdul Masud</dc:creator>
  <cp:lastModifiedBy>Md.Abdul Masud</cp:lastModifiedBy>
  <cp:revision>75</cp:revision>
  <dcterms:created xsi:type="dcterms:W3CDTF">2021-10-19T13:43:22Z</dcterms:created>
  <dcterms:modified xsi:type="dcterms:W3CDTF">2021-11-03T16:07:57Z</dcterms:modified>
</cp:coreProperties>
</file>