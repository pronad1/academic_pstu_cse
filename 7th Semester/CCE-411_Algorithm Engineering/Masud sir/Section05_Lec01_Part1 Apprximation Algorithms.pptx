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78" r:id="rId4"/>
    <p:sldId id="272" r:id="rId5"/>
    <p:sldId id="275" r:id="rId6"/>
    <p:sldId id="276" r:id="rId7"/>
    <p:sldId id="277" r:id="rId8"/>
    <p:sldId id="273" r:id="rId9"/>
    <p:sldId id="274" r:id="rId10"/>
    <p:sldId id="262" r:id="rId11"/>
    <p:sldId id="263" r:id="rId12"/>
    <p:sldId id="257" r:id="rId13"/>
    <p:sldId id="259" r:id="rId14"/>
    <p:sldId id="288" r:id="rId15"/>
    <p:sldId id="283" r:id="rId16"/>
    <p:sldId id="284" r:id="rId17"/>
    <p:sldId id="285" r:id="rId18"/>
    <p:sldId id="286" r:id="rId19"/>
    <p:sldId id="287" r:id="rId20"/>
    <p:sldId id="264" r:id="rId21"/>
    <p:sldId id="280" r:id="rId22"/>
    <p:sldId id="281" r:id="rId23"/>
    <p:sldId id="295" r:id="rId24"/>
    <p:sldId id="296" r:id="rId25"/>
    <p:sldId id="289" r:id="rId26"/>
    <p:sldId id="327" r:id="rId27"/>
    <p:sldId id="328" r:id="rId28"/>
    <p:sldId id="290" r:id="rId29"/>
    <p:sldId id="293" r:id="rId30"/>
    <p:sldId id="297" r:id="rId31"/>
    <p:sldId id="294" r:id="rId32"/>
    <p:sldId id="298" r:id="rId33"/>
    <p:sldId id="299" r:id="rId34"/>
    <p:sldId id="282" r:id="rId35"/>
    <p:sldId id="300" r:id="rId36"/>
    <p:sldId id="301" r:id="rId37"/>
    <p:sldId id="302" r:id="rId38"/>
    <p:sldId id="304" r:id="rId39"/>
    <p:sldId id="305" r:id="rId40"/>
    <p:sldId id="306" r:id="rId41"/>
    <p:sldId id="303" r:id="rId42"/>
    <p:sldId id="307" r:id="rId43"/>
    <p:sldId id="308" r:id="rId44"/>
    <p:sldId id="330" r:id="rId45"/>
    <p:sldId id="331" r:id="rId46"/>
    <p:sldId id="333" r:id="rId47"/>
    <p:sldId id="332" r:id="rId48"/>
    <p:sldId id="329" r:id="rId49"/>
    <p:sldId id="316" r:id="rId50"/>
    <p:sldId id="317" r:id="rId51"/>
    <p:sldId id="324" r:id="rId52"/>
    <p:sldId id="321" r:id="rId53"/>
    <p:sldId id="325" r:id="rId54"/>
    <p:sldId id="326" r:id="rId55"/>
    <p:sldId id="322" r:id="rId56"/>
    <p:sldId id="323" r:id="rId57"/>
    <p:sldId id="318" r:id="rId58"/>
    <p:sldId id="319" r:id="rId59"/>
    <p:sldId id="334" r:id="rId60"/>
    <p:sldId id="335" r:id="rId61"/>
    <p:sldId id="336" r:id="rId62"/>
    <p:sldId id="337" r:id="rId63"/>
    <p:sldId id="338" r:id="rId64"/>
    <p:sldId id="339" r:id="rId65"/>
    <p:sldId id="340"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7" autoAdjust="0"/>
    <p:restoredTop sz="94660"/>
  </p:normalViewPr>
  <p:slideViewPr>
    <p:cSldViewPr snapToGrid="0">
      <p:cViewPr varScale="1">
        <p:scale>
          <a:sx n="81" d="100"/>
          <a:sy n="81" d="100"/>
        </p:scale>
        <p:origin x="100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hyperlink" Target="https://www.geeksforgeeks.org/subset-sum-problem-dp-25/" TargetMode="External"/><Relationship Id="rId3" Type="http://schemas.openxmlformats.org/officeDocument/2006/relationships/hyperlink" Target="https://www.geeksforgeeks.org/set-cover-problem-set-1-greedy-approximate-algorithm/" TargetMode="External"/><Relationship Id="rId2" Type="http://schemas.openxmlformats.org/officeDocument/2006/relationships/hyperlink" Target="https://www.geeksforgeeks.org/traveling-salesman-problem-tsp-implementation/" TargetMode="External"/><Relationship Id="rId1" Type="http://schemas.openxmlformats.org/officeDocument/2006/relationships/hyperlink" Target="https://www.geeksforgeeks.org/vertex-cover-problem-set-1-introduction-approximate-algorithm-2/"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png"/><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4.png"/><Relationship Id="rId3" Type="http://schemas.openxmlformats.org/officeDocument/2006/relationships/hyperlink" Target="https://en.wikipedia.org/wiki/NP-complete" TargetMode="External"/><Relationship Id="rId2" Type="http://schemas.openxmlformats.org/officeDocument/2006/relationships/hyperlink" Target="https://en.wikipedia.org/wiki/Hamiltonian_cycle_problem" TargetMode="External"/><Relationship Id="rId1" Type="http://schemas.openxmlformats.org/officeDocument/2006/relationships/hyperlink" Target="https://en.wikipedia.org/wiki/Hamiltonian_path_problem"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8.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hyperlink" Target="https://en.wikipedia.org/wiki/Semiconductor_chip" TargetMode="External"/><Relationship Id="rId3" Type="http://schemas.openxmlformats.org/officeDocument/2006/relationships/hyperlink" Target="https://en.wikipedia.org/wiki/Field-programmable_gate_array" TargetMode="External"/><Relationship Id="rId2" Type="http://schemas.openxmlformats.org/officeDocument/2006/relationships/hyperlink" Target="https://en.wikipedia.org/wiki/Backup" TargetMode="External"/><Relationship Id="rId1" Type="http://schemas.openxmlformats.org/officeDocument/2006/relationships/hyperlink" Target="https://en.wikipedia.org/wiki/Optimization_problem" TargetMode="Externa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2.png"/><Relationship Id="rId1" Type="http://schemas.openxmlformats.org/officeDocument/2006/relationships/image" Target="../media/image5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ctr"/>
            <a:r>
              <a:rPr lang="en-US" sz="2400" b="1" dirty="0">
                <a:solidFill>
                  <a:srgbClr val="C00000"/>
                </a:solidFill>
              </a:rPr>
              <a:t>     Learning Objectives</a:t>
            </a:r>
            <a:endParaRPr lang="en-US" sz="2400" b="1" dirty="0">
              <a:solidFill>
                <a:srgbClr val="C00000"/>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Non-deterministic algorithm.</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relation between NP-Hard and NP-complete</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the approximation algorithms.</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Need for Approximation algorithms.</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basic approximation algorithms.</a:t>
            </a:r>
            <a:endParaRPr lang="en-US" sz="2200" dirty="0">
              <a:solidFill>
                <a:schemeClr val="tx1"/>
              </a:solidFill>
            </a:endParaRP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952625" y="1156996"/>
            <a:ext cx="8286750" cy="50533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114225" y="1035698"/>
            <a:ext cx="9604116" cy="55363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952625" y="1119673"/>
            <a:ext cx="8286750" cy="50811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1782147" y="1315616"/>
            <a:ext cx="9591837" cy="5234474"/>
          </a:xfrm>
        </p:spPr>
        <p:txBody>
          <a:bodyPr>
            <a:normAutofit/>
          </a:bodyPr>
          <a:lstStyle/>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r>
              <a:rPr lang="en-US" sz="2000" dirty="0">
                <a:solidFill>
                  <a:schemeClr val="tx1"/>
                </a:solidFill>
              </a:rPr>
              <a:t>To write each row and column from 1 to 9 without repetition</a:t>
            </a:r>
            <a:endParaRPr lang="en-US" sz="2000" dirty="0">
              <a:solidFill>
                <a:schemeClr val="tx1"/>
              </a:solidFill>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032545" y="1045029"/>
            <a:ext cx="6238875" cy="48647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261118" y="1029477"/>
            <a:ext cx="8229600" cy="53588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Non-Deterministic Algorithm</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709542" y="1156995"/>
            <a:ext cx="8791575" cy="53757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Non-Deterministic Algorithm</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833433" y="1296955"/>
            <a:ext cx="8505825" cy="5356743"/>
          </a:xfrm>
          <a:prstGeom prst="rect">
            <a:avLst/>
          </a:prstGeom>
        </p:spPr>
      </p:pic>
      <p:sp>
        <p:nvSpPr>
          <p:cNvPr id="5" name="TextBox 4"/>
          <p:cNvSpPr txBox="1"/>
          <p:nvPr/>
        </p:nvSpPr>
        <p:spPr>
          <a:xfrm>
            <a:off x="8814180" y="2724539"/>
            <a:ext cx="3050155" cy="369332"/>
          </a:xfrm>
          <a:prstGeom prst="rect">
            <a:avLst/>
          </a:prstGeom>
          <a:noFill/>
        </p:spPr>
        <p:txBody>
          <a:bodyPr wrap="square" rtlCol="0">
            <a:spAutoFit/>
          </a:bodyPr>
          <a:lstStyle/>
          <a:p>
            <a:r>
              <a:rPr lang="en-US" dirty="0">
                <a:solidFill>
                  <a:srgbClr val="FF0000"/>
                </a:solidFill>
              </a:rPr>
              <a:t>No comparing, searching</a:t>
            </a:r>
            <a:endParaRPr lang="en-US"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marL="342900" indent="-342900" algn="just">
              <a:buFont typeface="Wingdings" panose="05000000000000000000" pitchFamily="2" charset="2"/>
              <a:buChar char="v"/>
            </a:pPr>
            <a:r>
              <a:rPr lang="en-US" sz="2200" dirty="0">
                <a:solidFill>
                  <a:schemeClr val="tx1"/>
                </a:solidFill>
              </a:rPr>
              <a:t>For </a:t>
            </a:r>
            <a:r>
              <a:rPr lang="en-US" sz="2200" b="1" dirty="0">
                <a:solidFill>
                  <a:srgbClr val="C00000"/>
                </a:solidFill>
              </a:rPr>
              <a:t>NP-complete problems</a:t>
            </a:r>
            <a:r>
              <a:rPr lang="en-US" sz="2200" dirty="0">
                <a:solidFill>
                  <a:schemeClr val="tx1"/>
                </a:solidFill>
              </a:rPr>
              <a:t>: there is no polynomial time algorithm to find an optimal solution.</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These algorithms are exponential in nature. When input size is increases the amount of resources become larger and larger…</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The solution of NP-complete problems are very difficult.</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847462" y="1026367"/>
            <a:ext cx="9610530" cy="56076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754155" y="1084667"/>
            <a:ext cx="9724130" cy="56613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1933089" y="1119770"/>
            <a:ext cx="8829675" cy="54768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Optimization Problems</a:t>
            </a:r>
            <a:endParaRPr lang="en-US" sz="4000" dirty="0"/>
          </a:p>
        </p:txBody>
      </p:sp>
      <p:sp>
        <p:nvSpPr>
          <p:cNvPr id="3" name="Subtitle 2"/>
          <p:cNvSpPr>
            <a:spLocks noGrp="1"/>
          </p:cNvSpPr>
          <p:nvPr>
            <p:ph type="subTitle" idx="1"/>
          </p:nvPr>
        </p:nvSpPr>
        <p:spPr>
          <a:xfrm>
            <a:off x="1819470" y="1175657"/>
            <a:ext cx="9797110" cy="5458408"/>
          </a:xfrm>
        </p:spPr>
        <p:txBody>
          <a:bodyPr>
            <a:normAutofit/>
          </a:bodyPr>
          <a:lstStyle/>
          <a:p>
            <a:pPr marL="342900" indent="-342900" algn="just">
              <a:buFont typeface="Wingdings" panose="05000000000000000000" pitchFamily="2" charset="2"/>
              <a:buChar char="v"/>
            </a:pPr>
            <a:r>
              <a:rPr lang="en-US" sz="2200" dirty="0">
                <a:solidFill>
                  <a:schemeClr val="tx1"/>
                </a:solidFill>
              </a:rPr>
              <a:t>In computer science, an optimization problem is the problem of finding the best solution from all feasible solutions.</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The objective may be either min. or max. depending on the problem considered.</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A large number of optimization problems which are required to be solved in practice are NP-Hard as well as NP-complete.</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For such problems, it is not possible to design algorithms that can find exactly optimal solution to all instances of the problem in polynomial time in the size of the input.</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Exponential time complexity, NP-complete problems are:</a:t>
            </a:r>
            <a:endParaRPr lang="en-US" sz="2200" dirty="0">
              <a:solidFill>
                <a:schemeClr val="tx1"/>
              </a:solidFill>
              <a:latin typeface="+mj-lt"/>
              <a:cs typeface="Courier New" panose="02070309020205020404" pitchFamily="49" charset="0"/>
            </a:endParaRPr>
          </a:p>
          <a:p>
            <a:pPr algn="just"/>
            <a:r>
              <a:rPr lang="en-US" sz="2200" dirty="0">
                <a:solidFill>
                  <a:schemeClr val="tx1"/>
                </a:solidFill>
                <a:latin typeface="+mj-lt"/>
                <a:cs typeface="Courier New" panose="02070309020205020404" pitchFamily="49" charset="0"/>
              </a:rPr>
              <a:t>            </a:t>
            </a:r>
            <a:r>
              <a:rPr lang="en-US" sz="2000" i="1" dirty="0">
                <a:solidFill>
                  <a:schemeClr val="tx1"/>
                </a:solidFill>
                <a:latin typeface="+mj-lt"/>
                <a:cs typeface="Courier New" panose="02070309020205020404" pitchFamily="49" charset="0"/>
              </a:rPr>
              <a:t>TSP: minimize the cost of the route</a:t>
            </a:r>
            <a:endParaRPr lang="en-US" sz="2000" i="1" dirty="0">
              <a:solidFill>
                <a:schemeClr val="tx1"/>
              </a:solidFill>
              <a:latin typeface="+mj-lt"/>
              <a:cs typeface="Courier New" panose="02070309020205020404" pitchFamily="49" charset="0"/>
            </a:endParaRPr>
          </a:p>
          <a:p>
            <a:pPr algn="just"/>
            <a:r>
              <a:rPr lang="en-US" sz="2000" i="1" dirty="0">
                <a:solidFill>
                  <a:schemeClr val="tx1"/>
                </a:solidFill>
                <a:latin typeface="+mj-lt"/>
                <a:cs typeface="Courier New" panose="02070309020205020404" pitchFamily="49" charset="0"/>
              </a:rPr>
              <a:t>             0/1 Knapsack problem: maximize the profit</a:t>
            </a:r>
            <a:endParaRPr lang="en-US" sz="2000" i="1" dirty="0">
              <a:solidFill>
                <a:schemeClr val="tx1"/>
              </a:solidFill>
              <a:latin typeface="+mj-lt"/>
              <a:cs typeface="Courier New" panose="02070309020205020404" pitchFamily="49" charset="0"/>
            </a:endParaRPr>
          </a:p>
          <a:p>
            <a:pPr algn="just"/>
            <a:r>
              <a:rPr lang="en-US" sz="2000" i="1" dirty="0">
                <a:solidFill>
                  <a:schemeClr val="tx1"/>
                </a:solidFill>
                <a:latin typeface="+mj-lt"/>
                <a:cs typeface="Courier New" panose="02070309020205020404" pitchFamily="49" charset="0"/>
              </a:rPr>
              <a:t>             Vertices cover problem: minimize the number of vertices</a:t>
            </a:r>
            <a:endParaRPr lang="en-US" sz="2000" i="1" dirty="0">
              <a:solidFill>
                <a:schemeClr val="tx1"/>
              </a:solidFill>
              <a:latin typeface="+mj-lt"/>
              <a:cs typeface="Courier New" panose="02070309020205020404" pitchFamily="49" charset="0"/>
            </a:endParaRP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rPr>
              <a:t>Address NP-complete problems</a:t>
            </a:r>
            <a:endParaRPr lang="en-US" sz="4000" dirty="0"/>
          </a:p>
        </p:txBody>
      </p:sp>
      <p:sp>
        <p:nvSpPr>
          <p:cNvPr id="3" name="Subtitle 2"/>
          <p:cNvSpPr>
            <a:spLocks noGrp="1"/>
          </p:cNvSpPr>
          <p:nvPr>
            <p:ph type="subTitle" idx="1"/>
          </p:nvPr>
        </p:nvSpPr>
        <p:spPr>
          <a:xfrm>
            <a:off x="1866123" y="1278293"/>
            <a:ext cx="9507862" cy="5075853"/>
          </a:xfrm>
        </p:spPr>
        <p:txBody>
          <a:bodyPr>
            <a:normAutofit/>
          </a:bodyPr>
          <a:lstStyle/>
          <a:p>
            <a:pPr algn="just"/>
            <a:r>
              <a:rPr lang="en-US" sz="2200" dirty="0">
                <a:solidFill>
                  <a:schemeClr val="tx1"/>
                </a:solidFill>
              </a:rPr>
              <a:t>                                    How to solve NP-complete problems?</a:t>
            </a:r>
            <a:endParaRPr lang="en-US" sz="2200" dirty="0">
              <a:solidFill>
                <a:schemeClr val="tx1"/>
              </a:solidFill>
            </a:endParaRP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Brute-force algorithm</a:t>
            </a:r>
            <a:endParaRPr lang="en-US" sz="2400" dirty="0">
              <a:solidFill>
                <a:schemeClr val="tx1"/>
              </a:solidFill>
              <a:latin typeface="+mj-lt"/>
              <a:cs typeface="Courier New" panose="02070309020205020404" pitchFamily="49" charset="0"/>
            </a:endParaRP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find optimal solution</a:t>
            </a:r>
            <a:endParaRPr lang="en-US" sz="2000" dirty="0">
              <a:solidFill>
                <a:schemeClr val="tx1"/>
              </a:solidFill>
              <a:latin typeface="+mj-lt"/>
              <a:cs typeface="Courier New" panose="02070309020205020404" pitchFamily="49" charset="0"/>
            </a:endParaRPr>
          </a:p>
          <a:p>
            <a:pPr algn="just"/>
            <a:r>
              <a:rPr lang="en-US" sz="2000" dirty="0">
                <a:solidFill>
                  <a:schemeClr val="tx1"/>
                </a:solidFill>
                <a:latin typeface="+mj-lt"/>
                <a:cs typeface="Courier New" panose="02070309020205020404" pitchFamily="49" charset="0"/>
              </a:rPr>
              <a:t>                    No guarantees on running time.   </a:t>
            </a:r>
            <a:endParaRPr lang="en-US" sz="20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Heuristics</a:t>
            </a:r>
            <a:endParaRPr lang="en-US" sz="2400" dirty="0">
              <a:solidFill>
                <a:schemeClr val="tx1"/>
              </a:solidFill>
              <a:latin typeface="+mj-lt"/>
              <a:cs typeface="Courier New" panose="02070309020205020404" pitchFamily="49" charset="0"/>
            </a:endParaRP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run in polynomial time</a:t>
            </a:r>
            <a:endParaRPr lang="en-US" sz="2000" dirty="0">
              <a:solidFill>
                <a:schemeClr val="tx1"/>
              </a:solidFill>
              <a:latin typeface="+mj-lt"/>
              <a:cs typeface="Courier New" panose="02070309020205020404" pitchFamily="49" charset="0"/>
            </a:endParaRPr>
          </a:p>
          <a:p>
            <a:pPr algn="just"/>
            <a:r>
              <a:rPr lang="en-US" sz="2000" dirty="0">
                <a:solidFill>
                  <a:schemeClr val="tx1"/>
                </a:solidFill>
                <a:latin typeface="+mj-lt"/>
                <a:cs typeface="Courier New" panose="02070309020205020404" pitchFamily="49" charset="0"/>
              </a:rPr>
              <a:t>                    No guarantees on quality of solution. </a:t>
            </a:r>
            <a:endParaRPr lang="en-US" sz="20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Approximation algorithms</a:t>
            </a:r>
            <a:endParaRPr lang="en-US" sz="2400" dirty="0">
              <a:solidFill>
                <a:schemeClr val="tx1"/>
              </a:solidFill>
              <a:latin typeface="+mj-lt"/>
              <a:cs typeface="Courier New" panose="02070309020205020404" pitchFamily="49" charset="0"/>
            </a:endParaRP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run in polynomial time</a:t>
            </a:r>
            <a:endParaRPr lang="en-US" sz="2000" dirty="0">
              <a:solidFill>
                <a:schemeClr val="tx1"/>
              </a:solidFill>
              <a:latin typeface="+mj-lt"/>
              <a:cs typeface="Courier New" panose="02070309020205020404" pitchFamily="49" charset="0"/>
            </a:endParaRPr>
          </a:p>
          <a:p>
            <a:pPr algn="just"/>
            <a:r>
              <a:rPr lang="en-US" sz="2000" dirty="0">
                <a:solidFill>
                  <a:schemeClr val="tx1"/>
                </a:solidFill>
                <a:latin typeface="+mj-lt"/>
                <a:cs typeface="Courier New" panose="02070309020205020404" pitchFamily="49" charset="0"/>
              </a:rPr>
              <a:t>                   Guaranteed to find near-optimal solution</a:t>
            </a:r>
            <a:endParaRPr lang="en-US" sz="20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Brute-force algorithm</a:t>
            </a:r>
            <a:endParaRPr lang="en-US" sz="4000" dirty="0">
              <a:solidFill>
                <a:schemeClr val="tx1"/>
              </a:solidFill>
              <a:cs typeface="Courier New" panose="02070309020205020404" pitchFamily="49" charset="0"/>
            </a:endParaRPr>
          </a:p>
        </p:txBody>
      </p:sp>
      <p:sp>
        <p:nvSpPr>
          <p:cNvPr id="3" name="Subtitle 2"/>
          <p:cNvSpPr>
            <a:spLocks noGrp="1"/>
          </p:cNvSpPr>
          <p:nvPr>
            <p:ph type="subTitle" idx="1"/>
          </p:nvPr>
        </p:nvSpPr>
        <p:spPr>
          <a:xfrm>
            <a:off x="2458584" y="1614196"/>
            <a:ext cx="8915399" cy="4217437"/>
          </a:xfrm>
        </p:spPr>
        <p:txBody>
          <a:bodyPr>
            <a:normAutofit/>
          </a:bodyPr>
          <a:lstStyle/>
          <a:p>
            <a:pPr marL="342900" indent="-342900" algn="just">
              <a:buFont typeface="Wingdings" panose="05000000000000000000" pitchFamily="2" charset="2"/>
              <a:buChar char="v"/>
            </a:pPr>
            <a:r>
              <a:rPr lang="en-US" sz="2400" dirty="0">
                <a:solidFill>
                  <a:schemeClr val="tx1"/>
                </a:solidFill>
                <a:cs typeface="Courier New" panose="02070309020205020404" pitchFamily="49" charset="0"/>
              </a:rPr>
              <a:t>Brute-force algorithm</a:t>
            </a:r>
            <a:endParaRPr lang="en-US" sz="2400" dirty="0">
              <a:solidFill>
                <a:schemeClr val="tx1"/>
              </a:solidFill>
              <a:cs typeface="Courier New" panose="02070309020205020404" pitchFamily="49" charset="0"/>
            </a:endParaRPr>
          </a:p>
          <a:p>
            <a:pPr algn="just"/>
            <a:r>
              <a:rPr lang="en-US" sz="2000" dirty="0">
                <a:solidFill>
                  <a:schemeClr val="tx1"/>
                </a:solidFill>
              </a:rPr>
              <a:t>In popular Travelling Salesman Problem Solutions:</a:t>
            </a:r>
            <a:endParaRPr lang="en-US" sz="2000" dirty="0">
              <a:solidFill>
                <a:schemeClr val="tx1"/>
              </a:solidFill>
            </a:endParaRPr>
          </a:p>
          <a:p>
            <a:pPr marL="342900" indent="-342900" algn="just">
              <a:buFont typeface="Wingdings" panose="05000000000000000000" pitchFamily="2" charset="2"/>
              <a:buChar char="Ø"/>
            </a:pPr>
            <a:r>
              <a:rPr lang="en-US" sz="2000" dirty="0">
                <a:solidFill>
                  <a:schemeClr val="tx1"/>
                </a:solidFill>
              </a:rPr>
              <a:t>The Brute Force approach, also known as the Naive Approach, calculates and compares </a:t>
            </a:r>
            <a:r>
              <a:rPr lang="en-US" sz="2000" b="1" i="1" dirty="0">
                <a:solidFill>
                  <a:srgbClr val="FF0000"/>
                </a:solidFill>
              </a:rPr>
              <a:t>all possible permutations of routes </a:t>
            </a:r>
            <a:r>
              <a:rPr lang="en-US" sz="2000" dirty="0">
                <a:solidFill>
                  <a:schemeClr val="tx1"/>
                </a:solidFill>
              </a:rPr>
              <a:t>or paths to determine the shortest unique solution. </a:t>
            </a:r>
            <a:endParaRPr lang="en-US" sz="2000" dirty="0">
              <a:solidFill>
                <a:schemeClr val="tx1"/>
              </a:solidFill>
            </a:endParaRPr>
          </a:p>
          <a:p>
            <a:pPr marL="342900" indent="-342900" algn="just">
              <a:buFont typeface="Wingdings" panose="05000000000000000000" pitchFamily="2" charset="2"/>
              <a:buChar char="Ø"/>
            </a:pPr>
            <a:r>
              <a:rPr lang="en-US" sz="2000" dirty="0">
                <a:solidFill>
                  <a:schemeClr val="tx1"/>
                </a:solidFill>
              </a:rPr>
              <a:t>To solve the TSP using the Brute-Force approach, you must calculate the total number of routes and then draw and list all the possible routes. Calculate the distance of each route and then choose the shortest one.</a:t>
            </a:r>
            <a:endParaRPr lang="en-US" sz="2000" dirty="0">
              <a:solidFill>
                <a:schemeClr val="tx1"/>
              </a:solidFill>
            </a:endParaRPr>
          </a:p>
          <a:p>
            <a:pPr marL="342900" indent="-342900" algn="just">
              <a:buFont typeface="Wingdings" panose="05000000000000000000" pitchFamily="2" charset="2"/>
              <a:buChar char="Ø"/>
            </a:pPr>
            <a:r>
              <a:rPr lang="en-US" sz="2000" dirty="0">
                <a:solidFill>
                  <a:schemeClr val="tx1"/>
                </a:solidFill>
              </a:rPr>
              <a:t>This is the </a:t>
            </a:r>
            <a:r>
              <a:rPr lang="en-US" sz="2000" b="1" i="1" dirty="0">
                <a:solidFill>
                  <a:srgbClr val="FF0000"/>
                </a:solidFill>
              </a:rPr>
              <a:t>optimal solution</a:t>
            </a:r>
            <a:r>
              <a:rPr lang="en-US" sz="2000" dirty="0">
                <a:solidFill>
                  <a:schemeClr val="tx1"/>
                </a:solidFill>
              </a:rPr>
              <a:t>. </a:t>
            </a:r>
            <a:endParaRPr lang="en-US" sz="2000" dirty="0">
              <a:solidFill>
                <a:schemeClr val="tx1"/>
              </a:solidFill>
              <a:latin typeface="+mj-lt"/>
              <a:cs typeface="Courier New" panose="02070309020205020404" pitchFamily="49" charset="0"/>
            </a:endParaRPr>
          </a:p>
          <a:p>
            <a:pPr marL="342900" indent="-342900">
              <a:buFont typeface="Wingdings" panose="05000000000000000000" pitchFamily="2" charset="2"/>
              <a:buChar char="Ø"/>
            </a:pPr>
            <a:endParaRPr lang="en-US" sz="2000"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endParaRPr lang="en-US" sz="4000" dirty="0">
              <a:solidFill>
                <a:schemeClr val="tx1"/>
              </a:solidFill>
              <a:cs typeface="Courier New" panose="02070309020205020404" pitchFamily="49" charset="0"/>
            </a:endParaRPr>
          </a:p>
        </p:txBody>
      </p:sp>
      <p:sp>
        <p:nvSpPr>
          <p:cNvPr id="3" name="Subtitle 2"/>
          <p:cNvSpPr>
            <a:spLocks noGrp="1"/>
          </p:cNvSpPr>
          <p:nvPr>
            <p:ph type="subTitle" idx="1"/>
          </p:nvPr>
        </p:nvSpPr>
        <p:spPr>
          <a:xfrm>
            <a:off x="2458584" y="942392"/>
            <a:ext cx="8915399" cy="5915608"/>
          </a:xfrm>
        </p:spPr>
        <p:txBody>
          <a:bodyPr>
            <a:normAutofit/>
          </a:bodyPr>
          <a:lstStyle/>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A heuristic technique, is any approach to problem-solving that uses a practical method or various </a:t>
            </a:r>
            <a:r>
              <a:rPr lang="en-US" sz="2000" b="1" i="1" dirty="0">
                <a:solidFill>
                  <a:srgbClr val="FF0000"/>
                </a:solidFill>
              </a:rPr>
              <a:t>shortcuts in order to produce solutions </a:t>
            </a:r>
            <a:r>
              <a:rPr lang="en-US" sz="2000" dirty="0">
                <a:solidFill>
                  <a:schemeClr val="tx1"/>
                </a:solidFill>
              </a:rPr>
              <a:t>that </a:t>
            </a:r>
            <a:r>
              <a:rPr lang="en-US" sz="2000" b="1" i="1" dirty="0">
                <a:solidFill>
                  <a:srgbClr val="FF0000"/>
                </a:solidFill>
              </a:rPr>
              <a:t>may not be optimal </a:t>
            </a:r>
            <a:r>
              <a:rPr lang="en-US" sz="2000" dirty="0">
                <a:solidFill>
                  <a:schemeClr val="tx1"/>
                </a:solidFill>
              </a:rPr>
              <a:t>but are sufficient given a </a:t>
            </a:r>
            <a:r>
              <a:rPr lang="en-US" sz="2000" b="1" i="1" dirty="0">
                <a:solidFill>
                  <a:srgbClr val="FF0000"/>
                </a:solidFill>
              </a:rPr>
              <a:t>limited timeframe </a:t>
            </a:r>
            <a:r>
              <a:rPr lang="en-US" sz="2000" dirty="0">
                <a:solidFill>
                  <a:schemeClr val="tx1"/>
                </a:solidFill>
              </a:rPr>
              <a:t>or deadline. </a:t>
            </a:r>
            <a:endParaRPr lang="en-US" sz="2000" dirty="0">
              <a:solidFill>
                <a:schemeClr val="tx1"/>
              </a:solidFill>
            </a:endParaRPr>
          </a:p>
          <a:p>
            <a:pPr algn="just"/>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Heuristics methods are intended to be flexible and are used for </a:t>
            </a:r>
            <a:r>
              <a:rPr lang="en-US" sz="2000" b="1" i="1" dirty="0">
                <a:solidFill>
                  <a:srgbClr val="FF0000"/>
                </a:solidFill>
              </a:rPr>
              <a:t>quick decisions</a:t>
            </a:r>
            <a:r>
              <a:rPr lang="en-US" sz="2000" dirty="0">
                <a:solidFill>
                  <a:schemeClr val="tx1"/>
                </a:solidFill>
              </a:rPr>
              <a:t>, especially when finding an optimal solution is either impossible or impractical and when working with complex data.</a:t>
            </a:r>
            <a:endParaRPr lang="en-US" sz="2000" dirty="0">
              <a:solidFill>
                <a:schemeClr val="tx1"/>
              </a:solidFill>
            </a:endParaRPr>
          </a:p>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Analysts in every industry use rules of thumb such as intelligent guesswork, trial and error, the process of elimination, past formulas, and the analysis of historical data to solve a problem.</a:t>
            </a:r>
            <a:endParaRPr lang="en-US" sz="2000" dirty="0">
              <a:solidFill>
                <a:schemeClr val="tx1"/>
              </a:solidFill>
            </a:endParaRPr>
          </a:p>
          <a:p>
            <a:endParaRPr lang="en-US" sz="2000"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endParaRPr lang="en-US" sz="4000" dirty="0">
              <a:solidFill>
                <a:schemeClr val="tx1"/>
              </a:solidFill>
              <a:cs typeface="Courier New" panose="02070309020205020404" pitchFamily="49" charset="0"/>
            </a:endParaRPr>
          </a:p>
        </p:txBody>
      </p:sp>
      <p:sp>
        <p:nvSpPr>
          <p:cNvPr id="3" name="Subtitle 2"/>
          <p:cNvSpPr>
            <a:spLocks noGrp="1"/>
          </p:cNvSpPr>
          <p:nvPr>
            <p:ph type="subTitle" idx="1"/>
          </p:nvPr>
        </p:nvSpPr>
        <p:spPr>
          <a:xfrm>
            <a:off x="2458584" y="942392"/>
            <a:ext cx="8915399" cy="5915608"/>
          </a:xfrm>
        </p:spPr>
        <p:txBody>
          <a:bodyPr>
            <a:normAutofit/>
          </a:bodyPr>
          <a:lstStyle/>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For example, </a:t>
            </a:r>
            <a:r>
              <a:rPr lang="en-US" sz="2000" b="1" i="1" dirty="0">
                <a:solidFill>
                  <a:srgbClr val="FF0000"/>
                </a:solidFill>
              </a:rPr>
              <a:t>Fast Food ABC</a:t>
            </a:r>
            <a:r>
              <a:rPr lang="en-US" sz="2000" dirty="0">
                <a:solidFill>
                  <a:schemeClr val="tx1"/>
                </a:solidFill>
              </a:rPr>
              <a:t> expanded its operations to Bangladesh and its stock price soared. An analyst noted that Bangladesh is a profitable venture for all fast-food chains. </a:t>
            </a:r>
            <a:endParaRPr lang="en-US" sz="2000" dirty="0">
              <a:solidFill>
                <a:schemeClr val="tx1"/>
              </a:solidFill>
            </a:endParaRPr>
          </a:p>
          <a:p>
            <a:pPr algn="just"/>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Therefore, when Fast Food XYZ announced its plan to explore the Bangladesh market the following year, the analyst wasted no time in giving XYZ a “buy” recommendation.</a:t>
            </a:r>
            <a:endParaRPr lang="en-US" sz="2000" dirty="0">
              <a:solidFill>
                <a:schemeClr val="tx1"/>
              </a:solidFill>
            </a:endParaRPr>
          </a:p>
          <a:p>
            <a:pPr marL="342900" indent="-342900" algn="just">
              <a:buFont typeface="Wingdings" panose="05000000000000000000" pitchFamily="2" charset="2"/>
              <a:buChar char="v"/>
            </a:pPr>
            <a:endParaRPr lang="en-US" sz="2000" dirty="0">
              <a:solidFill>
                <a:schemeClr val="tx1"/>
              </a:solidFill>
              <a:latin typeface="+mj-lt"/>
            </a:endParaRPr>
          </a:p>
          <a:p>
            <a:pPr marL="342900" indent="-342900" algn="just">
              <a:buFont typeface="Wingdings" panose="05000000000000000000" pitchFamily="2" charset="2"/>
              <a:buChar char="v"/>
            </a:pPr>
            <a:r>
              <a:rPr lang="en-US" sz="2000" dirty="0">
                <a:solidFill>
                  <a:schemeClr val="tx1"/>
                </a:solidFill>
                <a:latin typeface="+mj-lt"/>
              </a:rPr>
              <a:t>Although his shortcut approach </a:t>
            </a:r>
            <a:r>
              <a:rPr lang="en-US" sz="2000" b="1" i="1" dirty="0">
                <a:solidFill>
                  <a:srgbClr val="FF0000"/>
                </a:solidFill>
                <a:latin typeface="+mj-lt"/>
              </a:rPr>
              <a:t>saved reviewing data </a:t>
            </a:r>
            <a:r>
              <a:rPr lang="en-US" sz="2000" dirty="0">
                <a:solidFill>
                  <a:schemeClr val="tx1"/>
                </a:solidFill>
                <a:latin typeface="+mj-lt"/>
              </a:rPr>
              <a:t>for both companies, </a:t>
            </a:r>
            <a:r>
              <a:rPr lang="en-US" sz="2000" b="1" i="1" dirty="0">
                <a:solidFill>
                  <a:srgbClr val="FF0000"/>
                </a:solidFill>
                <a:latin typeface="+mj-lt"/>
              </a:rPr>
              <a:t>it may not have been the best decision</a:t>
            </a:r>
            <a:r>
              <a:rPr lang="en-US" sz="2000" dirty="0">
                <a:solidFill>
                  <a:schemeClr val="tx1"/>
                </a:solidFill>
                <a:latin typeface="+mj-lt"/>
              </a:rPr>
              <a:t>. Fast Food XYZ may have food that is not appealing to Bangladeshi consumers. </a:t>
            </a:r>
            <a:endParaRPr lang="en-US" sz="2000" dirty="0">
              <a:solidFill>
                <a:schemeClr val="tx1"/>
              </a:solidFill>
              <a:latin typeface="+mj-lt"/>
            </a:endParaRPr>
          </a:p>
          <a:p>
            <a:pPr algn="just"/>
            <a:endParaRPr lang="en-US" sz="2000" dirty="0">
              <a:solidFill>
                <a:schemeClr val="tx1"/>
              </a:solidFill>
              <a:latin typeface="+mj-lt"/>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3" y="359230"/>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endParaRPr lang="en-US" sz="4000" dirty="0">
              <a:solidFill>
                <a:schemeClr val="tx1"/>
              </a:solidFill>
              <a:cs typeface="Courier New" panose="02070309020205020404" pitchFamily="49" charset="0"/>
            </a:endParaRPr>
          </a:p>
        </p:txBody>
      </p:sp>
      <p:sp>
        <p:nvSpPr>
          <p:cNvPr id="3" name="Subtitle 2"/>
          <p:cNvSpPr>
            <a:spLocks noGrp="1"/>
          </p:cNvSpPr>
          <p:nvPr>
            <p:ph type="subTitle" idx="1"/>
          </p:nvPr>
        </p:nvSpPr>
        <p:spPr>
          <a:xfrm>
            <a:off x="2458584" y="1735494"/>
            <a:ext cx="8915399" cy="5122506"/>
          </a:xfrm>
        </p:spPr>
        <p:txBody>
          <a:bodyPr>
            <a:normAutofit/>
          </a:bodyPr>
          <a:lstStyle/>
          <a:p>
            <a:pPr algn="just"/>
            <a:r>
              <a:rPr lang="en-US" sz="2000" dirty="0">
                <a:solidFill>
                  <a:schemeClr val="tx1"/>
                </a:solidFill>
                <a:latin typeface="+mj-lt"/>
              </a:rPr>
              <a:t> </a:t>
            </a:r>
            <a:endParaRPr lang="en-US" sz="2000" dirty="0">
              <a:solidFill>
                <a:schemeClr val="tx1"/>
              </a:solidFill>
              <a:latin typeface="+mj-lt"/>
            </a:endParaRPr>
          </a:p>
          <a:p>
            <a:pPr algn="just"/>
            <a:r>
              <a:rPr lang="en-US" sz="2000" dirty="0">
                <a:solidFill>
                  <a:schemeClr val="tx1"/>
                </a:solidFill>
              </a:rPr>
              <a:t>In popular Travelling Salesman Problem Solutions:</a:t>
            </a:r>
            <a:endParaRPr lang="en-US" sz="2000" dirty="0">
              <a:solidFill>
                <a:schemeClr val="tx1"/>
              </a:solidFill>
            </a:endParaRPr>
          </a:p>
          <a:p>
            <a:pPr marL="342900" indent="-342900" algn="just">
              <a:buFont typeface="Wingdings" panose="05000000000000000000" pitchFamily="2" charset="2"/>
              <a:buChar char="v"/>
            </a:pPr>
            <a:endParaRPr lang="en-US" sz="20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000" dirty="0">
                <a:solidFill>
                  <a:schemeClr val="tx1"/>
                </a:solidFill>
                <a:latin typeface="+mj-lt"/>
                <a:cs typeface="Courier New" panose="02070309020205020404" pitchFamily="49" charset="0"/>
              </a:rPr>
              <a:t>In TSP, </a:t>
            </a:r>
            <a:r>
              <a:rPr lang="en-US" sz="2000" dirty="0">
                <a:solidFill>
                  <a:schemeClr val="tx1"/>
                </a:solidFill>
                <a:latin typeface="+mj-lt"/>
              </a:rPr>
              <a:t>This is perhaps the simplest TSP heuristic. The key to this method is to always visit the </a:t>
            </a:r>
            <a:r>
              <a:rPr lang="en-US" sz="2000" b="1" i="1" dirty="0">
                <a:solidFill>
                  <a:srgbClr val="FF0000"/>
                </a:solidFill>
                <a:latin typeface="+mj-lt"/>
              </a:rPr>
              <a:t>nearest destination </a:t>
            </a:r>
            <a:r>
              <a:rPr lang="en-US" sz="2000" dirty="0">
                <a:solidFill>
                  <a:schemeClr val="tx1"/>
                </a:solidFill>
                <a:latin typeface="+mj-lt"/>
              </a:rPr>
              <a:t>and then go back to the first city when all other cities are visited. </a:t>
            </a:r>
            <a:endParaRPr lang="en-US" sz="2000" dirty="0">
              <a:solidFill>
                <a:schemeClr val="tx1"/>
              </a:solidFill>
              <a:latin typeface="+mj-lt"/>
            </a:endParaRPr>
          </a:p>
          <a:p>
            <a:pPr algn="just"/>
            <a:endParaRPr lang="en-US" sz="2000" dirty="0">
              <a:solidFill>
                <a:schemeClr val="tx1"/>
              </a:solidFill>
              <a:latin typeface="+mj-lt"/>
            </a:endParaRPr>
          </a:p>
          <a:p>
            <a:pPr marL="342900" indent="-342900" algn="just">
              <a:buFont typeface="Wingdings" panose="05000000000000000000" pitchFamily="2" charset="2"/>
              <a:buChar char="v"/>
            </a:pPr>
            <a:r>
              <a:rPr lang="en-US" sz="2000" dirty="0">
                <a:solidFill>
                  <a:schemeClr val="tx1"/>
                </a:solidFill>
                <a:latin typeface="+mj-lt"/>
              </a:rPr>
              <a:t>To solve the TSP using this method, choose a random city and then look for the </a:t>
            </a:r>
            <a:r>
              <a:rPr lang="en-US" sz="2000" b="1" i="1" dirty="0">
                <a:solidFill>
                  <a:srgbClr val="FF0000"/>
                </a:solidFill>
                <a:latin typeface="+mj-lt"/>
              </a:rPr>
              <a:t>closest unvisited city </a:t>
            </a:r>
            <a:r>
              <a:rPr lang="en-US" sz="2000" dirty="0">
                <a:solidFill>
                  <a:schemeClr val="tx1"/>
                </a:solidFill>
                <a:latin typeface="+mj-lt"/>
              </a:rPr>
              <a:t>and go there. Once you have visited all cities, you must return to the first city. </a:t>
            </a:r>
            <a:endParaRPr lang="en-US" sz="20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3" y="1184987"/>
            <a:ext cx="8915399" cy="5421086"/>
          </a:xfrm>
        </p:spPr>
        <p:txBody>
          <a:bodyPr>
            <a:normAutofit/>
          </a:bodyPr>
          <a:lstStyle/>
          <a:p>
            <a:pPr marL="342900" indent="-342900" algn="just">
              <a:buFont typeface="Wingdings" panose="05000000000000000000" pitchFamily="2" charset="2"/>
              <a:buChar char="v"/>
            </a:pPr>
            <a:r>
              <a:rPr lang="en-US" sz="2200" dirty="0">
                <a:solidFill>
                  <a:schemeClr val="tx1"/>
                </a:solidFill>
              </a:rPr>
              <a:t>An approximation algorithm returns a solution to a combinatorial optimization problem that is provably close to optimal (as opposed to a </a:t>
            </a:r>
            <a:r>
              <a:rPr lang="en-US" sz="2200" i="1" dirty="0">
                <a:solidFill>
                  <a:schemeClr val="tx1"/>
                </a:solidFill>
              </a:rPr>
              <a:t>heuristic</a:t>
            </a:r>
            <a:r>
              <a:rPr lang="en-US" sz="2200" dirty="0">
                <a:solidFill>
                  <a:schemeClr val="tx1"/>
                </a:solidFill>
              </a:rPr>
              <a:t> that may or may not find a good solution).</a:t>
            </a:r>
            <a:endParaRPr lang="en-US" sz="2200" dirty="0">
              <a:solidFill>
                <a:schemeClr val="tx1"/>
              </a:solidFill>
            </a:endParaRPr>
          </a:p>
          <a:p>
            <a:pPr algn="just"/>
            <a:r>
              <a:rPr lang="en-US" sz="2200" dirty="0">
                <a:solidFill>
                  <a:schemeClr val="tx1"/>
                </a:solidFill>
              </a:rPr>
              <a:t> </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Approximation algorithms are typically used </a:t>
            </a:r>
            <a:r>
              <a:rPr lang="en-US" sz="2200" b="1" i="1" dirty="0">
                <a:solidFill>
                  <a:srgbClr val="FF0000"/>
                </a:solidFill>
              </a:rPr>
              <a:t>when finding an optimal solution is intractable</a:t>
            </a:r>
            <a:r>
              <a:rPr lang="en-US" sz="2200" dirty="0">
                <a:solidFill>
                  <a:schemeClr val="tx1"/>
                </a:solidFill>
              </a:rPr>
              <a:t>, but can also be used in some situations where a near-optimal solution can be found quickly and an exact solution is not needed. </a:t>
            </a:r>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Challenge: Need to prove a solution’s value, which is close to optimum value, without even knowing the optimum value. </a:t>
            </a: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376487" y="1809750"/>
            <a:ext cx="7439025" cy="3238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717540" y="1125602"/>
            <a:ext cx="7391400" cy="49053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458584" y="1628775"/>
            <a:ext cx="4562475" cy="3857625"/>
          </a:xfrm>
          <a:prstGeom prst="rect">
            <a:avLst/>
          </a:prstGeom>
        </p:spPr>
      </p:pic>
      <p:pic>
        <p:nvPicPr>
          <p:cNvPr id="6" name="Picture 5"/>
          <p:cNvPicPr>
            <a:picLocks noChangeAspect="1"/>
          </p:cNvPicPr>
          <p:nvPr/>
        </p:nvPicPr>
        <p:blipFill>
          <a:blip r:embed="rId2"/>
          <a:stretch>
            <a:fillRect/>
          </a:stretch>
        </p:blipFill>
        <p:spPr>
          <a:xfrm>
            <a:off x="7362532" y="2017550"/>
            <a:ext cx="4352925" cy="2076450"/>
          </a:xfrm>
          <a:prstGeom prst="rect">
            <a:avLst/>
          </a:prstGeom>
        </p:spPr>
      </p:pic>
      <p:sp>
        <p:nvSpPr>
          <p:cNvPr id="7" name="TextBox 6"/>
          <p:cNvSpPr txBox="1"/>
          <p:nvPr/>
        </p:nvSpPr>
        <p:spPr>
          <a:xfrm>
            <a:off x="8341567" y="4741517"/>
            <a:ext cx="3200400" cy="1200329"/>
          </a:xfrm>
          <a:prstGeom prst="rect">
            <a:avLst/>
          </a:prstGeom>
          <a:noFill/>
        </p:spPr>
        <p:txBody>
          <a:bodyPr wrap="square" rtlCol="0">
            <a:spAutoFit/>
          </a:bodyPr>
          <a:lstStyle/>
          <a:p>
            <a:r>
              <a:rPr lang="en-US" sz="2400" i="1" dirty="0"/>
              <a:t>A(I)=C</a:t>
            </a:r>
            <a:endParaRPr lang="en-US" sz="2400" i="1" dirty="0"/>
          </a:p>
          <a:p>
            <a:r>
              <a:rPr lang="en-US" sz="2400" i="1" dirty="0"/>
              <a:t>A*(I)=C*</a:t>
            </a:r>
            <a:endParaRPr lang="en-US" sz="2400" i="1" dirty="0"/>
          </a:p>
          <a:p>
            <a:r>
              <a:rPr lang="en-US" sz="2400" i="1" dirty="0"/>
              <a:t>K=</a:t>
            </a:r>
            <a:r>
              <a:rPr lang="el-GR" sz="2400" i="1" dirty="0"/>
              <a:t>ρ</a:t>
            </a:r>
            <a:r>
              <a:rPr lang="en-US" sz="2400" i="1" dirty="0"/>
              <a:t>(n)</a:t>
            </a:r>
            <a:endParaRPr lang="en-US" sz="2400"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648075" y="1962150"/>
            <a:ext cx="4895850" cy="2933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
        <p:nvSpPr>
          <p:cNvPr id="6" name="TextBox 5"/>
          <p:cNvSpPr txBox="1"/>
          <p:nvPr/>
        </p:nvSpPr>
        <p:spPr>
          <a:xfrm>
            <a:off x="1762812" y="1444040"/>
            <a:ext cx="10077253" cy="5078313"/>
          </a:xfrm>
          <a:prstGeom prst="rect">
            <a:avLst/>
          </a:prstGeom>
          <a:noFill/>
        </p:spPr>
        <p:txBody>
          <a:bodyPr wrap="square">
            <a:spAutoFit/>
          </a:bodyPr>
          <a:lstStyle/>
          <a:p>
            <a:pPr fontAlgn="base"/>
            <a:r>
              <a:rPr lang="en-US" b="1" i="0" dirty="0">
                <a:solidFill>
                  <a:srgbClr val="273239"/>
                </a:solidFill>
                <a:effectLst/>
                <a:latin typeface="urw-din"/>
              </a:rPr>
              <a:t>Some examples of the Approximation algorithm :</a:t>
            </a:r>
            <a:br>
              <a:rPr lang="en-US" b="0" i="0" dirty="0">
                <a:solidFill>
                  <a:srgbClr val="273239"/>
                </a:solidFill>
                <a:effectLst/>
                <a:latin typeface="urw-din"/>
              </a:rPr>
            </a:br>
            <a:r>
              <a:rPr lang="en-US" b="0" i="0" dirty="0">
                <a:solidFill>
                  <a:srgbClr val="273239"/>
                </a:solidFill>
                <a:effectLst/>
                <a:latin typeface="urw-din"/>
              </a:rPr>
              <a:t>Here, we will discuss some examples of the Approximation Algorithm as follows.</a:t>
            </a:r>
            <a:endParaRPr lang="en-US" b="0" i="0" dirty="0">
              <a:solidFill>
                <a:srgbClr val="273239"/>
              </a:solidFill>
              <a:effectLst/>
              <a:latin typeface="urw-din"/>
            </a:endParaRPr>
          </a:p>
          <a:p>
            <a:pPr fontAlgn="base"/>
            <a:endParaRPr lang="en-US" b="0" i="0" dirty="0">
              <a:solidFill>
                <a:srgbClr val="273239"/>
              </a:solidFill>
              <a:effectLst/>
              <a:latin typeface="urw-din"/>
            </a:endParaRPr>
          </a:p>
          <a:p>
            <a:pPr fontAlgn="base">
              <a:buFont typeface="+mj-lt"/>
              <a:buAutoNum type="arabicPeriod"/>
            </a:pPr>
            <a:r>
              <a:rPr lang="en-US" b="1" i="0" u="sng" dirty="0">
                <a:solidFill>
                  <a:srgbClr val="273239"/>
                </a:solidFill>
                <a:effectLst/>
                <a:latin typeface="urw-din"/>
                <a:hlinkClick r:id="rId1"/>
              </a:rPr>
              <a:t>The Vertex Cover Problem</a:t>
            </a:r>
            <a:r>
              <a:rPr lang="en-US" b="1" i="0" dirty="0">
                <a:solidFill>
                  <a:srgbClr val="273239"/>
                </a:solidFill>
                <a:effectLst/>
                <a:latin typeface="urw-din"/>
              </a:rPr>
              <a:t> –</a:t>
            </a:r>
            <a:r>
              <a:rPr lang="en-US" b="0"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In the vertex cover problem, the optimization problem is to find the vertex cover with the </a:t>
            </a:r>
            <a:r>
              <a:rPr lang="en-US" b="1" i="0" dirty="0">
                <a:solidFill>
                  <a:srgbClr val="273239"/>
                </a:solidFill>
                <a:effectLst/>
                <a:latin typeface="urw-din"/>
              </a:rPr>
              <a:t>fewest</a:t>
            </a:r>
            <a:r>
              <a:rPr lang="en-US" b="0" i="0" dirty="0">
                <a:solidFill>
                  <a:srgbClr val="273239"/>
                </a:solidFill>
                <a:effectLst/>
                <a:latin typeface="urw-din"/>
              </a:rPr>
              <a:t> </a:t>
            </a:r>
            <a:r>
              <a:rPr lang="en-US" b="1" i="0" dirty="0">
                <a:solidFill>
                  <a:srgbClr val="273239"/>
                </a:solidFill>
                <a:effectLst/>
                <a:latin typeface="urw-din"/>
              </a:rPr>
              <a:t>vertices</a:t>
            </a:r>
            <a:r>
              <a:rPr lang="en-US" b="0" i="0" dirty="0">
                <a:solidFill>
                  <a:srgbClr val="273239"/>
                </a:solidFill>
                <a:effectLst/>
                <a:latin typeface="urw-din"/>
              </a:rPr>
              <a:t>, and the approximation problem is to find the vertex cover with </a:t>
            </a:r>
            <a:r>
              <a:rPr lang="en-US" b="1" i="0" dirty="0">
                <a:solidFill>
                  <a:srgbClr val="273239"/>
                </a:solidFill>
                <a:effectLst/>
                <a:latin typeface="urw-din"/>
              </a:rPr>
              <a:t>few</a:t>
            </a:r>
            <a:r>
              <a:rPr lang="en-US" b="0" i="0" dirty="0">
                <a:solidFill>
                  <a:srgbClr val="273239"/>
                </a:solidFill>
                <a:effectLst/>
                <a:latin typeface="urw-din"/>
              </a:rPr>
              <a:t> </a:t>
            </a:r>
            <a:r>
              <a:rPr lang="en-US" b="1" i="0" dirty="0">
                <a:solidFill>
                  <a:srgbClr val="273239"/>
                </a:solidFill>
                <a:effectLst/>
                <a:latin typeface="urw-din"/>
              </a:rPr>
              <a:t>vertices</a:t>
            </a:r>
            <a:r>
              <a:rPr lang="en-US" b="0" i="0" dirty="0">
                <a:solidFill>
                  <a:srgbClr val="273239"/>
                </a:solidFill>
                <a:effectLst/>
                <a:latin typeface="urw-din"/>
              </a:rPr>
              <a:t>.</a:t>
            </a:r>
            <a:br>
              <a:rPr lang="en-US" b="0" i="0" dirty="0">
                <a:solidFill>
                  <a:srgbClr val="273239"/>
                </a:solidFill>
                <a:effectLst/>
                <a:latin typeface="urw-din"/>
              </a:rPr>
            </a:br>
            <a:r>
              <a:rPr lang="en-US" b="0" i="0" dirty="0">
                <a:solidFill>
                  <a:srgbClr val="273239"/>
                </a:solidFill>
                <a:effectLst/>
                <a:latin typeface="urw-din"/>
              </a:rPr>
              <a:t> </a:t>
            </a:r>
            <a:endParaRPr lang="en-US" b="0" i="0" dirty="0">
              <a:solidFill>
                <a:srgbClr val="273239"/>
              </a:solidFill>
              <a:effectLst/>
              <a:latin typeface="urw-din"/>
            </a:endParaRPr>
          </a:p>
          <a:p>
            <a:pPr fontAlgn="base">
              <a:buFont typeface="+mj-lt"/>
              <a:buAutoNum type="arabicPeriod"/>
            </a:pPr>
            <a:r>
              <a:rPr lang="en-US" b="1" i="0" u="sng" dirty="0">
                <a:solidFill>
                  <a:srgbClr val="273239"/>
                </a:solidFill>
                <a:effectLst/>
                <a:latin typeface="urw-din"/>
                <a:hlinkClick r:id="rId2"/>
              </a:rPr>
              <a:t>Travelling Salesman Problem</a:t>
            </a:r>
            <a:r>
              <a:rPr lang="en-US" b="1"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In the traveling salesperson problem, the optimization problem is to find the </a:t>
            </a:r>
            <a:r>
              <a:rPr lang="en-US" b="1" i="0" dirty="0">
                <a:solidFill>
                  <a:srgbClr val="273239"/>
                </a:solidFill>
                <a:effectLst/>
                <a:latin typeface="urw-din"/>
              </a:rPr>
              <a:t>shortest cycle</a:t>
            </a:r>
            <a:r>
              <a:rPr lang="en-US" b="0" i="0" dirty="0">
                <a:solidFill>
                  <a:srgbClr val="273239"/>
                </a:solidFill>
                <a:effectLst/>
                <a:latin typeface="urw-din"/>
              </a:rPr>
              <a:t>, and the approximation problem is to find a </a:t>
            </a:r>
            <a:r>
              <a:rPr lang="en-US" b="1" i="0" dirty="0">
                <a:solidFill>
                  <a:srgbClr val="273239"/>
                </a:solidFill>
                <a:effectLst/>
                <a:latin typeface="urw-din"/>
              </a:rPr>
              <a:t>short cycle</a:t>
            </a:r>
            <a:r>
              <a:rPr lang="en-US" b="0" i="0" dirty="0">
                <a:solidFill>
                  <a:srgbClr val="273239"/>
                </a:solidFill>
                <a:effectLst/>
                <a:latin typeface="urw-din"/>
              </a:rPr>
              <a:t>.</a:t>
            </a:r>
            <a:br>
              <a:rPr lang="en-US" b="0" i="0" dirty="0">
                <a:solidFill>
                  <a:srgbClr val="273239"/>
                </a:solidFill>
                <a:effectLst/>
                <a:latin typeface="urw-din"/>
              </a:rPr>
            </a:br>
            <a:r>
              <a:rPr lang="en-US" b="0" i="0" dirty="0">
                <a:solidFill>
                  <a:srgbClr val="273239"/>
                </a:solidFill>
                <a:effectLst/>
                <a:latin typeface="urw-din"/>
              </a:rPr>
              <a:t> </a:t>
            </a:r>
            <a:endParaRPr lang="en-US" b="0" i="0" dirty="0">
              <a:solidFill>
                <a:srgbClr val="273239"/>
              </a:solidFill>
              <a:effectLst/>
              <a:latin typeface="urw-din"/>
            </a:endParaRPr>
          </a:p>
          <a:p>
            <a:pPr fontAlgn="base">
              <a:buFont typeface="+mj-lt"/>
              <a:buAutoNum type="arabicPeriod"/>
            </a:pPr>
            <a:r>
              <a:rPr lang="en-US" b="1" i="0" u="sng" dirty="0">
                <a:solidFill>
                  <a:srgbClr val="273239"/>
                </a:solidFill>
                <a:effectLst/>
                <a:latin typeface="urw-din"/>
                <a:hlinkClick r:id="rId3"/>
              </a:rPr>
              <a:t>The Set Covering Problem </a:t>
            </a:r>
            <a:r>
              <a:rPr lang="en-US" b="1"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This is an optimization problem that models many problems that require resources to be allocated. Here, a logarithmic approximation ratio is used.</a:t>
            </a:r>
            <a:br>
              <a:rPr lang="en-US" b="0" i="0" dirty="0">
                <a:solidFill>
                  <a:srgbClr val="273239"/>
                </a:solidFill>
                <a:effectLst/>
                <a:latin typeface="urw-din"/>
              </a:rPr>
            </a:br>
            <a:r>
              <a:rPr lang="en-US" b="0" i="0" dirty="0">
                <a:solidFill>
                  <a:srgbClr val="273239"/>
                </a:solidFill>
                <a:effectLst/>
                <a:latin typeface="urw-din"/>
              </a:rPr>
              <a:t> </a:t>
            </a:r>
            <a:endParaRPr lang="en-US" b="0" i="0" dirty="0">
              <a:solidFill>
                <a:srgbClr val="273239"/>
              </a:solidFill>
              <a:effectLst/>
              <a:latin typeface="urw-din"/>
            </a:endParaRPr>
          </a:p>
          <a:p>
            <a:pPr fontAlgn="base">
              <a:buFont typeface="+mj-lt"/>
              <a:buAutoNum type="arabicPeriod"/>
            </a:pPr>
            <a:r>
              <a:rPr lang="en-US" b="1" i="0" u="sng" dirty="0">
                <a:solidFill>
                  <a:srgbClr val="273239"/>
                </a:solidFill>
                <a:effectLst/>
                <a:latin typeface="urw-din"/>
                <a:hlinkClick r:id="rId4"/>
              </a:rPr>
              <a:t>The Subset Sum Problem</a:t>
            </a:r>
            <a:r>
              <a:rPr lang="en-US" b="1" i="0" dirty="0">
                <a:solidFill>
                  <a:srgbClr val="273239"/>
                </a:solidFill>
                <a:effectLst/>
                <a:latin typeface="urw-din"/>
              </a:rPr>
              <a:t> – </a:t>
            </a:r>
            <a:br>
              <a:rPr lang="en-US" b="0" i="0" dirty="0">
                <a:solidFill>
                  <a:srgbClr val="273239"/>
                </a:solidFill>
                <a:effectLst/>
                <a:latin typeface="urw-din"/>
              </a:rPr>
            </a:br>
            <a:r>
              <a:rPr lang="en-US" b="0" i="0" dirty="0">
                <a:solidFill>
                  <a:srgbClr val="273239"/>
                </a:solidFill>
                <a:effectLst/>
                <a:latin typeface="urw-din"/>
              </a:rPr>
              <a:t>In the Subset sum problem, the optimization problem is to find a subset of {x1,×2,×3…</a:t>
            </a:r>
            <a:r>
              <a:rPr lang="en-US" b="0" i="0" dirty="0" err="1">
                <a:solidFill>
                  <a:srgbClr val="273239"/>
                </a:solidFill>
                <a:effectLst/>
                <a:latin typeface="urw-din"/>
              </a:rPr>
              <a:t>xn</a:t>
            </a:r>
            <a:r>
              <a:rPr lang="en-US" b="0" i="0" dirty="0">
                <a:solidFill>
                  <a:srgbClr val="273239"/>
                </a:solidFill>
                <a:effectLst/>
                <a:latin typeface="urw-din"/>
              </a:rPr>
              <a:t>} whose sum is as large as possible but not larger than the target value t.</a:t>
            </a:r>
            <a:endParaRPr lang="en-US" b="0" i="0" dirty="0">
              <a:solidFill>
                <a:srgbClr val="273239"/>
              </a:solidFill>
              <a:effectLst/>
              <a:latin typeface="urw-di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414123" y="1747837"/>
            <a:ext cx="7305675" cy="33623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09946" y="1027522"/>
            <a:ext cx="10114961" cy="5741836"/>
          </a:xfrm>
        </p:spPr>
        <p:txBody>
          <a:bodyPr>
            <a:normAutofit/>
          </a:bodyPr>
          <a:lstStyle/>
          <a:p>
            <a:pPr algn="l" fontAlgn="base"/>
            <a:r>
              <a:rPr lang="en-US" sz="2400" b="1" i="0" dirty="0">
                <a:solidFill>
                  <a:srgbClr val="273239"/>
                </a:solidFill>
                <a:effectLst/>
                <a:latin typeface="Source Sans 3"/>
              </a:rPr>
              <a:t>Introduction and Approximate Solution for Vertex Cover Problem:</a:t>
            </a:r>
            <a:endParaRPr lang="en-US" sz="2400" b="1" i="0" dirty="0">
              <a:solidFill>
                <a:srgbClr val="273239"/>
              </a:solidFill>
              <a:effectLst/>
              <a:latin typeface="Source Sans 3"/>
            </a:endParaRPr>
          </a:p>
          <a:p>
            <a:pPr algn="l" fontAlgn="base"/>
            <a:r>
              <a:rPr lang="en-US" sz="2400" b="0" i="0" dirty="0">
                <a:solidFill>
                  <a:srgbClr val="273239"/>
                </a:solidFill>
                <a:effectLst/>
                <a:latin typeface="Nunito" pitchFamily="2" charset="0"/>
              </a:rPr>
              <a:t>A vertex cover of an undirected graph is a subset of its vertices such that for every edge (u, v) of the graph, either ‘u’ or ‘v’ is in the vertex cover. Although the name is Vertex Cover, the set covers all edges of the given graph. </a:t>
            </a:r>
            <a:r>
              <a:rPr lang="en-US" sz="2400" b="1" i="1" dirty="0">
                <a:solidFill>
                  <a:srgbClr val="273239"/>
                </a:solidFill>
                <a:effectLst/>
                <a:latin typeface="Nunito" pitchFamily="2" charset="0"/>
              </a:rPr>
              <a:t>Given an undirected graph, the vertex cover problem is to find minimum size vertex cover</a:t>
            </a:r>
            <a:r>
              <a:rPr lang="en-US" sz="2400" b="0" i="0" dirty="0">
                <a:solidFill>
                  <a:srgbClr val="273239"/>
                </a:solidFill>
                <a:effectLst/>
                <a:latin typeface="Nunito" pitchFamily="2" charset="0"/>
              </a:rPr>
              <a:t>. </a:t>
            </a:r>
            <a:br>
              <a:rPr lang="en-US" sz="2400" dirty="0"/>
            </a:br>
            <a:r>
              <a:rPr lang="en-US" sz="2400" b="0" i="0" dirty="0">
                <a:solidFill>
                  <a:srgbClr val="273239"/>
                </a:solidFill>
                <a:effectLst/>
                <a:latin typeface="Nunito" pitchFamily="2" charset="0"/>
              </a:rPr>
              <a:t>The following are some examples. </a:t>
            </a:r>
            <a:endParaRPr lang="en-US" sz="2400" b="0" i="0" dirty="0">
              <a:solidFill>
                <a:srgbClr val="273239"/>
              </a:solidFill>
              <a:effectLst/>
              <a:latin typeface="Nunito" pitchFamily="2" charset="0"/>
            </a:endParaRPr>
          </a:p>
          <a:p>
            <a:pPr algn="l" fontAlgn="base"/>
            <a:endParaRPr lang="en-US" sz="2400" dirty="0">
              <a:solidFill>
                <a:srgbClr val="273239"/>
              </a:solidFill>
              <a:latin typeface="Nunito" pitchFamily="2" charset="0"/>
            </a:endParaRPr>
          </a:p>
          <a:p>
            <a:pPr algn="l" fontAlgn="base"/>
            <a:endParaRPr lang="en-US" sz="2400" b="1" i="0" dirty="0">
              <a:solidFill>
                <a:srgbClr val="273239"/>
              </a:solidFill>
              <a:effectLst/>
              <a:latin typeface="Source Sans 3"/>
            </a:endParaRPr>
          </a:p>
        </p:txBody>
      </p:sp>
      <p:pic>
        <p:nvPicPr>
          <p:cNvPr id="6" name="Picture 5"/>
          <p:cNvPicPr>
            <a:picLocks noChangeAspect="1"/>
          </p:cNvPicPr>
          <p:nvPr/>
        </p:nvPicPr>
        <p:blipFill>
          <a:blip r:embed="rId1"/>
          <a:stretch>
            <a:fillRect/>
          </a:stretch>
        </p:blipFill>
        <p:spPr>
          <a:xfrm>
            <a:off x="1809946" y="4118060"/>
            <a:ext cx="10030120" cy="239260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736591" y="1475888"/>
            <a:ext cx="7353300" cy="3952875"/>
          </a:xfrm>
          <a:prstGeom prst="rect">
            <a:avLst/>
          </a:prstGeom>
        </p:spPr>
      </p:pic>
      <p:sp>
        <p:nvSpPr>
          <p:cNvPr id="5" name="Down Arrow 4"/>
          <p:cNvSpPr/>
          <p:nvPr/>
        </p:nvSpPr>
        <p:spPr>
          <a:xfrm>
            <a:off x="5682343" y="2621902"/>
            <a:ext cx="195943" cy="1156998"/>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5486400" y="2276669"/>
            <a:ext cx="1996751" cy="369332"/>
          </a:xfrm>
          <a:prstGeom prst="rect">
            <a:avLst/>
          </a:prstGeom>
          <a:noFill/>
        </p:spPr>
        <p:txBody>
          <a:bodyPr wrap="square" rtlCol="0">
            <a:spAutoFit/>
          </a:bodyPr>
          <a:lstStyle/>
          <a:p>
            <a:r>
              <a:rPr lang="en-US" dirty="0"/>
              <a:t>Vertices cover</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4" y="1012755"/>
            <a:ext cx="8915399" cy="3554964"/>
          </a:xfrm>
        </p:spPr>
        <p:txBody>
          <a:bodyPr>
            <a:normAutofit/>
          </a:bodyPr>
          <a:lstStyle/>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Vertices cover example:</a:t>
            </a: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5511345" y="2286767"/>
            <a:ext cx="2809875" cy="2080727"/>
          </a:xfrm>
          <a:prstGeom prst="rect">
            <a:avLst/>
          </a:prstGeom>
        </p:spPr>
      </p:pic>
      <p:sp>
        <p:nvSpPr>
          <p:cNvPr id="7" name="TextBox 6"/>
          <p:cNvSpPr txBox="1"/>
          <p:nvPr/>
        </p:nvSpPr>
        <p:spPr>
          <a:xfrm>
            <a:off x="5792624" y="4712727"/>
            <a:ext cx="2528596" cy="369332"/>
          </a:xfrm>
          <a:prstGeom prst="rect">
            <a:avLst/>
          </a:prstGeom>
          <a:noFill/>
        </p:spPr>
        <p:txBody>
          <a:bodyPr wrap="square" rtlCol="0">
            <a:spAutoFit/>
          </a:bodyPr>
          <a:lstStyle/>
          <a:p>
            <a:r>
              <a:rPr lang="en-US" dirty="0"/>
              <a:t>Undirected graph</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4" y="1012755"/>
            <a:ext cx="8915399" cy="3554964"/>
          </a:xfrm>
        </p:spPr>
        <p:txBody>
          <a:bodyPr>
            <a:normAutofit/>
          </a:bodyPr>
          <a:lstStyle/>
          <a:p>
            <a:pPr marL="342900" indent="-342900" algn="just">
              <a:buFont typeface="Wingdings" panose="05000000000000000000" pitchFamily="2" charset="2"/>
              <a:buChar char="v"/>
            </a:pPr>
            <a:r>
              <a:rPr lang="en-US" sz="2200" dirty="0">
                <a:solidFill>
                  <a:schemeClr val="tx1"/>
                </a:solidFill>
              </a:rPr>
              <a:t>Vertices cover example:</a:t>
            </a:r>
            <a:endParaRPr lang="en-US" sz="2200" dirty="0">
              <a:solidFill>
                <a:schemeClr val="tx1"/>
              </a:solidFill>
            </a:endParaRP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833223" y="1722752"/>
            <a:ext cx="2809875" cy="2080727"/>
          </a:xfrm>
          <a:prstGeom prst="rect">
            <a:avLst/>
          </a:prstGeom>
        </p:spPr>
      </p:pic>
      <p:pic>
        <p:nvPicPr>
          <p:cNvPr id="5" name="Picture 4"/>
          <p:cNvPicPr>
            <a:picLocks noChangeAspect="1"/>
          </p:cNvPicPr>
          <p:nvPr/>
        </p:nvPicPr>
        <p:blipFill>
          <a:blip r:embed="rId2"/>
          <a:stretch>
            <a:fillRect/>
          </a:stretch>
        </p:blipFill>
        <p:spPr>
          <a:xfrm>
            <a:off x="6363833" y="1565104"/>
            <a:ext cx="2571750" cy="2238375"/>
          </a:xfrm>
          <a:prstGeom prst="rect">
            <a:avLst/>
          </a:prstGeom>
        </p:spPr>
      </p:pic>
      <p:pic>
        <p:nvPicPr>
          <p:cNvPr id="6" name="Picture 5"/>
          <p:cNvPicPr>
            <a:picLocks noChangeAspect="1"/>
          </p:cNvPicPr>
          <p:nvPr/>
        </p:nvPicPr>
        <p:blipFill>
          <a:blip r:embed="rId3"/>
          <a:stretch>
            <a:fillRect/>
          </a:stretch>
        </p:blipFill>
        <p:spPr>
          <a:xfrm>
            <a:off x="9124000" y="1584154"/>
            <a:ext cx="2438400" cy="2219325"/>
          </a:xfrm>
          <a:prstGeom prst="rect">
            <a:avLst/>
          </a:prstGeom>
        </p:spPr>
      </p:pic>
      <p:sp>
        <p:nvSpPr>
          <p:cNvPr id="7" name="TextBox 6"/>
          <p:cNvSpPr txBox="1"/>
          <p:nvPr/>
        </p:nvSpPr>
        <p:spPr>
          <a:xfrm>
            <a:off x="2973862" y="4000933"/>
            <a:ext cx="2528596" cy="369332"/>
          </a:xfrm>
          <a:prstGeom prst="rect">
            <a:avLst/>
          </a:prstGeom>
          <a:noFill/>
        </p:spPr>
        <p:txBody>
          <a:bodyPr wrap="square" rtlCol="0">
            <a:spAutoFit/>
          </a:bodyPr>
          <a:lstStyle/>
          <a:p>
            <a:r>
              <a:rPr lang="en-US" dirty="0"/>
              <a:t>Undirected graph</a:t>
            </a:r>
            <a:endParaRPr lang="en-US" dirty="0"/>
          </a:p>
        </p:txBody>
      </p:sp>
      <p:sp>
        <p:nvSpPr>
          <p:cNvPr id="8" name="TextBox 7"/>
          <p:cNvSpPr txBox="1"/>
          <p:nvPr/>
        </p:nvSpPr>
        <p:spPr>
          <a:xfrm>
            <a:off x="6267439" y="3981964"/>
            <a:ext cx="2764538" cy="369332"/>
          </a:xfrm>
          <a:prstGeom prst="rect">
            <a:avLst/>
          </a:prstGeom>
          <a:noFill/>
        </p:spPr>
        <p:txBody>
          <a:bodyPr wrap="square" rtlCol="0">
            <a:spAutoFit/>
          </a:bodyPr>
          <a:lstStyle/>
          <a:p>
            <a:r>
              <a:rPr lang="en-US" dirty="0"/>
              <a:t>   Suppose VC={1,4,7}</a:t>
            </a:r>
            <a:endParaRPr lang="en-US" dirty="0"/>
          </a:p>
        </p:txBody>
      </p:sp>
      <p:pic>
        <p:nvPicPr>
          <p:cNvPr id="9" name="Picture 8"/>
          <p:cNvPicPr>
            <a:picLocks noChangeAspect="1"/>
          </p:cNvPicPr>
          <p:nvPr/>
        </p:nvPicPr>
        <p:blipFill>
          <a:blip r:embed="rId4"/>
          <a:stretch>
            <a:fillRect/>
          </a:stretch>
        </p:blipFill>
        <p:spPr>
          <a:xfrm>
            <a:off x="5054493" y="4513476"/>
            <a:ext cx="2809875" cy="1986848"/>
          </a:xfrm>
          <a:prstGeom prst="rect">
            <a:avLst/>
          </a:prstGeom>
        </p:spPr>
      </p:pic>
      <p:sp>
        <p:nvSpPr>
          <p:cNvPr id="10" name="TextBox 9"/>
          <p:cNvSpPr txBox="1"/>
          <p:nvPr/>
        </p:nvSpPr>
        <p:spPr>
          <a:xfrm>
            <a:off x="8703654" y="3981964"/>
            <a:ext cx="2764538" cy="646331"/>
          </a:xfrm>
          <a:prstGeom prst="rect">
            <a:avLst/>
          </a:prstGeom>
          <a:noFill/>
        </p:spPr>
        <p:txBody>
          <a:bodyPr wrap="square" rtlCol="0">
            <a:spAutoFit/>
          </a:bodyPr>
          <a:lstStyle/>
          <a:p>
            <a:r>
              <a:rPr lang="en-US" dirty="0"/>
              <a:t>   Adjacent covered edges with vertices {1}</a:t>
            </a:r>
            <a:endParaRPr lang="en-US" dirty="0"/>
          </a:p>
        </p:txBody>
      </p:sp>
      <p:sp>
        <p:nvSpPr>
          <p:cNvPr id="11" name="TextBox 10"/>
          <p:cNvSpPr txBox="1"/>
          <p:nvPr/>
        </p:nvSpPr>
        <p:spPr>
          <a:xfrm>
            <a:off x="8015591" y="5284126"/>
            <a:ext cx="2764538" cy="646331"/>
          </a:xfrm>
          <a:prstGeom prst="rect">
            <a:avLst/>
          </a:prstGeom>
          <a:noFill/>
        </p:spPr>
        <p:txBody>
          <a:bodyPr wrap="square" rtlCol="0">
            <a:spAutoFit/>
          </a:bodyPr>
          <a:lstStyle/>
          <a:p>
            <a:r>
              <a:rPr lang="en-US" dirty="0"/>
              <a:t>   Green edges are not covered by {1,4,7}</a:t>
            </a:r>
            <a:endParaRPr lang="en-US" dirty="0"/>
          </a:p>
        </p:txBody>
      </p:sp>
      <p:sp>
        <p:nvSpPr>
          <p:cNvPr id="12" name="TextBox 11"/>
          <p:cNvSpPr txBox="1"/>
          <p:nvPr/>
        </p:nvSpPr>
        <p:spPr>
          <a:xfrm>
            <a:off x="2289955" y="5361881"/>
            <a:ext cx="2764538" cy="646331"/>
          </a:xfrm>
          <a:prstGeom prst="rect">
            <a:avLst/>
          </a:prstGeom>
          <a:noFill/>
        </p:spPr>
        <p:txBody>
          <a:bodyPr wrap="square" rtlCol="0">
            <a:spAutoFit/>
          </a:bodyPr>
          <a:lstStyle/>
          <a:p>
            <a:r>
              <a:rPr lang="en-US" dirty="0"/>
              <a:t>{1,4,7} vertices are not vertices cover.</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r>
              <a:rPr lang="en-US" sz="2400" dirty="0">
                <a:solidFill>
                  <a:schemeClr val="tx1"/>
                </a:solidFill>
              </a:rPr>
              <a:t>Successfully covering all edges with {1,2,3,5,7} </a:t>
            </a: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a:blip r:embed="rId1"/>
          <a:stretch>
            <a:fillRect/>
          </a:stretch>
        </p:blipFill>
        <p:spPr>
          <a:xfrm>
            <a:off x="2747767" y="2103178"/>
            <a:ext cx="6715125" cy="32861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r>
              <a:rPr lang="en-US" sz="2000" dirty="0">
                <a:solidFill>
                  <a:schemeClr val="tx1"/>
                </a:solidFill>
              </a:rPr>
              <a:t>Successfully covering all edges with {1,4,5,6}.</a:t>
            </a: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We can not find vertices cover less than 4 here. </a:t>
            </a: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Minimum vertices cover is 4 in this example.</a:t>
            </a:r>
            <a:endParaRPr lang="en-US" sz="20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695575" y="1876425"/>
            <a:ext cx="6800850" cy="31051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710510" y="1832977"/>
            <a:ext cx="7086600" cy="41624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987421" y="1184988"/>
            <a:ext cx="9535852" cy="5197151"/>
          </a:xfrm>
        </p:spPr>
        <p:txBody>
          <a:bodyPr>
            <a:normAutofit fontScale="92500" lnSpcReduction="20000"/>
          </a:bodyPr>
          <a:lstStyle/>
          <a:p>
            <a:pPr algn="ctr"/>
            <a:r>
              <a:rPr lang="en-US" sz="2600" dirty="0">
                <a:solidFill>
                  <a:schemeClr val="tx1"/>
                </a:solidFill>
              </a:rPr>
              <a:t>Estimate the complexity of Brute-force-approach for solving vertices cover problem:</a:t>
            </a:r>
            <a:endParaRPr lang="en-US" sz="26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Suppose, we have n vertices {1,2,3,…………………..,n}</a:t>
            </a: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There are 2</a:t>
            </a:r>
            <a:r>
              <a:rPr lang="en-US" sz="2200" baseline="30000" dirty="0">
                <a:solidFill>
                  <a:schemeClr val="tx1"/>
                </a:solidFill>
              </a:rPr>
              <a:t>n</a:t>
            </a:r>
            <a:r>
              <a:rPr lang="en-US" sz="2200" dirty="0">
                <a:solidFill>
                  <a:schemeClr val="tx1"/>
                </a:solidFill>
              </a:rPr>
              <a:t> possible subsets from n vertices….</a:t>
            </a: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If we want to form vertices cover, which are minimum…..</a:t>
            </a:r>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 time complexity is </a:t>
            </a:r>
            <a:r>
              <a:rPr lang="el-GR" sz="2200" dirty="0">
                <a:solidFill>
                  <a:schemeClr val="tx1"/>
                </a:solidFill>
              </a:rPr>
              <a:t>Ο</a:t>
            </a:r>
            <a:r>
              <a:rPr lang="en-US" sz="2200" dirty="0">
                <a:solidFill>
                  <a:schemeClr val="tx1"/>
                </a:solidFill>
              </a:rPr>
              <a:t>(2</a:t>
            </a:r>
            <a:r>
              <a:rPr lang="en-US" sz="2200" baseline="30000" dirty="0">
                <a:solidFill>
                  <a:schemeClr val="tx1"/>
                </a:solidFill>
              </a:rPr>
              <a:t>n</a:t>
            </a:r>
            <a:r>
              <a:rPr lang="en-US" sz="2200" dirty="0">
                <a:solidFill>
                  <a:schemeClr val="tx1"/>
                </a:solidFill>
              </a:rPr>
              <a:t> ), which is exponential in nature. The running time is exponentially increases by increasing the number of  input.</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For the large number of n, it takes month or year of time to compute the solution.</a:t>
            </a: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So, only way to approach the approximation solution……………….          </a:t>
            </a:r>
            <a:endParaRPr lang="en-US" sz="2200" baseline="300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043237" y="1485900"/>
            <a:ext cx="6105525" cy="3886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260757" y="1238639"/>
            <a:ext cx="5819775" cy="2571750"/>
          </a:xfrm>
          <a:prstGeom prst="rect">
            <a:avLst/>
          </a:prstGeom>
        </p:spPr>
      </p:pic>
      <p:sp>
        <p:nvSpPr>
          <p:cNvPr id="5" name="Subtitle 2"/>
          <p:cNvSpPr txBox="1"/>
          <p:nvPr/>
        </p:nvSpPr>
        <p:spPr>
          <a:xfrm>
            <a:off x="2458584" y="2099388"/>
            <a:ext cx="8915399" cy="425644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 time complexity </a:t>
            </a:r>
            <a:r>
              <a:rPr lang="el-GR" sz="2200" i="1" dirty="0">
                <a:solidFill>
                  <a:schemeClr val="tx1"/>
                </a:solidFill>
              </a:rPr>
              <a:t>Ο</a:t>
            </a:r>
            <a:r>
              <a:rPr lang="en-US" sz="2200" i="1" dirty="0">
                <a:solidFill>
                  <a:schemeClr val="tx1"/>
                </a:solidFill>
              </a:rPr>
              <a:t>(V+E) = </a:t>
            </a:r>
            <a:r>
              <a:rPr lang="el-GR" sz="2200" i="1" dirty="0">
                <a:solidFill>
                  <a:schemeClr val="tx1"/>
                </a:solidFill>
              </a:rPr>
              <a:t>Ο</a:t>
            </a:r>
            <a:r>
              <a:rPr lang="en-US" sz="2200" i="1" dirty="0">
                <a:solidFill>
                  <a:schemeClr val="tx1"/>
                </a:solidFill>
              </a:rPr>
              <a:t>(n+n</a:t>
            </a:r>
            <a:r>
              <a:rPr lang="en-US" sz="2200" i="1" baseline="30000" dirty="0">
                <a:solidFill>
                  <a:schemeClr val="tx1"/>
                </a:solidFill>
              </a:rPr>
              <a:t>2</a:t>
            </a:r>
            <a:r>
              <a:rPr lang="en-US" sz="2200" i="1" dirty="0">
                <a:solidFill>
                  <a:schemeClr val="tx1"/>
                </a:solidFill>
              </a:rPr>
              <a:t>)= </a:t>
            </a:r>
            <a:r>
              <a:rPr lang="el-GR" sz="2200" i="1" dirty="0">
                <a:solidFill>
                  <a:schemeClr val="tx1"/>
                </a:solidFill>
              </a:rPr>
              <a:t>Ο</a:t>
            </a:r>
            <a:r>
              <a:rPr lang="en-US" sz="2200" i="1" dirty="0">
                <a:solidFill>
                  <a:schemeClr val="tx1"/>
                </a:solidFill>
              </a:rPr>
              <a:t>(n</a:t>
            </a:r>
            <a:r>
              <a:rPr lang="en-US" sz="2200" i="1" baseline="30000" dirty="0">
                <a:solidFill>
                  <a:schemeClr val="tx1"/>
                </a:solidFill>
              </a:rPr>
              <a:t>2</a:t>
            </a:r>
            <a:r>
              <a:rPr lang="en-US" sz="2200" i="1" dirty="0">
                <a:solidFill>
                  <a:schemeClr val="tx1"/>
                </a:solidFill>
              </a:rPr>
              <a:t>)</a:t>
            </a:r>
            <a:endParaRPr lang="en-US" sz="2200" i="1" dirty="0">
              <a:solidFill>
                <a:schemeClr val="tx1"/>
              </a:solidFill>
            </a:endParaRPr>
          </a:p>
          <a:p>
            <a:pPr marL="342900" indent="-342900" algn="just">
              <a:buFont typeface="Wingdings" panose="05000000000000000000" pitchFamily="2" charset="2"/>
              <a:buChar char="v"/>
            </a:pPr>
            <a:r>
              <a:rPr lang="en-US" sz="2200" dirty="0">
                <a:solidFill>
                  <a:schemeClr val="tx1"/>
                </a:solidFill>
              </a:rPr>
              <a:t>It’s a polynomial time complexity…….</a:t>
            </a:r>
            <a:endParaRPr lang="en-US" sz="22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357598" y="1124337"/>
            <a:ext cx="2809875" cy="2080727"/>
          </a:xfrm>
          <a:prstGeom prst="rect">
            <a:avLst/>
          </a:prstGeom>
        </p:spPr>
      </p:pic>
      <p:pic>
        <p:nvPicPr>
          <p:cNvPr id="5" name="Picture 4"/>
          <p:cNvPicPr>
            <a:picLocks noChangeAspect="1"/>
          </p:cNvPicPr>
          <p:nvPr/>
        </p:nvPicPr>
        <p:blipFill>
          <a:blip r:embed="rId2"/>
          <a:stretch>
            <a:fillRect/>
          </a:stretch>
        </p:blipFill>
        <p:spPr>
          <a:xfrm>
            <a:off x="2257585" y="3643603"/>
            <a:ext cx="5819775" cy="2571750"/>
          </a:xfrm>
          <a:prstGeom prst="rect">
            <a:avLst/>
          </a:prstGeom>
        </p:spPr>
      </p:pic>
      <p:sp>
        <p:nvSpPr>
          <p:cNvPr id="6" name="Subtitle 2"/>
          <p:cNvSpPr txBox="1"/>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={(1,2),(1,5),(1,4),(2,5),(3,4),(3,6)</a:t>
            </a:r>
            <a:endParaRPr lang="en-US" sz="2200" dirty="0">
              <a:solidFill>
                <a:schemeClr val="tx1"/>
              </a:solidFill>
            </a:endParaRPr>
          </a:p>
          <a:p>
            <a:pPr algn="just"/>
            <a:r>
              <a:rPr lang="en-US" sz="2200" dirty="0">
                <a:solidFill>
                  <a:schemeClr val="tx1"/>
                </a:solidFill>
              </a:rPr>
              <a:t>            (4,5),(4,7),(5,7),(6,7)}</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257585" y="3643603"/>
            <a:ext cx="5819775" cy="2571750"/>
          </a:xfrm>
          <a:prstGeom prst="rect">
            <a:avLst/>
          </a:prstGeom>
        </p:spPr>
      </p:pic>
      <p:sp>
        <p:nvSpPr>
          <p:cNvPr id="6" name="Subtitle 2"/>
          <p:cNvSpPr txBox="1"/>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{(3,4),(3,6)</a:t>
            </a:r>
            <a:endParaRPr lang="en-US" sz="2200" dirty="0">
              <a:solidFill>
                <a:schemeClr val="tx1"/>
              </a:solidFill>
            </a:endParaRPr>
          </a:p>
          <a:p>
            <a:pPr algn="just"/>
            <a:r>
              <a:rPr lang="en-US" sz="2200" dirty="0">
                <a:solidFill>
                  <a:schemeClr val="tx1"/>
                </a:solidFill>
              </a:rPr>
              <a:t>            (4,5),(4,7),(5,7),(6,7)}</a:t>
            </a:r>
            <a:endParaRPr lang="en-US" sz="2200" dirty="0">
              <a:solidFill>
                <a:schemeClr val="tx1"/>
              </a:solidFill>
            </a:endParaRP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a:stretch>
            <a:fillRect/>
          </a:stretch>
        </p:blipFill>
        <p:spPr>
          <a:xfrm>
            <a:off x="2878494" y="1260312"/>
            <a:ext cx="2590800" cy="19907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257585" y="3643603"/>
            <a:ext cx="5819775" cy="2571750"/>
          </a:xfrm>
          <a:prstGeom prst="rect">
            <a:avLst/>
          </a:prstGeom>
        </p:spPr>
      </p:pic>
      <p:sp>
        <p:nvSpPr>
          <p:cNvPr id="6" name="Subtitle 2"/>
          <p:cNvSpPr txBox="1"/>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{(3,4),(3,6)}</a:t>
            </a:r>
            <a:endParaRPr lang="en-US" sz="2200" dirty="0">
              <a:solidFill>
                <a:schemeClr val="tx1"/>
              </a:solidFill>
            </a:endParaRP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{1,2,5,7}</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581275" y="1202483"/>
            <a:ext cx="2457450" cy="21050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257585" y="3643603"/>
            <a:ext cx="5819775" cy="2571750"/>
          </a:xfrm>
          <a:prstGeom prst="rect">
            <a:avLst/>
          </a:prstGeom>
        </p:spPr>
      </p:pic>
      <p:sp>
        <p:nvSpPr>
          <p:cNvPr id="6" name="Subtitle 2"/>
          <p:cNvSpPr txBox="1"/>
          <p:nvPr/>
        </p:nvSpPr>
        <p:spPr>
          <a:xfrm>
            <a:off x="5271796" y="1189069"/>
            <a:ext cx="6652728"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a:t>
            </a:r>
            <a:r>
              <a:rPr lang="el-GR" sz="2200" dirty="0">
                <a:solidFill>
                  <a:schemeClr val="tx1"/>
                </a:solidFill>
              </a:rPr>
              <a:t>φ</a:t>
            </a:r>
            <a:r>
              <a:rPr lang="en-US" sz="2200" dirty="0">
                <a:solidFill>
                  <a:schemeClr val="tx1"/>
                </a:solidFill>
              </a:rPr>
              <a:t>}</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{1,2,5,7,3,6} </a:t>
            </a:r>
            <a:r>
              <a:rPr lang="en-US" sz="1600" dirty="0">
                <a:solidFill>
                  <a:schemeClr val="tx1"/>
                </a:solidFill>
                <a:latin typeface="+mj-lt"/>
                <a:cs typeface="Courier New" panose="02070309020205020404" pitchFamily="49" charset="0"/>
              </a:rPr>
              <a:t>// They don’t share common vertices</a:t>
            </a:r>
            <a:endParaRPr lang="en-US" sz="16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6</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a:stretch>
            <a:fillRect/>
          </a:stretch>
        </p:blipFill>
        <p:spPr>
          <a:xfrm>
            <a:off x="2257585" y="1232224"/>
            <a:ext cx="2085975" cy="21050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017037"/>
            <a:ext cx="8915399" cy="5505061"/>
          </a:xfrm>
        </p:spPr>
        <p:txBody>
          <a:bodyPr>
            <a:normAutofit/>
          </a:bodyPr>
          <a:lstStyle/>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algn="just"/>
            <a:r>
              <a:rPr lang="en-US" sz="2200" dirty="0">
                <a:solidFill>
                  <a:schemeClr val="tx1"/>
                </a:solidFill>
                <a:latin typeface="+mj-lt"/>
                <a:cs typeface="Courier New" panose="02070309020205020404" pitchFamily="49" charset="0"/>
              </a:rPr>
              <a:t>                                                </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458584" y="1164480"/>
            <a:ext cx="8543925" cy="2705100"/>
          </a:xfrm>
          <a:prstGeom prst="rect">
            <a:avLst/>
          </a:prstGeom>
        </p:spPr>
      </p:pic>
      <p:pic>
        <p:nvPicPr>
          <p:cNvPr id="5" name="Picture 4"/>
          <p:cNvPicPr>
            <a:picLocks noChangeAspect="1"/>
          </p:cNvPicPr>
          <p:nvPr/>
        </p:nvPicPr>
        <p:blipFill>
          <a:blip r:embed="rId2"/>
          <a:stretch>
            <a:fillRect/>
          </a:stretch>
        </p:blipFill>
        <p:spPr>
          <a:xfrm>
            <a:off x="2976724" y="3869580"/>
            <a:ext cx="2638425" cy="2505075"/>
          </a:xfrm>
          <a:prstGeom prst="rect">
            <a:avLst/>
          </a:prstGeom>
        </p:spPr>
      </p:pic>
      <p:sp>
        <p:nvSpPr>
          <p:cNvPr id="8" name="Subtitle 2"/>
          <p:cNvSpPr txBox="1"/>
          <p:nvPr/>
        </p:nvSpPr>
        <p:spPr>
          <a:xfrm>
            <a:off x="5901383" y="3869580"/>
            <a:ext cx="5850905" cy="271783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 5,7, 3,6}</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M = {(1,2), (5,7), (3,6)} </a:t>
            </a:r>
            <a:endParaRPr lang="en-US" sz="16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6</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|M| = 3</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    |C| = 2. |M|</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8585" y="1119673"/>
            <a:ext cx="8915399" cy="5738327"/>
          </a:xfrm>
        </p:spPr>
        <p:txBody>
          <a:bodyPr>
            <a:normAutofit/>
          </a:bodyPr>
          <a:lstStyle/>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algn="just"/>
            <a:br>
              <a:rPr lang="en-US" sz="2200" dirty="0">
                <a:solidFill>
                  <a:schemeClr val="tx1"/>
                </a:solidFill>
                <a:latin typeface="+mj-lt"/>
                <a:cs typeface="Courier New" panose="02070309020205020404" pitchFamily="49" charset="0"/>
              </a:rPr>
            </a:br>
            <a:r>
              <a:rPr lang="en-US" sz="2400" dirty="0">
                <a:solidFill>
                  <a:schemeClr val="tx1"/>
                </a:solidFill>
                <a:latin typeface="+mj-lt"/>
                <a:cs typeface="Courier New" panose="02070309020205020404" pitchFamily="49" charset="0"/>
              </a:rPr>
              <a:t> |C*|≥ |M|, then 2</a:t>
            </a:r>
            <a:r>
              <a:rPr lang="en-US" sz="2400" dirty="0">
                <a:solidFill>
                  <a:schemeClr val="tx1"/>
                </a:solidFill>
                <a:cs typeface="Courier New" panose="02070309020205020404" pitchFamily="49" charset="0"/>
              </a:rPr>
              <a:t>|C*|≥ 2|M|.  </a:t>
            </a:r>
            <a:endParaRPr lang="en-US" sz="2400" dirty="0">
              <a:solidFill>
                <a:schemeClr val="tx1"/>
              </a:solidFill>
              <a:cs typeface="Courier New" panose="02070309020205020404" pitchFamily="49" charset="0"/>
            </a:endParaRPr>
          </a:p>
          <a:p>
            <a:pPr algn="just"/>
            <a:r>
              <a:rPr lang="en-US" sz="2400" dirty="0">
                <a:solidFill>
                  <a:schemeClr val="tx1"/>
                </a:solidFill>
                <a:cs typeface="Courier New" panose="02070309020205020404" pitchFamily="49" charset="0"/>
              </a:rPr>
              <a:t>So </a:t>
            </a:r>
            <a:r>
              <a:rPr lang="en-US" sz="2400" dirty="0">
                <a:solidFill>
                  <a:schemeClr val="tx1"/>
                </a:solidFill>
                <a:latin typeface="+mj-lt"/>
                <a:cs typeface="Courier New" panose="02070309020205020404" pitchFamily="49" charset="0"/>
              </a:rPr>
              <a:t>|C| ≤ 2|C*| We get 6 ≤ 8</a:t>
            </a:r>
            <a:endParaRPr lang="en-US" sz="2400" dirty="0">
              <a:solidFill>
                <a:schemeClr val="tx1"/>
              </a:solidFill>
              <a:latin typeface="+mj-lt"/>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600194" y="867747"/>
            <a:ext cx="8296275" cy="47339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r>
              <a:rPr lang="en-US" sz="2400" b="0" i="0" dirty="0">
                <a:solidFill>
                  <a:srgbClr val="202122"/>
                </a:solidFill>
                <a:effectLst/>
                <a:latin typeface="Arial" panose="020B0604020202020204" pitchFamily="34" charset="0"/>
              </a:rPr>
              <a:t>A </a:t>
            </a:r>
            <a:r>
              <a:rPr lang="en-US" sz="2400" b="1" i="0" dirty="0">
                <a:solidFill>
                  <a:srgbClr val="202122"/>
                </a:solidFill>
                <a:effectLst/>
                <a:latin typeface="Arial" panose="020B0604020202020204" pitchFamily="34" charset="0"/>
              </a:rPr>
              <a:t>Hamiltonian cycle</a:t>
            </a:r>
            <a:r>
              <a:rPr lang="en-US" sz="2400" b="0" i="0" dirty="0">
                <a:solidFill>
                  <a:srgbClr val="202122"/>
                </a:solidFill>
                <a:effectLst/>
                <a:latin typeface="Arial" panose="020B0604020202020204" pitchFamily="34" charset="0"/>
              </a:rPr>
              <a:t> is a cycle that visits each vertex exactly once. A </a:t>
            </a:r>
            <a:endParaRPr lang="en-US" sz="2400" b="0" i="0" dirty="0">
              <a:solidFill>
                <a:srgbClr val="202122"/>
              </a:solidFill>
              <a:effectLst/>
              <a:latin typeface="Arial" panose="020B0604020202020204" pitchFamily="34" charset="0"/>
            </a:endParaRPr>
          </a:p>
          <a:p>
            <a:r>
              <a:rPr lang="en-US" sz="2400" b="0" i="0" dirty="0">
                <a:solidFill>
                  <a:srgbClr val="202122"/>
                </a:solidFill>
                <a:effectLst/>
                <a:latin typeface="Arial" panose="020B0604020202020204" pitchFamily="34" charset="0"/>
              </a:rPr>
              <a:t>Hamiltonian path that starts and ends at adjacent vertices can be completed by adding one more edge to form a Hamiltonian cycle, and removing any edge from a Hamiltonian cycle produces a Hamiltonian path. </a:t>
            </a:r>
            <a:endParaRPr lang="en-US" sz="2400" b="0" i="0" dirty="0">
              <a:solidFill>
                <a:srgbClr val="202122"/>
              </a:solidFill>
              <a:effectLst/>
              <a:latin typeface="Arial" panose="020B0604020202020204" pitchFamily="34" charset="0"/>
            </a:endParaRPr>
          </a:p>
          <a:p>
            <a:r>
              <a:rPr lang="en-US" sz="2000" b="0" i="0" dirty="0">
                <a:solidFill>
                  <a:srgbClr val="202122"/>
                </a:solidFill>
                <a:effectLst/>
                <a:latin typeface="Arial" panose="020B0604020202020204" pitchFamily="34" charset="0"/>
              </a:rPr>
              <a:t>Determining whether such paths and cycles exist in graphs (the </a:t>
            </a:r>
            <a:r>
              <a:rPr lang="en-US" sz="2000" b="0" i="1" strike="noStrike" dirty="0">
                <a:solidFill>
                  <a:schemeClr val="tx1"/>
                </a:solidFill>
                <a:effectLst/>
                <a:latin typeface="Arial" panose="020B0604020202020204" pitchFamily="34" charset="0"/>
                <a:hlinkClick r:id="rId1" tooltip="Hamiltonian path problem"/>
              </a:rPr>
              <a:t>Hamiltonian path problem</a:t>
            </a:r>
            <a:r>
              <a:rPr lang="en-US" sz="2000" b="0" i="1" dirty="0">
                <a:solidFill>
                  <a:schemeClr val="tx1"/>
                </a:solidFill>
                <a:effectLst/>
                <a:latin typeface="Arial" panose="020B0604020202020204" pitchFamily="34" charset="0"/>
              </a:rPr>
              <a:t> </a:t>
            </a:r>
            <a:r>
              <a:rPr lang="en-US" sz="2000" b="0" i="0" dirty="0">
                <a:solidFill>
                  <a:schemeClr val="tx1"/>
                </a:solidFill>
                <a:effectLst/>
                <a:latin typeface="Arial" panose="020B0604020202020204" pitchFamily="34" charset="0"/>
              </a:rPr>
              <a:t>and </a:t>
            </a:r>
            <a:r>
              <a:rPr lang="en-US" sz="2000" b="0" i="1" strike="noStrike" dirty="0">
                <a:solidFill>
                  <a:schemeClr val="tx1"/>
                </a:solidFill>
                <a:effectLst/>
                <a:latin typeface="Arial" panose="020B0604020202020204" pitchFamily="34" charset="0"/>
                <a:hlinkClick r:id="rId2" tooltip="Hamiltonian cycle problem"/>
              </a:rPr>
              <a:t>Hamiltonian cycle problem</a:t>
            </a:r>
            <a:r>
              <a:rPr lang="en-US" sz="2000" b="0" i="0" dirty="0">
                <a:solidFill>
                  <a:schemeClr val="tx1"/>
                </a:solidFill>
                <a:effectLst/>
                <a:latin typeface="Arial" panose="020B0604020202020204" pitchFamily="34" charset="0"/>
              </a:rPr>
              <a:t>) are </a:t>
            </a:r>
            <a:r>
              <a:rPr lang="en-US" sz="2000" b="0" i="1" strike="noStrike" dirty="0">
                <a:solidFill>
                  <a:schemeClr val="tx1"/>
                </a:solidFill>
                <a:effectLst/>
                <a:latin typeface="Arial" panose="020B0604020202020204" pitchFamily="34" charset="0"/>
                <a:hlinkClick r:id="rId3" tooltip="NP-complete"/>
              </a:rPr>
              <a:t>NP-complete</a:t>
            </a:r>
            <a:r>
              <a:rPr lang="en-US" sz="2000" b="0" i="1" dirty="0">
                <a:solidFill>
                  <a:schemeClr val="tx1"/>
                </a:solidFill>
                <a:effectLst/>
                <a:latin typeface="Arial" panose="020B0604020202020204" pitchFamily="34" charset="0"/>
              </a:rPr>
              <a:t>.</a:t>
            </a:r>
            <a:endParaRPr lang="en-US" sz="2000" i="1"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a:blip r:embed="rId4"/>
          <a:stretch>
            <a:fillRect/>
          </a:stretch>
        </p:blipFill>
        <p:spPr>
          <a:xfrm>
            <a:off x="7992608" y="3677389"/>
            <a:ext cx="3381375" cy="30003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753867" y="1863610"/>
            <a:ext cx="10182225" cy="46767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3"/>
            <a:ext cx="8915399" cy="510558"/>
          </a:xfrm>
        </p:spPr>
        <p:txBody>
          <a:bodyPr>
            <a:normAutofit fontScale="90000"/>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r>
              <a:rPr lang="en-US" dirty="0">
                <a:latin typeface="Courier New" panose="02070309020205020404" pitchFamily="49" charset="0"/>
                <a:cs typeface="Courier New" panose="02070309020205020404" pitchFamily="49" charset="0"/>
              </a:rPr>
              <a:t>Example of spanning tree:</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9928509" y="792332"/>
            <a:ext cx="2090666" cy="2636667"/>
          </a:xfrm>
          <a:prstGeom prst="rect">
            <a:avLst/>
          </a:prstGeom>
        </p:spPr>
      </p:pic>
      <p:pic>
        <p:nvPicPr>
          <p:cNvPr id="9" name="Picture 8"/>
          <p:cNvPicPr>
            <a:picLocks noChangeAspect="1"/>
          </p:cNvPicPr>
          <p:nvPr/>
        </p:nvPicPr>
        <p:blipFill>
          <a:blip r:embed="rId2"/>
          <a:stretch>
            <a:fillRect/>
          </a:stretch>
        </p:blipFill>
        <p:spPr>
          <a:xfrm>
            <a:off x="1753868" y="1753386"/>
            <a:ext cx="7870900" cy="47474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926692" y="1489434"/>
            <a:ext cx="10265308" cy="5081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828799" y="1489435"/>
            <a:ext cx="9945279" cy="511875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82147" y="1931436"/>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737271" y="2791699"/>
            <a:ext cx="6164133" cy="271336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07502" y="1110342"/>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pPr algn="just"/>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578262" y="1698268"/>
            <a:ext cx="5953125" cy="45624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000" dirty="0">
                <a:solidFill>
                  <a:schemeClr val="tx1"/>
                </a:solidFill>
                <a:latin typeface="+mj-lt"/>
                <a:cs typeface="Courier New" panose="02070309020205020404" pitchFamily="49" charset="0"/>
              </a:rPr>
              <a:t>Traveling Sales-man Problem (TSP) with Triangle Inequality</a:t>
            </a:r>
            <a:endParaRPr lang="en-US" sz="20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597506" y="1918704"/>
            <a:ext cx="5895975" cy="39909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pic>
        <p:nvPicPr>
          <p:cNvPr id="5" name="Picture 4"/>
          <p:cNvPicPr>
            <a:picLocks noChangeAspect="1"/>
          </p:cNvPicPr>
          <p:nvPr/>
        </p:nvPicPr>
        <p:blipFill>
          <a:blip r:embed="rId1"/>
          <a:stretch>
            <a:fillRect/>
          </a:stretch>
        </p:blipFill>
        <p:spPr>
          <a:xfrm>
            <a:off x="2771289" y="1783799"/>
            <a:ext cx="7153275" cy="44100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2340429" y="1592133"/>
            <a:ext cx="7772400" cy="49053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3038863" y="1698269"/>
            <a:ext cx="7150166" cy="474918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642189" y="1138334"/>
            <a:ext cx="9032032" cy="5514392"/>
          </a:xfrm>
        </p:spPr>
        <p:txBody>
          <a:bodyPr>
            <a:normAutofit fontScale="85000" lnSpcReduction="10000"/>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pPr marL="457200" indent="-457200">
              <a:buAutoNum type="alphaLcParenBoth"/>
            </a:pPr>
            <a:r>
              <a:rPr lang="en-US" sz="2400" dirty="0">
                <a:solidFill>
                  <a:schemeClr val="tx1"/>
                </a:solidFill>
              </a:rPr>
              <a:t>A complete undirected graph. Vertices lie on intersections</a:t>
            </a:r>
            <a:br>
              <a:rPr lang="en-US" sz="2400" dirty="0">
                <a:solidFill>
                  <a:schemeClr val="tx1"/>
                </a:solidFill>
              </a:rPr>
            </a:br>
            <a:r>
              <a:rPr lang="en-US" sz="2400" dirty="0">
                <a:solidFill>
                  <a:schemeClr val="tx1"/>
                </a:solidFill>
              </a:rPr>
              <a:t> of integer grid lines. f is one unit to the right and two units up from h. </a:t>
            </a:r>
            <a:endParaRPr lang="en-US" sz="2400" dirty="0">
              <a:solidFill>
                <a:schemeClr val="tx1"/>
              </a:solidFill>
            </a:endParaRPr>
          </a:p>
          <a:p>
            <a:pPr marL="457200" indent="-457200">
              <a:buAutoNum type="alphaLcParenBoth"/>
            </a:pPr>
            <a:r>
              <a:rPr lang="en-US" sz="2400" dirty="0">
                <a:solidFill>
                  <a:schemeClr val="tx1"/>
                </a:solidFill>
              </a:rPr>
              <a:t>A minimum spanning tree T of the complete graph, </a:t>
            </a:r>
            <a:br>
              <a:rPr lang="en-US" sz="2400" dirty="0">
                <a:solidFill>
                  <a:schemeClr val="tx1"/>
                </a:solidFill>
              </a:rPr>
            </a:br>
            <a:r>
              <a:rPr lang="en-US" sz="2400" dirty="0">
                <a:solidFill>
                  <a:schemeClr val="tx1"/>
                </a:solidFill>
              </a:rPr>
              <a:t>as computed by MST-PRIM. Vertex a is the root vertex.</a:t>
            </a:r>
            <a:endParaRPr lang="en-US" sz="2400" dirty="0">
              <a:solidFill>
                <a:schemeClr val="tx1"/>
              </a:solidFill>
            </a:endParaRPr>
          </a:p>
          <a:p>
            <a:pPr marL="457200" indent="-457200">
              <a:buAutoNum type="alphaLcParenBoth"/>
            </a:pPr>
            <a:r>
              <a:rPr lang="en-US" sz="2400" dirty="0">
                <a:solidFill>
                  <a:schemeClr val="tx1"/>
                </a:solidFill>
              </a:rPr>
              <a:t>A walk of T , starting at a. A full walk of the tree visits </a:t>
            </a:r>
            <a:br>
              <a:rPr lang="en-US" sz="2400" dirty="0">
                <a:solidFill>
                  <a:schemeClr val="tx1"/>
                </a:solidFill>
              </a:rPr>
            </a:br>
            <a:r>
              <a:rPr lang="en-US" sz="2400" dirty="0">
                <a:solidFill>
                  <a:schemeClr val="tx1"/>
                </a:solidFill>
              </a:rPr>
              <a:t>the vertices in the order </a:t>
            </a:r>
            <a:br>
              <a:rPr lang="en-US" sz="2400" dirty="0">
                <a:solidFill>
                  <a:schemeClr val="tx1"/>
                </a:solidFill>
              </a:rPr>
            </a:br>
            <a:r>
              <a:rPr lang="en-US" sz="2400" dirty="0">
                <a:solidFill>
                  <a:schemeClr val="tx1"/>
                </a:solidFill>
              </a:rPr>
              <a:t>a; b; c; b; h; b; a; d; e; f; e; g; e; d; a. </a:t>
            </a:r>
            <a:br>
              <a:rPr lang="en-US" sz="2400" dirty="0">
                <a:solidFill>
                  <a:schemeClr val="tx1"/>
                </a:solidFill>
              </a:rPr>
            </a:br>
            <a:r>
              <a:rPr lang="en-US" sz="2400" dirty="0">
                <a:solidFill>
                  <a:schemeClr val="tx1"/>
                </a:solidFill>
              </a:rPr>
              <a:t>A preorder walk of T lists a vertex just when it is </a:t>
            </a:r>
            <a:br>
              <a:rPr lang="en-US" sz="2400" dirty="0">
                <a:solidFill>
                  <a:schemeClr val="tx1"/>
                </a:solidFill>
              </a:rPr>
            </a:br>
            <a:r>
              <a:rPr lang="en-US" sz="2400" dirty="0">
                <a:solidFill>
                  <a:schemeClr val="tx1"/>
                </a:solidFill>
              </a:rPr>
              <a:t>first encountered, </a:t>
            </a:r>
            <a:br>
              <a:rPr lang="en-US" sz="2400" dirty="0">
                <a:solidFill>
                  <a:schemeClr val="tx1"/>
                </a:solidFill>
              </a:rPr>
            </a:br>
            <a:r>
              <a:rPr lang="en-US" sz="2400" dirty="0">
                <a:solidFill>
                  <a:schemeClr val="tx1"/>
                </a:solidFill>
              </a:rPr>
              <a:t>yielding the ordering a; b; c; h; d; e; f; g.</a:t>
            </a:r>
            <a:endParaRPr lang="en-US" sz="2400" dirty="0">
              <a:solidFill>
                <a:schemeClr val="tx1"/>
              </a:solidFill>
            </a:endParaRPr>
          </a:p>
          <a:p>
            <a:pPr marL="457200" indent="-457200">
              <a:buAutoNum type="alphaLcParenBoth"/>
            </a:pPr>
            <a:r>
              <a:rPr lang="en-US" sz="2400" dirty="0">
                <a:solidFill>
                  <a:schemeClr val="tx1"/>
                </a:solidFill>
              </a:rPr>
              <a:t>A tour obtained by visiting the vertices in the order </a:t>
            </a:r>
            <a:br>
              <a:rPr lang="en-US" sz="2400" dirty="0">
                <a:solidFill>
                  <a:schemeClr val="tx1"/>
                </a:solidFill>
              </a:rPr>
            </a:br>
            <a:r>
              <a:rPr lang="en-US" sz="2400" dirty="0">
                <a:solidFill>
                  <a:schemeClr val="tx1"/>
                </a:solidFill>
              </a:rPr>
              <a:t>given by the preorder walk, which is the tour H </a:t>
            </a:r>
            <a:br>
              <a:rPr lang="en-US" sz="2400" dirty="0">
                <a:solidFill>
                  <a:schemeClr val="tx1"/>
                </a:solidFill>
              </a:rPr>
            </a:br>
            <a:r>
              <a:rPr lang="en-US" sz="2400" dirty="0">
                <a:solidFill>
                  <a:schemeClr val="tx1"/>
                </a:solidFill>
              </a:rPr>
              <a:t>returned by APPROX-TSP-TOUR. Its total cost is</a:t>
            </a:r>
            <a:br>
              <a:rPr lang="en-US" sz="2400" dirty="0">
                <a:solidFill>
                  <a:schemeClr val="tx1"/>
                </a:solidFill>
              </a:rPr>
            </a:br>
            <a:r>
              <a:rPr lang="en-US" sz="2400" dirty="0">
                <a:solidFill>
                  <a:schemeClr val="tx1"/>
                </a:solidFill>
              </a:rPr>
              <a:t>approximately 19:074. </a:t>
            </a:r>
            <a:endParaRPr lang="en-US" sz="2400" dirty="0">
              <a:solidFill>
                <a:schemeClr val="tx1"/>
              </a:solidFill>
            </a:endParaRPr>
          </a:p>
          <a:p>
            <a:pPr marL="457200" indent="-457200">
              <a:buAutoNum type="alphaLcParenBoth"/>
            </a:pPr>
            <a:r>
              <a:rPr lang="en-US" sz="2400" dirty="0">
                <a:solidFill>
                  <a:schemeClr val="tx1"/>
                </a:solidFill>
              </a:rPr>
              <a:t>An optimal tour H for the original complete graph. </a:t>
            </a:r>
            <a:br>
              <a:rPr lang="en-US" sz="2400" dirty="0">
                <a:solidFill>
                  <a:schemeClr val="tx1"/>
                </a:solidFill>
              </a:rPr>
            </a:br>
            <a:r>
              <a:rPr lang="en-US" sz="2400" dirty="0">
                <a:solidFill>
                  <a:schemeClr val="tx1"/>
                </a:solidFill>
              </a:rPr>
              <a:t>Its total cost is approximately 14:715.</a:t>
            </a:r>
            <a:endParaRPr lang="en-US" sz="2400" dirty="0">
              <a:solidFill>
                <a:schemeClr val="tx1"/>
              </a:solidFill>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8686800" y="2155371"/>
            <a:ext cx="3405673" cy="444137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060051" y="1741131"/>
            <a:ext cx="6223907" cy="44767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1"/>
          <a:stretch>
            <a:fillRect/>
          </a:stretch>
        </p:blipFill>
        <p:spPr>
          <a:xfrm>
            <a:off x="3302842" y="1894989"/>
            <a:ext cx="6382334" cy="44862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043404" y="1082351"/>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2901821" y="1852612"/>
            <a:ext cx="6056442" cy="3596466"/>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pPr algn="just"/>
            <a:r>
              <a:rPr lang="en-US" sz="2400" b="0" i="0" dirty="0">
                <a:solidFill>
                  <a:srgbClr val="202122"/>
                </a:solidFill>
                <a:effectLst/>
                <a:latin typeface="Arial" panose="020B0604020202020204" pitchFamily="34" charset="0"/>
              </a:rPr>
              <a:t>The </a:t>
            </a:r>
            <a:r>
              <a:rPr lang="en-US" sz="2400" b="1" i="0" dirty="0">
                <a:solidFill>
                  <a:srgbClr val="202122"/>
                </a:solidFill>
                <a:effectLst/>
                <a:latin typeface="Arial" panose="020B0604020202020204" pitchFamily="34" charset="0"/>
              </a:rPr>
              <a:t>bin packing problem </a:t>
            </a:r>
            <a:r>
              <a:rPr lang="en-US" sz="2400" b="0" i="0" dirty="0">
                <a:solidFill>
                  <a:srgbClr val="202122"/>
                </a:solidFill>
                <a:effectLst/>
                <a:latin typeface="Arial" panose="020B0604020202020204" pitchFamily="34" charset="0"/>
              </a:rPr>
              <a:t>is an </a:t>
            </a:r>
            <a:r>
              <a:rPr lang="en-US" sz="2400" b="1" i="1" strike="noStrike" dirty="0">
                <a:solidFill>
                  <a:schemeClr val="tx1"/>
                </a:solidFill>
                <a:effectLst/>
                <a:latin typeface="Arial" panose="020B0604020202020204" pitchFamily="34" charset="0"/>
                <a:hlinkClick r:id="rId1" tooltip="Optimization problem"/>
              </a:rPr>
              <a:t>optimization problem</a:t>
            </a:r>
            <a:r>
              <a:rPr lang="en-US" sz="2400" b="0" i="0" dirty="0">
                <a:solidFill>
                  <a:srgbClr val="202122"/>
                </a:solidFill>
                <a:effectLst/>
                <a:latin typeface="Arial" panose="020B0604020202020204" pitchFamily="34" charset="0"/>
              </a:rPr>
              <a:t>, in which items of different sizes must be packed into a finite number of bins or containers, each of a fixed given capacity, in a way that minimizes the number of bins used. </a:t>
            </a:r>
            <a:endParaRPr lang="en-US" sz="2400" b="0" i="0" dirty="0">
              <a:solidFill>
                <a:srgbClr val="202122"/>
              </a:solidFill>
              <a:effectLst/>
              <a:latin typeface="Arial" panose="020B0604020202020204" pitchFamily="34" charset="0"/>
            </a:endParaRPr>
          </a:p>
          <a:p>
            <a:pPr algn="just"/>
            <a:r>
              <a:rPr lang="en-US" sz="2400" b="0" i="0" dirty="0">
                <a:solidFill>
                  <a:srgbClr val="202122"/>
                </a:solidFill>
                <a:effectLst/>
                <a:latin typeface="Arial" panose="020B0604020202020204" pitchFamily="34" charset="0"/>
              </a:rPr>
              <a:t>The problem has many applications, such as filling up containers, loading trucks with weight capacity constraints, creating file </a:t>
            </a:r>
            <a:r>
              <a:rPr lang="en-US" sz="2400" b="1" i="1" u="none" strike="noStrike" dirty="0">
                <a:solidFill>
                  <a:schemeClr val="tx1"/>
                </a:solidFill>
                <a:effectLst/>
                <a:latin typeface="Arial" panose="020B0604020202020204" pitchFamily="34" charset="0"/>
                <a:hlinkClick r:id="rId2" tooltip="Backup"/>
              </a:rPr>
              <a:t>backups</a:t>
            </a:r>
            <a:r>
              <a:rPr lang="en-US" sz="2400" b="0" i="0" dirty="0">
                <a:solidFill>
                  <a:srgbClr val="202122"/>
                </a:solidFill>
                <a:effectLst/>
                <a:latin typeface="Arial" panose="020B0604020202020204" pitchFamily="34" charset="0"/>
              </a:rPr>
              <a:t> in media, and technology mapping in </a:t>
            </a:r>
            <a:r>
              <a:rPr lang="en-US" sz="2400" b="1" i="1" u="none" strike="noStrike" dirty="0">
                <a:solidFill>
                  <a:schemeClr val="tx1"/>
                </a:solidFill>
                <a:effectLst/>
                <a:latin typeface="Arial" panose="020B0604020202020204" pitchFamily="34" charset="0"/>
                <a:hlinkClick r:id="rId3" tooltip="Field-programmable gate array"/>
              </a:rPr>
              <a:t>FPGA</a:t>
            </a:r>
            <a:r>
              <a:rPr lang="en-US" sz="2400" b="1" i="1" dirty="0">
                <a:solidFill>
                  <a:schemeClr val="tx1"/>
                </a:solidFill>
                <a:effectLst/>
                <a:latin typeface="Arial" panose="020B0604020202020204" pitchFamily="34" charset="0"/>
              </a:rPr>
              <a:t> </a:t>
            </a:r>
            <a:r>
              <a:rPr lang="en-US" sz="2400" b="1" i="1" u="none" strike="noStrike" dirty="0">
                <a:solidFill>
                  <a:schemeClr val="tx1"/>
                </a:solidFill>
                <a:effectLst/>
                <a:latin typeface="Arial" panose="020B0604020202020204" pitchFamily="34" charset="0"/>
                <a:hlinkClick r:id="rId4" tooltip="Semiconductor chip"/>
              </a:rPr>
              <a:t>semiconductor chip</a:t>
            </a:r>
            <a:r>
              <a:rPr lang="en-US" sz="2400" b="1" i="1" dirty="0">
                <a:solidFill>
                  <a:schemeClr val="tx1"/>
                </a:solidFill>
                <a:effectLst/>
                <a:latin typeface="Arial" panose="020B0604020202020204" pitchFamily="34" charset="0"/>
              </a:rPr>
              <a:t> </a:t>
            </a:r>
            <a:r>
              <a:rPr lang="en-US" sz="2400" b="0" i="0" dirty="0">
                <a:solidFill>
                  <a:srgbClr val="202122"/>
                </a:solidFill>
                <a:effectLst/>
                <a:latin typeface="Arial" panose="020B0604020202020204" pitchFamily="34" charset="0"/>
              </a:rPr>
              <a:t>design.</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245097" y="980388"/>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r>
              <a:rPr lang="en-US" b="0" i="0" dirty="0">
                <a:solidFill>
                  <a:srgbClr val="273239"/>
                </a:solidFill>
                <a:effectLst/>
                <a:latin typeface="Nunito" pitchFamily="2" charset="0"/>
              </a:rPr>
              <a:t>Given n items of different weights and bins </a:t>
            </a:r>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each of capacity c, assign each item to a bin </a:t>
            </a:r>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such that number of total used bins </a:t>
            </a:r>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is minimized. </a:t>
            </a:r>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It may be assumed that all items </a:t>
            </a:r>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have weights smaller than bin capacity.</a:t>
            </a:r>
            <a:endParaRPr lang="en-US" b="0" i="0" dirty="0">
              <a:solidFill>
                <a:srgbClr val="273239"/>
              </a:solidFill>
              <a:effectLst/>
              <a:latin typeface="Nunito" pitchFamily="2"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4852743" y="1094760"/>
            <a:ext cx="7175859" cy="550400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830125" y="1865083"/>
            <a:ext cx="9191625" cy="439102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762811" y="1018095"/>
            <a:ext cx="10331779"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pPr algn="l" fontAlgn="base"/>
            <a:r>
              <a:rPr lang="en-US" b="1" i="0" dirty="0">
                <a:solidFill>
                  <a:srgbClr val="273239"/>
                </a:solidFill>
                <a:effectLst/>
                <a:latin typeface="Nunito" pitchFamily="2" charset="0"/>
              </a:rPr>
              <a:t>Applications </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Loading of containers like trucks.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Placing data on multiple disks.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Job scheduling.</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Packing advertisements in fixed length radio/TV station breaks.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Storing a large collection of music onto tapes/CD’s, etc.</a:t>
            </a:r>
            <a:endParaRPr lang="en-US" b="0"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Online Algorithms</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These algorithms are for Bin Packing problems where items arrive one at a time (in unknown order), each must be put in a bin, before considering the next item.</a:t>
            </a:r>
            <a:br>
              <a:rPr lang="en-US" b="0" i="0" dirty="0">
                <a:solidFill>
                  <a:srgbClr val="273239"/>
                </a:solidFill>
                <a:effectLst/>
                <a:latin typeface="Nunito" pitchFamily="2" charset="0"/>
              </a:rPr>
            </a:br>
            <a:r>
              <a:rPr lang="en-US" b="1" i="0" dirty="0">
                <a:solidFill>
                  <a:srgbClr val="273239"/>
                </a:solidFill>
                <a:effectLst/>
                <a:latin typeface="Nunito" pitchFamily="2" charset="0"/>
              </a:rPr>
              <a:t>1. Next Fit:</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When processing next item, check if it fits in the same bin as the last item. Use a new bin only if it does not. </a:t>
            </a:r>
            <a:endParaRPr lang="en-US" b="0" i="0" dirty="0">
              <a:solidFill>
                <a:srgbClr val="273239"/>
              </a:solidFill>
              <a:effectLst/>
              <a:latin typeface="Nunito" pitchFamily="2"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867747"/>
            <a:ext cx="10567448" cy="5654351"/>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988441" y="1492087"/>
            <a:ext cx="11106150" cy="2686050"/>
          </a:xfrm>
          <a:prstGeom prst="rect">
            <a:avLst/>
          </a:prstGeom>
        </p:spPr>
      </p:pic>
      <p:pic>
        <p:nvPicPr>
          <p:cNvPr id="7" name="Picture 6"/>
          <p:cNvPicPr>
            <a:picLocks noChangeAspect="1"/>
          </p:cNvPicPr>
          <p:nvPr/>
        </p:nvPicPr>
        <p:blipFill>
          <a:blip r:embed="rId2"/>
          <a:stretch>
            <a:fillRect/>
          </a:stretch>
        </p:blipFill>
        <p:spPr>
          <a:xfrm>
            <a:off x="1850206" y="4317475"/>
            <a:ext cx="9000046" cy="233784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endParaRPr lang="en-US" sz="28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833514" y="2077530"/>
            <a:ext cx="9954705" cy="37623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627025"/>
          </a:xfrm>
        </p:spPr>
        <p:txBody>
          <a:bodyPr>
            <a:normAutofit fontScale="90000"/>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1018095"/>
            <a:ext cx="10567448" cy="5504003"/>
          </a:xfrm>
        </p:spPr>
        <p:txBody>
          <a:bodyPr>
            <a:normAutofit/>
          </a:bodyPr>
          <a:lstStyle/>
          <a:p>
            <a:pPr algn="just"/>
            <a:endParaRPr lang="en-US" sz="28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1"/>
          <a:stretch>
            <a:fillRect/>
          </a:stretch>
        </p:blipFill>
        <p:spPr>
          <a:xfrm>
            <a:off x="1525030" y="792331"/>
            <a:ext cx="10666970" cy="580643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endParaRPr lang="en-US" sz="4000" dirty="0"/>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a:t>
            </a:r>
            <a:endParaRPr lang="en-US" sz="28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algn="ctr"/>
            <a:r>
              <a:rPr lang="en-US" sz="2800" dirty="0">
                <a:solidFill>
                  <a:schemeClr val="tx1"/>
                </a:solidFill>
                <a:latin typeface="+mj-lt"/>
                <a:cs typeface="Courier New" panose="02070309020205020404" pitchFamily="49" charset="0"/>
              </a:rPr>
              <a:t>   </a:t>
            </a:r>
            <a:r>
              <a:rPr lang="en-US" sz="4000" b="1" i="1" dirty="0">
                <a:solidFill>
                  <a:srgbClr val="FF0000"/>
                </a:solidFill>
                <a:latin typeface="+mj-lt"/>
                <a:cs typeface="Courier New" panose="02070309020205020404" pitchFamily="49" charset="0"/>
              </a:rPr>
              <a:t>Any Question???</a:t>
            </a:r>
            <a:endParaRPr lang="en-US" sz="4000" b="1" i="1" dirty="0">
              <a:solidFill>
                <a:srgbClr val="FF0000"/>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11640</Words>
  <Application>WPS Presentation</Application>
  <PresentationFormat>Widescreen</PresentationFormat>
  <Paragraphs>643</Paragraphs>
  <Slides>64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64</vt:i4>
      </vt:variant>
    </vt:vector>
  </HeadingPairs>
  <TitlesOfParts>
    <vt:vector size="79" baseType="lpstr">
      <vt:lpstr>Arial</vt:lpstr>
      <vt:lpstr>SimSun</vt:lpstr>
      <vt:lpstr>Wingdings</vt:lpstr>
      <vt:lpstr>Wingdings 3</vt:lpstr>
      <vt:lpstr>Arial</vt:lpstr>
      <vt:lpstr>Courier New</vt:lpstr>
      <vt:lpstr>Century Gothic</vt:lpstr>
      <vt:lpstr>Microsoft YaHei</vt:lpstr>
      <vt:lpstr>Arial Unicode MS</vt:lpstr>
      <vt:lpstr>Calibri</vt:lpstr>
      <vt:lpstr>urw-din</vt:lpstr>
      <vt:lpstr>Siyam Rupali</vt:lpstr>
      <vt:lpstr>Source Sans 3</vt:lpstr>
      <vt:lpstr>Nunito</vt:lpstr>
      <vt:lpstr>Wisp</vt:lpstr>
      <vt:lpstr>Approximation Algorithms</vt:lpstr>
      <vt:lpstr>Complexity Class</vt:lpstr>
      <vt:lpstr>Complexity Class</vt:lpstr>
      <vt:lpstr>Complexity Class</vt:lpstr>
      <vt:lpstr>Complexity Class</vt:lpstr>
      <vt:lpstr>Complexity Class</vt:lpstr>
      <vt:lpstr>Non-Deterministic Algorithm</vt:lpstr>
      <vt:lpstr>Non-Deterministic Algorithm</vt:lpstr>
      <vt:lpstr>Complexity Class</vt:lpstr>
      <vt:lpstr>Complexity Class</vt:lpstr>
      <vt:lpstr>Complexity Class</vt:lpstr>
      <vt:lpstr>Complexity Class</vt:lpstr>
      <vt:lpstr>Optimization Problems</vt:lpstr>
      <vt:lpstr>Address NP-complete problems</vt:lpstr>
      <vt:lpstr>Brute-force algorithm</vt:lpstr>
      <vt:lpstr>  Heuristic techniques</vt:lpstr>
      <vt:lpstr>  Heuristic techniques</vt:lpstr>
      <vt:lpstr>  Heuristic techniques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dc:title>
  <dc:creator>Md.Abdul Masud</dc:creator>
  <cp:lastModifiedBy>PROSENJIT MONDOL</cp:lastModifiedBy>
  <cp:revision>119</cp:revision>
  <dcterms:created xsi:type="dcterms:W3CDTF">2021-08-21T04:45:00Z</dcterms:created>
  <dcterms:modified xsi:type="dcterms:W3CDTF">2026-09-20T03:47:22Z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5537C67EB6044D5BAD095461209A9213_12</vt:lpwstr>
  </property>
  <property fmtid="{D5CDD505-2E9C-101B-9397-08002B2CF9AE}" pid="3" name="KSOProductBuildVer">
    <vt:lpwstr>1033-12.2.0.20323</vt:lpwstr>
  </property>
</Properties>
</file>