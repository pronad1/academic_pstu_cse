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7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4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06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852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3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9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29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3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5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8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17043-EDDB-4263-AD47-F0CB2CC87CF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CEFA8-2D2F-4E0E-8D8D-5D48B3A6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365" y="1122363"/>
            <a:ext cx="11681011" cy="2387600"/>
          </a:xfrm>
        </p:spPr>
        <p:txBody>
          <a:bodyPr>
            <a:normAutofit fontScale="90000"/>
          </a:bodyPr>
          <a:lstStyle/>
          <a:p>
            <a:br>
              <a:rPr lang="en-US" sz="4900" dirty="0"/>
            </a:br>
            <a:br>
              <a:rPr lang="en-US" sz="4900" dirty="0"/>
            </a:br>
            <a:br>
              <a:rPr lang="en-US" sz="4900" dirty="0"/>
            </a:br>
            <a:br>
              <a:rPr lang="en-US" sz="4900" dirty="0"/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Buffer circuit design; Complex CMOS (</a:t>
            </a:r>
            <a:r>
              <a:rPr lang="en-US" sz="4000" dirty="0">
                <a:solidFill>
                  <a:srgbClr val="FF0000"/>
                </a:solidFill>
              </a:rPr>
              <a:t>Complementary Metal-Oxide-Semiconductor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) gates, CMOS building blocks: adder, multiplier; data path and memory structures</a:t>
            </a:r>
            <a:br>
              <a:rPr lang="en-US" sz="49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95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8" y="374089"/>
            <a:ext cx="10086167" cy="534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0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7" y="365125"/>
            <a:ext cx="5093205" cy="48344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642" y="9525"/>
            <a:ext cx="6976371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68662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4" y="272994"/>
            <a:ext cx="6782747" cy="61349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967" y="365125"/>
            <a:ext cx="4696480" cy="45440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35EB1E-F155-844E-0896-8509771A94B6}"/>
              </a:ext>
            </a:extLst>
          </p:cNvPr>
          <p:cNvCxnSpPr/>
          <p:nvPr/>
        </p:nvCxnSpPr>
        <p:spPr>
          <a:xfrm flipH="1" flipV="1">
            <a:off x="1609725" y="1825625"/>
            <a:ext cx="5762625" cy="22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B7B00A-131A-BA75-EB3C-5DF27617A06E}"/>
              </a:ext>
            </a:extLst>
          </p:cNvPr>
          <p:cNvCxnSpPr/>
          <p:nvPr/>
        </p:nvCxnSpPr>
        <p:spPr>
          <a:xfrm flipH="1">
            <a:off x="1657350" y="2333625"/>
            <a:ext cx="5762625" cy="29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62AF49-AED0-C390-0E33-33A97290BC64}"/>
              </a:ext>
            </a:extLst>
          </p:cNvPr>
          <p:cNvCxnSpPr/>
          <p:nvPr/>
        </p:nvCxnSpPr>
        <p:spPr>
          <a:xfrm flipH="1" flipV="1">
            <a:off x="3581400" y="1825625"/>
            <a:ext cx="4076700" cy="1403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0D81E7-0179-3683-DFB0-CED9D6E3B7DC}"/>
              </a:ext>
            </a:extLst>
          </p:cNvPr>
          <p:cNvCxnSpPr/>
          <p:nvPr/>
        </p:nvCxnSpPr>
        <p:spPr>
          <a:xfrm flipH="1" flipV="1">
            <a:off x="3609975" y="2724150"/>
            <a:ext cx="4010025" cy="876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308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9" y="0"/>
            <a:ext cx="6782747" cy="61349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595" y="0"/>
            <a:ext cx="5096586" cy="40867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810" y="4347592"/>
            <a:ext cx="7039957" cy="26959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9" name="Straight Arrow Connector 8"/>
          <p:cNvCxnSpPr/>
          <p:nvPr/>
        </p:nvCxnSpPr>
        <p:spPr>
          <a:xfrm>
            <a:off x="9003323" y="4097215"/>
            <a:ext cx="0" cy="250377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DAF339-B956-6884-560A-923F6F49708E}"/>
              </a:ext>
            </a:extLst>
          </p:cNvPr>
          <p:cNvCxnSpPr/>
          <p:nvPr/>
        </p:nvCxnSpPr>
        <p:spPr>
          <a:xfrm flipH="1">
            <a:off x="1571625" y="819150"/>
            <a:ext cx="5467350" cy="666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783871-FF8E-AAC1-158B-37075242AF31}"/>
              </a:ext>
            </a:extLst>
          </p:cNvPr>
          <p:cNvCxnSpPr/>
          <p:nvPr/>
        </p:nvCxnSpPr>
        <p:spPr>
          <a:xfrm flipH="1">
            <a:off x="1533525" y="1123950"/>
            <a:ext cx="5486400" cy="1219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FA4529-E73D-7E37-ECA7-651CC3625F2B}"/>
              </a:ext>
            </a:extLst>
          </p:cNvPr>
          <p:cNvCxnSpPr/>
          <p:nvPr/>
        </p:nvCxnSpPr>
        <p:spPr>
          <a:xfrm flipH="1" flipV="1">
            <a:off x="3400425" y="1485900"/>
            <a:ext cx="3638550" cy="581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D6F3A6-7D6E-FF7D-1C50-6ECDB81FFA55}"/>
              </a:ext>
            </a:extLst>
          </p:cNvPr>
          <p:cNvCxnSpPr/>
          <p:nvPr/>
        </p:nvCxnSpPr>
        <p:spPr>
          <a:xfrm flipH="1">
            <a:off x="3533775" y="2343150"/>
            <a:ext cx="3505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81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6" y="0"/>
            <a:ext cx="6906589" cy="47631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126" y="1505910"/>
            <a:ext cx="3079920" cy="6394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>
            <a:off x="3971251" y="1924050"/>
            <a:ext cx="52387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825" y="3286125"/>
            <a:ext cx="5163271" cy="3571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D74565-452C-9667-6250-7C02F18C7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677" y="4763165"/>
            <a:ext cx="5001323" cy="202910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BE2857-376A-AE75-87A5-90473998B4F9}"/>
              </a:ext>
            </a:extLst>
          </p:cNvPr>
          <p:cNvCxnSpPr/>
          <p:nvPr/>
        </p:nvCxnSpPr>
        <p:spPr>
          <a:xfrm>
            <a:off x="2981325" y="4465035"/>
            <a:ext cx="1390650" cy="896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741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95" y="-1"/>
            <a:ext cx="7060750" cy="6634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BC4FA2-B767-F70B-39FE-07EDB2E9B8AE}"/>
              </a:ext>
            </a:extLst>
          </p:cNvPr>
          <p:cNvSpPr txBox="1"/>
          <p:nvPr/>
        </p:nvSpPr>
        <p:spPr>
          <a:xfrm>
            <a:off x="4943475" y="4710410"/>
            <a:ext cx="60960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as-IN" dirty="0"/>
              <a:t>একটি একক লজিক গেটের আউটপুট সর্বোচ্চ যতগুলো লজিক গেটের ইনপুটকে নিরাপদে ড্রাইভ বা চালনা করতে পারে, তার সংখ্যা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A4F762-8DFC-B24C-B652-8211CE60A8C9}"/>
              </a:ext>
            </a:extLst>
          </p:cNvPr>
          <p:cNvCxnSpPr/>
          <p:nvPr/>
        </p:nvCxnSpPr>
        <p:spPr>
          <a:xfrm>
            <a:off x="1800225" y="5381625"/>
            <a:ext cx="3124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2B2D48-ECBE-7261-F384-5D0F23FD1976}"/>
              </a:ext>
            </a:extLst>
          </p:cNvPr>
          <p:cNvSpPr txBox="1"/>
          <p:nvPr/>
        </p:nvSpPr>
        <p:spPr>
          <a:xfrm>
            <a:off x="6096000" y="2301576"/>
            <a:ext cx="60960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s-IN" dirty="0"/>
              <a:t>চিপের প্রযুক্তি যত উন্নত ও ছোট হচ্ছে, এই </a:t>
            </a:r>
            <a:r>
              <a:rPr lang="as-IN" dirty="0">
                <a:solidFill>
                  <a:srgbClr val="FF0000"/>
                </a:solidFill>
              </a:rPr>
              <a:t>লম্বা তারগুলোর কারণে </a:t>
            </a:r>
            <a:r>
              <a:rPr lang="en-US" dirty="0">
                <a:solidFill>
                  <a:srgbClr val="FF0000"/>
                </a:solidFill>
              </a:rPr>
              <a:t>RC Delay (</a:t>
            </a:r>
            <a:r>
              <a:rPr lang="as-IN" dirty="0">
                <a:solidFill>
                  <a:srgbClr val="FF0000"/>
                </a:solidFill>
              </a:rPr>
              <a:t>প্রতিরোধ ও ধারকত্বজনিত বিলম্ব) তত বাড়ছে। </a:t>
            </a:r>
            <a:r>
              <a:rPr lang="as-IN" dirty="0"/>
              <a:t>এর </a:t>
            </a:r>
            <a:r>
              <a:rPr lang="as-IN" dirty="0">
                <a:solidFill>
                  <a:srgbClr val="FF0000"/>
                </a:solidFill>
              </a:rPr>
              <a:t>ফলে প্রসেসরের গতি কমে যেতে পারে এবং বিদ্যুৎ অপচয় বাড়ে</a:t>
            </a:r>
            <a:r>
              <a:rPr lang="as-IN" dirty="0"/>
              <a:t>।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s-IN" dirty="0"/>
              <a:t>এই সমস্যা সমাধানের জন্য চিপ ডিজাইনাররা </a:t>
            </a:r>
            <a:r>
              <a:rPr lang="as-IN" dirty="0">
                <a:solidFill>
                  <a:srgbClr val="FF0000"/>
                </a:solidFill>
              </a:rPr>
              <a:t>নির্দিষ্ট দূরত্ব পরপর </a:t>
            </a:r>
            <a:r>
              <a:rPr lang="en-US" dirty="0">
                <a:solidFill>
                  <a:srgbClr val="FF0000"/>
                </a:solidFill>
              </a:rPr>
              <a:t>Buffer (</a:t>
            </a:r>
            <a:r>
              <a:rPr lang="as-IN" dirty="0">
                <a:solidFill>
                  <a:srgbClr val="FF0000"/>
                </a:solidFill>
              </a:rPr>
              <a:t>সংকেত বর্ধক) ব্যবহার করেন অথবা তামার (</a:t>
            </a:r>
            <a:r>
              <a:rPr lang="en-US" dirty="0">
                <a:solidFill>
                  <a:srgbClr val="FF0000"/>
                </a:solidFill>
              </a:rPr>
              <a:t>Copper) </a:t>
            </a:r>
            <a:r>
              <a:rPr lang="as-IN" dirty="0">
                <a:solidFill>
                  <a:srgbClr val="FF0000"/>
                </a:solidFill>
              </a:rPr>
              <a:t>পরিবর্তে আরও উন্নত উপাদান যেমন কোবাল্ট বা রুথেনিয়াম ব্যবহার করছেন</a:t>
            </a:r>
            <a:r>
              <a:rPr lang="as-IN" dirty="0"/>
              <a:t>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927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0" y="104174"/>
            <a:ext cx="10778115" cy="63887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8440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1"/>
            <a:ext cx="7191375" cy="48660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57445"/>
            <a:ext cx="7191375" cy="1870075"/>
          </a:xfrm>
          <a:prstGeom prst="rect">
            <a:avLst/>
          </a:prstGeom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604" y="0"/>
            <a:ext cx="4616113" cy="601178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Arrow Connector 9"/>
          <p:cNvCxnSpPr/>
          <p:nvPr/>
        </p:nvCxnSpPr>
        <p:spPr>
          <a:xfrm flipH="1">
            <a:off x="838200" y="1825625"/>
            <a:ext cx="7259320" cy="92773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109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9691" cy="5256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64A200-AF21-68B2-A62C-0A605694EFA0}"/>
              </a:ext>
            </a:extLst>
          </p:cNvPr>
          <p:cNvSpPr txBox="1"/>
          <p:nvPr/>
        </p:nvSpPr>
        <p:spPr>
          <a:xfrm>
            <a:off x="6276975" y="1278420"/>
            <a:ext cx="6096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as-IN" dirty="0"/>
              <a:t>একটি </a:t>
            </a:r>
            <a:r>
              <a:rPr lang="en-US" dirty="0"/>
              <a:t>sensor-</a:t>
            </a:r>
            <a:r>
              <a:rPr lang="as-IN" dirty="0"/>
              <a:t>এর দুর্বল </a:t>
            </a:r>
            <a:r>
              <a:rPr lang="en-US" dirty="0"/>
              <a:t>signal CMOS buffer-</a:t>
            </a:r>
            <a:r>
              <a:rPr lang="as-IN" dirty="0"/>
              <a:t>এ দিলে </a:t>
            </a:r>
            <a:r>
              <a:rPr lang="en-US" dirty="0"/>
              <a:t>sensor </a:t>
            </a:r>
            <a:r>
              <a:rPr lang="as-IN" dirty="0"/>
              <a:t>থেকে বেশি </a:t>
            </a:r>
            <a:r>
              <a:rPr lang="en-US" dirty="0"/>
              <a:t>current </a:t>
            </a:r>
            <a:r>
              <a:rPr lang="as-IN" dirty="0"/>
              <a:t>নিতে হয় না।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EFA07B-1F59-54EF-4480-4E23E6A363FD}"/>
              </a:ext>
            </a:extLst>
          </p:cNvPr>
          <p:cNvCxnSpPr/>
          <p:nvPr/>
        </p:nvCxnSpPr>
        <p:spPr>
          <a:xfrm>
            <a:off x="4086225" y="1714500"/>
            <a:ext cx="2114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123621-A8F4-59AA-E1E9-D913D06BACE6}"/>
              </a:ext>
            </a:extLst>
          </p:cNvPr>
          <p:cNvSpPr txBox="1"/>
          <p:nvPr/>
        </p:nvSpPr>
        <p:spPr>
          <a:xfrm>
            <a:off x="6276975" y="2801711"/>
            <a:ext cx="619125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as-IN" dirty="0"/>
              <a:t>একটি </a:t>
            </a:r>
            <a:r>
              <a:rPr lang="en-US" dirty="0"/>
              <a:t>logic gate-</a:t>
            </a:r>
            <a:r>
              <a:rPr lang="as-IN" dirty="0"/>
              <a:t>এর </a:t>
            </a:r>
            <a:r>
              <a:rPr lang="en-US" dirty="0"/>
              <a:t>output </a:t>
            </a:r>
            <a:r>
              <a:rPr lang="as-IN" dirty="0"/>
              <a:t>যদি অনেকগুলো </a:t>
            </a:r>
            <a:r>
              <a:rPr lang="en-US" dirty="0"/>
              <a:t>gate-</a:t>
            </a:r>
            <a:r>
              <a:rPr lang="as-IN" dirty="0"/>
              <a:t>এর </a:t>
            </a:r>
            <a:r>
              <a:rPr lang="en-US" dirty="0"/>
              <a:t>input-</a:t>
            </a:r>
            <a:r>
              <a:rPr lang="as-IN" dirty="0"/>
              <a:t>এ দিতে হয়, তখন </a:t>
            </a:r>
            <a:r>
              <a:rPr lang="en-US" dirty="0"/>
              <a:t>buffer </a:t>
            </a:r>
            <a:r>
              <a:rPr lang="as-IN" dirty="0"/>
              <a:t>ব্যবহার করা যায়।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B42DF0-B259-C554-9EA7-60437CBEF1CA}"/>
              </a:ext>
            </a:extLst>
          </p:cNvPr>
          <p:cNvCxnSpPr/>
          <p:nvPr/>
        </p:nvCxnSpPr>
        <p:spPr>
          <a:xfrm>
            <a:off x="4162425" y="3228975"/>
            <a:ext cx="2114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790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94" y="176255"/>
            <a:ext cx="10033301" cy="57057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87945" y="2756654"/>
            <a:ext cx="3831818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/>
              <a:t>FPGA (Field-Programmable Gate Array)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041531" y="3687246"/>
            <a:ext cx="432464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ASIC (Application-Specific Integrated Circuit)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391920" y="2941320"/>
            <a:ext cx="3896024" cy="129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519680" y="4001294"/>
            <a:ext cx="2448560" cy="255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149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12" y="136007"/>
            <a:ext cx="11629495" cy="48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75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0" y="0"/>
            <a:ext cx="6982799" cy="53633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959" y="0"/>
            <a:ext cx="4344006" cy="62206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467" y="5286156"/>
            <a:ext cx="7020905" cy="15718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 flipH="1">
            <a:off x="9398000" y="5069840"/>
            <a:ext cx="1046480" cy="985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9728372" y="6068452"/>
            <a:ext cx="732960" cy="517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770322-62F2-2DAE-3065-FE4CA419B880}"/>
              </a:ext>
            </a:extLst>
          </p:cNvPr>
          <p:cNvCxnSpPr/>
          <p:nvPr/>
        </p:nvCxnSpPr>
        <p:spPr>
          <a:xfrm>
            <a:off x="7088039" y="647700"/>
            <a:ext cx="375920" cy="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904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0" y="0"/>
            <a:ext cx="6982799" cy="66751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560" y="0"/>
            <a:ext cx="4812200" cy="654020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56853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0" y="0"/>
            <a:ext cx="6982799" cy="66751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040" y="270082"/>
            <a:ext cx="4886960" cy="613495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9038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165</Words>
  <Application>Microsoft Office PowerPoint</Application>
  <PresentationFormat>Widescreen</PresentationFormat>
  <Paragraphs>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    Buffer circuit design; Complex CMOS (Complementary Metal-Oxide-Semiconductor) gates, CMOS building blocks: adder, multiplier; data path and memory structures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Buffer circuit design; Complex CMOS gates, CMOS building blocks: adder, multiplier; data path and memory structures</dc:title>
  <dc:creator>Lenovo</dc:creator>
  <cp:lastModifiedBy>cce sen</cp:lastModifiedBy>
  <cp:revision>15</cp:revision>
  <dcterms:created xsi:type="dcterms:W3CDTF">2026-09-28T16:25:18Z</dcterms:created>
  <dcterms:modified xsi:type="dcterms:W3CDTF">2026-09-29T03:53:16Z</dcterms:modified>
</cp:coreProperties>
</file>