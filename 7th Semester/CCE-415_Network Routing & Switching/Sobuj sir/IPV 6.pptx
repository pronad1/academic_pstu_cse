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48" r:id="rId2"/>
    <p:sldId id="351" r:id="rId3"/>
    <p:sldId id="331" r:id="rId4"/>
    <p:sldId id="333" r:id="rId5"/>
    <p:sldId id="334" r:id="rId6"/>
    <p:sldId id="335" r:id="rId7"/>
    <p:sldId id="336" r:id="rId8"/>
    <p:sldId id="337" r:id="rId9"/>
    <p:sldId id="338" r:id="rId10"/>
    <p:sldId id="332" r:id="rId11"/>
    <p:sldId id="341" r:id="rId12"/>
    <p:sldId id="360" r:id="rId13"/>
    <p:sldId id="361" r:id="rId14"/>
    <p:sldId id="362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91" r:id="rId41"/>
    <p:sldId id="392" r:id="rId42"/>
    <p:sldId id="393" r:id="rId43"/>
    <p:sldId id="394" r:id="rId44"/>
    <p:sldId id="395" r:id="rId45"/>
    <p:sldId id="339" r:id="rId46"/>
    <p:sldId id="25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80531" autoAdjust="0"/>
  </p:normalViewPr>
  <p:slideViewPr>
    <p:cSldViewPr snapToGrid="0">
      <p:cViewPr varScale="1">
        <p:scale>
          <a:sx n="55" d="100"/>
          <a:sy n="55" d="100"/>
        </p:scale>
        <p:origin x="12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6541C-3DB1-48CF-8574-BE58FE0745A4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A0069-CE9C-4DF7-A414-7EEDF68B1A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3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26C4740-6176-6B42-AE8B-248565D05237}" type="slidenum">
              <a:rPr lang="en-US" sz="800"/>
              <a:pPr/>
              <a:t>12</a:t>
            </a:fld>
            <a:endParaRPr lang="en-US" sz="800" dirty="0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8.2.1.2  IPv4</a:t>
            </a:r>
            <a:r>
              <a:rPr lang="en-US" baseline="0" dirty="0" smtClean="0"/>
              <a:t> and IPv6 Coexistence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055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26C4740-6176-6B42-AE8B-248565D05237}" type="slidenum">
              <a:rPr lang="en-US" sz="800"/>
              <a:pPr/>
              <a:t>13</a:t>
            </a:fld>
            <a:endParaRPr lang="en-US" sz="800" dirty="0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8.2.1.2  IPv4 and IPv6 Coexistence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61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26C4740-6176-6B42-AE8B-248565D05237}" type="slidenum">
              <a:rPr lang="en-US" sz="800"/>
              <a:pPr/>
              <a:t>14</a:t>
            </a:fld>
            <a:endParaRPr lang="en-US" sz="800" dirty="0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8.2.1.2 IPv4</a:t>
            </a:r>
            <a:r>
              <a:rPr lang="en-US" baseline="0" dirty="0" smtClean="0"/>
              <a:t> and IPV6 Coexistence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733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15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8.2.3.2  IPv6 Prefix 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492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16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8.2.3.1  IPv6</a:t>
            </a:r>
            <a:r>
              <a:rPr lang="en-US" baseline="0" dirty="0" smtClean="0"/>
              <a:t> Address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685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17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8.2.3.1/8.2.3.3  IPv6</a:t>
            </a:r>
            <a:r>
              <a:rPr lang="en-US" baseline="0" dirty="0" smtClean="0"/>
              <a:t> Unicast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75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18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8.2.3.3  IPv6 Unicast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512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19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8.2.3.3</a:t>
            </a:r>
            <a:r>
              <a:rPr lang="en-US" baseline="0" dirty="0" smtClean="0"/>
              <a:t>  IPv6 Unicast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64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20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8.2.3.3  IPv6 Unicast</a:t>
            </a:r>
            <a:r>
              <a:rPr lang="en-US" baseline="0" dirty="0" smtClean="0"/>
              <a:t>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898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21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8.2.3.3  IPv6 Unicast</a:t>
            </a:r>
            <a:r>
              <a:rPr lang="en-US" baseline="0" dirty="0" smtClean="0"/>
              <a:t>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19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22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8.2.3.4  IPv6 Link-Local Unicast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692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23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8.2.3.4  IPv6 Link-Local Unicast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802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24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8.2.4.1  Structure of an IPv6 Global Unicast</a:t>
            </a:r>
            <a:r>
              <a:rPr lang="en-US" baseline="0" dirty="0" smtClean="0"/>
              <a:t>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588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25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8.2.4.1  Structure</a:t>
            </a:r>
            <a:r>
              <a:rPr lang="en-US" baseline="0" dirty="0" smtClean="0"/>
              <a:t> of an IPv6 Global Unicast Address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294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26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8.2.4.1  Structure</a:t>
            </a:r>
            <a:r>
              <a:rPr lang="en-US" baseline="0" dirty="0" smtClean="0"/>
              <a:t> of an IPv6 Global Unicast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58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27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8.2.4.2  Static Configuration of a Global Unicast Address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288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28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8.2.4.2  Static Configuration</a:t>
            </a:r>
            <a:r>
              <a:rPr lang="en-US" baseline="0" dirty="0" smtClean="0"/>
              <a:t> of an IPv6 Global Unicast Address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030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29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8.2.4.5  </a:t>
            </a:r>
            <a:r>
              <a:rPr lang="en-US" dirty="0">
                <a:latin typeface="Arial" charset="0"/>
              </a:rPr>
              <a:t>EUI-64 Process or Randomly Generated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30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8.2.4.5  </a:t>
            </a:r>
            <a:r>
              <a:rPr lang="en-US" dirty="0">
                <a:latin typeface="Arial" charset="0"/>
              </a:rPr>
              <a:t>EUI-64 Process or Randomly Generated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1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31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8.2.4.5  </a:t>
            </a:r>
            <a:r>
              <a:rPr lang="en-US" dirty="0">
                <a:latin typeface="Arial" charset="0"/>
              </a:rPr>
              <a:t>EUI-64 Process or Randomly Generated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824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32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8.2.4.5  </a:t>
            </a:r>
            <a:r>
              <a:rPr lang="en-US" dirty="0">
                <a:latin typeface="Arial" charset="0"/>
              </a:rPr>
              <a:t>EUI-64 Process or Randomly Generated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1872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33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8.2.4.6  Dynamic</a:t>
            </a:r>
            <a:r>
              <a:rPr lang="en-US" baseline="0" dirty="0" smtClean="0"/>
              <a:t> Link-local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498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34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8.2.4.6  </a:t>
            </a:r>
            <a:r>
              <a:rPr lang="en-US" dirty="0" smtClean="0">
                <a:latin typeface="Arial" charset="0"/>
              </a:rPr>
              <a:t>Dynamic Link-local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10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35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8.2.4.7  Static</a:t>
            </a:r>
            <a:r>
              <a:rPr lang="en-US" baseline="0" dirty="0" smtClean="0"/>
              <a:t> Link-local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7041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36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0605" indent="-110605" defTabSz="1001675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SzPct val="100000"/>
              <a:defRPr/>
            </a:pPr>
            <a:r>
              <a:rPr lang="en-US" dirty="0" smtClean="0"/>
              <a:t>8.2.4.7  Static</a:t>
            </a:r>
            <a:r>
              <a:rPr lang="en-US" baseline="0" dirty="0" smtClean="0"/>
              <a:t> Link-local Addresses (cont.)</a:t>
            </a:r>
            <a:endParaRPr lang="en-US" dirty="0" smtClean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6824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37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8.2.4.8 Verifying IPv6 Address 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59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38</a:t>
            </a:fld>
            <a:endParaRPr lang="en-US" sz="800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8.2.4.8 Verifying IPv6 Address Configuration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315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AE87D6-DF4D-4E45-B583-CE3BFF4036EF}" type="slidenum">
              <a:rPr lang="en-US" sz="800"/>
              <a:pPr/>
              <a:t>39</a:t>
            </a:fld>
            <a:endParaRPr lang="en-US" sz="800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8.2.5.1  Assigned</a:t>
            </a:r>
            <a:r>
              <a:rPr lang="en-US" baseline="0" dirty="0" smtClean="0"/>
              <a:t> IPv6 Multicast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877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AE87D6-DF4D-4E45-B583-CE3BFF4036EF}" type="slidenum">
              <a:rPr lang="en-US" sz="800"/>
              <a:pPr/>
              <a:t>40</a:t>
            </a:fld>
            <a:endParaRPr lang="en-US" sz="800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8.2.5.1  Assigned IPv6 Multicast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73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AE87D6-DF4D-4E45-B583-CE3BFF4036EF}" type="slidenum">
              <a:rPr lang="en-US" sz="800"/>
              <a:pPr/>
              <a:t>41</a:t>
            </a:fld>
            <a:endParaRPr lang="en-US" sz="800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8.2.5.1  Assigned IPv6 Multicast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022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AE87D6-DF4D-4E45-B583-CE3BFF4036EF}" type="slidenum">
              <a:rPr lang="en-US" sz="800"/>
              <a:pPr/>
              <a:t>42</a:t>
            </a:fld>
            <a:endParaRPr lang="en-US" sz="800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8.2.5.2  Solicited Node IPv6 Multicast Addresses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902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29057" indent="-280406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2162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570276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18927" indent="-224325" defTabSz="886397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46757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16227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36487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13528" indent="-224325" algn="ctr" defTabSz="886397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AE87D6-DF4D-4E45-B583-CE3BFF4036EF}" type="slidenum">
              <a:rPr lang="en-US" sz="800"/>
              <a:pPr/>
              <a:t>43</a:t>
            </a:fld>
            <a:endParaRPr lang="en-US" sz="800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smtClean="0"/>
              <a:t>8.2.5.2  Solicited Node IPv6 Multicast Addresses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76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44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17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03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74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067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01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16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88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75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87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33207-BA23-4F25-9AB9-C0CEEC03B0F6}" type="datetimeFigureOut">
              <a:rPr lang="en-GB" smtClean="0"/>
              <a:t>04/01/2023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B54F7-BC8A-40D3-9081-E30215EE6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91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jp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jp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jp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jpg"/><Relationship Id="rId7" Type="http://schemas.openxmlformats.org/officeDocument/2006/relationships/image" Target="../media/image5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5" y="194008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IPV6 Addressing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592941-E850-099A-CD1F-35106ACED468}"/>
              </a:ext>
            </a:extLst>
          </p:cNvPr>
          <p:cNvSpPr txBox="1"/>
          <p:nvPr/>
        </p:nvSpPr>
        <p:spPr>
          <a:xfrm>
            <a:off x="2274277" y="1860810"/>
            <a:ext cx="78744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charset="0"/>
              </a:rPr>
              <a:t>IPv4 Issues</a:t>
            </a:r>
          </a:p>
          <a:p>
            <a:r>
              <a:rPr lang="en-US" sz="4000" b="1" dirty="0">
                <a:solidFill>
                  <a:srgbClr val="FF0000"/>
                </a:solidFill>
                <a:latin typeface="Arial" charset="0"/>
              </a:rPr>
              <a:t>IPv6 Address Representation</a:t>
            </a:r>
          </a:p>
          <a:p>
            <a:r>
              <a:rPr lang="en-US" sz="4000" b="1" dirty="0">
                <a:solidFill>
                  <a:srgbClr val="FF0000"/>
                </a:solidFill>
                <a:latin typeface="Arial" charset="0"/>
              </a:rPr>
              <a:t>IPv6 Types</a:t>
            </a:r>
          </a:p>
        </p:txBody>
      </p:sp>
    </p:spTree>
    <p:extLst>
      <p:ext uri="{BB962C8B-B14F-4D97-AF65-F5344CB8AC3E}">
        <p14:creationId xmlns:p14="http://schemas.microsoft.com/office/powerpoint/2010/main" val="415877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Why not IPV5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726" y="1094568"/>
            <a:ext cx="9844105" cy="32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1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Notation -Hexadecimal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65" y="1161464"/>
            <a:ext cx="6414149" cy="27297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514" y="1352428"/>
            <a:ext cx="5290160" cy="27450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36023" y="792132"/>
            <a:ext cx="1622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Hexadecimal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1500" y="3659745"/>
            <a:ext cx="5524849" cy="273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1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charset="0"/>
              </a:rPr>
              <a:t>Why IPv6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sp>
        <p:nvSpPr>
          <p:cNvPr id="10" name="Content Placeholder 1"/>
          <p:cNvSpPr txBox="1">
            <a:spLocks/>
          </p:cNvSpPr>
          <p:nvPr/>
        </p:nvSpPr>
        <p:spPr bwMode="auto">
          <a:xfrm>
            <a:off x="397523" y="716125"/>
            <a:ext cx="11088843" cy="508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/>
              <a:t>IPv6 is designed to be the successor to IPv4.</a:t>
            </a:r>
          </a:p>
          <a:p>
            <a:r>
              <a:rPr lang="en-US" sz="2000" dirty="0"/>
              <a:t>Depletion of IPv4 address space has been the motivating factor for moving to IPv6.</a:t>
            </a:r>
          </a:p>
          <a:p>
            <a:r>
              <a:rPr lang="en-US" sz="2000" dirty="0"/>
              <a:t>Projections show that all five RIRs will run out of IPv4 addresses between 2015 and 2020.</a:t>
            </a:r>
          </a:p>
          <a:p>
            <a:r>
              <a:rPr lang="en-US" sz="2000" dirty="0"/>
              <a:t>With an increasing Internet population, a limited IPv4 address space, issues with NAT and an Internet of things, the time has come to begin the transition to IPv6!</a:t>
            </a:r>
          </a:p>
          <a:p>
            <a:r>
              <a:rPr lang="en-US" sz="2000" dirty="0"/>
              <a:t>IPv4 has a theoretical maximum of 4.3 billion addresses, plus private addresses in combination with NAT. </a:t>
            </a:r>
          </a:p>
          <a:p>
            <a:r>
              <a:rPr lang="en-US" sz="2000" dirty="0"/>
              <a:t>IPv6 larger 128-bit address space provides for 340 </a:t>
            </a:r>
            <a:r>
              <a:rPr lang="en-US" sz="2000" dirty="0" err="1"/>
              <a:t>undecillion</a:t>
            </a:r>
            <a:r>
              <a:rPr lang="en-US" sz="2000" dirty="0"/>
              <a:t> addresses.</a:t>
            </a:r>
          </a:p>
          <a:p>
            <a:r>
              <a:rPr lang="en-US" sz="2000" dirty="0"/>
              <a:t>IPv6 fixes the limitations of IPv4 and includes additional enhancements, such as ICMPv6.</a:t>
            </a:r>
            <a:endParaRPr lang="en-US" sz="2000" b="1" dirty="0"/>
          </a:p>
          <a:p>
            <a:pPr marL="0" indent="0">
              <a:buFont typeface="Wingdings" charset="0"/>
              <a:buNone/>
            </a:pP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9491" y="4489056"/>
            <a:ext cx="7117975" cy="215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2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sp>
        <p:nvSpPr>
          <p:cNvPr id="10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charset="0"/>
              </a:rPr>
              <a:t>Why IPv6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4456" y="1142371"/>
            <a:ext cx="9419100" cy="486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2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IPV6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1145" y="1177872"/>
            <a:ext cx="9399680" cy="43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2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IPV6</a:t>
            </a:r>
            <a:r>
              <a:rPr lang="ko-KR" altLang="en-US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  </a:t>
            </a:r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Shortening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365" y="940795"/>
            <a:ext cx="6820852" cy="36866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463" y="3075540"/>
            <a:ext cx="7659169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263" y="1156662"/>
            <a:ext cx="9139027" cy="4338411"/>
          </a:xfrm>
          <a:prstGeom prst="rect">
            <a:avLst/>
          </a:prstGeom>
        </p:spPr>
      </p:pic>
      <p:sp>
        <p:nvSpPr>
          <p:cNvPr id="10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IPV6</a:t>
            </a:r>
            <a:r>
              <a:rPr lang="ko-KR" altLang="en-US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  </a:t>
            </a:r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Shortening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47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7458" y="-83354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154" y="764275"/>
            <a:ext cx="7922065" cy="30282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0794" y="3589141"/>
            <a:ext cx="5822836" cy="3089668"/>
          </a:xfrm>
          <a:prstGeom prst="rect">
            <a:avLst/>
          </a:prstGeom>
        </p:spPr>
      </p:pic>
      <p:sp>
        <p:nvSpPr>
          <p:cNvPr id="10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7458" y="-67821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IPV6</a:t>
            </a:r>
            <a:r>
              <a:rPr lang="ko-KR" altLang="en-US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  </a:t>
            </a:r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expanding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26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Finding the IPV6</a:t>
            </a:r>
            <a:r>
              <a:rPr lang="ko-KR" altLang="en-US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  </a:t>
            </a:r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Prefix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4465" y="920975"/>
            <a:ext cx="8564170" cy="4334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6923" y="5245777"/>
            <a:ext cx="7290543" cy="147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6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sp>
        <p:nvSpPr>
          <p:cNvPr id="10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Finding the IPV6</a:t>
            </a:r>
            <a:r>
              <a:rPr lang="ko-KR" altLang="en-US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  </a:t>
            </a:r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Prefix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1871" y="924416"/>
            <a:ext cx="6976084" cy="27935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7259" y="3817752"/>
            <a:ext cx="5067746" cy="231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0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1956804" y="393281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IPv4 Issues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IPv4 and IPv6 Coexistence</a:t>
            </a:r>
            <a:endParaRPr lang="en-US" dirty="0">
              <a:latin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50720" y="1490561"/>
            <a:ext cx="8048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The migration techniques can be divided into three categories: </a:t>
            </a:r>
          </a:p>
          <a:p>
            <a:pPr algn="l"/>
            <a:r>
              <a:rPr lang="en-US" sz="2000" dirty="0"/>
              <a:t>Dual-stack, </a:t>
            </a:r>
            <a:r>
              <a:rPr lang="en-US" sz="2000" dirty="0" err="1"/>
              <a:t>Tunnelling</a:t>
            </a:r>
            <a:r>
              <a:rPr lang="en-US" sz="2000" dirty="0"/>
              <a:t>, and Translation.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440" y="2830418"/>
            <a:ext cx="4327208" cy="30021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087880" y="5865674"/>
            <a:ext cx="79267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Dual-stack: </a:t>
            </a:r>
            <a:r>
              <a:rPr lang="en-US" sz="2000" dirty="0"/>
              <a:t>Allows IPv4 and IPv6 to coexist on the same network. Devices run both IPv4 and IPv6 protocol stacks simultaneously.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32960" y="240792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Dual-stack</a:t>
            </a:r>
          </a:p>
        </p:txBody>
      </p:sp>
    </p:spTree>
    <p:extLst>
      <p:ext uri="{BB962C8B-B14F-4D97-AF65-F5344CB8AC3E}">
        <p14:creationId xmlns:p14="http://schemas.microsoft.com/office/powerpoint/2010/main" val="2314673770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2487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IPv4 Issues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IPv4 and IPv6 Coexistence (cont.)</a:t>
            </a:r>
            <a:endParaRPr lang="en-US" dirty="0">
              <a:latin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80772" y="5786846"/>
            <a:ext cx="7744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 err="1"/>
              <a:t>Tunnelling</a:t>
            </a:r>
            <a:r>
              <a:rPr lang="en-US" sz="2000" dirty="0"/>
              <a:t>:  A method of transporting an IPv6 packet over an IPv4 network. The IPv6 packet is encapsulated inside an IPv4 packet.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606" y="1905000"/>
            <a:ext cx="6384174" cy="38404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60520" y="1478280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Tunnelling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976981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1959649" y="4401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IPv4 Issues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IPv4 and IPv6 Coexistence (cont.)</a:t>
            </a:r>
            <a:endParaRPr lang="en-US" dirty="0"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6549" y="4503784"/>
            <a:ext cx="80279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/>
              <a:t>Translation</a:t>
            </a:r>
            <a:r>
              <a:rPr lang="en-US" sz="2000" dirty="0"/>
              <a:t>: The Network Address Translation 64 (NAT64) allows IPv6-enabled devices to communicate with IPv4-enabled devices using a translation technique similar to NAT for IPv4. An IPv6 packet is translated to an IPv4 packet, and vice versa.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" t="16319"/>
          <a:stretch/>
        </p:blipFill>
        <p:spPr bwMode="auto">
          <a:xfrm>
            <a:off x="2575560" y="2164080"/>
            <a:ext cx="6659880" cy="2248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87240" y="1691640"/>
            <a:ext cx="271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779737887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639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IPv6 Prefix Length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35230" y="1325880"/>
            <a:ext cx="8382251" cy="4895098"/>
          </a:xfrm>
        </p:spPr>
        <p:txBody>
          <a:bodyPr/>
          <a:lstStyle/>
          <a:p>
            <a:r>
              <a:rPr lang="en-US" sz="2000" dirty="0"/>
              <a:t>IPv6 does not use the dotted-decimal subnet mask notation</a:t>
            </a:r>
          </a:p>
          <a:p>
            <a:r>
              <a:rPr lang="en-US" sz="2000" dirty="0"/>
              <a:t>Prefix length indicates the network portion of an IPv6 address using the following format: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IPv6 address/prefix length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en-US" dirty="0" smtClean="0"/>
              <a:t>refix length can range from 0 to 128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Typical prefix length is /64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963" y="4338639"/>
            <a:ext cx="44100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961" y="3847699"/>
            <a:ext cx="1482834" cy="48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2471304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9439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IPv6 Address Types</a:t>
            </a:r>
            <a:endParaRPr lang="en-US" dirty="0">
              <a:latin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49994" y="1781630"/>
            <a:ext cx="8432800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There are three types of IPv6 addresses: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Unicast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/>
              <a:t>Multicast 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000" dirty="0" err="1"/>
              <a:t>Anycast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000" b="1" dirty="0"/>
              <a:t>Note</a:t>
            </a:r>
            <a:r>
              <a:rPr lang="en-US" sz="2000" dirty="0"/>
              <a:t>: IPv6 does not have broadcast addresses.</a:t>
            </a:r>
          </a:p>
        </p:txBody>
      </p:sp>
    </p:spTree>
    <p:extLst>
      <p:ext uri="{BB962C8B-B14F-4D97-AF65-F5344CB8AC3E}">
        <p14:creationId xmlns:p14="http://schemas.microsoft.com/office/powerpoint/2010/main" val="266629806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639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</a:t>
            </a:r>
            <a:r>
              <a:rPr lang="en-US" dirty="0" smtClean="0">
                <a:latin typeface="Arial" charset="0"/>
              </a:rPr>
              <a:t>Unicast Addresses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00570" y="1502229"/>
            <a:ext cx="2743200" cy="536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Unicast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marL="342900" lvl="1" indent="-342900" defTabSz="457200">
              <a:buFont typeface="Wingdings" panose="05000000000000000000" pitchFamily="2" charset="2"/>
              <a:buChar char="§"/>
            </a:pPr>
            <a:r>
              <a:rPr lang="en-US" dirty="0"/>
              <a:t>U</a:t>
            </a:r>
            <a:r>
              <a:rPr lang="en-US" dirty="0" smtClean="0"/>
              <a:t>niquely </a:t>
            </a:r>
            <a:r>
              <a:rPr lang="en-US" dirty="0"/>
              <a:t>identifies an interface on an IPv6-enabled </a:t>
            </a:r>
            <a:r>
              <a:rPr lang="en-US" dirty="0" smtClean="0"/>
              <a:t>device.</a:t>
            </a:r>
          </a:p>
          <a:p>
            <a:pPr marL="342900" lvl="1" indent="-342900" defTabSz="457200">
              <a:buFont typeface="Wingdings" panose="05000000000000000000" pitchFamily="2" charset="2"/>
              <a:buChar char="§"/>
            </a:pPr>
            <a:r>
              <a:rPr lang="en-US" dirty="0" smtClean="0"/>
              <a:t>A </a:t>
            </a:r>
            <a:r>
              <a:rPr lang="en-US" dirty="0"/>
              <a:t>packet sent to a unicast address is received by the interface that is assigned that address. 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810" y="1502230"/>
            <a:ext cx="5913740" cy="43651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9902126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0749" y="39439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IPv6 </a:t>
            </a:r>
            <a:r>
              <a:rPr lang="en-US" dirty="0" smtClean="0">
                <a:latin typeface="Arial" charset="0"/>
              </a:rPr>
              <a:t>Unicast Addresses (cont.)</a:t>
            </a:r>
            <a:endParaRPr lang="en-US" dirty="0">
              <a:latin typeface="Arial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990" y="1538288"/>
            <a:ext cx="6169255" cy="4847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10120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639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IPv6 Unicast Addresses (cont.)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50470" y="1465943"/>
            <a:ext cx="8412731" cy="48983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Global Unicast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S</a:t>
            </a:r>
            <a:r>
              <a:rPr lang="en-US" dirty="0" smtClean="0"/>
              <a:t>imilar </a:t>
            </a:r>
            <a:r>
              <a:rPr lang="en-US" dirty="0"/>
              <a:t>to a public IPv4 </a:t>
            </a:r>
            <a:r>
              <a:rPr lang="en-US" dirty="0" smtClean="0"/>
              <a:t>address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G</a:t>
            </a:r>
            <a:r>
              <a:rPr lang="en-US" dirty="0" smtClean="0"/>
              <a:t>lobally unique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Internet </a:t>
            </a:r>
            <a:r>
              <a:rPr lang="en-US" dirty="0"/>
              <a:t>routable </a:t>
            </a:r>
            <a:r>
              <a:rPr lang="en-US" dirty="0" smtClean="0"/>
              <a:t>addresses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Can </a:t>
            </a:r>
            <a:r>
              <a:rPr lang="en-US" dirty="0"/>
              <a:t>be configured statically or assigned </a:t>
            </a:r>
            <a:r>
              <a:rPr lang="en-US" dirty="0" smtClean="0"/>
              <a:t>dynamically </a:t>
            </a:r>
          </a:p>
          <a:p>
            <a:pPr marL="0" indent="0">
              <a:buNone/>
            </a:pPr>
            <a:r>
              <a:rPr lang="en-US" sz="2000" b="1" dirty="0"/>
              <a:t>Link-local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Used </a:t>
            </a:r>
            <a:r>
              <a:rPr lang="en-US" dirty="0"/>
              <a:t>to communicate with other devices on the same local </a:t>
            </a:r>
            <a:r>
              <a:rPr lang="en-US" dirty="0" smtClean="0"/>
              <a:t>link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Confined </a:t>
            </a:r>
            <a:r>
              <a:rPr lang="en-US" dirty="0"/>
              <a:t>to a single </a:t>
            </a:r>
            <a:r>
              <a:rPr lang="en-US" dirty="0" smtClean="0"/>
              <a:t>link;  not </a:t>
            </a:r>
            <a:r>
              <a:rPr lang="en-US" dirty="0"/>
              <a:t>routable beyond the </a:t>
            </a:r>
            <a:r>
              <a:rPr lang="en-US" dirty="0" smtClean="0"/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217277429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0749" y="34867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IPv6 Unicast Addresses (cont.)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50470" y="1432561"/>
            <a:ext cx="8336531" cy="49317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/>
              <a:t>Loopback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Used </a:t>
            </a:r>
            <a:r>
              <a:rPr lang="en-US" dirty="0"/>
              <a:t>by a host to send a packet to itself and cannot be assigned to a physical </a:t>
            </a:r>
            <a:r>
              <a:rPr lang="en-US" dirty="0" smtClean="0"/>
              <a:t>interface.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en-US" dirty="0" smtClean="0"/>
              <a:t>ing </a:t>
            </a:r>
            <a:r>
              <a:rPr lang="en-US" dirty="0"/>
              <a:t>an IPv6 loopback address to test the configuration of TCP/IP on the local </a:t>
            </a:r>
            <a:r>
              <a:rPr lang="en-US" dirty="0" smtClean="0"/>
              <a:t>host.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/>
              <a:t>A</a:t>
            </a:r>
            <a:r>
              <a:rPr lang="en-US" dirty="0" smtClean="0"/>
              <a:t>ll-0s </a:t>
            </a:r>
            <a:r>
              <a:rPr lang="en-US" dirty="0"/>
              <a:t>except for the last bit, represented as ::1/128 or just ::</a:t>
            </a:r>
            <a:r>
              <a:rPr lang="en-US" dirty="0" smtClean="0"/>
              <a:t>1.</a:t>
            </a:r>
            <a:endParaRPr lang="en-US" dirty="0"/>
          </a:p>
          <a:p>
            <a:pPr>
              <a:buNone/>
            </a:pPr>
            <a:r>
              <a:rPr lang="en-US" sz="2000" b="1" dirty="0"/>
              <a:t>Unspecified Address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All-0’s </a:t>
            </a:r>
            <a:r>
              <a:rPr lang="en-US" dirty="0"/>
              <a:t>address represented </a:t>
            </a:r>
            <a:r>
              <a:rPr lang="en-US" dirty="0" smtClean="0"/>
              <a:t>as </a:t>
            </a:r>
            <a:r>
              <a:rPr lang="en-US" dirty="0"/>
              <a:t>::/128 or just </a:t>
            </a:r>
            <a:r>
              <a:rPr lang="en-US" dirty="0" smtClean="0"/>
              <a:t>:: 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/>
              <a:t>C</a:t>
            </a:r>
            <a:r>
              <a:rPr lang="en-US" dirty="0" smtClean="0"/>
              <a:t>annot </a:t>
            </a:r>
            <a:r>
              <a:rPr lang="en-US" dirty="0"/>
              <a:t>be assigned to an interface and is </a:t>
            </a:r>
            <a:r>
              <a:rPr lang="en-US" dirty="0" smtClean="0"/>
              <a:t>only used </a:t>
            </a:r>
            <a:r>
              <a:rPr lang="en-US" dirty="0"/>
              <a:t>as a source </a:t>
            </a:r>
            <a:r>
              <a:rPr lang="en-US" dirty="0" smtClean="0"/>
              <a:t>address.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An </a:t>
            </a:r>
            <a:r>
              <a:rPr lang="en-US" dirty="0"/>
              <a:t>unspecified address is used as a source address when the device does not yet have a permanent IPv6 address or when the source of the packet is irrelevant to the </a:t>
            </a:r>
            <a:r>
              <a:rPr lang="en-US" dirty="0" smtClean="0"/>
              <a:t>destination.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77927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639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IPv6 Unicast Addresses (cont.)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35230" y="1465943"/>
            <a:ext cx="8321291" cy="48983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Unique Local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Similar to private </a:t>
            </a:r>
            <a:r>
              <a:rPr lang="en-US" dirty="0"/>
              <a:t>addresses for </a:t>
            </a:r>
            <a:r>
              <a:rPr lang="en-US" dirty="0" smtClean="0"/>
              <a:t>IPv4.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U</a:t>
            </a:r>
            <a:r>
              <a:rPr lang="en-US" dirty="0" smtClean="0"/>
              <a:t>sed </a:t>
            </a:r>
            <a:r>
              <a:rPr lang="en-US" dirty="0"/>
              <a:t>for local addressing within a site or between a limited number of </a:t>
            </a:r>
            <a:r>
              <a:rPr lang="en-US" dirty="0" smtClean="0"/>
              <a:t>sites.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I</a:t>
            </a:r>
            <a:r>
              <a:rPr lang="en-US" dirty="0" smtClean="0"/>
              <a:t>n </a:t>
            </a:r>
            <a:r>
              <a:rPr lang="en-US" dirty="0"/>
              <a:t>the range of FC00::/7 to FDFF::/</a:t>
            </a:r>
            <a:r>
              <a:rPr lang="en-US" dirty="0" smtClean="0"/>
              <a:t>7.</a:t>
            </a:r>
            <a:endParaRPr lang="en-US" dirty="0"/>
          </a:p>
          <a:p>
            <a:pPr marL="0" indent="0">
              <a:buNone/>
            </a:pPr>
            <a:r>
              <a:rPr lang="en-US" sz="2000" b="1" dirty="0"/>
              <a:t>IPv4 Embedded (not covered in this course)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Used </a:t>
            </a:r>
            <a:r>
              <a:rPr lang="en-US" dirty="0"/>
              <a:t>to help transition from IPv4 to </a:t>
            </a:r>
            <a:r>
              <a:rPr lang="en-US" dirty="0" smtClean="0"/>
              <a:t>IPv6.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5504496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639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IPv6 Link-Local Unicast Addresses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50720" y="1478280"/>
            <a:ext cx="8168640" cy="4856999"/>
          </a:xfrm>
        </p:spPr>
        <p:txBody>
          <a:bodyPr/>
          <a:lstStyle/>
          <a:p>
            <a:r>
              <a:rPr lang="en-US" sz="2000" dirty="0"/>
              <a:t>Every IPv6-enabled network interface is REQUIRED to have a link-local address</a:t>
            </a:r>
          </a:p>
          <a:p>
            <a:r>
              <a:rPr lang="en-US" sz="2000" dirty="0"/>
              <a:t>Enables a device to communicate with other IPv6-enabled devices on the same link and only on that link (subnet)</a:t>
            </a:r>
          </a:p>
          <a:p>
            <a:r>
              <a:rPr lang="en-US" sz="2000" dirty="0"/>
              <a:t>FE80::/10 range, first 10 bits are 1111 1110 10xx </a:t>
            </a:r>
            <a:r>
              <a:rPr lang="en-US" sz="2000" dirty="0" err="1"/>
              <a:t>xxxx</a:t>
            </a:r>
            <a:endParaRPr lang="en-US" sz="2000" dirty="0"/>
          </a:p>
          <a:p>
            <a:r>
              <a:rPr lang="en-US" sz="2000" dirty="0"/>
              <a:t>1111 1110 10</a:t>
            </a:r>
            <a:r>
              <a:rPr lang="en-US" sz="2000" b="1" dirty="0">
                <a:solidFill>
                  <a:srgbClr val="FF0000"/>
                </a:solidFill>
              </a:rPr>
              <a:t>00 0000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(FE80) - 1111 1110 10</a:t>
            </a:r>
            <a:r>
              <a:rPr lang="en-US" sz="2000" b="1" dirty="0">
                <a:solidFill>
                  <a:srgbClr val="FF0000"/>
                </a:solidFill>
              </a:rPr>
              <a:t>11 1111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(FEBF)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1650" y="-76200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Add a header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920" y="4133850"/>
            <a:ext cx="6600095" cy="21450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523957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40653" y="37915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Types of IPv6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IPv6 Link-Local Unicast Addresses (cont.)</a:t>
            </a:r>
            <a:endParaRPr lang="en-US" dirty="0"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50720" y="1545053"/>
            <a:ext cx="248793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Packets with a source or destination link-local address cannot be routed beyond the link from where the packet originated.</a:t>
            </a:r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646" y="1504046"/>
            <a:ext cx="5179105" cy="5098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30091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26324" y="409632"/>
            <a:ext cx="8604517" cy="85528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Structure of an IPv6 Global Unicast Address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34324" y="1440452"/>
            <a:ext cx="8398397" cy="5086416"/>
          </a:xfrm>
        </p:spPr>
        <p:txBody>
          <a:bodyPr/>
          <a:lstStyle/>
          <a:p>
            <a:r>
              <a:rPr lang="en-US" sz="2000" dirty="0"/>
              <a:t>IPv6 global unicast addresses are globally unique and routable on the IPv6 Internet</a:t>
            </a:r>
          </a:p>
          <a:p>
            <a:r>
              <a:rPr lang="en-US" sz="2000" dirty="0"/>
              <a:t>Equivalent to public IPv4 addresses </a:t>
            </a:r>
          </a:p>
          <a:p>
            <a:r>
              <a:rPr lang="en-US" sz="2000" dirty="0"/>
              <a:t>ICANN allocates IPv6 address blocks to the five RIRs</a:t>
            </a:r>
          </a:p>
          <a:p>
            <a:r>
              <a:rPr lang="en-US" dirty="0" smtClean="0"/>
              <a:t>Currently, only global </a:t>
            </a:r>
            <a:r>
              <a:rPr lang="en-US" dirty="0" err="1" smtClean="0"/>
              <a:t>unicast</a:t>
            </a:r>
            <a:r>
              <a:rPr lang="en-US" dirty="0" smtClean="0"/>
              <a:t> addresses with the first three bits of 001 or 2000::/3 are being assigned</a:t>
            </a:r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4509120"/>
            <a:ext cx="5460872" cy="19595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995306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1" y="344862"/>
            <a:ext cx="8772157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400" dirty="0">
                <a:latin typeface="Arial" charset="0"/>
              </a:rPr>
              <a:t>Structure of an IPv6 Global Unicast Address (cont.)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"/>
          </p:nvPr>
        </p:nvSpPr>
        <p:spPr>
          <a:xfrm>
            <a:off x="1905001" y="1470748"/>
            <a:ext cx="8260080" cy="87592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 global unicast address has three parts: Global Routing Prefix, Subnet ID, and Interface ID.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905000" y="2346670"/>
            <a:ext cx="838200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b="1" kern="0" dirty="0">
                <a:solidFill>
                  <a:srgbClr val="000000"/>
                </a:solidFill>
                <a:latin typeface="Arial"/>
              </a:rPr>
              <a:t>Global Routing Prefix</a:t>
            </a:r>
            <a:r>
              <a:rPr lang="en-US" sz="2000" kern="0" dirty="0">
                <a:solidFill>
                  <a:srgbClr val="000000"/>
                </a:solidFill>
                <a:latin typeface="Arial"/>
              </a:rPr>
              <a:t> is the prefix or network portion of the address assigned by the provider, such as an ISP, to a customer or site, currently, RIR’s assign a /48 global routing prefix to customers. 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2001:0DB8:ACAD::/48 has a prefix that indicates that the first 48 bits (2001:0DB8:ACAD) is the prefix or network portion.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844" y="4526280"/>
            <a:ext cx="5751196" cy="1842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079" y="4222471"/>
            <a:ext cx="22955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6891279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280092"/>
            <a:ext cx="8772157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400" dirty="0">
                <a:latin typeface="Arial" charset="0"/>
              </a:rPr>
              <a:t>Structure of an IPv6 Global Unicast Address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50720" y="1396060"/>
            <a:ext cx="8520066" cy="5086416"/>
          </a:xfrm>
        </p:spPr>
        <p:txBody>
          <a:bodyPr/>
          <a:lstStyle/>
          <a:p>
            <a:r>
              <a:rPr lang="en-US" sz="2000" b="1" dirty="0"/>
              <a:t>Subnet ID</a:t>
            </a:r>
            <a:r>
              <a:rPr lang="en-US" sz="2000" dirty="0"/>
              <a:t> is used by an organization to identify subnets within its site</a:t>
            </a:r>
          </a:p>
          <a:p>
            <a:r>
              <a:rPr lang="en-US" sz="2000" b="1" dirty="0"/>
              <a:t>Interface ID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E</a:t>
            </a:r>
            <a:r>
              <a:rPr lang="en-US" dirty="0" smtClean="0"/>
              <a:t>quivalent </a:t>
            </a:r>
            <a:r>
              <a:rPr lang="en-US" dirty="0"/>
              <a:t>to the host portion of an IPv4 </a:t>
            </a:r>
            <a:r>
              <a:rPr lang="en-US" dirty="0" smtClean="0"/>
              <a:t>address.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Used because </a:t>
            </a:r>
            <a:r>
              <a:rPr lang="en-US" dirty="0"/>
              <a:t>a single host may have multiple interfaces, each having one or more IPv6 </a:t>
            </a:r>
            <a:r>
              <a:rPr lang="en-US" dirty="0" smtClean="0"/>
              <a:t>addresses.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765" y="3352799"/>
            <a:ext cx="4400550" cy="3267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4479609"/>
            <a:ext cx="2571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5956629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38067"/>
            <a:ext cx="8772157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Static Configuration of a Global Unicast Address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933" y="1412777"/>
            <a:ext cx="5561027" cy="4666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2524181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512502"/>
            <a:ext cx="8772157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400" dirty="0">
                <a:latin typeface="Arial" charset="0"/>
              </a:rPr>
              <a:t>Static Configuration of an IPv6 Global Unicast Address (cont.)</a:t>
            </a:r>
          </a:p>
        </p:txBody>
      </p:sp>
      <p:pic>
        <p:nvPicPr>
          <p:cNvPr id="3074" name="Picture 2" descr="C:\Users\ElaineHorn\Desktop\7-2-4-2-static-config-ipv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453" y="1553546"/>
            <a:ext cx="5962878" cy="491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44373" y="2514600"/>
            <a:ext cx="1402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Windows IPv6 Setup</a:t>
            </a:r>
          </a:p>
        </p:txBody>
      </p:sp>
    </p:spTree>
    <p:extLst>
      <p:ext uri="{BB962C8B-B14F-4D97-AF65-F5344CB8AC3E}">
        <p14:creationId xmlns:p14="http://schemas.microsoft.com/office/powerpoint/2010/main" val="106347188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15989" y="394392"/>
            <a:ext cx="8772157" cy="802360"/>
          </a:xfrm>
        </p:spPr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EUI-64 Process or Randomly 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4998" y="1340769"/>
            <a:ext cx="830580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/>
              <a:t>EUI-64 Process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Uses a client’s 48-bit Ethernet MAC address and inserts another 16 bits in the middle of the 46-bit MAC address to create a 64-bit Interface ID.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Advantage is that the Ethernet MAC address can be used to determine the interface; is easily tracked.</a:t>
            </a:r>
          </a:p>
          <a:p>
            <a:endParaRPr lang="en-US" sz="2000" dirty="0"/>
          </a:p>
          <a:p>
            <a:pPr algn="l"/>
            <a:r>
              <a:rPr lang="en-US" sz="2000" b="1" dirty="0"/>
              <a:t>EUI-64 Interface ID </a:t>
            </a:r>
            <a:r>
              <a:rPr lang="en-US" sz="2000" dirty="0"/>
              <a:t>is represented in binary and comprises three parts: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24-bit OUI from the client MAC address, but the 7</a:t>
            </a:r>
            <a:r>
              <a:rPr lang="en-US" sz="2000" baseline="30000" dirty="0"/>
              <a:t>th</a:t>
            </a:r>
            <a:r>
              <a:rPr lang="en-US" sz="2000" dirty="0"/>
              <a:t> bit (the Universally/Locally bit) is reversed (0 becomes a 1).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Inserted as a 16-bit value FFFE. 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24-bit device identifier from the client MAC address.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4871079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961709" y="394392"/>
            <a:ext cx="8772157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EUI-64 Process or Randomly Generated (cont.)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851" y="1383251"/>
            <a:ext cx="5949615" cy="50241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260714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/>
            </a:r>
            <a:br>
              <a:rPr lang="en-US" sz="1800" dirty="0">
                <a:latin typeface="Arial" charset="0"/>
              </a:rPr>
            </a:br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EUI-64 Process or Randomly Generated (cont.)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742" y="1287766"/>
            <a:ext cx="7489098" cy="5234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5554714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94392"/>
            <a:ext cx="8772157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EUI-64 Process or Randomly Generated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47528" y="1484785"/>
            <a:ext cx="839910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Randomly Generated Interface IDs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Depending upon the operating system, a device can use a randomly generated Interface ID instead of using the MAC address and the EUI-64 process.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Beginning with Windows Vista, Windows uses a randomly generated Interface ID instead of one created with EUI-64.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Windows XP (and previous Windows operating systems) used EUI-64.</a:t>
            </a:r>
          </a:p>
        </p:txBody>
      </p:sp>
    </p:spTree>
    <p:extLst>
      <p:ext uri="{BB962C8B-B14F-4D97-AF65-F5344CB8AC3E}">
        <p14:creationId xmlns:p14="http://schemas.microsoft.com/office/powerpoint/2010/main" val="196633220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70269" y="39439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Dynamic Link-local Addresses</a:t>
            </a:r>
            <a:endParaRPr lang="en-US" dirty="0">
              <a:latin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58053" y="1572257"/>
            <a:ext cx="8230828" cy="4450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Link-Local Address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After a global unicast address is assigned to an interface, an IPv6-enabled device automatically generates its link-local address. 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Must have a link-local address that enables a device to communicate with other IPv6-enabled devices on the same subnet.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Uses the link-local address of the local router for its default gateway IPv6 address.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Routers exchange dynamic routing protocol messages using link-local addresses.</a:t>
            </a:r>
          </a:p>
          <a:p>
            <a: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charset="0"/>
              <a:buChar char="§"/>
            </a:pPr>
            <a:r>
              <a:rPr lang="en-US" sz="2000" dirty="0"/>
              <a:t>Routers’ routing tables use the link-local address to identify the next-hop router when forwarding IPv6 packets.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33449133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639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Dynamic Link-local Addresses (cont.)</a:t>
            </a:r>
            <a:endParaRPr lang="en-US" dirty="0">
              <a:latin typeface="Arial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816" y="3365383"/>
            <a:ext cx="7393784" cy="29637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89035" y="1540691"/>
            <a:ext cx="83457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Dynamically Assigned 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The link-local address is dynamically created using the FE80::/10 prefix and the Interface ID.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634" y="3414914"/>
            <a:ext cx="17430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503275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4011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Static Link-local Addresses</a:t>
            </a:r>
            <a:endParaRPr lang="en-US" dirty="0">
              <a:latin typeface="Arial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502" y="2164536"/>
            <a:ext cx="7649335" cy="407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24990" y="1952170"/>
            <a:ext cx="41728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Configuring Link-local</a:t>
            </a:r>
          </a:p>
        </p:txBody>
      </p:sp>
    </p:spTree>
    <p:extLst>
      <p:ext uri="{BB962C8B-B14F-4D97-AF65-F5344CB8AC3E}">
        <p14:creationId xmlns:p14="http://schemas.microsoft.com/office/powerpoint/2010/main" val="3727662802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5535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Static Link-local Addresses (cont.)</a:t>
            </a:r>
            <a:endParaRPr lang="en-US" dirty="0">
              <a:latin typeface="Arial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872" y="2433638"/>
            <a:ext cx="7423842" cy="371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335286" y="1966311"/>
            <a:ext cx="36890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Configuring Link-local</a:t>
            </a:r>
          </a:p>
        </p:txBody>
      </p:sp>
    </p:spTree>
    <p:extLst>
      <p:ext uri="{BB962C8B-B14F-4D97-AF65-F5344CB8AC3E}">
        <p14:creationId xmlns:p14="http://schemas.microsoft.com/office/powerpoint/2010/main" val="1066255083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2487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Global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Verifying IPv6 Address Configuration</a:t>
            </a:r>
            <a:endParaRPr lang="en-US" dirty="0">
              <a:latin typeface="Arial" charset="0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56" y="1717028"/>
            <a:ext cx="5354215" cy="43140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98171" y="1999684"/>
            <a:ext cx="31205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Each interface has two IPv6 addresses - </a:t>
            </a:r>
          </a:p>
          <a:p>
            <a:pPr algn="l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global unicast address that was configured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one that begins with FE80 is automatically added as a link-local unicast address</a:t>
            </a:r>
          </a:p>
        </p:txBody>
      </p:sp>
    </p:spTree>
    <p:extLst>
      <p:ext uri="{BB962C8B-B14F-4D97-AF65-F5344CB8AC3E}">
        <p14:creationId xmlns:p14="http://schemas.microsoft.com/office/powerpoint/2010/main" val="2806082756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37915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Global Unicast Addresses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Verifying IPv6 Address Configuration (cont.)</a:t>
            </a:r>
            <a:endParaRPr lang="en-US" dirty="0">
              <a:latin typeface="Ari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421" y="1600200"/>
            <a:ext cx="6160325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939488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7059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Multicast Addresses</a:t>
            </a:r>
            <a:br>
              <a:rPr lang="en-US" sz="1800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Assigned IPv6 Multicast Addresses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35956" y="1813560"/>
            <a:ext cx="8442485" cy="4907280"/>
          </a:xfrm>
        </p:spPr>
        <p:txBody>
          <a:bodyPr/>
          <a:lstStyle/>
          <a:p>
            <a:r>
              <a:rPr lang="en-US" sz="2000" dirty="0"/>
              <a:t>IPv6 multicast addresses have the prefix FF00::/8</a:t>
            </a:r>
          </a:p>
          <a:p>
            <a:r>
              <a:rPr lang="en-US" sz="2000" dirty="0"/>
              <a:t>There are two types of IPv6 multicast addresses: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/>
              <a:t>Assigned </a:t>
            </a:r>
            <a:r>
              <a:rPr lang="en-US" dirty="0" smtClean="0"/>
              <a:t>multicast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 smtClean="0"/>
              <a:t>Solicited </a:t>
            </a:r>
            <a:r>
              <a:rPr lang="en-US" dirty="0"/>
              <a:t>node </a:t>
            </a:r>
            <a:r>
              <a:rPr lang="en-US" dirty="0" smtClean="0"/>
              <a:t>multicast</a:t>
            </a:r>
          </a:p>
        </p:txBody>
      </p:sp>
    </p:spTree>
    <p:extLst>
      <p:ext uri="{BB962C8B-B14F-4D97-AF65-F5344CB8AC3E}">
        <p14:creationId xmlns:p14="http://schemas.microsoft.com/office/powerpoint/2010/main" val="3273697252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8583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Multicast Addresses</a:t>
            </a:r>
            <a:br>
              <a:rPr lang="en-US" sz="1800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Assigned IPv6 Multicast Addresses (cont.)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934324" y="1394732"/>
            <a:ext cx="8169797" cy="508641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Two common IPv6 assigned multicast groups include: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b="1" dirty="0"/>
              <a:t>FF02::1 All-nodes multicast group</a:t>
            </a:r>
            <a:r>
              <a:rPr lang="en-US" dirty="0"/>
              <a:t> </a:t>
            </a:r>
            <a:r>
              <a:rPr lang="en-US" dirty="0" smtClean="0"/>
              <a:t>– </a:t>
            </a:r>
          </a:p>
          <a:p>
            <a:pPr marL="1139825" lvl="2" indent="-342900">
              <a:buFont typeface="Wingdings" panose="05000000000000000000" pitchFamily="2" charset="2"/>
              <a:buChar char="§"/>
            </a:pPr>
            <a:r>
              <a:rPr lang="en-US" dirty="0"/>
              <a:t>All IPv6-enabled devices join </a:t>
            </a:r>
          </a:p>
          <a:p>
            <a:pPr marL="1139825" lvl="2" indent="-342900">
              <a:buFont typeface="Wingdings" panose="05000000000000000000" pitchFamily="2" charset="2"/>
              <a:buChar char="§"/>
            </a:pPr>
            <a:r>
              <a:rPr lang="en-US" dirty="0"/>
              <a:t>Same effect as an IPv4 broadcast address 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b="1" dirty="0"/>
              <a:t>FF02::2 All-routers multicast group</a:t>
            </a:r>
            <a:r>
              <a:rPr lang="en-US" dirty="0"/>
              <a:t> </a:t>
            </a:r>
          </a:p>
          <a:p>
            <a:pPr marL="1139825" lvl="2" indent="-342900">
              <a:buFont typeface="Wingdings" panose="05000000000000000000" pitchFamily="2" charset="2"/>
              <a:buChar char="§"/>
            </a:pPr>
            <a:r>
              <a:rPr lang="en-US" dirty="0"/>
              <a:t>All IPv6 routers join</a:t>
            </a:r>
          </a:p>
          <a:p>
            <a:pPr marL="1139825" lvl="2" indent="-342900">
              <a:buFont typeface="Wingdings" panose="05000000000000000000" pitchFamily="2" charset="2"/>
              <a:buChar char="§"/>
            </a:pPr>
            <a:r>
              <a:rPr lang="en-US" dirty="0"/>
              <a:t>A router becomes a member of this group when it is enabled as an IPv6 router with the</a:t>
            </a:r>
            <a:r>
              <a:rPr lang="en-US" b="1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ipv6 unicast-routing </a:t>
            </a:r>
            <a:r>
              <a:rPr lang="en-US" dirty="0"/>
              <a:t>global configuration mode command.</a:t>
            </a:r>
          </a:p>
          <a:p>
            <a:pPr marL="1139825" lvl="2" indent="-342900">
              <a:buFont typeface="Wingdings" panose="05000000000000000000" pitchFamily="2" charset="2"/>
              <a:buChar char="§"/>
            </a:pPr>
            <a:r>
              <a:rPr lang="en-US" dirty="0"/>
              <a:t>A packet sent to this group is received and processed by all IPv6 routers on the link or network.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36112511"/>
      </p:ext>
    </p:extLst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09632"/>
            <a:ext cx="8772157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Multicast Addresses</a:t>
            </a:r>
            <a:br>
              <a:rPr lang="en-US" sz="1800" dirty="0">
                <a:latin typeface="Arial" charset="0"/>
              </a:rPr>
            </a:br>
            <a:r>
              <a:rPr lang="en-US" dirty="0" smtClean="0">
                <a:latin typeface="Arial" charset="0"/>
              </a:rPr>
              <a:t>Assigned IPv6 Multicast Addresses (cont.)</a:t>
            </a:r>
            <a:endParaRPr lang="en-US" dirty="0">
              <a:latin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760" y="1377315"/>
            <a:ext cx="6150293" cy="5220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770817"/>
      </p:ext>
    </p:extLst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Multicast Addresses</a:t>
            </a:r>
            <a:br>
              <a:rPr lang="en-US" sz="1800" dirty="0">
                <a:latin typeface="Arial" charset="0"/>
              </a:rPr>
            </a:br>
            <a:r>
              <a:rPr lang="en-US" sz="3200" dirty="0">
                <a:latin typeface="Arial" charset="0"/>
              </a:rPr>
              <a:t>Solicited Node IPv6 Multicast Addresses</a:t>
            </a:r>
            <a:endParaRPr lang="en-US" dirty="0">
              <a:latin typeface="Arial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1737110" y="1379492"/>
            <a:ext cx="3444490" cy="5086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/>
              <a:t>Similar to the all-nodes multicast address, matches only the last 24 bits of the IPv6 global unicast address of a device</a:t>
            </a:r>
          </a:p>
          <a:p>
            <a:r>
              <a:rPr lang="en-US" sz="2000" dirty="0"/>
              <a:t>Automatically created when the global unicast or link-local unicast addresses are assigned</a:t>
            </a:r>
          </a:p>
          <a:p>
            <a:r>
              <a:rPr lang="en-US" sz="2000" dirty="0"/>
              <a:t>Created by combining a special FF02:0:0:0:0:0:FF00::/104 prefix with the right-most 24 bits of its unicast address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1" y="2007906"/>
            <a:ext cx="5087303" cy="32613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732044"/>
      </p:ext>
    </p:extLst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844" y="402012"/>
            <a:ext cx="8772157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800" dirty="0">
                <a:latin typeface="Arial" charset="0"/>
              </a:rPr>
              <a:t>IPv6 Multicast Addresses</a:t>
            </a:r>
            <a:br>
              <a:rPr lang="en-US" sz="1800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Solicited Node IPv6 Multicast Addresses (cont.)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"/>
          </p:nvPr>
        </p:nvSpPr>
        <p:spPr>
          <a:xfrm>
            <a:off x="1656590" y="1591290"/>
            <a:ext cx="3540251" cy="526671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solicited node multicast address consists of two parts:</a:t>
            </a:r>
          </a:p>
          <a:p>
            <a:r>
              <a:rPr lang="en-US" sz="2000" b="1" dirty="0"/>
              <a:t>FF02:0:0:0:0:0:FF00::/104 multicast prefix </a:t>
            </a:r>
            <a:r>
              <a:rPr lang="en-US" sz="2000" dirty="0"/>
              <a:t>– First 104 bits of the all solicited node multicast address</a:t>
            </a:r>
          </a:p>
          <a:p>
            <a:r>
              <a:rPr lang="en-US" sz="2000" b="1" dirty="0"/>
              <a:t>Least significant 24-bits </a:t>
            </a:r>
            <a:r>
              <a:rPr lang="en-US" sz="2000" dirty="0"/>
              <a:t>– Copied from the right-most 24 bits of the global unicast or link-local unicast address of the device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659" y="1874521"/>
            <a:ext cx="5096245" cy="3267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492445"/>
      </p:ext>
    </p:extLst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Recourses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Cisco Networking Academy program , Introduction to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862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5" y="160141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7734" y="4804005"/>
            <a:ext cx="1072091" cy="1136183"/>
          </a:xfrm>
          <a:prstGeom prst="rect">
            <a:avLst/>
          </a:prstGeom>
        </p:spPr>
      </p:pic>
      <p:sp>
        <p:nvSpPr>
          <p:cNvPr id="10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IPV6</a:t>
            </a:r>
            <a:r>
              <a:rPr lang="ko-KR" altLang="en-US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  </a:t>
            </a:r>
            <a:r>
              <a:rPr lang="en-GB" altLang="ko-KR" dirty="0">
                <a:solidFill>
                  <a:srgbClr val="002060"/>
                </a:solidFill>
                <a:latin typeface="Lucida Sans" pitchFamily="34" charset="0"/>
                <a:cs typeface="Times New Roman" pitchFamily="18" charset="0"/>
              </a:rPr>
              <a:t>Configuration in CISCO Router</a:t>
            </a:r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15025"/>
            <a:ext cx="6886091" cy="2486644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456" y="1129003"/>
            <a:ext cx="5561027" cy="4666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269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0DAACD52-55D1-4E14-B7D9-C6130BEF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813F477-2DB1-46A7-A670-FD7FD84B3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831" y="6008009"/>
            <a:ext cx="1559169" cy="54464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827A84-49C5-4EB9-A922-F01E4D1EB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376" y="1064525"/>
            <a:ext cx="11191163" cy="4918544"/>
          </a:xfrm>
        </p:spPr>
        <p:txBody>
          <a:bodyPr>
            <a:normAutofit/>
          </a:bodyPr>
          <a:lstStyle/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제목 2">
            <a:extLst>
              <a:ext uri="{FF2B5EF4-FFF2-40B4-BE49-F238E27FC236}">
                <a16:creationId xmlns:a16="http://schemas.microsoft.com/office/drawing/2014/main" id="{49D22F77-1738-468D-B68F-1FAF4A79BE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427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>
              <a:solidFill>
                <a:srgbClr val="002060"/>
              </a:solidFill>
              <a:latin typeface="Lucida Sans" pitchFamily="34" charset="0"/>
              <a:cs typeface="Times New Roman" pitchFamily="18" charset="0"/>
            </a:endParaRPr>
          </a:p>
        </p:txBody>
      </p:sp>
      <p:pic>
        <p:nvPicPr>
          <p:cNvPr id="12" name="그림 10">
            <a:extLst>
              <a:ext uri="{FF2B5EF4-FFF2-40B4-BE49-F238E27FC236}">
                <a16:creationId xmlns:a16="http://schemas.microsoft.com/office/drawing/2014/main" id="{AFE2FB4C-3BFB-4753-8331-D70E2FE926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64" y="5983069"/>
            <a:ext cx="1167014" cy="557858"/>
          </a:xfrm>
          <a:prstGeom prst="rect">
            <a:avLst/>
          </a:prstGeom>
        </p:spPr>
      </p:pic>
      <p:pic>
        <p:nvPicPr>
          <p:cNvPr id="13" name="Picture 2" descr="C:\Users\LENOVO\Downloads\EU.jp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" y="5826369"/>
            <a:ext cx="1099805" cy="111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Premium Vector | Little girl with a confused expression leaned against the  big question mark beside h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766" y="1982339"/>
            <a:ext cx="4575128" cy="457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rved Down Ribbon 10"/>
          <p:cNvSpPr/>
          <p:nvPr/>
        </p:nvSpPr>
        <p:spPr>
          <a:xfrm>
            <a:off x="4895558" y="779305"/>
            <a:ext cx="7296442" cy="2269588"/>
          </a:xfrm>
          <a:prstGeom prst="ellipseRibbon">
            <a:avLst>
              <a:gd name="adj1" fmla="val 28803"/>
              <a:gd name="adj2" fmla="val 53342"/>
              <a:gd name="adj3" fmla="val 11489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spcCol="0" rtlCol="0" anchor="ctr"/>
          <a:lstStyle/>
          <a:p>
            <a:pPr algn="ctr"/>
            <a:r>
              <a:rPr lang="en-US" sz="3500" dirty="0">
                <a:latin typeface="Bernard MT Condensed" pitchFamily="18" charset="0"/>
              </a:rPr>
              <a:t>Thank You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Berlin Sans FB" pitchFamily="34" charset="0"/>
              </a:rPr>
              <a:t>It Feels Good When You can Design a Campus Network</a:t>
            </a:r>
          </a:p>
        </p:txBody>
      </p:sp>
      <p:pic>
        <p:nvPicPr>
          <p:cNvPr id="9220" name="Picture 4" descr="Ask Cartoon Vector Images (over 7,500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366" y="3445119"/>
            <a:ext cx="22669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1" y="1447235"/>
            <a:ext cx="2522380" cy="2645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365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1693</Words>
  <Application>Microsoft Office PowerPoint</Application>
  <PresentationFormat>Widescreen</PresentationFormat>
  <Paragraphs>239</Paragraphs>
  <Slides>46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맑은 고딕</vt:lpstr>
      <vt:lpstr>ＭＳ Ｐゴシック</vt:lpstr>
      <vt:lpstr>Arial</vt:lpstr>
      <vt:lpstr>Berlin Sans FB</vt:lpstr>
      <vt:lpstr>Bernard MT Condensed</vt:lpstr>
      <vt:lpstr>Calibri</vt:lpstr>
      <vt:lpstr>Calibri Light</vt:lpstr>
      <vt:lpstr>Courier New</vt:lpstr>
      <vt:lpstr>Lucida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IPv4 Issues IPv4 and IPv6 Coexistence</vt:lpstr>
      <vt:lpstr>IPv4 Issues IPv4 and IPv6 Coexistence (cont.)</vt:lpstr>
      <vt:lpstr>IPv4 Issues IPv4 and IPv6 Coexistence (cont.)</vt:lpstr>
      <vt:lpstr>Types of IPv6 Addresses IPv6 Prefix Length</vt:lpstr>
      <vt:lpstr>Types of IPv6 Addresses IPv6 Address Types</vt:lpstr>
      <vt:lpstr>Types of IPv6 Addresses IPv6 Unicast Addresses</vt:lpstr>
      <vt:lpstr>Types of IPv6 Addresses IPv6 Unicast Addresses (cont.)</vt:lpstr>
      <vt:lpstr>Types of IPv6 Addresses IPv6 Unicast Addresses (cont.)</vt:lpstr>
      <vt:lpstr>Types of IPv6 Addresses IPv6 Unicast Addresses (cont.)</vt:lpstr>
      <vt:lpstr>Types of IPv6 Addresses IPv6 Unicast Addresses (cont.)</vt:lpstr>
      <vt:lpstr>Types of IPv6 Addresses IPv6 Link-Local Unicast Addresses</vt:lpstr>
      <vt:lpstr>Types of IPv6 Addresses IPv6 Link-Local Unicast Addresses (cont.)</vt:lpstr>
      <vt:lpstr>IPv6 Unicast Addresses Structure of an IPv6 Global Unicast Address</vt:lpstr>
      <vt:lpstr>IPv6 Unicast Addresses Structure of an IPv6 Global Unicast Address (cont.)</vt:lpstr>
      <vt:lpstr>IPv6 Unicast Addresses Structure of an IPv6 Global Unicast Address (cont.)</vt:lpstr>
      <vt:lpstr>IPv6 Unicast Addresses Static Configuration of a Global Unicast Address</vt:lpstr>
      <vt:lpstr>IPv6 Unicast Addresses Static Configuration of an IPv6 Global Unicast Address (cont.)</vt:lpstr>
      <vt:lpstr>IPv6 Unicast Addresses EUI-64 Process or Randomly Generated</vt:lpstr>
      <vt:lpstr>IPv6 Unicast Addresses EUI-64 Process or Randomly Generated (cont.)</vt:lpstr>
      <vt:lpstr>       IPv6 Unicast Addresses EUI-64 Process or Randomly Generated (cont.)</vt:lpstr>
      <vt:lpstr>IPv6 Unicast Addresses EUI-64 Process or Randomly Generated (cont.)</vt:lpstr>
      <vt:lpstr>IPv6 Unicast Addresses Dynamic Link-local Addresses</vt:lpstr>
      <vt:lpstr>IPv6 Unicast Addresses Dynamic Link-local Addresses (cont.)</vt:lpstr>
      <vt:lpstr>IPv6 Unicast Addresses Static Link-local Addresses</vt:lpstr>
      <vt:lpstr>IPv6 Unicast Addresses Static Link-local Addresses (cont.)</vt:lpstr>
      <vt:lpstr>IPv6 Global Unicast Addresses Verifying IPv6 Address Configuration</vt:lpstr>
      <vt:lpstr>IPv6 Global Unicast Addresses Verifying IPv6 Address Configuration (cont.)</vt:lpstr>
      <vt:lpstr>IPv6 Multicast Addresses Assigned IPv6 Multicast Addresses</vt:lpstr>
      <vt:lpstr>IPv6 Multicast Addresses Assigned IPv6 Multicast Addresses (cont.)</vt:lpstr>
      <vt:lpstr>IPv6 Multicast Addresses Assigned IPv6 Multicast Addresses (cont.)</vt:lpstr>
      <vt:lpstr>IPv6 Multicast Addresses Solicited Node IPv6 Multicast Addresses</vt:lpstr>
      <vt:lpstr>IPv6 Multicast Addresses Solicited Node IPv6 Multicast Addresses (cont.)</vt:lpstr>
      <vt:lpstr>Recourses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Planning and Design: Campus Network   Day-2</dc:title>
  <dc:creator>User</dc:creator>
  <cp:lastModifiedBy>User</cp:lastModifiedBy>
  <cp:revision>169</cp:revision>
  <dcterms:created xsi:type="dcterms:W3CDTF">2022-07-29T11:28:51Z</dcterms:created>
  <dcterms:modified xsi:type="dcterms:W3CDTF">2023-01-04T15:04:49Z</dcterms:modified>
</cp:coreProperties>
</file>