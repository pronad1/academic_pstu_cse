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513" r:id="rId3"/>
    <p:sldId id="736" r:id="rId5"/>
    <p:sldId id="750" r:id="rId6"/>
    <p:sldId id="903" r:id="rId7"/>
    <p:sldId id="760" r:id="rId8"/>
    <p:sldId id="759" r:id="rId9"/>
    <p:sldId id="834" r:id="rId10"/>
    <p:sldId id="835" r:id="rId11"/>
    <p:sldId id="836" r:id="rId12"/>
    <p:sldId id="837" r:id="rId13"/>
    <p:sldId id="904" r:id="rId14"/>
    <p:sldId id="838" r:id="rId15"/>
    <p:sldId id="840" r:id="rId16"/>
    <p:sldId id="841" r:id="rId17"/>
    <p:sldId id="842" r:id="rId18"/>
    <p:sldId id="843" r:id="rId19"/>
    <p:sldId id="844" r:id="rId20"/>
    <p:sldId id="845" r:id="rId21"/>
    <p:sldId id="846" r:id="rId22"/>
    <p:sldId id="905" r:id="rId23"/>
    <p:sldId id="847" r:id="rId24"/>
    <p:sldId id="848" r:id="rId25"/>
    <p:sldId id="849" r:id="rId26"/>
    <p:sldId id="850" r:id="rId27"/>
    <p:sldId id="851" r:id="rId28"/>
    <p:sldId id="852" r:id="rId29"/>
    <p:sldId id="853" r:id="rId30"/>
    <p:sldId id="854" r:id="rId31"/>
    <p:sldId id="855" r:id="rId32"/>
    <p:sldId id="856" r:id="rId33"/>
    <p:sldId id="857" r:id="rId34"/>
    <p:sldId id="858" r:id="rId35"/>
    <p:sldId id="859" r:id="rId36"/>
    <p:sldId id="860" r:id="rId37"/>
    <p:sldId id="861" r:id="rId38"/>
    <p:sldId id="862" r:id="rId39"/>
    <p:sldId id="863" r:id="rId40"/>
    <p:sldId id="864" r:id="rId41"/>
    <p:sldId id="865" r:id="rId42"/>
    <p:sldId id="866" r:id="rId43"/>
    <p:sldId id="872" r:id="rId44"/>
    <p:sldId id="873" r:id="rId45"/>
    <p:sldId id="868" r:id="rId46"/>
    <p:sldId id="869" r:id="rId47"/>
    <p:sldId id="874" r:id="rId48"/>
    <p:sldId id="870" r:id="rId49"/>
    <p:sldId id="875" r:id="rId50"/>
    <p:sldId id="871" r:id="rId51"/>
    <p:sldId id="876" r:id="rId52"/>
    <p:sldId id="877" r:id="rId53"/>
    <p:sldId id="878" r:id="rId54"/>
    <p:sldId id="879" r:id="rId55"/>
    <p:sldId id="881" r:id="rId56"/>
    <p:sldId id="880" r:id="rId57"/>
    <p:sldId id="885" r:id="rId58"/>
    <p:sldId id="882" r:id="rId59"/>
    <p:sldId id="886" r:id="rId60"/>
    <p:sldId id="887" r:id="rId61"/>
    <p:sldId id="888" r:id="rId62"/>
    <p:sldId id="889" r:id="rId63"/>
    <p:sldId id="890" r:id="rId64"/>
    <p:sldId id="891" r:id="rId65"/>
    <p:sldId id="892" r:id="rId66"/>
    <p:sldId id="893" r:id="rId67"/>
    <p:sldId id="894" r:id="rId68"/>
    <p:sldId id="895" r:id="rId69"/>
    <p:sldId id="896" r:id="rId70"/>
    <p:sldId id="908" r:id="rId71"/>
    <p:sldId id="907" r:id="rId72"/>
    <p:sldId id="766" r:id="rId73"/>
    <p:sldId id="901" r:id="rId74"/>
    <p:sldId id="291" r:id="rId75"/>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33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79" autoAdjust="0"/>
    <p:restoredTop sz="84658" autoAdjust="0"/>
  </p:normalViewPr>
  <p:slideViewPr>
    <p:cSldViewPr snapToGrid="0" showGuides="1">
      <p:cViewPr>
        <p:scale>
          <a:sx n="66" d="100"/>
          <a:sy n="66" d="100"/>
        </p:scale>
        <p:origin x="86" y="485"/>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commentAuthors" Target="commentAuthors.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endParaRPr lang="en-US" b="0" dirty="0"/>
          </a:p>
          <a:p>
            <a:pPr>
              <a:buFontTx/>
              <a:buNone/>
            </a:pPr>
            <a:r>
              <a:rPr lang="en-US" b="0" dirty="0"/>
              <a:t>Routing and Switching</a:t>
            </a:r>
            <a:r>
              <a:rPr lang="en-US" b="0" baseline="0" dirty="0"/>
              <a:t> Essentials v6.0</a:t>
            </a:r>
            <a:endParaRPr lang="en-US" b="0" dirty="0"/>
          </a:p>
          <a:p>
            <a:pPr>
              <a:buFontTx/>
              <a:buNone/>
            </a:pPr>
            <a:r>
              <a:rPr lang="en-US" sz="1200" b="0" dirty="0"/>
              <a:t>Chapter 1: Routing</a:t>
            </a:r>
            <a:r>
              <a:rPr lang="en-US" sz="1200" b="0" baseline="0" dirty="0"/>
              <a:t> Concepts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605" eaLnBrk="0" hangingPunct="0">
              <a:defRPr sz="2400" b="1">
                <a:solidFill>
                  <a:schemeClr val="tx1"/>
                </a:solidFill>
                <a:latin typeface="Arial" panose="020B0604020202020204" pitchFamily="34" charset="0"/>
                <a:cs typeface="Arial" panose="020B0604020202020204" pitchFamily="34" charset="0"/>
              </a:defRPr>
            </a:lvl1pPr>
            <a:lvl2pPr marL="742950" indent="-285750" defTabSz="903605" eaLnBrk="0" hangingPunct="0">
              <a:defRPr sz="2400" b="1">
                <a:solidFill>
                  <a:schemeClr val="tx1"/>
                </a:solidFill>
                <a:latin typeface="Arial" panose="020B0604020202020204" pitchFamily="34" charset="0"/>
                <a:cs typeface="Arial" panose="020B0604020202020204" pitchFamily="34" charset="0"/>
              </a:defRPr>
            </a:lvl2pPr>
            <a:lvl3pPr marL="1143000" indent="-228600" defTabSz="903605" eaLnBrk="0" hangingPunct="0">
              <a:defRPr sz="2400" b="1">
                <a:solidFill>
                  <a:schemeClr val="tx1"/>
                </a:solidFill>
                <a:latin typeface="Arial" panose="020B0604020202020204" pitchFamily="34" charset="0"/>
                <a:cs typeface="Arial" panose="020B0604020202020204" pitchFamily="34" charset="0"/>
              </a:defRPr>
            </a:lvl3pPr>
            <a:lvl4pPr marL="1600200" indent="-228600" defTabSz="903605" eaLnBrk="0" hangingPunct="0">
              <a:defRPr sz="2400" b="1">
                <a:solidFill>
                  <a:schemeClr val="tx1"/>
                </a:solidFill>
                <a:latin typeface="Arial" panose="020B0604020202020204" pitchFamily="34" charset="0"/>
                <a:cs typeface="Arial" panose="020B0604020202020204" pitchFamily="34" charset="0"/>
              </a:defRPr>
            </a:lvl4pPr>
            <a:lvl5pPr marL="2057400" indent="-228600" defTabSz="903605" eaLnBrk="0" hangingPunct="0">
              <a:defRPr sz="2400" b="1">
                <a:solidFill>
                  <a:schemeClr val="tx1"/>
                </a:solidFill>
                <a:latin typeface="Arial" panose="020B0604020202020204" pitchFamily="34" charset="0"/>
                <a:cs typeface="Arial" panose="020B0604020202020204" pitchFamily="34" charset="0"/>
              </a:defRPr>
            </a:lvl5pPr>
            <a:lvl6pPr marL="25146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a:fld id="{7391C207-9349-46D5-9D89-8ADDA5014D1F}" type="slidenum">
              <a:rPr lang="en-US" sz="800" b="0"/>
            </a:fld>
            <a:endParaRPr lang="en-US" sz="800" b="0" dirty="0"/>
          </a:p>
        </p:txBody>
      </p:sp>
      <p:sp>
        <p:nvSpPr>
          <p:cNvPr id="25603" name="Rectangle 2"/>
          <p:cNvSpPr>
            <a:spLocks noGrp="1" noRot="1" noChangeAspect="1" noChangeArrowheads="1" noTextEdit="1"/>
          </p:cNvSpPr>
          <p:nvPr>
            <p:ph type="sldImg"/>
          </p:nvPr>
        </p:nvSpPr>
        <p:spPr/>
      </p:sp>
      <p:sp>
        <p:nvSpPr>
          <p:cNvPr id="25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605" eaLnBrk="0" hangingPunct="0">
              <a:defRPr sz="2400" b="1">
                <a:solidFill>
                  <a:schemeClr val="tx1"/>
                </a:solidFill>
                <a:latin typeface="Arial" panose="020B0604020202020204" pitchFamily="34" charset="0"/>
                <a:cs typeface="Arial" panose="020B0604020202020204" pitchFamily="34" charset="0"/>
              </a:defRPr>
            </a:lvl1pPr>
            <a:lvl2pPr marL="742950" indent="-285750" defTabSz="903605" eaLnBrk="0" hangingPunct="0">
              <a:defRPr sz="2400" b="1">
                <a:solidFill>
                  <a:schemeClr val="tx1"/>
                </a:solidFill>
                <a:latin typeface="Arial" panose="020B0604020202020204" pitchFamily="34" charset="0"/>
                <a:cs typeface="Arial" panose="020B0604020202020204" pitchFamily="34" charset="0"/>
              </a:defRPr>
            </a:lvl2pPr>
            <a:lvl3pPr marL="1143000" indent="-228600" defTabSz="903605" eaLnBrk="0" hangingPunct="0">
              <a:defRPr sz="2400" b="1">
                <a:solidFill>
                  <a:schemeClr val="tx1"/>
                </a:solidFill>
                <a:latin typeface="Arial" panose="020B0604020202020204" pitchFamily="34" charset="0"/>
                <a:cs typeface="Arial" panose="020B0604020202020204" pitchFamily="34" charset="0"/>
              </a:defRPr>
            </a:lvl3pPr>
            <a:lvl4pPr marL="1600200" indent="-228600" defTabSz="903605" eaLnBrk="0" hangingPunct="0">
              <a:defRPr sz="2400" b="1">
                <a:solidFill>
                  <a:schemeClr val="tx1"/>
                </a:solidFill>
                <a:latin typeface="Arial" panose="020B0604020202020204" pitchFamily="34" charset="0"/>
                <a:cs typeface="Arial" panose="020B0604020202020204" pitchFamily="34" charset="0"/>
              </a:defRPr>
            </a:lvl4pPr>
            <a:lvl5pPr marL="2057400" indent="-228600" defTabSz="903605" eaLnBrk="0" hangingPunct="0">
              <a:defRPr sz="2400" b="1">
                <a:solidFill>
                  <a:schemeClr val="tx1"/>
                </a:solidFill>
                <a:latin typeface="Arial" panose="020B0604020202020204" pitchFamily="34" charset="0"/>
                <a:cs typeface="Arial" panose="020B0604020202020204" pitchFamily="34" charset="0"/>
              </a:defRPr>
            </a:lvl5pPr>
            <a:lvl6pPr marL="25146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a:fld id="{7391C207-9349-46D5-9D89-8ADDA5014D1F}" type="slidenum">
              <a:rPr lang="en-US" sz="800" b="0"/>
            </a:fld>
            <a:endParaRPr lang="en-US" sz="800" b="0" dirty="0"/>
          </a:p>
        </p:txBody>
      </p:sp>
      <p:sp>
        <p:nvSpPr>
          <p:cNvPr id="25603" name="Rectangle 2"/>
          <p:cNvSpPr>
            <a:spLocks noGrp="1" noRot="1" noChangeAspect="1" noChangeArrowheads="1" noTextEdit="1"/>
          </p:cNvSpPr>
          <p:nvPr>
            <p:ph type="sldImg"/>
          </p:nvPr>
        </p:nvSpPr>
        <p:spPr/>
      </p:sp>
      <p:sp>
        <p:nvSpPr>
          <p:cNvPr id="25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605" eaLnBrk="0" hangingPunct="0">
              <a:defRPr sz="2400" b="1">
                <a:solidFill>
                  <a:schemeClr val="tx1"/>
                </a:solidFill>
                <a:latin typeface="Arial" panose="020B0604020202020204" pitchFamily="34" charset="0"/>
                <a:cs typeface="Arial" panose="020B0604020202020204" pitchFamily="34" charset="0"/>
              </a:defRPr>
            </a:lvl1pPr>
            <a:lvl2pPr marL="742950" indent="-285750" defTabSz="903605" eaLnBrk="0" hangingPunct="0">
              <a:defRPr sz="2400" b="1">
                <a:solidFill>
                  <a:schemeClr val="tx1"/>
                </a:solidFill>
                <a:latin typeface="Arial" panose="020B0604020202020204" pitchFamily="34" charset="0"/>
                <a:cs typeface="Arial" panose="020B0604020202020204" pitchFamily="34" charset="0"/>
              </a:defRPr>
            </a:lvl2pPr>
            <a:lvl3pPr marL="1143000" indent="-228600" defTabSz="903605" eaLnBrk="0" hangingPunct="0">
              <a:defRPr sz="2400" b="1">
                <a:solidFill>
                  <a:schemeClr val="tx1"/>
                </a:solidFill>
                <a:latin typeface="Arial" panose="020B0604020202020204" pitchFamily="34" charset="0"/>
                <a:cs typeface="Arial" panose="020B0604020202020204" pitchFamily="34" charset="0"/>
              </a:defRPr>
            </a:lvl3pPr>
            <a:lvl4pPr marL="1600200" indent="-228600" defTabSz="903605" eaLnBrk="0" hangingPunct="0">
              <a:defRPr sz="2400" b="1">
                <a:solidFill>
                  <a:schemeClr val="tx1"/>
                </a:solidFill>
                <a:latin typeface="Arial" panose="020B0604020202020204" pitchFamily="34" charset="0"/>
                <a:cs typeface="Arial" panose="020B0604020202020204" pitchFamily="34" charset="0"/>
              </a:defRPr>
            </a:lvl4pPr>
            <a:lvl5pPr marL="2057400" indent="-228600" defTabSz="903605" eaLnBrk="0" hangingPunct="0">
              <a:defRPr sz="2400" b="1">
                <a:solidFill>
                  <a:schemeClr val="tx1"/>
                </a:solidFill>
                <a:latin typeface="Arial" panose="020B0604020202020204" pitchFamily="34" charset="0"/>
                <a:cs typeface="Arial" panose="020B0604020202020204" pitchFamily="34" charset="0"/>
              </a:defRPr>
            </a:lvl5pPr>
            <a:lvl6pPr marL="25146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a:fld id="{7391C207-9349-46D5-9D89-8ADDA5014D1F}" type="slidenum">
              <a:rPr lang="en-US" sz="800" b="0">
                <a:solidFill>
                  <a:prstClr val="black"/>
                </a:solidFill>
              </a:rPr>
            </a:fld>
            <a:endParaRPr lang="en-US" sz="800" b="0" dirty="0">
              <a:solidFill>
                <a:prstClr val="black"/>
              </a:solidFill>
            </a:endParaRPr>
          </a:p>
        </p:txBody>
      </p:sp>
      <p:sp>
        <p:nvSpPr>
          <p:cNvPr id="25603" name="Rectangle 2"/>
          <p:cNvSpPr>
            <a:spLocks noGrp="1" noRot="1" noChangeAspect="1" noChangeArrowheads="1" noTextEdit="1"/>
          </p:cNvSpPr>
          <p:nvPr>
            <p:ph type="sldImg"/>
          </p:nvPr>
        </p:nvSpPr>
        <p:spPr/>
      </p:sp>
      <p:sp>
        <p:nvSpPr>
          <p:cNvPr id="25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605" eaLnBrk="0" hangingPunct="0">
              <a:defRPr sz="2400" b="1">
                <a:solidFill>
                  <a:schemeClr val="tx1"/>
                </a:solidFill>
                <a:latin typeface="Arial" panose="020B0604020202020204" pitchFamily="34" charset="0"/>
                <a:cs typeface="Arial" panose="020B0604020202020204" pitchFamily="34" charset="0"/>
              </a:defRPr>
            </a:lvl1pPr>
            <a:lvl2pPr marL="742950" indent="-285750" defTabSz="903605" eaLnBrk="0" hangingPunct="0">
              <a:defRPr sz="2400" b="1">
                <a:solidFill>
                  <a:schemeClr val="tx1"/>
                </a:solidFill>
                <a:latin typeface="Arial" panose="020B0604020202020204" pitchFamily="34" charset="0"/>
                <a:cs typeface="Arial" panose="020B0604020202020204" pitchFamily="34" charset="0"/>
              </a:defRPr>
            </a:lvl2pPr>
            <a:lvl3pPr marL="1143000" indent="-228600" defTabSz="903605" eaLnBrk="0" hangingPunct="0">
              <a:defRPr sz="2400" b="1">
                <a:solidFill>
                  <a:schemeClr val="tx1"/>
                </a:solidFill>
                <a:latin typeface="Arial" panose="020B0604020202020204" pitchFamily="34" charset="0"/>
                <a:cs typeface="Arial" panose="020B0604020202020204" pitchFamily="34" charset="0"/>
              </a:defRPr>
            </a:lvl3pPr>
            <a:lvl4pPr marL="1600200" indent="-228600" defTabSz="903605" eaLnBrk="0" hangingPunct="0">
              <a:defRPr sz="2400" b="1">
                <a:solidFill>
                  <a:schemeClr val="tx1"/>
                </a:solidFill>
                <a:latin typeface="Arial" panose="020B0604020202020204" pitchFamily="34" charset="0"/>
                <a:cs typeface="Arial" panose="020B0604020202020204" pitchFamily="34" charset="0"/>
              </a:defRPr>
            </a:lvl4pPr>
            <a:lvl5pPr marL="2057400" indent="-228600" defTabSz="903605" eaLnBrk="0" hangingPunct="0">
              <a:defRPr sz="2400" b="1">
                <a:solidFill>
                  <a:schemeClr val="tx1"/>
                </a:solidFill>
                <a:latin typeface="Arial" panose="020B0604020202020204" pitchFamily="34" charset="0"/>
                <a:cs typeface="Arial" panose="020B0604020202020204" pitchFamily="34" charset="0"/>
              </a:defRPr>
            </a:lvl5pPr>
            <a:lvl6pPr marL="25146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03605"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a:fld id="{7C839C26-801B-42B6-A101-60F37FE2B0A8}" type="slidenum">
              <a:rPr lang="en-US" sz="800" b="0"/>
            </a:fld>
            <a:endParaRPr lang="en-US" sz="800" b="0" dirty="0"/>
          </a:p>
        </p:txBody>
      </p:sp>
      <p:sp>
        <p:nvSpPr>
          <p:cNvPr id="18435" name="Rectangle 2"/>
          <p:cNvSpPr>
            <a:spLocks noGrp="1" noRot="1" noChangeAspect="1" noChangeArrowheads="1" noTextEdit="1"/>
          </p:cNvSpPr>
          <p:nvPr>
            <p:ph type="sldImg"/>
          </p:nvPr>
        </p:nvSpPr>
        <p:spPr/>
      </p:sp>
      <p:sp>
        <p:nvSpPr>
          <p:cNvPr id="18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b="0" dirty="0"/>
              <a:t>Cisco Networking Academy Program</a:t>
            </a:r>
            <a:endParaRPr lang="en-US" b="0" dirty="0"/>
          </a:p>
          <a:p>
            <a:pPr>
              <a:buFontTx/>
              <a:buNone/>
            </a:pPr>
            <a:r>
              <a:rPr lang="en-US" b="0" baseline="0" dirty="0"/>
              <a:t>Routing and Switching Essentials v6.0</a:t>
            </a:r>
            <a:endParaRPr lang="en-US" b="0" dirty="0"/>
          </a:p>
          <a:p>
            <a:pPr>
              <a:buFontTx/>
              <a:buNone/>
            </a:pPr>
            <a:r>
              <a:rPr lang="en-US" sz="1200" b="0" dirty="0"/>
              <a:t>Chapter 1: Routing Concepts</a:t>
            </a:r>
            <a:endParaRPr lang="en-GB" b="0" dirty="0"/>
          </a:p>
          <a:p>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1 – Routing</a:t>
            </a:r>
            <a:r>
              <a:rPr lang="en-US" sz="1200" b="0" baseline="0" dirty="0"/>
              <a:t> Concepts</a:t>
            </a:r>
            <a:endParaRPr lang="en-US" sz="1200" b="0" dirty="0"/>
          </a:p>
          <a:p>
            <a:pPr>
              <a:buFontTx/>
              <a:buNone/>
            </a:pPr>
            <a:r>
              <a:rPr lang="en-US" sz="1200" b="0" dirty="0"/>
              <a:t>1.1 – Router</a:t>
            </a:r>
            <a:r>
              <a:rPr lang="en-US" sz="1200" b="0" baseline="0" dirty="0"/>
              <a:t> Initial Configuration</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1.1.1 – Router Functions</a:t>
            </a:r>
            <a:endParaRPr lang="en-US" dirty="0"/>
          </a:p>
          <a:p>
            <a:r>
              <a:rPr lang="en-US" dirty="0"/>
              <a:t>1.1.1.1 – </a:t>
            </a:r>
            <a:r>
              <a:rPr lang="en-US" sz="1200" b="0" i="0" kern="1200" dirty="0">
                <a:solidFill>
                  <a:schemeClr val="tx1"/>
                </a:solidFill>
                <a:effectLst/>
                <a:latin typeface="+mn-lt"/>
                <a:ea typeface="+mn-ea"/>
                <a:cs typeface="+mn-cs"/>
              </a:rPr>
              <a:t>Characteristics of a Network</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1.1.1 – Router Functions</a:t>
            </a:r>
            <a:endParaRPr lang="en-US" dirty="0"/>
          </a:p>
          <a:p>
            <a:r>
              <a:rPr lang="en-US" dirty="0"/>
              <a:t>1.1.1.1 – </a:t>
            </a:r>
            <a:r>
              <a:rPr lang="en-US" sz="1200" b="0" i="0" kern="1200" dirty="0">
                <a:solidFill>
                  <a:schemeClr val="tx1"/>
                </a:solidFill>
                <a:effectLst/>
                <a:latin typeface="+mn-lt"/>
                <a:ea typeface="+mn-ea"/>
                <a:cs typeface="+mn-cs"/>
              </a:rPr>
              <a:t>Characteristics of </a:t>
            </a:r>
            <a:r>
              <a:rPr lang="en-US" sz="1200" b="0" i="0" kern="1200">
                <a:solidFill>
                  <a:schemeClr val="tx1"/>
                </a:solidFill>
                <a:effectLst/>
                <a:latin typeface="+mn-lt"/>
                <a:ea typeface="+mn-ea"/>
                <a:cs typeface="+mn-cs"/>
              </a:rPr>
              <a:t>a Network</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1.1.1 – Router Functions</a:t>
            </a:r>
            <a:endParaRPr lang="en-US" dirty="0"/>
          </a:p>
          <a:p>
            <a:r>
              <a:rPr lang="en-US" dirty="0"/>
              <a:t>1.1.1.2 – </a:t>
            </a:r>
            <a:r>
              <a:rPr lang="en-US" sz="1200" b="0" i="0" kern="1200" dirty="0">
                <a:solidFill>
                  <a:schemeClr val="tx1"/>
                </a:solidFill>
                <a:effectLst/>
                <a:latin typeface="+mn-lt"/>
                <a:ea typeface="+mn-ea"/>
                <a:cs typeface="+mn-cs"/>
              </a:rPr>
              <a:t>Why Routing?</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1.1.1 – Router Functions</a:t>
            </a:r>
            <a:endParaRPr lang="en-US" dirty="0"/>
          </a:p>
          <a:p>
            <a:r>
              <a:rPr lang="en-US" dirty="0"/>
              <a:t>1.1.1.3 –</a:t>
            </a:r>
            <a:r>
              <a:rPr lang="en-US" baseline="0" dirty="0"/>
              <a:t> </a:t>
            </a:r>
            <a:r>
              <a:rPr lang="en-US" sz="1200" b="0" i="0" kern="1200" dirty="0">
                <a:solidFill>
                  <a:schemeClr val="tx1"/>
                </a:solidFill>
                <a:effectLst/>
                <a:latin typeface="+mn-lt"/>
                <a:ea typeface="+mn-ea"/>
                <a:cs typeface="+mn-cs"/>
              </a:rPr>
              <a:t>Routers</a:t>
            </a:r>
            <a:r>
              <a:rPr lang="en-US" sz="1200" b="0" i="0" kern="1200" baseline="0" dirty="0">
                <a:solidFill>
                  <a:schemeClr val="tx1"/>
                </a:solidFill>
                <a:effectLst/>
                <a:latin typeface="+mn-lt"/>
                <a:ea typeface="+mn-ea"/>
                <a:cs typeface="+mn-cs"/>
              </a:rPr>
              <a:t> Are Computers</a:t>
            </a:r>
            <a:endParaRPr lang="en-US" sz="1200" b="0" i="0" kern="1200" baseline="0" dirty="0">
              <a:solidFill>
                <a:schemeClr val="tx1"/>
              </a:solidFill>
              <a:effectLst/>
              <a:latin typeface="+mn-lt"/>
              <a:ea typeface="+mn-ea"/>
              <a:cs typeface="+mn-cs"/>
            </a:endParaRPr>
          </a:p>
          <a:p>
            <a:r>
              <a:rPr lang="en-US" dirty="0"/>
              <a:t>Internetwork Operating System (IOS) is a family of proprietary network operating systems used on several router and network switch models manufactured by Cisco Systems.</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1.1.1 – Router Functions</a:t>
            </a:r>
            <a:endParaRPr lang="en-US" dirty="0"/>
          </a:p>
          <a:p>
            <a:r>
              <a:rPr lang="en-US" dirty="0"/>
              <a:t>1.1.1.3 –</a:t>
            </a:r>
            <a:r>
              <a:rPr lang="en-US" baseline="0" dirty="0"/>
              <a:t> </a:t>
            </a:r>
            <a:r>
              <a:rPr lang="en-US" sz="1200" b="0" i="0" kern="1200" dirty="0">
                <a:solidFill>
                  <a:schemeClr val="tx1"/>
                </a:solidFill>
                <a:effectLst/>
                <a:latin typeface="+mn-lt"/>
                <a:ea typeface="+mn-ea"/>
                <a:cs typeface="+mn-cs"/>
              </a:rPr>
              <a:t>Routers</a:t>
            </a:r>
            <a:r>
              <a:rPr lang="en-US" sz="1200" b="0" i="0" kern="1200" baseline="0" dirty="0">
                <a:solidFill>
                  <a:schemeClr val="tx1"/>
                </a:solidFill>
                <a:effectLst/>
                <a:latin typeface="+mn-lt"/>
                <a:ea typeface="+mn-ea"/>
                <a:cs typeface="+mn-cs"/>
              </a:rPr>
              <a:t> Are Computers</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1.1.1 – Router Functions</a:t>
            </a:r>
            <a:endParaRPr lang="en-US" dirty="0"/>
          </a:p>
          <a:p>
            <a:r>
              <a:rPr lang="en-US" dirty="0"/>
              <a:t>1.1.1.4 –</a:t>
            </a:r>
            <a:r>
              <a:rPr lang="en-US" baseline="0" dirty="0"/>
              <a:t> </a:t>
            </a:r>
            <a:r>
              <a:rPr lang="en-US" sz="1200" b="0" i="0" kern="1200" dirty="0">
                <a:solidFill>
                  <a:schemeClr val="tx1"/>
                </a:solidFill>
                <a:effectLst/>
                <a:latin typeface="+mn-lt"/>
                <a:ea typeface="+mn-ea"/>
                <a:cs typeface="+mn-cs"/>
              </a:rPr>
              <a:t>Routers</a:t>
            </a:r>
            <a:r>
              <a:rPr lang="en-US" sz="1200" b="0" i="0" kern="1200" baseline="0" dirty="0">
                <a:solidFill>
                  <a:schemeClr val="tx1"/>
                </a:solidFill>
                <a:effectLst/>
                <a:latin typeface="+mn-lt"/>
                <a:ea typeface="+mn-ea"/>
                <a:cs typeface="+mn-cs"/>
              </a:rPr>
              <a:t> Interconnect Networks</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1.1.1 – Router Functions</a:t>
            </a:r>
            <a:endParaRPr lang="en-US" dirty="0"/>
          </a:p>
          <a:p>
            <a:r>
              <a:rPr lang="en-US" dirty="0"/>
              <a:t>1.1.1.5 –</a:t>
            </a:r>
            <a:r>
              <a:rPr lang="en-US" baseline="0" dirty="0"/>
              <a:t> </a:t>
            </a:r>
            <a:r>
              <a:rPr lang="en-US" sz="1200" b="0" i="0" kern="1200" dirty="0">
                <a:solidFill>
                  <a:schemeClr val="tx1"/>
                </a:solidFill>
                <a:effectLst/>
                <a:latin typeface="+mn-lt"/>
                <a:ea typeface="+mn-ea"/>
                <a:cs typeface="+mn-cs"/>
              </a:rPr>
              <a:t>Routers</a:t>
            </a:r>
            <a:r>
              <a:rPr lang="en-US" sz="1200" b="0" i="0" kern="1200" baseline="0" dirty="0">
                <a:solidFill>
                  <a:schemeClr val="tx1"/>
                </a:solidFill>
                <a:effectLst/>
                <a:latin typeface="+mn-lt"/>
                <a:ea typeface="+mn-ea"/>
                <a:cs typeface="+mn-cs"/>
              </a:rPr>
              <a:t> Choose Best Paths</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1.1.1 – Router Functions</a:t>
            </a:r>
            <a:endParaRPr lang="en-US" dirty="0"/>
          </a:p>
          <a:p>
            <a:r>
              <a:rPr lang="en-US" dirty="0"/>
              <a:t>1.1.1.6 –</a:t>
            </a:r>
            <a:r>
              <a:rPr lang="en-US" baseline="0" dirty="0"/>
              <a:t> </a:t>
            </a:r>
            <a:r>
              <a:rPr lang="en-US" sz="1200" b="0" i="0" kern="1200" baseline="0" dirty="0">
                <a:solidFill>
                  <a:schemeClr val="tx1"/>
                </a:solidFill>
                <a:effectLst/>
                <a:latin typeface="+mn-lt"/>
                <a:ea typeface="+mn-ea"/>
                <a:cs typeface="+mn-cs"/>
              </a:rPr>
              <a:t>Packet Forwarding Mechanisms</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1.1.1 – Router Functions</a:t>
            </a:r>
            <a:endParaRPr lang="en-US" dirty="0"/>
          </a:p>
          <a:p>
            <a:r>
              <a:rPr lang="en-US" dirty="0"/>
              <a:t>1.1.1.6 –</a:t>
            </a:r>
            <a:r>
              <a:rPr lang="en-US" baseline="0" dirty="0"/>
              <a:t> </a:t>
            </a:r>
            <a:r>
              <a:rPr lang="en-US" sz="1200" b="0" i="0" kern="1200" baseline="0" dirty="0">
                <a:solidFill>
                  <a:schemeClr val="tx1"/>
                </a:solidFill>
                <a:effectLst/>
                <a:latin typeface="+mn-lt"/>
                <a:ea typeface="+mn-ea"/>
                <a:cs typeface="+mn-cs"/>
              </a:rPr>
              <a:t>Packet Forwarding Mechanisms</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1.1.1 – Router Functions</a:t>
            </a:r>
            <a:endParaRPr lang="en-US" dirty="0"/>
          </a:p>
          <a:p>
            <a:r>
              <a:rPr lang="en-US" dirty="0"/>
              <a:t>1.1.1.8 –</a:t>
            </a:r>
            <a:r>
              <a:rPr lang="en-US" baseline="0" dirty="0"/>
              <a:t> </a:t>
            </a:r>
            <a:r>
              <a:rPr lang="en-US" sz="1200" b="0" i="0" kern="1200" dirty="0">
                <a:solidFill>
                  <a:schemeClr val="tx1"/>
                </a:solidFill>
                <a:effectLst/>
                <a:latin typeface="+mn-lt"/>
                <a:ea typeface="+mn-ea"/>
                <a:cs typeface="+mn-cs"/>
              </a:rPr>
              <a:t>Packet Tracer – Using</a:t>
            </a:r>
            <a:r>
              <a:rPr lang="en-US" sz="1200" b="0" i="0" kern="1200" baseline="0" dirty="0">
                <a:solidFill>
                  <a:schemeClr val="tx1"/>
                </a:solidFill>
                <a:effectLst/>
                <a:latin typeface="+mn-lt"/>
                <a:ea typeface="+mn-ea"/>
                <a:cs typeface="+mn-cs"/>
              </a:rPr>
              <a:t> Traceroute to Discover the Network</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1.1.1 – Router Functions</a:t>
            </a:r>
            <a:endParaRPr lang="en-US" dirty="0"/>
          </a:p>
          <a:p>
            <a:r>
              <a:rPr lang="en-US" dirty="0"/>
              <a:t>1.1.1.9 –</a:t>
            </a:r>
            <a:r>
              <a:rPr lang="en-US" baseline="0" dirty="0"/>
              <a:t> </a:t>
            </a:r>
            <a:r>
              <a:rPr lang="en-US" sz="1200" b="0" i="0" kern="1200" dirty="0">
                <a:solidFill>
                  <a:schemeClr val="tx1"/>
                </a:solidFill>
                <a:effectLst/>
                <a:latin typeface="+mn-lt"/>
                <a:ea typeface="+mn-ea"/>
                <a:cs typeface="+mn-cs"/>
              </a:rPr>
              <a:t>Lab – Mapping the Internet</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1.1.2 – Connect Devices</a:t>
            </a:r>
            <a:endParaRPr lang="en-US" dirty="0"/>
          </a:p>
          <a:p>
            <a:r>
              <a:rPr lang="en-US" dirty="0"/>
              <a:t>1.1.2.1 –</a:t>
            </a:r>
            <a:r>
              <a:rPr lang="en-US" baseline="0" dirty="0"/>
              <a:t> </a:t>
            </a:r>
            <a:r>
              <a:rPr lang="en-US" sz="1200" b="0" i="0" kern="1200" dirty="0">
                <a:solidFill>
                  <a:schemeClr val="tx1"/>
                </a:solidFill>
                <a:effectLst/>
                <a:latin typeface="+mn-lt"/>
                <a:ea typeface="+mn-ea"/>
                <a:cs typeface="+mn-cs"/>
              </a:rPr>
              <a:t>Connect</a:t>
            </a:r>
            <a:r>
              <a:rPr lang="en-US" sz="1200" b="0" i="0" kern="1200" baseline="0" dirty="0">
                <a:solidFill>
                  <a:schemeClr val="tx1"/>
                </a:solidFill>
                <a:effectLst/>
                <a:latin typeface="+mn-lt"/>
                <a:ea typeface="+mn-ea"/>
                <a:cs typeface="+mn-cs"/>
              </a:rPr>
              <a:t> to a Network</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1.1.2 – Connect Devices</a:t>
            </a:r>
            <a:endParaRPr lang="en-US" dirty="0"/>
          </a:p>
          <a:p>
            <a:r>
              <a:rPr lang="en-US" dirty="0"/>
              <a:t>1.1.2.1 –</a:t>
            </a:r>
            <a:r>
              <a:rPr lang="en-US" baseline="0" dirty="0"/>
              <a:t> </a:t>
            </a:r>
            <a:r>
              <a:rPr lang="en-US" sz="1200" b="0" i="0" kern="1200" dirty="0">
                <a:solidFill>
                  <a:schemeClr val="tx1"/>
                </a:solidFill>
                <a:effectLst/>
                <a:latin typeface="+mn-lt"/>
                <a:ea typeface="+mn-ea"/>
                <a:cs typeface="+mn-cs"/>
              </a:rPr>
              <a:t>Connect</a:t>
            </a:r>
            <a:r>
              <a:rPr lang="en-US" sz="1200" b="0" i="0" kern="1200" baseline="0" dirty="0">
                <a:solidFill>
                  <a:schemeClr val="tx1"/>
                </a:solidFill>
                <a:effectLst/>
                <a:latin typeface="+mn-lt"/>
                <a:ea typeface="+mn-ea"/>
                <a:cs typeface="+mn-cs"/>
              </a:rPr>
              <a:t> to a Network</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1.1.2 – Connect Devices</a:t>
            </a:r>
            <a:endParaRPr lang="en-US" dirty="0"/>
          </a:p>
          <a:p>
            <a:r>
              <a:rPr lang="en-US" dirty="0"/>
              <a:t>1.1.2.1 –</a:t>
            </a:r>
            <a:r>
              <a:rPr lang="en-US" baseline="0" dirty="0"/>
              <a:t> </a:t>
            </a:r>
            <a:r>
              <a:rPr lang="en-US" sz="1200" b="0" i="0" kern="1200" dirty="0">
                <a:solidFill>
                  <a:schemeClr val="tx1"/>
                </a:solidFill>
                <a:effectLst/>
                <a:latin typeface="+mn-lt"/>
                <a:ea typeface="+mn-ea"/>
                <a:cs typeface="+mn-cs"/>
              </a:rPr>
              <a:t>Connect</a:t>
            </a:r>
            <a:r>
              <a:rPr lang="en-US" sz="1200" b="0" i="0" kern="1200" baseline="0" dirty="0">
                <a:solidFill>
                  <a:schemeClr val="tx1"/>
                </a:solidFill>
                <a:effectLst/>
                <a:latin typeface="+mn-lt"/>
                <a:ea typeface="+mn-ea"/>
                <a:cs typeface="+mn-cs"/>
              </a:rPr>
              <a:t> to a Network</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1.1.2 – Connect Devices</a:t>
            </a:r>
            <a:endParaRPr lang="en-US" dirty="0"/>
          </a:p>
          <a:p>
            <a:r>
              <a:rPr lang="en-US" dirty="0"/>
              <a:t>1.1.2.2 –</a:t>
            </a:r>
            <a:r>
              <a:rPr lang="en-US" baseline="0" dirty="0"/>
              <a:t> </a:t>
            </a:r>
            <a:r>
              <a:rPr lang="en-US" sz="1200" b="0" i="0" kern="1200" dirty="0">
                <a:solidFill>
                  <a:schemeClr val="tx1"/>
                </a:solidFill>
                <a:effectLst/>
                <a:latin typeface="+mn-lt"/>
                <a:ea typeface="+mn-ea"/>
                <a:cs typeface="+mn-cs"/>
              </a:rPr>
              <a:t>Default Gateways</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1.1.2 – Connect Devices</a:t>
            </a:r>
            <a:endParaRPr lang="en-US" dirty="0"/>
          </a:p>
          <a:p>
            <a:r>
              <a:rPr lang="en-US" dirty="0"/>
              <a:t>1.1.2.3 –</a:t>
            </a:r>
            <a:r>
              <a:rPr lang="en-US" baseline="0" dirty="0"/>
              <a:t> </a:t>
            </a:r>
            <a:r>
              <a:rPr lang="en-US" sz="1200" b="0" i="0" kern="1200" dirty="0">
                <a:solidFill>
                  <a:schemeClr val="tx1"/>
                </a:solidFill>
                <a:effectLst/>
                <a:latin typeface="+mn-lt"/>
                <a:ea typeface="+mn-ea"/>
                <a:cs typeface="+mn-cs"/>
              </a:rPr>
              <a:t>Document Network Addressing</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1.1.2 – Connect Devices</a:t>
            </a:r>
            <a:endParaRPr lang="en-US" dirty="0"/>
          </a:p>
          <a:p>
            <a:r>
              <a:rPr lang="en-US" dirty="0"/>
              <a:t>1.1.2.4 –</a:t>
            </a:r>
            <a:r>
              <a:rPr lang="en-US" baseline="0" dirty="0"/>
              <a:t> </a:t>
            </a:r>
            <a:r>
              <a:rPr lang="en-US" sz="1200" b="0" i="0" kern="1200" dirty="0">
                <a:solidFill>
                  <a:schemeClr val="tx1"/>
                </a:solidFill>
                <a:effectLst/>
                <a:latin typeface="+mn-lt"/>
                <a:ea typeface="+mn-ea"/>
                <a:cs typeface="+mn-cs"/>
              </a:rPr>
              <a:t>Enable IP on a Host</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1.1.2 – Connect Devices</a:t>
            </a:r>
            <a:endParaRPr lang="en-US" dirty="0"/>
          </a:p>
          <a:p>
            <a:r>
              <a:rPr lang="en-US" dirty="0"/>
              <a:t>1.1.2.5 –</a:t>
            </a:r>
            <a:r>
              <a:rPr lang="en-US" baseline="0" dirty="0"/>
              <a:t> </a:t>
            </a:r>
            <a:r>
              <a:rPr lang="en-US" sz="1200" b="0" i="0" kern="1200" dirty="0">
                <a:solidFill>
                  <a:schemeClr val="tx1"/>
                </a:solidFill>
                <a:effectLst/>
                <a:latin typeface="+mn-lt"/>
                <a:ea typeface="+mn-ea"/>
                <a:cs typeface="+mn-cs"/>
              </a:rPr>
              <a:t>Device LEDs</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1.1.2 – Connect Devices</a:t>
            </a:r>
            <a:endParaRPr lang="en-US" dirty="0"/>
          </a:p>
          <a:p>
            <a:r>
              <a:rPr lang="en-US" dirty="0"/>
              <a:t>1.1.2.6 –</a:t>
            </a:r>
            <a:r>
              <a:rPr lang="en-US" baseline="0" dirty="0"/>
              <a:t> </a:t>
            </a:r>
            <a:r>
              <a:rPr lang="en-US" sz="1200" b="0" i="0" kern="1200" dirty="0">
                <a:solidFill>
                  <a:schemeClr val="tx1"/>
                </a:solidFill>
                <a:effectLst/>
                <a:latin typeface="+mn-lt"/>
                <a:ea typeface="+mn-ea"/>
                <a:cs typeface="+mn-cs"/>
              </a:rPr>
              <a:t>Console Access</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1.1.2 – Connect Devices</a:t>
            </a:r>
            <a:endParaRPr lang="en-US" dirty="0"/>
          </a:p>
          <a:p>
            <a:r>
              <a:rPr lang="en-US" dirty="0"/>
              <a:t>1.1.2.7 –</a:t>
            </a:r>
            <a:r>
              <a:rPr lang="en-US" baseline="0" dirty="0"/>
              <a:t> </a:t>
            </a:r>
            <a:r>
              <a:rPr lang="en-US" sz="1200" b="0" i="0" kern="1200" dirty="0">
                <a:solidFill>
                  <a:schemeClr val="tx1"/>
                </a:solidFill>
                <a:effectLst/>
                <a:latin typeface="+mn-lt"/>
                <a:ea typeface="+mn-ea"/>
                <a:cs typeface="+mn-cs"/>
              </a:rPr>
              <a:t>Enable IP on a Switch</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1.1.2 – Connect Devices</a:t>
            </a:r>
            <a:endParaRPr lang="en-US" dirty="0"/>
          </a:p>
          <a:p>
            <a:r>
              <a:rPr lang="en-US" dirty="0"/>
              <a:t>1.1.2.9 –</a:t>
            </a:r>
            <a:r>
              <a:rPr lang="en-US" baseline="0" dirty="0"/>
              <a:t> </a:t>
            </a:r>
            <a:r>
              <a:rPr lang="en-US" sz="1200" b="0" i="0" kern="1200" baseline="0" dirty="0">
                <a:solidFill>
                  <a:schemeClr val="tx1"/>
                </a:solidFill>
                <a:effectLst/>
                <a:latin typeface="+mn-lt"/>
                <a:ea typeface="+mn-ea"/>
                <a:cs typeface="+mn-cs"/>
              </a:rPr>
              <a:t>Packet Tracer – Documenting the Network</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1.1.3 – Router Basic Settings</a:t>
            </a:r>
            <a:endParaRPr lang="en-US" dirty="0"/>
          </a:p>
          <a:p>
            <a:r>
              <a:rPr lang="en-US" dirty="0"/>
              <a:t>1.1.3.1 –</a:t>
            </a:r>
            <a:r>
              <a:rPr lang="en-US" baseline="0" dirty="0"/>
              <a:t> </a:t>
            </a:r>
            <a:r>
              <a:rPr lang="en-US" sz="1200" b="0" i="0" kern="1200" baseline="0" dirty="0">
                <a:solidFill>
                  <a:schemeClr val="tx1"/>
                </a:solidFill>
                <a:effectLst/>
                <a:latin typeface="+mn-lt"/>
                <a:ea typeface="+mn-ea"/>
                <a:cs typeface="+mn-cs"/>
              </a:rPr>
              <a:t>Configure Basic Router Settings</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1.1.3 – Router Basic Settings</a:t>
            </a:r>
            <a:endParaRPr lang="en-US" dirty="0"/>
          </a:p>
          <a:p>
            <a:r>
              <a:rPr lang="en-US" dirty="0"/>
              <a:t>1.1.3.2 –</a:t>
            </a:r>
            <a:r>
              <a:rPr lang="en-US" baseline="0" dirty="0"/>
              <a:t> </a:t>
            </a:r>
            <a:r>
              <a:rPr lang="en-US" sz="1200" b="0" i="0" kern="1200" baseline="0" dirty="0">
                <a:solidFill>
                  <a:schemeClr val="tx1"/>
                </a:solidFill>
                <a:effectLst/>
                <a:latin typeface="+mn-lt"/>
                <a:ea typeface="+mn-ea"/>
                <a:cs typeface="+mn-cs"/>
              </a:rPr>
              <a:t>Configure an IPv4 Router Interface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1.1.3 – Router Basic Settings</a:t>
            </a:r>
            <a:endParaRPr lang="en-US" dirty="0"/>
          </a:p>
          <a:p>
            <a:r>
              <a:rPr lang="en-US" dirty="0"/>
              <a:t>1.1.3.3 –</a:t>
            </a:r>
            <a:r>
              <a:rPr lang="en-US" baseline="0" dirty="0"/>
              <a:t> </a:t>
            </a:r>
            <a:r>
              <a:rPr lang="en-US" sz="1200" b="0" i="0" kern="1200" baseline="0" dirty="0">
                <a:solidFill>
                  <a:schemeClr val="tx1"/>
                </a:solidFill>
                <a:effectLst/>
                <a:latin typeface="+mn-lt"/>
                <a:ea typeface="+mn-ea"/>
                <a:cs typeface="+mn-cs"/>
              </a:rPr>
              <a:t>Configure an IPv6 Router Interface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1.1.3 – Router Basic Settings</a:t>
            </a:r>
            <a:endParaRPr lang="en-US" dirty="0"/>
          </a:p>
          <a:p>
            <a:r>
              <a:rPr lang="en-US" dirty="0"/>
              <a:t>1.1.3.3 –</a:t>
            </a:r>
            <a:r>
              <a:rPr lang="en-US" baseline="0" dirty="0"/>
              <a:t> </a:t>
            </a:r>
            <a:r>
              <a:rPr lang="en-US" sz="1200" b="0" i="0" kern="1200" baseline="0" dirty="0">
                <a:solidFill>
                  <a:schemeClr val="tx1"/>
                </a:solidFill>
                <a:effectLst/>
                <a:latin typeface="+mn-lt"/>
                <a:ea typeface="+mn-ea"/>
                <a:cs typeface="+mn-cs"/>
              </a:rPr>
              <a:t>Configure an IPv6 Router Interface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1.1.3 – Router Basic Settings</a:t>
            </a:r>
            <a:endParaRPr lang="en-US" dirty="0"/>
          </a:p>
          <a:p>
            <a:r>
              <a:rPr lang="en-US" dirty="0"/>
              <a:t>1.1.3.4 –</a:t>
            </a:r>
            <a:r>
              <a:rPr lang="en-US" baseline="0" dirty="0"/>
              <a:t> Configure a</a:t>
            </a:r>
            <a:r>
              <a:rPr lang="en-US" sz="1200" b="0" i="0" kern="1200" baseline="0" dirty="0">
                <a:solidFill>
                  <a:schemeClr val="tx1"/>
                </a:solidFill>
                <a:effectLst/>
                <a:latin typeface="+mn-lt"/>
                <a:ea typeface="+mn-ea"/>
                <a:cs typeface="+mn-cs"/>
              </a:rPr>
              <a:t>n IPv4 Loopback Interface</a:t>
            </a:r>
            <a:endParaRPr lang="en-US" sz="1200" b="0" i="0" kern="1200" baseline="0" dirty="0">
              <a:solidFill>
                <a:schemeClr val="tx1"/>
              </a:solidFill>
              <a:effectLst/>
              <a:latin typeface="+mn-lt"/>
              <a:ea typeface="+mn-ea"/>
              <a:cs typeface="+mn-cs"/>
            </a:endParaRPr>
          </a:p>
          <a:p>
            <a:r>
              <a:rPr lang="en-GB" dirty="0"/>
              <a:t>Open Shortest Path First (</a:t>
            </a:r>
            <a:r>
              <a:rPr lang="en-GB" b="1" dirty="0"/>
              <a:t>OSPF</a:t>
            </a:r>
            <a:r>
              <a:rPr lang="en-GB" dirty="0"/>
              <a:t>) is a </a:t>
            </a:r>
            <a:r>
              <a:rPr lang="en-GB" b="1" dirty="0"/>
              <a:t>routing</a:t>
            </a:r>
            <a:r>
              <a:rPr lang="en-GB" dirty="0"/>
              <a:t> protocol for Internet Protocol (IP) networks. It uses a link state </a:t>
            </a:r>
            <a:r>
              <a:rPr lang="en-GB" b="1" dirty="0"/>
              <a:t>routing</a:t>
            </a:r>
            <a:r>
              <a:rPr lang="en-GB" dirty="0"/>
              <a:t> (LSR) algorithm and falls into the group of interior gateway protocols (IGPs), operating within a single autonomous system (AS).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1.1.3 – Router Basic Settings</a:t>
            </a:r>
            <a:endParaRPr lang="en-US" dirty="0"/>
          </a:p>
          <a:p>
            <a:r>
              <a:rPr lang="en-US" dirty="0"/>
              <a:t>1.1.3.5 –</a:t>
            </a:r>
            <a:r>
              <a:rPr lang="en-US" baseline="0" dirty="0"/>
              <a:t> Packet Tracer – Configuring IPv4 and IPv6 Interfaces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1.1.4 – </a:t>
            </a:r>
            <a:r>
              <a:rPr kumimoji="0" lang="en-US" sz="1200" b="0" i="0" u="none" strike="noStrike" kern="1200" cap="none" spc="0" normalizeH="0" baseline="0" noProof="0" dirty="0">
                <a:ln>
                  <a:noFill/>
                </a:ln>
                <a:solidFill>
                  <a:prstClr val="black"/>
                </a:solidFill>
                <a:effectLst/>
                <a:uLnTx/>
                <a:uFillTx/>
                <a:latin typeface="+mn-lt"/>
                <a:ea typeface="+mn-ea"/>
                <a:cs typeface="+mn-cs"/>
              </a:rPr>
              <a:t>Verify Connectivity of Directly Connected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1.1.4.1 –</a:t>
            </a:r>
            <a:r>
              <a:rPr lang="en-US" baseline="0" dirty="0"/>
              <a:t> Verify Interface Settings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1.1.4 – </a:t>
            </a:r>
            <a:r>
              <a:rPr kumimoji="0" lang="en-US" sz="1200" b="0" i="0" u="none" strike="noStrike" kern="1200" cap="none" spc="0" normalizeH="0" baseline="0" noProof="0" dirty="0">
                <a:ln>
                  <a:noFill/>
                </a:ln>
                <a:solidFill>
                  <a:prstClr val="black"/>
                </a:solidFill>
                <a:effectLst/>
                <a:uLnTx/>
                <a:uFillTx/>
                <a:latin typeface="+mn-lt"/>
                <a:ea typeface="+mn-ea"/>
                <a:cs typeface="+mn-cs"/>
              </a:rPr>
              <a:t>Verify Connectivity of Directly Connected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1.1.4.2 –</a:t>
            </a:r>
            <a:r>
              <a:rPr lang="en-US" baseline="0" dirty="0"/>
              <a:t> Verify IPv6 Interface Settings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1.1.4 – </a:t>
            </a:r>
            <a:r>
              <a:rPr kumimoji="0" lang="en-US" sz="1200" b="0" i="0" u="none" strike="noStrike" kern="1200" cap="none" spc="0" normalizeH="0" baseline="0" noProof="0" dirty="0">
                <a:ln>
                  <a:noFill/>
                </a:ln>
                <a:solidFill>
                  <a:prstClr val="black"/>
                </a:solidFill>
                <a:effectLst/>
                <a:uLnTx/>
                <a:uFillTx/>
                <a:latin typeface="+mn-lt"/>
                <a:ea typeface="+mn-ea"/>
                <a:cs typeface="+mn-cs"/>
              </a:rPr>
              <a:t>Verify Connectivity of Directly Connected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1.1.4.3 –</a:t>
            </a:r>
            <a:r>
              <a:rPr lang="en-US" baseline="0" dirty="0"/>
              <a:t> Filter Show Command Output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1.1.4 – </a:t>
            </a:r>
            <a:r>
              <a:rPr kumimoji="0" lang="en-US" sz="1200" b="0" i="0" u="none" strike="noStrike" kern="1200" cap="none" spc="0" normalizeH="0" baseline="0" noProof="0" dirty="0">
                <a:ln>
                  <a:noFill/>
                </a:ln>
                <a:solidFill>
                  <a:prstClr val="black"/>
                </a:solidFill>
                <a:effectLst/>
                <a:uLnTx/>
                <a:uFillTx/>
                <a:latin typeface="+mn-lt"/>
                <a:ea typeface="+mn-ea"/>
                <a:cs typeface="+mn-cs"/>
              </a:rPr>
              <a:t>Verify Connectivity of Directly Connected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1.1.4.4 – Command History Feature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1.1.4 – </a:t>
            </a:r>
            <a:r>
              <a:rPr kumimoji="0" lang="en-US" sz="1200" b="0" i="0" u="none" strike="noStrike" kern="1200" cap="none" spc="0" normalizeH="0" baseline="0" noProof="0" dirty="0">
                <a:ln>
                  <a:noFill/>
                </a:ln>
                <a:solidFill>
                  <a:prstClr val="black"/>
                </a:solidFill>
                <a:effectLst/>
                <a:uLnTx/>
                <a:uFillTx/>
                <a:latin typeface="+mn-lt"/>
                <a:ea typeface="+mn-ea"/>
                <a:cs typeface="+mn-cs"/>
              </a:rPr>
              <a:t>Verify Connectivity of Directly Connected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1.1.4.5 – Packet Tracer – Configuring and Verifying a Small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Router Initial Configuration</a:t>
            </a:r>
            <a:endParaRPr lang="en-US" dirty="0"/>
          </a:p>
          <a:p>
            <a:r>
              <a:rPr lang="en-US" dirty="0"/>
              <a:t>1.1.4 – </a:t>
            </a:r>
            <a:r>
              <a:rPr kumimoji="0" lang="en-US" sz="1200" b="0" i="0" u="none" strike="noStrike" kern="1200" cap="none" spc="0" normalizeH="0" baseline="0" noProof="0" dirty="0">
                <a:ln>
                  <a:noFill/>
                </a:ln>
                <a:solidFill>
                  <a:prstClr val="black"/>
                </a:solidFill>
                <a:effectLst/>
                <a:uLnTx/>
                <a:uFillTx/>
                <a:latin typeface="+mn-lt"/>
                <a:ea typeface="+mn-ea"/>
                <a:cs typeface="+mn-cs"/>
              </a:rPr>
              <a:t>Verify Connectivity of Directly Connected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1.1.4.6 – Lab – Configuring Basic Router Settings with IOS CLI</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1 – Routing</a:t>
            </a:r>
            <a:r>
              <a:rPr lang="en-US" sz="1200" b="0" baseline="0" dirty="0"/>
              <a:t> Concepts</a:t>
            </a:r>
            <a:endParaRPr lang="en-US" sz="1200" b="0" dirty="0"/>
          </a:p>
          <a:p>
            <a:pPr>
              <a:buFontTx/>
              <a:buNone/>
            </a:pPr>
            <a:r>
              <a:rPr lang="en-US" sz="1200" b="0" dirty="0"/>
              <a:t>1.2 – Routing Decisions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Routing Decisions</a:t>
            </a:r>
            <a:endParaRPr lang="en-US" dirty="0"/>
          </a:p>
          <a:p>
            <a:r>
              <a:rPr lang="en-US" dirty="0"/>
              <a:t>1.2.1 – </a:t>
            </a:r>
            <a:r>
              <a:rPr kumimoji="0" lang="en-US" sz="1200" b="0" i="0" u="none" strike="noStrike" kern="1200" cap="none" spc="0" normalizeH="0" baseline="0" noProof="0" dirty="0">
                <a:ln>
                  <a:noFill/>
                </a:ln>
                <a:solidFill>
                  <a:prstClr val="black"/>
                </a:solidFill>
                <a:effectLst/>
                <a:uLnTx/>
                <a:uFillTx/>
                <a:latin typeface="+mn-lt"/>
                <a:ea typeface="+mn-ea"/>
                <a:cs typeface="+mn-cs"/>
              </a:rPr>
              <a:t>Switching Packets Between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1.2.1.1</a:t>
            </a:r>
            <a:r>
              <a:rPr lang="en-US" baseline="0" dirty="0"/>
              <a:t> – Router Switching Function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Routing Decisions</a:t>
            </a:r>
            <a:endParaRPr lang="en-US" dirty="0"/>
          </a:p>
          <a:p>
            <a:r>
              <a:rPr lang="en-US" dirty="0"/>
              <a:t>1.2.1 – </a:t>
            </a:r>
            <a:r>
              <a:rPr kumimoji="0" lang="en-US" sz="1200" b="0" i="0" u="none" strike="noStrike" kern="1200" cap="none" spc="0" normalizeH="0" baseline="0" noProof="0" dirty="0">
                <a:ln>
                  <a:noFill/>
                </a:ln>
                <a:solidFill>
                  <a:prstClr val="black"/>
                </a:solidFill>
                <a:effectLst/>
                <a:uLnTx/>
                <a:uFillTx/>
                <a:latin typeface="+mn-lt"/>
                <a:ea typeface="+mn-ea"/>
                <a:cs typeface="+mn-cs"/>
              </a:rPr>
              <a:t>Switching Packets Between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1.2.1.1</a:t>
            </a:r>
            <a:r>
              <a:rPr lang="en-US" baseline="0" dirty="0"/>
              <a:t> – Router Switching Function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Routing Decisions</a:t>
            </a:r>
            <a:endParaRPr lang="en-US" dirty="0"/>
          </a:p>
          <a:p>
            <a:r>
              <a:rPr lang="en-US" dirty="0"/>
              <a:t>1.2.1 – </a:t>
            </a:r>
            <a:r>
              <a:rPr kumimoji="0" lang="en-US" sz="1200" b="0" i="0" u="none" strike="noStrike" kern="1200" cap="none" spc="0" normalizeH="0" baseline="0" noProof="0" dirty="0">
                <a:ln>
                  <a:noFill/>
                </a:ln>
                <a:solidFill>
                  <a:prstClr val="black"/>
                </a:solidFill>
                <a:effectLst/>
                <a:uLnTx/>
                <a:uFillTx/>
                <a:latin typeface="+mn-lt"/>
                <a:ea typeface="+mn-ea"/>
                <a:cs typeface="+mn-cs"/>
              </a:rPr>
              <a:t>Switching Packets Between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1.2.1.2</a:t>
            </a:r>
            <a:r>
              <a:rPr lang="en-US" baseline="0" dirty="0"/>
              <a:t> – Send a Packet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Routing Decisions</a:t>
            </a:r>
            <a:endParaRPr lang="en-US" dirty="0"/>
          </a:p>
          <a:p>
            <a:r>
              <a:rPr lang="en-US" dirty="0"/>
              <a:t>1.2.1 – </a:t>
            </a:r>
            <a:r>
              <a:rPr kumimoji="0" lang="en-US" sz="1200" b="0" i="0" u="none" strike="noStrike" kern="1200" cap="none" spc="0" normalizeH="0" baseline="0" noProof="0" dirty="0">
                <a:ln>
                  <a:noFill/>
                </a:ln>
                <a:solidFill>
                  <a:prstClr val="black"/>
                </a:solidFill>
                <a:effectLst/>
                <a:uLnTx/>
                <a:uFillTx/>
                <a:latin typeface="+mn-lt"/>
                <a:ea typeface="+mn-ea"/>
                <a:cs typeface="+mn-cs"/>
              </a:rPr>
              <a:t>Switching Packets Between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1.2.1.3</a:t>
            </a:r>
            <a:r>
              <a:rPr lang="en-US" baseline="0" dirty="0"/>
              <a:t> – Forward to the Next Hop</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Routing Decisions</a:t>
            </a:r>
            <a:endParaRPr lang="en-US" dirty="0"/>
          </a:p>
          <a:p>
            <a:r>
              <a:rPr lang="en-US" dirty="0"/>
              <a:t>1.2.1 – </a:t>
            </a:r>
            <a:r>
              <a:rPr kumimoji="0" lang="en-US" sz="1200" b="0" i="0" u="none" strike="noStrike" kern="1200" cap="none" spc="0" normalizeH="0" baseline="0" noProof="0" dirty="0">
                <a:ln>
                  <a:noFill/>
                </a:ln>
                <a:solidFill>
                  <a:prstClr val="black"/>
                </a:solidFill>
                <a:effectLst/>
                <a:uLnTx/>
                <a:uFillTx/>
                <a:latin typeface="+mn-lt"/>
                <a:ea typeface="+mn-ea"/>
                <a:cs typeface="+mn-cs"/>
              </a:rPr>
              <a:t>Switching Packets Between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1.2.1.3</a:t>
            </a:r>
            <a:r>
              <a:rPr lang="en-US" baseline="0" dirty="0"/>
              <a:t> – Forward to the Next Hop</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Routing Decisions</a:t>
            </a:r>
            <a:endParaRPr lang="en-US" dirty="0"/>
          </a:p>
          <a:p>
            <a:r>
              <a:rPr lang="en-US" dirty="0"/>
              <a:t>1.2.1 – </a:t>
            </a:r>
            <a:r>
              <a:rPr kumimoji="0" lang="en-US" sz="1200" b="0" i="0" u="none" strike="noStrike" kern="1200" cap="none" spc="0" normalizeH="0" baseline="0" noProof="0" dirty="0">
                <a:ln>
                  <a:noFill/>
                </a:ln>
                <a:solidFill>
                  <a:prstClr val="black"/>
                </a:solidFill>
                <a:effectLst/>
                <a:uLnTx/>
                <a:uFillTx/>
                <a:latin typeface="+mn-lt"/>
                <a:ea typeface="+mn-ea"/>
                <a:cs typeface="+mn-cs"/>
              </a:rPr>
              <a:t>Switching Packets Between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1.2.1.4</a:t>
            </a:r>
            <a:r>
              <a:rPr lang="en-US" baseline="0" dirty="0"/>
              <a:t> – Packet Routing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Routing Decisions</a:t>
            </a:r>
            <a:endParaRPr lang="en-US" dirty="0"/>
          </a:p>
          <a:p>
            <a:r>
              <a:rPr lang="en-US" dirty="0"/>
              <a:t>1.2.1 – </a:t>
            </a:r>
            <a:r>
              <a:rPr kumimoji="0" lang="en-US" sz="1200" b="0" i="0" u="none" strike="noStrike" kern="1200" cap="none" spc="0" normalizeH="0" baseline="0" noProof="0" dirty="0">
                <a:ln>
                  <a:noFill/>
                </a:ln>
                <a:solidFill>
                  <a:prstClr val="black"/>
                </a:solidFill>
                <a:effectLst/>
                <a:uLnTx/>
                <a:uFillTx/>
                <a:latin typeface="+mn-lt"/>
                <a:ea typeface="+mn-ea"/>
                <a:cs typeface="+mn-cs"/>
              </a:rPr>
              <a:t>Switching Packets Between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1.2.1.4</a:t>
            </a:r>
            <a:r>
              <a:rPr lang="en-US" baseline="0" dirty="0"/>
              <a:t> – Packet Routing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Routing Decisions</a:t>
            </a:r>
            <a:endParaRPr lang="en-US" dirty="0"/>
          </a:p>
          <a:p>
            <a:r>
              <a:rPr lang="en-US" dirty="0"/>
              <a:t>1.2.1 – </a:t>
            </a:r>
            <a:r>
              <a:rPr kumimoji="0" lang="en-US" sz="1200" b="0" i="0" u="none" strike="noStrike" kern="1200" cap="none" spc="0" normalizeH="0" baseline="0" noProof="0" dirty="0">
                <a:ln>
                  <a:noFill/>
                </a:ln>
                <a:solidFill>
                  <a:prstClr val="black"/>
                </a:solidFill>
                <a:effectLst/>
                <a:uLnTx/>
                <a:uFillTx/>
                <a:latin typeface="+mn-lt"/>
                <a:ea typeface="+mn-ea"/>
                <a:cs typeface="+mn-cs"/>
              </a:rPr>
              <a:t>Switching Packets Between Networks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1.2.1.5</a:t>
            </a:r>
            <a:r>
              <a:rPr lang="en-US" baseline="0" dirty="0"/>
              <a:t> – Reach the Destination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Routing Decisions</a:t>
            </a:r>
            <a:endParaRPr lang="en-US" dirty="0"/>
          </a:p>
          <a:p>
            <a:r>
              <a:rPr lang="en-US" dirty="0"/>
              <a:t>1.2.2 – </a:t>
            </a:r>
            <a:r>
              <a:rPr kumimoji="0" lang="en-US" sz="1200" b="0" i="0" u="none" strike="noStrike" kern="1200" cap="none" spc="0" normalizeH="0" baseline="0" noProof="0" dirty="0">
                <a:ln>
                  <a:noFill/>
                </a:ln>
                <a:solidFill>
                  <a:prstClr val="black"/>
                </a:solidFill>
                <a:effectLst/>
                <a:uLnTx/>
                <a:uFillTx/>
                <a:latin typeface="+mn-lt"/>
                <a:ea typeface="+mn-ea"/>
                <a:cs typeface="+mn-cs"/>
              </a:rPr>
              <a:t>Path Determination</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1.2.2.1</a:t>
            </a:r>
            <a:r>
              <a:rPr lang="en-US" baseline="0" dirty="0"/>
              <a:t> – Routing Decisions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Routing Decisions</a:t>
            </a:r>
            <a:endParaRPr lang="en-US" dirty="0"/>
          </a:p>
          <a:p>
            <a:r>
              <a:rPr lang="en-US" dirty="0"/>
              <a:t>1.2.2 – </a:t>
            </a:r>
            <a:r>
              <a:rPr kumimoji="0" lang="en-US" sz="1200" b="0" i="0" u="none" strike="noStrike" kern="1200" cap="none" spc="0" normalizeH="0" baseline="0" noProof="0" dirty="0">
                <a:ln>
                  <a:noFill/>
                </a:ln>
                <a:solidFill>
                  <a:prstClr val="black"/>
                </a:solidFill>
                <a:effectLst/>
                <a:uLnTx/>
                <a:uFillTx/>
                <a:latin typeface="+mn-lt"/>
                <a:ea typeface="+mn-ea"/>
                <a:cs typeface="+mn-cs"/>
              </a:rPr>
              <a:t>Path Determination</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1.2.2.2</a:t>
            </a:r>
            <a:r>
              <a:rPr lang="en-US" baseline="0" dirty="0"/>
              <a:t> – Best Path</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Routing Decisions</a:t>
            </a:r>
            <a:endParaRPr lang="en-US" dirty="0"/>
          </a:p>
          <a:p>
            <a:r>
              <a:rPr lang="en-US" dirty="0"/>
              <a:t>1.2.2 – </a:t>
            </a:r>
            <a:r>
              <a:rPr kumimoji="0" lang="en-US" sz="1200" b="0" i="0" u="none" strike="noStrike" kern="1200" cap="none" spc="0" normalizeH="0" baseline="0" noProof="0" dirty="0">
                <a:ln>
                  <a:noFill/>
                </a:ln>
                <a:solidFill>
                  <a:prstClr val="black"/>
                </a:solidFill>
                <a:effectLst/>
                <a:uLnTx/>
                <a:uFillTx/>
                <a:latin typeface="+mn-lt"/>
                <a:ea typeface="+mn-ea"/>
                <a:cs typeface="+mn-cs"/>
              </a:rPr>
              <a:t>Path Determination</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1.2.2.3</a:t>
            </a:r>
            <a:r>
              <a:rPr lang="en-US" baseline="0" dirty="0"/>
              <a:t> – Load Balancing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Routing Decisions</a:t>
            </a:r>
            <a:endParaRPr lang="en-US" dirty="0"/>
          </a:p>
          <a:p>
            <a:r>
              <a:rPr lang="en-US" dirty="0"/>
              <a:t>1.2.2 – </a:t>
            </a:r>
            <a:r>
              <a:rPr kumimoji="0" lang="en-US" sz="1200" b="0" i="0" u="none" strike="noStrike" kern="1200" cap="none" spc="0" normalizeH="0" baseline="0" noProof="0" dirty="0">
                <a:ln>
                  <a:noFill/>
                </a:ln>
                <a:solidFill>
                  <a:prstClr val="black"/>
                </a:solidFill>
                <a:effectLst/>
                <a:uLnTx/>
                <a:uFillTx/>
                <a:latin typeface="+mn-lt"/>
                <a:ea typeface="+mn-ea"/>
                <a:cs typeface="+mn-cs"/>
              </a:rPr>
              <a:t>Path Determination</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1.2.2.4</a:t>
            </a:r>
            <a:r>
              <a:rPr lang="en-US" baseline="0" dirty="0"/>
              <a:t> – Administrative Distance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1 – Routing</a:t>
            </a:r>
            <a:r>
              <a:rPr lang="en-US" sz="1200" b="0" baseline="0" dirty="0"/>
              <a:t> Concepts</a:t>
            </a:r>
            <a:endParaRPr lang="en-US" sz="1200" b="0" dirty="0"/>
          </a:p>
          <a:p>
            <a:pPr>
              <a:buFontTx/>
              <a:buNone/>
            </a:pPr>
            <a:r>
              <a:rPr lang="en-US" sz="1200" b="0" dirty="0"/>
              <a:t>1.3 – Router</a:t>
            </a:r>
            <a:r>
              <a:rPr lang="en-US" sz="1200" b="0" baseline="0" dirty="0"/>
              <a:t> Operation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1.3.1</a:t>
            </a:r>
            <a:r>
              <a:rPr lang="en-US" baseline="0" dirty="0"/>
              <a:t> – Analyze the Routing Table</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1.3.1.1</a:t>
            </a:r>
            <a:r>
              <a:rPr lang="en-US" baseline="0" dirty="0"/>
              <a:t> – The Routing Table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1.3.1</a:t>
            </a:r>
            <a:r>
              <a:rPr lang="en-US" baseline="0" dirty="0"/>
              <a:t> – Analyze the Routing Table</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1.3.1.2</a:t>
            </a:r>
            <a:r>
              <a:rPr lang="en-US" baseline="0" dirty="0"/>
              <a:t> – Routing Table Sources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1.3.1</a:t>
            </a:r>
            <a:r>
              <a:rPr lang="en-US" baseline="0" dirty="0"/>
              <a:t> – Analyze the Routing Table</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1.3.1.3</a:t>
            </a:r>
            <a:r>
              <a:rPr lang="en-US" baseline="0" dirty="0"/>
              <a:t> – Remote Network Routing Entries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1.3.2</a:t>
            </a:r>
            <a:r>
              <a:rPr lang="en-US" baseline="0" dirty="0"/>
              <a:t> – Directly Connected Routes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1.3.2.1</a:t>
            </a:r>
            <a:r>
              <a:rPr lang="en-US" baseline="0" dirty="0"/>
              <a:t> – Directly Connected Interfaces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1.3.2</a:t>
            </a:r>
            <a:r>
              <a:rPr lang="en-US" baseline="0" dirty="0"/>
              <a:t> – Directly Connected Routes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1.3.2.2</a:t>
            </a:r>
            <a:r>
              <a:rPr lang="en-US" baseline="0" dirty="0"/>
              <a:t> – Directly Connected Routing Table Entries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1.3.2</a:t>
            </a:r>
            <a:r>
              <a:rPr lang="en-US" baseline="0" dirty="0"/>
              <a:t> – Directly Connected Routes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1.3.2.3</a:t>
            </a:r>
            <a:r>
              <a:rPr lang="en-US" baseline="0" dirty="0"/>
              <a:t> – Directly Connected Examples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1.3.2</a:t>
            </a:r>
            <a:r>
              <a:rPr lang="en-US" baseline="0" dirty="0"/>
              <a:t> – Directly Connected Routes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1.3.2.4</a:t>
            </a:r>
            <a:r>
              <a:rPr lang="en-US" baseline="0" dirty="0"/>
              <a:t> – Directly Connected IPv6 Example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1.3.2</a:t>
            </a:r>
            <a:r>
              <a:rPr lang="en-US" baseline="0" dirty="0"/>
              <a:t> – Directly Connected Routes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1.3.2.5</a:t>
            </a:r>
            <a:r>
              <a:rPr lang="en-US" baseline="0" dirty="0"/>
              <a:t> – Packet Tracer – Investigating Directly Connected Routes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1.3.3</a:t>
            </a:r>
            <a:r>
              <a:rPr lang="en-US" baseline="0" dirty="0"/>
              <a:t> – Statically Learned Routes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1.3.3.1</a:t>
            </a:r>
            <a:r>
              <a:rPr lang="en-US" baseline="0" dirty="0"/>
              <a:t> – Static Routes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1.3.3</a:t>
            </a:r>
            <a:r>
              <a:rPr lang="en-US" baseline="0" dirty="0"/>
              <a:t> – </a:t>
            </a:r>
            <a:r>
              <a:rPr lang="en-US" baseline="0"/>
              <a:t>Statically Learned Routes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1.3.3.1</a:t>
            </a:r>
            <a:r>
              <a:rPr lang="en-US" baseline="0" dirty="0"/>
              <a:t> – Static Routes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1.3.3</a:t>
            </a:r>
            <a:r>
              <a:rPr lang="en-US" baseline="0" dirty="0"/>
              <a:t> – Statically Learned Routes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1.3.3.2</a:t>
            </a:r>
            <a:r>
              <a:rPr lang="en-US" baseline="0" dirty="0"/>
              <a:t> – Static Route Examples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1.3.3</a:t>
            </a:r>
            <a:r>
              <a:rPr lang="en-US" baseline="0" dirty="0"/>
              <a:t> – Statically Learned Routes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1.3.3.3</a:t>
            </a:r>
            <a:r>
              <a:rPr lang="en-US" baseline="0" dirty="0"/>
              <a:t> – Static IPv6 Route Examples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1.3.4</a:t>
            </a:r>
            <a:r>
              <a:rPr lang="en-US" baseline="0" dirty="0"/>
              <a:t> – Dynamic Routing Protocols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1.3.4.1</a:t>
            </a:r>
            <a:r>
              <a:rPr lang="en-US" baseline="0" dirty="0"/>
              <a:t> – Dynamic Routing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Router Operation</a:t>
            </a:r>
            <a:endParaRPr lang="en-US" dirty="0"/>
          </a:p>
          <a:p>
            <a:r>
              <a:rPr lang="en-US" dirty="0"/>
              <a:t>1.3.4</a:t>
            </a:r>
            <a:r>
              <a:rPr lang="en-US" baseline="0" dirty="0"/>
              <a:t> – Dynamic Routing Protocols</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lang="en-US" dirty="0"/>
              <a:t>1.3.4.2</a:t>
            </a:r>
            <a:r>
              <a:rPr lang="en-US" baseline="0" dirty="0"/>
              <a:t> – IPv4 Routing Protocols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1 – Routing</a:t>
            </a:r>
            <a:r>
              <a:rPr lang="en-US" sz="1200" b="0" baseline="0" dirty="0"/>
              <a:t> Concepts</a:t>
            </a:r>
            <a:endParaRPr lang="en-US" sz="1200" b="0" dirty="0"/>
          </a:p>
          <a:p>
            <a:pPr>
              <a:buFontTx/>
              <a:buNone/>
            </a:pPr>
            <a:r>
              <a:rPr lang="en-US" sz="1200" b="0" dirty="0"/>
              <a:t>1.4 – Summary</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fld>
            <a:endParaRPr lang="en-US" dirty="0">
              <a:solidFill>
                <a:prstClr val="black"/>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605">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defTabSz="903605">
              <a:defRPr sz="2400">
                <a:solidFill>
                  <a:schemeClr val="tx1"/>
                </a:solidFill>
                <a:latin typeface="Arial" panose="020B0604020202020204" pitchFamily="34" charset="0"/>
                <a:ea typeface="MS PGothic" panose="020B0600070205080204" pitchFamily="34" charset="-128"/>
              </a:defRPr>
            </a:lvl2pPr>
            <a:lvl3pPr marL="1143000" indent="-228600" defTabSz="903605">
              <a:defRPr sz="2400">
                <a:solidFill>
                  <a:schemeClr val="tx1"/>
                </a:solidFill>
                <a:latin typeface="Arial" panose="020B0604020202020204" pitchFamily="34" charset="0"/>
                <a:ea typeface="MS PGothic" panose="020B0600070205080204" pitchFamily="34" charset="-128"/>
              </a:defRPr>
            </a:lvl3pPr>
            <a:lvl4pPr marL="1600200" indent="-228600" defTabSz="903605">
              <a:defRPr sz="2400">
                <a:solidFill>
                  <a:schemeClr val="tx1"/>
                </a:solidFill>
                <a:latin typeface="Arial" panose="020B0604020202020204" pitchFamily="34" charset="0"/>
                <a:ea typeface="MS PGothic" panose="020B0600070205080204" pitchFamily="34" charset="-128"/>
              </a:defRPr>
            </a:lvl4pPr>
            <a:lvl5pPr marL="2057400" indent="-228600" defTabSz="903605">
              <a:defRPr sz="2400">
                <a:solidFill>
                  <a:schemeClr val="tx1"/>
                </a:solidFill>
                <a:latin typeface="Arial" panose="020B0604020202020204" pitchFamily="34" charset="0"/>
                <a:ea typeface="MS PGothic" panose="020B0600070205080204" pitchFamily="34" charset="-128"/>
              </a:defRPr>
            </a:lvl5pPr>
            <a:lvl6pPr marL="25146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997A419-355F-A04A-96E0-21643AF8E9FF}" type="slidenum">
              <a:rPr lang="en-US" sz="800"/>
            </a:fld>
            <a:endParaRPr lang="en-US" sz="800" dirty="0"/>
          </a:p>
        </p:txBody>
      </p:sp>
      <p:sp>
        <p:nvSpPr>
          <p:cNvPr id="22530" name="Rectangle 2"/>
          <p:cNvSpPr>
            <a:spLocks noGrp="1" noRot="1" noChangeAspect="1" noChangeArrowheads="1" noTextEdit="1"/>
          </p:cNvSpPr>
          <p:nvPr>
            <p:ph type="sldImg"/>
          </p:nvPr>
        </p:nvSpPr>
        <p:spPr/>
      </p:sp>
      <p:sp>
        <p:nvSpPr>
          <p:cNvPr id="225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2.4 – Summary</a:t>
            </a:r>
            <a:endParaRPr lang="en-US" dirty="0"/>
          </a:p>
          <a:p>
            <a:r>
              <a:rPr lang="en-US" dirty="0"/>
              <a:t>2.4.1 – </a:t>
            </a:r>
            <a:r>
              <a:rPr lang="en-US" sz="1200" b="0" i="0" kern="1200" dirty="0">
                <a:solidFill>
                  <a:schemeClr val="tx1"/>
                </a:solidFill>
                <a:effectLst/>
                <a:latin typeface="+mn-lt"/>
                <a:ea typeface="+mn-ea"/>
                <a:cs typeface="+mn-cs"/>
              </a:rPr>
              <a:t>Conclusion 	</a:t>
            </a:r>
            <a:endParaRPr lang="en-US" dirty="0"/>
          </a:p>
          <a:p>
            <a:pPr>
              <a:lnSpc>
                <a:spcPct val="80000"/>
              </a:lnSpc>
              <a:buFontTx/>
              <a:buNone/>
            </a:pPr>
            <a:r>
              <a:rPr lang="en-US" altLang="en-US" dirty="0"/>
              <a:t>2.4.1.3 – </a:t>
            </a:r>
            <a:r>
              <a:rPr lang="en-US" dirty="0"/>
              <a:t>Chapter 2: Configure a Network Operating System</a:t>
            </a:r>
            <a:endParaRPr lang="en-US"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605">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defTabSz="903605">
              <a:defRPr sz="2400">
                <a:solidFill>
                  <a:schemeClr val="tx1"/>
                </a:solidFill>
                <a:latin typeface="Arial" panose="020B0604020202020204" pitchFamily="34" charset="0"/>
                <a:ea typeface="MS PGothic" panose="020B0600070205080204" pitchFamily="34" charset="-128"/>
              </a:defRPr>
            </a:lvl2pPr>
            <a:lvl3pPr marL="1143000" indent="-228600" defTabSz="903605">
              <a:defRPr sz="2400">
                <a:solidFill>
                  <a:schemeClr val="tx1"/>
                </a:solidFill>
                <a:latin typeface="Arial" panose="020B0604020202020204" pitchFamily="34" charset="0"/>
                <a:ea typeface="MS PGothic" panose="020B0600070205080204" pitchFamily="34" charset="-128"/>
              </a:defRPr>
            </a:lvl3pPr>
            <a:lvl4pPr marL="1600200" indent="-228600" defTabSz="903605">
              <a:defRPr sz="2400">
                <a:solidFill>
                  <a:schemeClr val="tx1"/>
                </a:solidFill>
                <a:latin typeface="Arial" panose="020B0604020202020204" pitchFamily="34" charset="0"/>
                <a:ea typeface="MS PGothic" panose="020B0600070205080204" pitchFamily="34" charset="-128"/>
              </a:defRPr>
            </a:lvl4pPr>
            <a:lvl5pPr marL="2057400" indent="-228600" defTabSz="903605">
              <a:defRPr sz="2400">
                <a:solidFill>
                  <a:schemeClr val="tx1"/>
                </a:solidFill>
                <a:latin typeface="Arial" panose="020B0604020202020204" pitchFamily="34" charset="0"/>
                <a:ea typeface="MS PGothic" panose="020B0600070205080204" pitchFamily="34" charset="-128"/>
              </a:defRPr>
            </a:lvl5pPr>
            <a:lvl6pPr marL="25146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C92755B-29FD-8743-9094-C0E3A734D22E}" type="slidenum">
              <a:rPr lang="en-US" sz="800"/>
            </a:fld>
            <a:endParaRPr lang="en-US" sz="800" dirty="0"/>
          </a:p>
        </p:txBody>
      </p:sp>
      <p:sp>
        <p:nvSpPr>
          <p:cNvPr id="57346" name="Rectangle 2"/>
          <p:cNvSpPr>
            <a:spLocks noGrp="1" noRot="1" noChangeAspect="1" noChangeArrowheads="1" noTextEdit="1"/>
          </p:cNvSpPr>
          <p:nvPr>
            <p:ph type="sldImg"/>
          </p:nvPr>
        </p:nvSpPr>
        <p:spPr/>
      </p:sp>
      <p:sp>
        <p:nvSpPr>
          <p:cNvPr id="573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dirty="0">
                <a:latin typeface="Arial" panose="020B0604020202020204" pitchFamily="34" charset="0"/>
              </a:rPr>
              <a:t>New Terms and Commands</a:t>
            </a:r>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605">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defTabSz="903605">
              <a:defRPr sz="2400">
                <a:solidFill>
                  <a:schemeClr val="tx1"/>
                </a:solidFill>
                <a:latin typeface="Arial" panose="020B0604020202020204" pitchFamily="34" charset="0"/>
                <a:ea typeface="MS PGothic" panose="020B0600070205080204" pitchFamily="34" charset="-128"/>
              </a:defRPr>
            </a:lvl2pPr>
            <a:lvl3pPr marL="1143000" indent="-228600" defTabSz="903605">
              <a:defRPr sz="2400">
                <a:solidFill>
                  <a:schemeClr val="tx1"/>
                </a:solidFill>
                <a:latin typeface="Arial" panose="020B0604020202020204" pitchFamily="34" charset="0"/>
                <a:ea typeface="MS PGothic" panose="020B0600070205080204" pitchFamily="34" charset="-128"/>
              </a:defRPr>
            </a:lvl3pPr>
            <a:lvl4pPr marL="1600200" indent="-228600" defTabSz="903605">
              <a:defRPr sz="2400">
                <a:solidFill>
                  <a:schemeClr val="tx1"/>
                </a:solidFill>
                <a:latin typeface="Arial" panose="020B0604020202020204" pitchFamily="34" charset="0"/>
                <a:ea typeface="MS PGothic" panose="020B0600070205080204" pitchFamily="34" charset="-128"/>
              </a:defRPr>
            </a:lvl4pPr>
            <a:lvl5pPr marL="2057400" indent="-228600" defTabSz="903605">
              <a:defRPr sz="2400">
                <a:solidFill>
                  <a:schemeClr val="tx1"/>
                </a:solidFill>
                <a:latin typeface="Arial" panose="020B0604020202020204" pitchFamily="34" charset="0"/>
                <a:ea typeface="MS PGothic" panose="020B0600070205080204" pitchFamily="34" charset="-128"/>
              </a:defRPr>
            </a:lvl5pPr>
            <a:lvl6pPr marL="25146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C92755B-29FD-8743-9094-C0E3A734D22E}" type="slidenum">
              <a:rPr lang="en-US" sz="800">
                <a:solidFill>
                  <a:prstClr val="black"/>
                </a:solidFill>
              </a:rPr>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p:sp>
      <p:sp>
        <p:nvSpPr>
          <p:cNvPr id="573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dirty="0">
                <a:latin typeface="Arial" panose="020B0604020202020204" pitchFamily="34" charset="0"/>
              </a:rPr>
              <a:t>New Terms and Commands</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2565" indent="0" algn="ctr">
              <a:buNone/>
              <a:defRPr>
                <a:solidFill>
                  <a:schemeClr val="tx1">
                    <a:tint val="75000"/>
                  </a:schemeClr>
                </a:solidFill>
              </a:defRPr>
            </a:lvl9pPr>
          </a:lstStyle>
          <a:p>
            <a:r>
              <a:rPr lang="en-US" dirty="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800" indent="0">
              <a:buNone/>
              <a:defRPr/>
            </a:lvl2pPr>
            <a:lvl3pPr marL="427355" indent="0">
              <a:buNone/>
              <a:defRPr/>
            </a:lvl3pPr>
            <a:lvl4pPr marL="516890" indent="0">
              <a:buNone/>
              <a:defRPr/>
            </a:lvl4pPr>
            <a:lvl5pPr marL="601345" indent="0">
              <a:buNone/>
              <a:defRPr/>
            </a:lvl5pPr>
          </a:lstStyle>
          <a:p>
            <a:pPr lvl="0"/>
            <a:r>
              <a:rPr lang="en-US" dirty="0"/>
              <a:t>Click to edit Master text styles</a:t>
            </a:r>
            <a:endParaRPr lang="en-US" dirty="0"/>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0"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2565" indent="0" algn="ctr">
              <a:buNone/>
              <a:defRPr>
                <a:solidFill>
                  <a:schemeClr val="tx1">
                    <a:tint val="75000"/>
                  </a:schemeClr>
                </a:solidFill>
              </a:defRPr>
            </a:lvl9pPr>
          </a:lstStyle>
          <a:p>
            <a:r>
              <a:rPr lang="en-US" dirty="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0"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800" indent="0">
              <a:buNone/>
              <a:defRPr/>
            </a:lvl2pPr>
            <a:lvl3pPr marL="427355" indent="0">
              <a:buNone/>
              <a:defRPr/>
            </a:lvl3pPr>
            <a:lvl4pPr marL="516890" indent="0">
              <a:buNone/>
              <a:defRPr/>
            </a:lvl4pPr>
            <a:lvl5pPr marL="601345" indent="0">
              <a:buNone/>
              <a:defRPr/>
            </a:lvl5pPr>
          </a:lstStyle>
          <a:p>
            <a:pPr lvl="0"/>
            <a:r>
              <a:rPr lang="en-US" dirty="0"/>
              <a:t>Click to edit Master text styles</a:t>
            </a:r>
            <a:endParaRPr lang="en-US" dirty="0"/>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endParaRPr lang="en-US" dirty="0"/>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2565" indent="0" algn="ctr">
              <a:buNone/>
              <a:defRPr>
                <a:solidFill>
                  <a:schemeClr val="tx1">
                    <a:tint val="75000"/>
                  </a:schemeClr>
                </a:solidFill>
              </a:defRPr>
            </a:lvl9pPr>
          </a:lstStyle>
          <a:p>
            <a:r>
              <a:rPr lang="en-US" dirty="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0"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800" indent="0">
              <a:buNone/>
              <a:defRPr/>
            </a:lvl2pPr>
            <a:lvl3pPr marL="427355" indent="0">
              <a:buNone/>
              <a:defRPr/>
            </a:lvl3pPr>
            <a:lvl4pPr marL="516890" indent="0">
              <a:buNone/>
              <a:defRPr/>
            </a:lvl4pPr>
            <a:lvl5pPr marL="601345" indent="0">
              <a:buNone/>
              <a:defRPr/>
            </a:lvl5pPr>
          </a:lstStyle>
          <a:p>
            <a:pPr lvl="0"/>
            <a:r>
              <a:rPr lang="en-US" dirty="0"/>
              <a:t>Click to edit Master text styles</a:t>
            </a:r>
            <a:endParaRPr lang="en-US" dirty="0"/>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endParaRPr lang="en-US" dirty="0"/>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ln>
          <a:effectLst/>
        </p:spPr>
        <p:txBody>
          <a:bodyPr wrap="none" lIns="61586" tIns="30792" rIns="61586" bIns="30792" anchor="b">
            <a:spAutoFit/>
          </a:bodyPr>
          <a:lstStyle/>
          <a:p>
            <a:pPr algn="r" defTabSz="610870"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ln>
          <a:effectLst/>
        </p:spPr>
        <p:txBody>
          <a:bodyPr lIns="61586" tIns="30792" rIns="61586" bIns="30792" anchor="b">
            <a:spAutoFit/>
          </a:bodyPr>
          <a:lstStyle/>
          <a:p>
            <a:pPr defTabSz="610870"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endParaRPr lang="en-US" sz="600" dirty="0">
              <a:solidFill>
                <a:schemeClr val="accent5">
                  <a:lumMod val="50000"/>
                </a:schemeClr>
              </a:solidFill>
              <a:latin typeface="+mn-lt"/>
              <a:ea typeface="+mn-ea"/>
              <a:cs typeface="CiscoSans Thin"/>
            </a:endParaRP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3"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9"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0"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750" marR="0" indent="-285750" algn="ctr" defTabSz="457200" rtl="0" eaLnBrk="1" fontAlgn="auto" latinLnBrk="0" hangingPunct="1">
              <a:lnSpc>
                <a:spcPct val="100000"/>
              </a:lnSpc>
              <a:spcBef>
                <a:spcPct val="20000"/>
              </a:spcBef>
              <a:spcAft>
                <a:spcPts val="0"/>
              </a:spcAft>
              <a:buClrTx/>
              <a:buSzTx/>
              <a:buFont typeface="Arial" panose="020B0604020202020204"/>
              <a:buNone/>
              <a:defRPr sz="2000" b="0" i="0" baseline="0">
                <a:solidFill>
                  <a:schemeClr val="bg1"/>
                </a:solidFill>
                <a:latin typeface="+mn-lt"/>
                <a:cs typeface="CiscoSans ExtraLight"/>
              </a:defRPr>
            </a:lvl1pPr>
          </a:lstStyle>
          <a:p>
            <a:pPr lvl="0"/>
            <a:r>
              <a:rPr lang="en-US"/>
              <a:t>Click to edit Master text styles</a:t>
            </a:r>
            <a:endParaRPr lang="en-US"/>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panose="020B0604020202020204"/>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panose="020B0604020202020204"/>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panose="020B0604020202020204"/>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endParaRPr lang="en-US" dirty="0"/>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endParaRPr lang="en-US" dirty="0"/>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endParaRPr lang="en-US" dirty="0"/>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endParaRPr lang="en-US" dirty="0"/>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endParaRPr lang="en-US" dirty="0"/>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endParaRPr lang="en-US" dirty="0"/>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endParaRPr lang="en-US" dirty="0"/>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endParaRPr lang="en-US" dirty="0"/>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endParaRPr lang="en-US" dirty="0"/>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endParaRPr lang="en-US" dirty="0"/>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panose="020B0604020202020204"/>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endParaRPr lang="en-US" dirty="0"/>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endParaRPr lang="en-US" dirty="0"/>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endParaRPr lang="en-US" dirty="0"/>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endParaRPr lang="en-US" dirty="0"/>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endParaRPr lang="en-US" dirty="0"/>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endParaRPr lang="en-US" dirty="0"/>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endParaRPr lang="en-US" dirty="0"/>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endParaRPr lang="en-US" dirty="0"/>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endParaRPr lang="en-US" dirty="0"/>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endParaRPr lang="en-US" dirty="0"/>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endParaRPr lang="en-US" dirty="0"/>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6"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7"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6"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7"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6"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7"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6080">
              <a:defRPr/>
            </a:pPr>
            <a:fld id="{2F5CCB13-0A32-4557-88E9-079F0C330695}" type="slidenum">
              <a:rPr lang="en-US" kern="0" smtClean="0">
                <a:solidFill>
                  <a:srgbClr val="595959"/>
                </a:solidFill>
              </a:rPr>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lstStyle>
            <a:lvl1pPr marL="170180" indent="-170180">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anose="020B0604020202020204" pitchFamily="34" charset="0"/>
              </a:rPr>
              <a:t>Click to edit Master text styles</a:t>
            </a:r>
            <a:endParaRPr lang="en-US" dirty="0">
              <a:sym typeface="Arial" panose="020B0604020202020204" pitchFamily="34" charset="0"/>
            </a:endParaRPr>
          </a:p>
          <a:p>
            <a:pPr lvl="1"/>
            <a:r>
              <a:rPr lang="en-US" dirty="0">
                <a:sym typeface="Arial" panose="020B0604020202020204" pitchFamily="34" charset="0"/>
              </a:rPr>
              <a:t>Second level</a:t>
            </a:r>
            <a:endParaRPr lang="en-US" dirty="0">
              <a:sym typeface="Arial" panose="020B0604020202020204" pitchFamily="34" charset="0"/>
            </a:endParaRPr>
          </a:p>
          <a:p>
            <a:pPr lvl="2"/>
            <a:r>
              <a:rPr lang="en-US" dirty="0">
                <a:sym typeface="Arial" panose="020B0604020202020204" pitchFamily="34" charset="0"/>
              </a:rPr>
              <a:t>Third level</a:t>
            </a:r>
            <a:endParaRPr lang="en-US" dirty="0">
              <a:sym typeface="Arial" panose="020B0604020202020204" pitchFamily="34" charset="0"/>
            </a:endParaRPr>
          </a:p>
          <a:p>
            <a:pPr lvl="3"/>
            <a:r>
              <a:rPr lang="en-US" dirty="0">
                <a:sym typeface="Arial" panose="020B0604020202020204" pitchFamily="34" charset="0"/>
              </a:rPr>
              <a:t>Fourth level</a:t>
            </a:r>
            <a:endParaRPr lang="en-US" dirty="0">
              <a:sym typeface="Arial" panose="020B0604020202020204" pitchFamily="34" charset="0"/>
            </a:endParaRP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lvl1pPr>
              <a:lnSpc>
                <a:spcPct val="100000"/>
              </a:lnSpc>
              <a:defRPr sz="2400"/>
            </a:lvl1pPr>
          </a:lstStyle>
          <a:p>
            <a:pPr lvl="0"/>
            <a:r>
              <a:rPr lang="en-US" dirty="0">
                <a:sym typeface="Arial" panose="020B0604020202020204" pitchFamily="34" charset="0"/>
              </a:rPr>
              <a:t>Click to edit Master title style</a:t>
            </a:r>
            <a:endParaRPr lang="en-US" dirty="0">
              <a:sym typeface="Arial" panose="020B0604020202020204" pitchFamily="34" charset="0"/>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lstStyle/>
          <a:p>
            <a:pPr lvl="0"/>
            <a:r>
              <a:rPr lang="en-GB" altLang="en-US" dirty="0"/>
              <a:t>Title Goes Here</a:t>
            </a:r>
            <a:endParaRPr lang="en-GB" altLang="en-US" dirty="0"/>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ln>
          <a:effectLst/>
        </p:spPr>
        <p:txBody>
          <a:bodyPr wrap="none" lIns="61586" tIns="30792" rIns="61586" bIns="30792" anchor="b">
            <a:spAutoFit/>
          </a:bodyPr>
          <a:lstStyle/>
          <a:p>
            <a:pPr algn="r" defTabSz="610870"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ln>
          <a:effectLst/>
        </p:spPr>
        <p:txBody>
          <a:bodyPr lIns="61586" tIns="30792" rIns="61586" bIns="30792" anchor="b">
            <a:spAutoFit/>
          </a:bodyPr>
          <a:lstStyle/>
          <a:p>
            <a:pPr defTabSz="610870"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endParaRPr lang="en-US" sz="600" dirty="0">
              <a:solidFill>
                <a:schemeClr val="accent3">
                  <a:lumMod val="85000"/>
                </a:schemeClr>
              </a:solidFill>
              <a:latin typeface="+mn-lt"/>
              <a:ea typeface="+mn-ea"/>
              <a:cs typeface="CiscoSans Thin"/>
            </a:endParaRP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8"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9"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0"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p:transition>
  <p:txStyles>
    <p:titleStyle>
      <a:lvl1pPr algn="l" defTabSz="684530" rtl="0" eaLnBrk="1" fontAlgn="base" hangingPunct="1">
        <a:lnSpc>
          <a:spcPct val="80000"/>
        </a:lnSpc>
        <a:spcBef>
          <a:spcPct val="0"/>
        </a:spcBef>
        <a:spcAft>
          <a:spcPct val="0"/>
        </a:spcAft>
        <a:defRPr lang="en-US" sz="3200" kern="1200" dirty="0">
          <a:solidFill>
            <a:schemeClr val="accent4"/>
          </a:solidFill>
          <a:latin typeface="+mj-lt"/>
          <a:ea typeface="MS PGothic" panose="020B0600070205080204" pitchFamily="34" charset="-128"/>
          <a:cs typeface="CiscoSans"/>
        </a:defRPr>
      </a:lvl1pPr>
      <a:lvl2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panose="020B0600070205080204" pitchFamily="34" charset="-128"/>
          <a:cs typeface="CiscoSans" pitchFamily="34" charset="0"/>
        </a:defRPr>
      </a:lvl2pPr>
      <a:lvl3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panose="020B0600070205080204" pitchFamily="34" charset="-128"/>
          <a:cs typeface="CiscoSans" pitchFamily="34" charset="0"/>
        </a:defRPr>
      </a:lvl3pPr>
      <a:lvl4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panose="020B0600070205080204" pitchFamily="34" charset="-128"/>
          <a:cs typeface="CiscoSans" pitchFamily="34" charset="0"/>
        </a:defRPr>
      </a:lvl4pPr>
      <a:lvl5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panose="020B0600070205080204" pitchFamily="34" charset="-128"/>
          <a:cs typeface="CiscoSans" pitchFamily="34" charset="0"/>
        </a:defRPr>
      </a:lvl5pPr>
      <a:lvl6pPr marL="4572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panose="020B0600070205080204" pitchFamily="34" charset="-128"/>
        </a:defRPr>
      </a:lvl6pPr>
      <a:lvl7pPr marL="9144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panose="020B0600070205080204" pitchFamily="34" charset="-128"/>
        </a:defRPr>
      </a:lvl7pPr>
      <a:lvl8pPr marL="13716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panose="020B0600070205080204" pitchFamily="34" charset="-128"/>
        </a:defRPr>
      </a:lvl8pPr>
      <a:lvl9pPr marL="18288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panose="020B0600070205080204" pitchFamily="34" charset="-128"/>
        </a:defRPr>
      </a:lvl9pPr>
    </p:titleStyle>
    <p:bodyStyle>
      <a:lvl1pPr marL="170180" indent="-170180" algn="l" defTabSz="684530" rtl="0" eaLnBrk="1" fontAlgn="base" hangingPunct="1">
        <a:lnSpc>
          <a:spcPct val="95000"/>
        </a:lnSpc>
        <a:spcBef>
          <a:spcPts val="1075"/>
        </a:spcBef>
        <a:spcAft>
          <a:spcPct val="0"/>
        </a:spcAft>
        <a:buClr>
          <a:schemeClr val="tx2"/>
        </a:buClr>
        <a:buSzPct val="90000"/>
        <a:buFont typeface="Arial" panose="020B0604020202020204" pitchFamily="34" charset="0"/>
        <a:buChar char="•"/>
        <a:defRPr lang="en-US" sz="1500" kern="1200" dirty="0">
          <a:solidFill>
            <a:schemeClr val="tx1"/>
          </a:solidFill>
          <a:latin typeface="+mn-lt"/>
          <a:ea typeface="MS PGothic" panose="020B0600070205080204" pitchFamily="34" charset="-128"/>
          <a:cs typeface="CiscoSans"/>
        </a:defRPr>
      </a:lvl1pPr>
      <a:lvl2pPr marL="358775" indent="-215900" algn="l" defTabSz="684530" rtl="0" eaLnBrk="1" fontAlgn="base" hangingPunct="1">
        <a:lnSpc>
          <a:spcPct val="95000"/>
        </a:lnSpc>
        <a:spcBef>
          <a:spcPts val="600"/>
        </a:spcBef>
        <a:spcAft>
          <a:spcPct val="0"/>
        </a:spcAft>
        <a:buClr>
          <a:schemeClr val="tx2"/>
        </a:buClr>
        <a:buFont typeface="Arial" panose="020B0604020202020204" pitchFamily="34" charset="0"/>
        <a:buChar char="•"/>
        <a:defRPr lang="en-US" sz="1400" kern="1200" dirty="0">
          <a:solidFill>
            <a:schemeClr val="tx1"/>
          </a:solidFill>
          <a:latin typeface="+mn-lt"/>
          <a:ea typeface="MS PGothic" panose="020B0600070205080204" pitchFamily="34" charset="-128"/>
          <a:cs typeface="CiscoSans"/>
        </a:defRPr>
      </a:lvl2pPr>
      <a:lvl3pPr marL="431800" indent="-170180" algn="l" defTabSz="684530" rtl="0" eaLnBrk="1" fontAlgn="base" hangingPunct="1">
        <a:lnSpc>
          <a:spcPct val="95000"/>
        </a:lnSpc>
        <a:spcBef>
          <a:spcPts val="625"/>
        </a:spcBef>
        <a:spcAft>
          <a:spcPct val="0"/>
        </a:spcAft>
        <a:buFont typeface="Arial" panose="020B0604020202020204" pitchFamily="34" charset="0"/>
        <a:buChar char="•"/>
        <a:defRPr lang="en-US" sz="1200" kern="1200" dirty="0">
          <a:solidFill>
            <a:schemeClr val="tx1"/>
          </a:solidFill>
          <a:latin typeface="+mn-lt"/>
          <a:ea typeface="MS PGothic" panose="020B0600070205080204" pitchFamily="34" charset="-128"/>
          <a:cs typeface="CiscoSans"/>
        </a:defRPr>
      </a:lvl3pPr>
      <a:lvl4pPr marL="50355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panose="020B0600070205080204" pitchFamily="34" charset="-128"/>
          <a:cs typeface="CiscoSans"/>
        </a:defRPr>
      </a:lvl4pPr>
      <a:lvl5pPr marL="57467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panose="020B0600070205080204" pitchFamily="34" charset="-128"/>
          <a:cs typeface="CiscoSans"/>
        </a:defRPr>
      </a:lvl5pPr>
      <a:lvl6pPr marL="863600" indent="-171450" algn="l" defTabSz="685800" rtl="0" eaLnBrk="1" latinLnBrk="0" hangingPunct="1">
        <a:spcBef>
          <a:spcPts val="600"/>
        </a:spcBef>
        <a:buFont typeface="Arial" panose="020B0604020202020204" pitchFamily="34" charset="0"/>
        <a:buChar char="•"/>
        <a:defRPr sz="900" kern="1200" baseline="0">
          <a:solidFill>
            <a:schemeClr val="tx1"/>
          </a:solidFill>
          <a:latin typeface="+mn-lt"/>
          <a:ea typeface="+mn-ea"/>
          <a:cs typeface="+mn-cs"/>
        </a:defRPr>
      </a:lvl6pPr>
      <a:lvl7pPr marL="935990" indent="-171450" algn="l" defTabSz="685800" rtl="0" eaLnBrk="1" latinLnBrk="0" hangingPunct="1">
        <a:spcBef>
          <a:spcPts val="600"/>
        </a:spcBef>
        <a:buFont typeface="Arial" panose="020B0604020202020204" pitchFamily="34" charset="0"/>
        <a:buChar char="•"/>
        <a:defRPr sz="800" kern="1200" baseline="0">
          <a:solidFill>
            <a:schemeClr val="tx1"/>
          </a:solidFill>
          <a:latin typeface="+mn-lt"/>
          <a:ea typeface="+mn-ea"/>
          <a:cs typeface="+mn-cs"/>
        </a:defRPr>
      </a:lvl7pPr>
      <a:lvl8pPr marL="2400300" indent="0" algn="l" defTabSz="685800" rtl="0" eaLnBrk="1" latinLnBrk="0" hangingPunct="1">
        <a:spcBef>
          <a:spcPct val="20000"/>
        </a:spcBef>
        <a:buFont typeface="Arial" panose="020B0604020202020204" pitchFamily="34" charset="0"/>
        <a:buNone/>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3.xml"/><Relationship Id="rId2" Type="http://schemas.openxmlformats.org/officeDocument/2006/relationships/image" Target="../media/image7.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image" Target="../media/image30.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image" Target="../media/image3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image" Target="../media/image3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image" Target="../media/image35.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image" Target="../media/image35.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image" Target="../media/image36.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image" Target="../media/image36.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image" Target="../media/image37.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image" Target="../media/image38.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image" Target="../media/image39.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image" Target="../media/image40.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image" Target="../media/image4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image" Target="../media/image42.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image" Target="../media/image43.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image" Target="../media/image44.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image" Target="../media/image45.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image" Target="../media/image46.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image" Target="../media/image47.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image" Target="../media/image48.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3.xml"/><Relationship Id="rId1" Type="http://schemas.openxmlformats.org/officeDocument/2006/relationships/image" Target="../media/image49.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3.xml"/><Relationship Id="rId1" Type="http://schemas.openxmlformats.org/officeDocument/2006/relationships/image" Target="../media/image50.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3.xml"/><Relationship Id="rId1" Type="http://schemas.openxmlformats.org/officeDocument/2006/relationships/image" Target="../media/image50.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3.xml"/><Relationship Id="rId1" Type="http://schemas.openxmlformats.org/officeDocument/2006/relationships/image" Target="../media/image51.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3.xml"/><Relationship Id="rId1" Type="http://schemas.openxmlformats.org/officeDocument/2006/relationships/image" Target="../media/image52.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3.xml"/><Relationship Id="rId1" Type="http://schemas.openxmlformats.org/officeDocument/2006/relationships/image" Target="../media/image53.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3.xml"/><Relationship Id="rId1" Type="http://schemas.openxmlformats.org/officeDocument/2006/relationships/image" Target="../media/image54.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dirty="0"/>
              <a:t>Instructor Materials</a:t>
            </a:r>
            <a:endParaRPr lang="en-US" dirty="0"/>
          </a:p>
        </p:txBody>
      </p:sp>
      <p:sp>
        <p:nvSpPr>
          <p:cNvPr id="6" name="Title 5"/>
          <p:cNvSpPr>
            <a:spLocks noGrp="1"/>
          </p:cNvSpPr>
          <p:nvPr>
            <p:ph type="ctrTitle"/>
          </p:nvPr>
        </p:nvSpPr>
        <p:spPr>
          <a:xfrm>
            <a:off x="425765" y="2300750"/>
            <a:ext cx="6377707" cy="644730"/>
          </a:xfrm>
        </p:spPr>
        <p:txBody>
          <a:bodyPr/>
          <a:lstStyle/>
          <a:p>
            <a:r>
              <a:rPr lang="en-US" dirty="0"/>
              <a:t>Chapter 1: Routing Concepts</a:t>
            </a:r>
            <a:endParaRPr lang="en-US" dirty="0"/>
          </a:p>
        </p:txBody>
      </p:sp>
      <p:sp>
        <p:nvSpPr>
          <p:cNvPr id="7" name="Subtitle 6"/>
          <p:cNvSpPr>
            <a:spLocks noGrp="1"/>
          </p:cNvSpPr>
          <p:nvPr>
            <p:ph type="subTitle" idx="1"/>
          </p:nvPr>
        </p:nvSpPr>
        <p:spPr>
          <a:xfrm>
            <a:off x="469496" y="3809526"/>
            <a:ext cx="3573997" cy="902174"/>
          </a:xfrm>
        </p:spPr>
        <p:txBody>
          <a:bodyPr/>
          <a:lstStyle/>
          <a:p>
            <a:r>
              <a:rPr lang="en-US" dirty="0"/>
              <a:t>CCNA Routing and Switching</a:t>
            </a:r>
            <a:endParaRPr lang="en-US" dirty="0"/>
          </a:p>
          <a:p>
            <a:r>
              <a:rPr lang="en-US" dirty="0"/>
              <a:t>Routing and Switching Essentials v6.0</a:t>
            </a:r>
            <a:endParaRPr lang="en-US" dirty="0"/>
          </a:p>
          <a:p>
            <a:endParaRPr lang="en-US" dirty="0"/>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p:txBody>
          <a:bodyPr/>
          <a:lstStyle/>
          <a:p>
            <a:pPr eaLnBrk="1" hangingPunct="1">
              <a:lnSpc>
                <a:spcPct val="85000"/>
              </a:lnSpc>
              <a:spcBef>
                <a:spcPct val="30000"/>
              </a:spcBef>
            </a:pPr>
            <a:r>
              <a:rPr lang="en-US" dirty="0"/>
              <a:t>The objectives of this chapter are:</a:t>
            </a:r>
            <a:endParaRPr lang="en-US" dirty="0"/>
          </a:p>
          <a:p>
            <a:pPr marL="557530" lvl="1" indent="-214630">
              <a:buFont typeface="Arial" panose="020B0604020202020204" pitchFamily="34" charset="0"/>
              <a:buChar char="•"/>
            </a:pPr>
            <a:r>
              <a:rPr lang="en-US" sz="1200" dirty="0"/>
              <a:t>Describe the primary functions and features of a router.</a:t>
            </a:r>
            <a:endParaRPr lang="en-US" sz="1200" dirty="0"/>
          </a:p>
          <a:p>
            <a:pPr marL="557530" lvl="1" indent="-214630">
              <a:buFont typeface="Arial" panose="020B0604020202020204" pitchFamily="34" charset="0"/>
              <a:buChar char="•"/>
            </a:pPr>
            <a:r>
              <a:rPr lang="en-US" sz="1200" dirty="0"/>
              <a:t>Connect devices for a small, routed network.</a:t>
            </a:r>
            <a:endParaRPr lang="en-US" sz="1200" dirty="0"/>
          </a:p>
          <a:p>
            <a:pPr marL="557530" lvl="1" indent="-214630">
              <a:buFont typeface="Arial" panose="020B0604020202020204" pitchFamily="34" charset="0"/>
              <a:buChar char="•"/>
            </a:pPr>
            <a:r>
              <a:rPr lang="en-US" sz="1200" dirty="0"/>
              <a:t>Configure basic settings on a router to route between two directly-connected networks, using CLI.</a:t>
            </a:r>
            <a:endParaRPr lang="en-US" sz="1200" dirty="0"/>
          </a:p>
          <a:p>
            <a:pPr marL="557530" lvl="1" indent="-214630">
              <a:buFont typeface="Arial" panose="020B0604020202020204" pitchFamily="34" charset="0"/>
              <a:buChar char="•"/>
            </a:pPr>
            <a:r>
              <a:rPr lang="en-US" sz="1200" dirty="0"/>
              <a:t>Verify connectivity between two networks that are directly connected to a router.</a:t>
            </a:r>
            <a:endParaRPr lang="en-US" sz="1200" dirty="0"/>
          </a:p>
          <a:p>
            <a:pPr marL="557530" lvl="1" indent="-214630">
              <a:buFont typeface="Arial" panose="020B0604020202020204" pitchFamily="34" charset="0"/>
              <a:buChar char="•"/>
            </a:pPr>
            <a:r>
              <a:rPr lang="en-US" sz="1200" dirty="0"/>
              <a:t>Explain the encapsulation and de-encapsulation process used by routers when switching packets between interfaces.</a:t>
            </a:r>
            <a:endParaRPr lang="en-US" sz="1200" dirty="0"/>
          </a:p>
          <a:p>
            <a:pPr marL="557530" lvl="1" indent="-214630">
              <a:buFont typeface="Arial" panose="020B0604020202020204" pitchFamily="34" charset="0"/>
              <a:buChar char="•"/>
            </a:pPr>
            <a:r>
              <a:rPr lang="en-US" sz="1200" dirty="0"/>
              <a:t>Explain the path determination function of a router.</a:t>
            </a:r>
            <a:endParaRPr lang="en-US" sz="1200" dirty="0"/>
          </a:p>
          <a:p>
            <a:pPr marL="557530" lvl="1" indent="-214630">
              <a:buFont typeface="Arial" panose="020B0604020202020204" pitchFamily="34" charset="0"/>
              <a:buChar char="•"/>
            </a:pPr>
            <a:r>
              <a:rPr lang="en-US" sz="1200" dirty="0"/>
              <a:t>Explain routing table entries for directly connected networks.</a:t>
            </a:r>
            <a:endParaRPr lang="en-US" sz="1200" dirty="0"/>
          </a:p>
          <a:p>
            <a:pPr marL="557530" lvl="1" indent="-214630">
              <a:buFont typeface="Arial" panose="020B0604020202020204" pitchFamily="34" charset="0"/>
              <a:buChar char="•"/>
            </a:pPr>
            <a:r>
              <a:rPr lang="en-US" sz="1200" dirty="0"/>
              <a:t>Explain how a router builds a routing table of directly connected networks.</a:t>
            </a:r>
            <a:endParaRPr lang="en-US" sz="1200" dirty="0"/>
          </a:p>
          <a:p>
            <a:pPr marL="557530" lvl="1" indent="-214630">
              <a:buFont typeface="Arial" panose="020B0604020202020204" pitchFamily="34" charset="0"/>
              <a:buChar char="•"/>
            </a:pPr>
            <a:r>
              <a:rPr lang="en-US" sz="1200" dirty="0"/>
              <a:t>Explain how a router builds a routing table using static routes.</a:t>
            </a:r>
            <a:endParaRPr lang="en-US" sz="1200" dirty="0"/>
          </a:p>
          <a:p>
            <a:pPr marL="557530" lvl="1" indent="-214630">
              <a:buFont typeface="Arial" panose="020B0604020202020204" pitchFamily="34" charset="0"/>
              <a:buChar char="•"/>
            </a:pPr>
            <a:r>
              <a:rPr lang="en-US" sz="1200" dirty="0"/>
              <a:t>Explain how a router builds a routing table using a dynamic routing protocol.</a:t>
            </a:r>
            <a:endParaRPr lang="en-US" sz="1200" dirty="0"/>
          </a:p>
          <a:p>
            <a:pPr marL="557530" lvl="1" indent="-214630">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
        <p:nvSpPr>
          <p:cNvPr id="2" name="Title 1"/>
          <p:cNvSpPr>
            <a:spLocks noGrp="1"/>
          </p:cNvSpPr>
          <p:nvPr>
            <p:ph type="title"/>
          </p:nvPr>
        </p:nvSpPr>
        <p:spPr/>
        <p:txBody>
          <a:bodyPr/>
          <a:lstStyle/>
          <a:p>
            <a:r>
              <a:rPr lang="en-US" dirty="0"/>
              <a:t>Chapter 1: Best Practices</a:t>
            </a:r>
            <a:endParaRPr lang="en-US" dirty="0"/>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p:txBody>
          <a:bodyPr/>
          <a:lstStyle/>
          <a:p>
            <a:r>
              <a:rPr lang="en-CA" sz="1600" dirty="0"/>
              <a:t>1.1.2.7</a:t>
            </a:r>
            <a:endParaRPr lang="en-CA" sz="1600" dirty="0"/>
          </a:p>
          <a:p>
            <a:pPr marL="469265" lvl="1" indent="-214630">
              <a:buFont typeface="Arial" panose="020B0604020202020204" pitchFamily="34" charset="0"/>
              <a:buChar char="•"/>
            </a:pPr>
            <a:r>
              <a:rPr lang="en-US" sz="1600" dirty="0"/>
              <a:t>Explain that the default-gateway command on the switch is used for management purposes such as remote connectivity.</a:t>
            </a:r>
            <a:endParaRPr lang="en-US" dirty="0"/>
          </a:p>
          <a:p>
            <a:r>
              <a:rPr lang="en-US" dirty="0"/>
              <a:t>1.1.3.2 </a:t>
            </a:r>
            <a:endParaRPr lang="en-US" dirty="0"/>
          </a:p>
          <a:p>
            <a:pPr lvl="1"/>
            <a:r>
              <a:rPr lang="en-US" dirty="0"/>
              <a:t>Emphasize to students that the </a:t>
            </a:r>
            <a:r>
              <a:rPr lang="en-US" b="1" dirty="0"/>
              <a:t>clock rate </a:t>
            </a:r>
            <a:r>
              <a:rPr lang="en-US" dirty="0"/>
              <a:t>command is for lab purposes only.  You would not enter this command on a production device.</a:t>
            </a:r>
            <a:endParaRPr lang="en-US" dirty="0"/>
          </a:p>
          <a:p>
            <a:pPr lvl="1"/>
            <a:r>
              <a:rPr lang="en-US" dirty="0"/>
              <a:t>Students should enter this command on the interface with the cable connected labeled DCE.</a:t>
            </a:r>
            <a:endParaRPr lang="en-US" dirty="0"/>
          </a:p>
          <a:p>
            <a:r>
              <a:rPr lang="en-US" dirty="0"/>
              <a:t>1.2.1.2</a:t>
            </a:r>
            <a:endParaRPr lang="en-US" dirty="0"/>
          </a:p>
          <a:p>
            <a:pPr lvl="1"/>
            <a:r>
              <a:rPr lang="en-US" dirty="0"/>
              <a:t>Review the steps of performing the logical AND operation between an IPv4 address and subnet mask to produce the network address.  </a:t>
            </a:r>
            <a:endParaRPr lang="en-US" dirty="0"/>
          </a:p>
          <a:p>
            <a:endParaRPr lang="en-US" dirty="0"/>
          </a:p>
        </p:txBody>
      </p:sp>
      <p:sp>
        <p:nvSpPr>
          <p:cNvPr id="2" name="Title 1"/>
          <p:cNvSpPr>
            <a:spLocks noGrp="1"/>
          </p:cNvSpPr>
          <p:nvPr>
            <p:ph type="title"/>
          </p:nvPr>
        </p:nvSpPr>
        <p:spPr/>
        <p:txBody>
          <a:bodyPr/>
          <a:lstStyle/>
          <a:p>
            <a:r>
              <a:rPr lang="en-US" dirty="0"/>
              <a:t>Chapter 1: Best Practices (Cont.)</a:t>
            </a:r>
            <a:endParaRPr lang="en-US" dirty="0"/>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p:txBody>
          <a:bodyPr/>
          <a:lstStyle/>
          <a:p>
            <a:pPr lvl="0">
              <a:buClr>
                <a:srgbClr val="58585B"/>
              </a:buClr>
            </a:pPr>
            <a:r>
              <a:rPr lang="en-US" dirty="0"/>
              <a:t>1.3.1.2 – Discuss the </a:t>
            </a:r>
            <a:r>
              <a:rPr lang="en-US" b="1" dirty="0"/>
              <a:t>show </a:t>
            </a:r>
            <a:r>
              <a:rPr lang="en-US" b="1" dirty="0" err="1"/>
              <a:t>ip</a:t>
            </a:r>
            <a:r>
              <a:rPr lang="en-US" b="1" dirty="0"/>
              <a:t> route </a:t>
            </a:r>
            <a:r>
              <a:rPr lang="en-US" dirty="0"/>
              <a:t>codes for the most popular routing protocols:</a:t>
            </a:r>
            <a:endParaRPr lang="en-US" altLang="en-US" dirty="0"/>
          </a:p>
          <a:p>
            <a:pPr lvl="1">
              <a:buClr>
                <a:srgbClr val="58585B"/>
              </a:buClr>
            </a:pPr>
            <a:r>
              <a:rPr lang="en-CA" altLang="en-US" dirty="0"/>
              <a:t>R – RIP </a:t>
            </a:r>
            <a:endParaRPr lang="en-CA" altLang="en-US" dirty="0"/>
          </a:p>
          <a:p>
            <a:pPr lvl="1">
              <a:buClr>
                <a:srgbClr val="58585B"/>
              </a:buClr>
            </a:pPr>
            <a:r>
              <a:rPr lang="en-CA" altLang="en-US" dirty="0"/>
              <a:t>D – EIGRP</a:t>
            </a:r>
            <a:endParaRPr lang="en-CA" altLang="en-US" dirty="0"/>
          </a:p>
          <a:p>
            <a:pPr lvl="1">
              <a:buClr>
                <a:srgbClr val="58585B"/>
              </a:buClr>
            </a:pPr>
            <a:r>
              <a:rPr lang="en-CA" altLang="en-US" dirty="0"/>
              <a:t>O - OSPF</a:t>
            </a:r>
            <a:endParaRPr lang="en-CA" altLang="en-US" dirty="0"/>
          </a:p>
          <a:p>
            <a:pPr marL="142875" lvl="1" indent="0">
              <a:buClr>
                <a:srgbClr val="58585B"/>
              </a:buClr>
              <a:buNone/>
            </a:pPr>
            <a:endParaRPr lang="en-CA" altLang="en-US" dirty="0"/>
          </a:p>
          <a:p>
            <a:endParaRPr lang="en-US" dirty="0"/>
          </a:p>
        </p:txBody>
      </p:sp>
      <p:sp>
        <p:nvSpPr>
          <p:cNvPr id="2" name="Title 1"/>
          <p:cNvSpPr>
            <a:spLocks noGrp="1"/>
          </p:cNvSpPr>
          <p:nvPr>
            <p:ph type="title"/>
          </p:nvPr>
        </p:nvSpPr>
        <p:spPr/>
        <p:txBody>
          <a:bodyPr/>
          <a:lstStyle/>
          <a:p>
            <a:r>
              <a:rPr lang="en-US" dirty="0"/>
              <a:t>Chapter 1: Best Practices (Cont.)</a:t>
            </a:r>
            <a:endParaRPr lang="en-US" dirty="0"/>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4"/>
          <p:cNvSpPr>
            <a:spLocks noGrp="1" noChangeArrowheads="1"/>
          </p:cNvSpPr>
          <p:nvPr>
            <p:ph idx="1"/>
          </p:nvPr>
        </p:nvSpPr>
        <p:spPr/>
        <p:txBody>
          <a:bodyPr/>
          <a:lstStyle/>
          <a:p>
            <a:pPr marL="287020" indent="-285750"/>
            <a:r>
              <a:rPr lang="en-CA" dirty="0"/>
              <a:t>1.1 Router Initial Configuration</a:t>
            </a:r>
            <a:endParaRPr lang="en-CA" dirty="0"/>
          </a:p>
          <a:p>
            <a:pPr marL="469265" lvl="1" indent="-214630">
              <a:buFont typeface="Arial" panose="020B0604020202020204" pitchFamily="34" charset="0"/>
              <a:buChar char="•"/>
            </a:pPr>
            <a:r>
              <a:rPr lang="en-US" sz="1500" dirty="0"/>
              <a:t>Configure a router to route between multiple directly-connected networks.</a:t>
            </a:r>
            <a:endParaRPr lang="en-US" sz="1500" dirty="0"/>
          </a:p>
          <a:p>
            <a:pPr marL="557530" lvl="1" indent="-214630">
              <a:buFont typeface="Arial" panose="020B0604020202020204" pitchFamily="34" charset="0"/>
              <a:buChar char="•"/>
            </a:pPr>
            <a:r>
              <a:rPr lang="en-US" dirty="0"/>
              <a:t>Describe the primary functions and features of a router.</a:t>
            </a:r>
            <a:endParaRPr lang="en-US" dirty="0"/>
          </a:p>
          <a:p>
            <a:pPr marL="557530" lvl="1" indent="-214630">
              <a:buFont typeface="Arial" panose="020B0604020202020204" pitchFamily="34" charset="0"/>
              <a:buChar char="•"/>
            </a:pPr>
            <a:r>
              <a:rPr lang="en-US" dirty="0"/>
              <a:t>Connect devices for a small, routed network.</a:t>
            </a:r>
            <a:endParaRPr lang="en-US" dirty="0"/>
          </a:p>
          <a:p>
            <a:pPr marL="557530" lvl="1" indent="-214630">
              <a:buFont typeface="Arial" panose="020B0604020202020204" pitchFamily="34" charset="0"/>
              <a:buChar char="•"/>
            </a:pPr>
            <a:r>
              <a:rPr lang="en-US" dirty="0"/>
              <a:t>Configure basic settings on a router to route between two directly-connected networks, using CLI.</a:t>
            </a:r>
            <a:endParaRPr lang="en-US" dirty="0"/>
          </a:p>
          <a:p>
            <a:pPr marL="557530" lvl="1" indent="-214630">
              <a:buFont typeface="Arial" panose="020B0604020202020204" pitchFamily="34" charset="0"/>
              <a:buChar char="•"/>
            </a:pPr>
            <a:r>
              <a:rPr lang="en-US" dirty="0"/>
              <a:t>Verify connectivity between two networks that are directly connected to a router.</a:t>
            </a:r>
            <a:endParaRPr lang="en-US" sz="1300" dirty="0"/>
          </a:p>
          <a:p>
            <a:pPr marL="287020" lvl="0" indent="-285750">
              <a:buClr>
                <a:srgbClr val="58585B"/>
              </a:buClr>
            </a:pPr>
            <a:r>
              <a:rPr lang="en-CA" dirty="0"/>
              <a:t>1.2 Routing Decisions</a:t>
            </a:r>
            <a:endParaRPr lang="en-CA" dirty="0"/>
          </a:p>
          <a:p>
            <a:pPr marL="475615" lvl="1" indent="-285750">
              <a:buClr>
                <a:srgbClr val="58585B"/>
              </a:buClr>
            </a:pPr>
            <a:r>
              <a:rPr lang="en-CA" dirty="0"/>
              <a:t>Explain how routers use information in data packets to make forwarding decisions in a small to medium-sized business network.</a:t>
            </a:r>
            <a:endParaRPr lang="en-CA" dirty="0"/>
          </a:p>
          <a:p>
            <a:pPr marL="557530" lvl="1" indent="-214630">
              <a:buFont typeface="Arial" panose="020B0604020202020204" pitchFamily="34" charset="0"/>
              <a:buChar char="•"/>
            </a:pPr>
            <a:r>
              <a:rPr lang="en-US" dirty="0"/>
              <a:t>Explain the encapsulation and de-encapsulation process used by routers when switching packets between interfaces.</a:t>
            </a:r>
            <a:endParaRPr lang="en-US" dirty="0"/>
          </a:p>
          <a:p>
            <a:pPr marL="557530" lvl="1" indent="-214630">
              <a:buFont typeface="Arial" panose="020B0604020202020204" pitchFamily="34" charset="0"/>
              <a:buChar char="•"/>
            </a:pPr>
            <a:r>
              <a:rPr lang="en-US" dirty="0"/>
              <a:t>Explain the path determination function of a router.</a:t>
            </a:r>
            <a:endParaRPr lang="en-US" dirty="0"/>
          </a:p>
          <a:p>
            <a:pPr marL="548640" lvl="2" indent="-285750">
              <a:buClr>
                <a:srgbClr val="58585B"/>
              </a:buClr>
            </a:pPr>
            <a:endParaRPr lang="en-CA" dirty="0"/>
          </a:p>
          <a:p>
            <a:pPr marL="548640" lvl="2" indent="-285750">
              <a:buClr>
                <a:srgbClr val="58585B"/>
              </a:buClr>
            </a:pPr>
            <a:endParaRPr lang="en-CA" dirty="0"/>
          </a:p>
          <a:p>
            <a:pPr marL="342900" lvl="1" indent="0">
              <a:buNone/>
            </a:pPr>
            <a:endParaRPr lang="en-US" sz="1300" dirty="0"/>
          </a:p>
        </p:txBody>
      </p:sp>
      <p:sp>
        <p:nvSpPr>
          <p:cNvPr id="4098" name="Rectangle 33"/>
          <p:cNvSpPr>
            <a:spLocks noGrp="1" noChangeArrowheads="1"/>
          </p:cNvSpPr>
          <p:nvPr>
            <p:ph type="title"/>
          </p:nvPr>
        </p:nvSpPr>
        <p:spPr/>
        <p:txBody>
          <a:bodyPr/>
          <a:lstStyle/>
          <a:p>
            <a:pPr eaLnBrk="1" hangingPunct="1"/>
            <a:r>
              <a:rPr lang="en-US" dirty="0"/>
              <a:t>Chapter 1 - Sections &amp; Objectives</a:t>
            </a:r>
            <a:endParaRPr lang="en-US" dirty="0"/>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199069" cy="1802391"/>
          </a:xfrm>
        </p:spPr>
        <p:txBody>
          <a:bodyPr/>
          <a:lstStyle/>
          <a:p>
            <a:r>
              <a:rPr lang="en-US" dirty="0"/>
              <a:t>1.1 Router Initial Configuration</a:t>
            </a:r>
            <a:endParaRPr lang="en-US" dirty="0"/>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CA" altLang="en-US" sz="1600" dirty="0"/>
              <a:t>Router Functions</a:t>
            </a:r>
            <a:br>
              <a:rPr lang="en-CA" altLang="en-US" sz="1600" dirty="0"/>
            </a:br>
            <a:r>
              <a:rPr lang="en-CA" altLang="en-US" dirty="0"/>
              <a:t>Characteristics of a Network</a:t>
            </a:r>
            <a:endParaRPr lang="en-CA" altLang="en-US" dirty="0"/>
          </a:p>
        </p:txBody>
      </p:sp>
      <p:sp>
        <p:nvSpPr>
          <p:cNvPr id="3" name="Content Placeholder 2"/>
          <p:cNvSpPr>
            <a:spLocks noGrp="1"/>
          </p:cNvSpPr>
          <p:nvPr>
            <p:ph idx="1"/>
          </p:nvPr>
        </p:nvSpPr>
        <p:spPr>
          <a:xfrm>
            <a:off x="4351144" y="627558"/>
            <a:ext cx="4360202" cy="4278384"/>
          </a:xfrm>
        </p:spPr>
        <p:txBody>
          <a:bodyPr/>
          <a:lstStyle/>
          <a:p>
            <a:r>
              <a:rPr lang="en-CA" altLang="en-US" dirty="0"/>
              <a:t>Networks are relied on for web applications, IP telephony, video conferencing, interactive gaming, e-commerce, and much more.</a:t>
            </a:r>
            <a:endParaRPr lang="en-CA" altLang="en-US" dirty="0"/>
          </a:p>
          <a:p>
            <a:r>
              <a:rPr lang="en-CA" altLang="en-US" dirty="0"/>
              <a:t>Characteristics referred to when discussing networks:</a:t>
            </a:r>
            <a:endParaRPr lang="en-CA" altLang="en-US" dirty="0"/>
          </a:p>
          <a:p>
            <a:pPr lvl="1"/>
            <a:r>
              <a:rPr lang="en-CA" altLang="en-US" dirty="0"/>
              <a:t>Topology </a:t>
            </a:r>
            <a:endParaRPr lang="en-CA" altLang="en-US" dirty="0"/>
          </a:p>
          <a:p>
            <a:pPr lvl="2"/>
            <a:r>
              <a:rPr lang="en-CA" altLang="en-US" sz="1300" dirty="0"/>
              <a:t>Physical topology – arrangement of the cables, network devices, and end systems; it describes how the network devices are actually interconnected with wires and cables</a:t>
            </a:r>
            <a:endParaRPr lang="en-CA" altLang="en-US" sz="1300" dirty="0"/>
          </a:p>
          <a:p>
            <a:pPr lvl="2"/>
            <a:r>
              <a:rPr lang="en-CA" altLang="en-US" sz="1300" dirty="0"/>
              <a:t>Logical topology – describes the path over which the data is transferred in a network and how the network devices appear connected to network users</a:t>
            </a:r>
            <a:endParaRPr lang="en-CA" altLang="en-US" sz="1300" dirty="0"/>
          </a:p>
          <a:p>
            <a:pPr lvl="1"/>
            <a:r>
              <a:rPr lang="en-CA" altLang="en-US" dirty="0"/>
              <a:t>Speed – measure of the data rate in bits per second (b/s) of a given link in the network</a:t>
            </a:r>
            <a:endParaRPr lang="en-CA" altLang="en-US" dirty="0"/>
          </a:p>
        </p:txBody>
      </p:sp>
      <p:pic>
        <p:nvPicPr>
          <p:cNvPr id="4" name="Picture 3"/>
          <p:cNvPicPr>
            <a:picLocks noChangeAspect="1"/>
          </p:cNvPicPr>
          <p:nvPr/>
        </p:nvPicPr>
        <p:blipFill>
          <a:blip r:embed="rId1"/>
          <a:stretch>
            <a:fillRect/>
          </a:stretch>
        </p:blipFill>
        <p:spPr>
          <a:xfrm>
            <a:off x="260889" y="798944"/>
            <a:ext cx="3657600" cy="3781425"/>
          </a:xfrm>
          <a:prstGeom prst="rect">
            <a:avLst/>
          </a:prstGeom>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CA" altLang="en-US" sz="1600" dirty="0"/>
              <a:t>Router Functions</a:t>
            </a:r>
            <a:br>
              <a:rPr lang="en-CA" altLang="en-US" sz="1600" dirty="0"/>
            </a:br>
            <a:r>
              <a:rPr lang="en-CA" altLang="en-US" dirty="0"/>
              <a:t>Characteristics of a Network (Cont.)</a:t>
            </a:r>
            <a:endParaRPr lang="en-CA" altLang="en-US" dirty="0"/>
          </a:p>
        </p:txBody>
      </p:sp>
      <p:sp>
        <p:nvSpPr>
          <p:cNvPr id="3" name="Content Placeholder 2"/>
          <p:cNvSpPr>
            <a:spLocks noGrp="1"/>
          </p:cNvSpPr>
          <p:nvPr>
            <p:ph idx="1"/>
          </p:nvPr>
        </p:nvSpPr>
        <p:spPr>
          <a:xfrm>
            <a:off x="4361320" y="798944"/>
            <a:ext cx="4339850" cy="3843508"/>
          </a:xfrm>
        </p:spPr>
        <p:txBody>
          <a:bodyPr/>
          <a:lstStyle/>
          <a:p>
            <a:pPr lvl="1"/>
            <a:r>
              <a:rPr lang="en-CA" altLang="en-US" dirty="0"/>
              <a:t>Cost – general expense for purchasing of network components as well as installation and maintenance of the network</a:t>
            </a:r>
            <a:endParaRPr lang="en-CA" altLang="en-US" dirty="0"/>
          </a:p>
          <a:p>
            <a:pPr lvl="1"/>
            <a:r>
              <a:rPr lang="en-CA" altLang="en-US" dirty="0"/>
              <a:t>Security – indicates how protected the network is, including the information that is transmitted over the network</a:t>
            </a:r>
            <a:endParaRPr lang="en-CA" altLang="en-US" dirty="0"/>
          </a:p>
          <a:p>
            <a:pPr lvl="1"/>
            <a:r>
              <a:rPr lang="en-CA" altLang="en-US" dirty="0"/>
              <a:t>Availability – refers to the likelihood that the network is available for use when it is required</a:t>
            </a:r>
            <a:endParaRPr lang="en-CA" altLang="en-US" dirty="0"/>
          </a:p>
          <a:p>
            <a:pPr lvl="1"/>
            <a:r>
              <a:rPr lang="en-CA" altLang="en-US" dirty="0"/>
              <a:t>Scalability – indicates how easily the network can accommodate more users and data transmission requirements as they increase</a:t>
            </a:r>
            <a:endParaRPr lang="en-CA" altLang="en-US" dirty="0"/>
          </a:p>
          <a:p>
            <a:pPr lvl="1"/>
            <a:r>
              <a:rPr lang="en-CA" altLang="en-US" dirty="0"/>
              <a:t>Reliability – indicates the dependability of the components that make up the network including the routers, switches, PCs, and servers; often measured as MTBF (mean time between failures) </a:t>
            </a:r>
            <a:endParaRPr lang="en-CA" altLang="en-US" dirty="0"/>
          </a:p>
          <a:p>
            <a:endParaRPr lang="en-CA" altLang="en-US" dirty="0">
              <a:solidFill>
                <a:srgbClr val="000000"/>
              </a:solidFill>
            </a:endParaRPr>
          </a:p>
        </p:txBody>
      </p:sp>
      <p:pic>
        <p:nvPicPr>
          <p:cNvPr id="4" name="Picture 3"/>
          <p:cNvPicPr>
            <a:picLocks noChangeAspect="1"/>
          </p:cNvPicPr>
          <p:nvPr/>
        </p:nvPicPr>
        <p:blipFill>
          <a:blip r:embed="rId1"/>
          <a:stretch>
            <a:fillRect/>
          </a:stretch>
        </p:blipFill>
        <p:spPr>
          <a:xfrm>
            <a:off x="260889" y="798944"/>
            <a:ext cx="3657600" cy="3781425"/>
          </a:xfrm>
          <a:prstGeom prst="rect">
            <a:avLst/>
          </a:prstGeom>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CA" altLang="en-US" sz="1600" dirty="0"/>
              <a:t>Router Functions</a:t>
            </a:r>
            <a:br>
              <a:rPr lang="en-CA" altLang="en-US" sz="1600" dirty="0"/>
            </a:br>
            <a:r>
              <a:rPr lang="en-CA" altLang="en-US" dirty="0"/>
              <a:t>Why Routing?</a:t>
            </a:r>
            <a:endParaRPr lang="en-CA" altLang="en-US" dirty="0"/>
          </a:p>
        </p:txBody>
      </p:sp>
      <p:sp>
        <p:nvSpPr>
          <p:cNvPr id="3" name="Content Placeholder 2"/>
          <p:cNvSpPr>
            <a:spLocks noGrp="1"/>
          </p:cNvSpPr>
          <p:nvPr>
            <p:ph idx="1"/>
          </p:nvPr>
        </p:nvSpPr>
        <p:spPr>
          <a:xfrm>
            <a:off x="5317572" y="939207"/>
            <a:ext cx="3598877" cy="3095610"/>
          </a:xfrm>
        </p:spPr>
        <p:txBody>
          <a:bodyPr/>
          <a:lstStyle/>
          <a:p>
            <a:r>
              <a:rPr lang="en-CA" altLang="en-US" dirty="0"/>
              <a:t>Router:</a:t>
            </a:r>
            <a:endParaRPr lang="en-CA" altLang="en-US" dirty="0"/>
          </a:p>
          <a:p>
            <a:pPr lvl="1"/>
            <a:r>
              <a:rPr lang="en-CA" altLang="en-US" dirty="0"/>
              <a:t>Connects one network to another network </a:t>
            </a:r>
            <a:endParaRPr lang="en-CA" altLang="en-US" dirty="0"/>
          </a:p>
          <a:p>
            <a:pPr lvl="1"/>
            <a:r>
              <a:rPr lang="en-CA" altLang="en-US" dirty="0"/>
              <a:t>Determines the best route to the destination before forwarding traffic to the next router along the path</a:t>
            </a:r>
            <a:endParaRPr lang="en-CA" altLang="en-US" dirty="0"/>
          </a:p>
          <a:p>
            <a:pPr lvl="1"/>
            <a:r>
              <a:rPr lang="en-CA" altLang="en-US" dirty="0"/>
              <a:t>Responsible for routing traffic between network</a:t>
            </a:r>
            <a:endParaRPr lang="en-CA" altLang="en-US" dirty="0"/>
          </a:p>
          <a:p>
            <a:pPr lvl="1"/>
            <a:r>
              <a:rPr lang="en-CA" altLang="en-US" dirty="0"/>
              <a:t>Routing table used to determine the most efficient path to reach the destination</a:t>
            </a:r>
            <a:endParaRPr lang="en-CA" altLang="en-US" dirty="0"/>
          </a:p>
        </p:txBody>
      </p:sp>
      <p:pic>
        <p:nvPicPr>
          <p:cNvPr id="5" name="Picture 4"/>
          <p:cNvPicPr>
            <a:picLocks noChangeAspect="1"/>
          </p:cNvPicPr>
          <p:nvPr/>
        </p:nvPicPr>
        <p:blipFill>
          <a:blip r:embed="rId1"/>
          <a:stretch>
            <a:fillRect/>
          </a:stretch>
        </p:blipFill>
        <p:spPr>
          <a:xfrm>
            <a:off x="288372" y="939207"/>
            <a:ext cx="5029200" cy="3609975"/>
          </a:xfrm>
          <a:prstGeom prst="rect">
            <a:avLst/>
          </a:prstGeom>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4353885" cy="757551"/>
          </a:xfrm>
        </p:spPr>
        <p:txBody>
          <a:bodyPr/>
          <a:lstStyle/>
          <a:p>
            <a:r>
              <a:rPr lang="en-CA" altLang="en-US" sz="1600" dirty="0"/>
              <a:t>Router Functions</a:t>
            </a:r>
            <a:br>
              <a:rPr lang="en-CA" altLang="en-US" sz="1600" dirty="0"/>
            </a:br>
            <a:r>
              <a:rPr lang="en-CA" altLang="en-US" dirty="0"/>
              <a:t>Routers Are Computers</a:t>
            </a:r>
            <a:endParaRPr lang="en-CA" altLang="en-US" dirty="0"/>
          </a:p>
        </p:txBody>
      </p:sp>
      <p:sp>
        <p:nvSpPr>
          <p:cNvPr id="3" name="Content Placeholder 2"/>
          <p:cNvSpPr>
            <a:spLocks noGrp="1"/>
          </p:cNvSpPr>
          <p:nvPr>
            <p:ph idx="1"/>
          </p:nvPr>
        </p:nvSpPr>
        <p:spPr>
          <a:xfrm>
            <a:off x="4514315" y="521166"/>
            <a:ext cx="4411562" cy="4145102"/>
          </a:xfrm>
        </p:spPr>
        <p:txBody>
          <a:bodyPr/>
          <a:lstStyle/>
          <a:p>
            <a:r>
              <a:rPr lang="en-CA" altLang="en-US" dirty="0"/>
              <a:t>A router is a specialized computer and requires the same components to operate as computers including:</a:t>
            </a:r>
            <a:endParaRPr lang="en-CA" altLang="en-US" dirty="0"/>
          </a:p>
          <a:p>
            <a:pPr lvl="1"/>
            <a:r>
              <a:rPr lang="en-CA" altLang="en-US" dirty="0"/>
              <a:t>Central Processing Unit (CPU)</a:t>
            </a:r>
            <a:endParaRPr lang="en-CA" altLang="en-US" dirty="0"/>
          </a:p>
          <a:p>
            <a:pPr lvl="1"/>
            <a:r>
              <a:rPr lang="en-CA" altLang="en-US" dirty="0"/>
              <a:t>Operating System (OS)</a:t>
            </a:r>
            <a:endParaRPr lang="en-CA" altLang="en-US" dirty="0"/>
          </a:p>
          <a:p>
            <a:pPr lvl="2"/>
            <a:r>
              <a:rPr lang="en-CA" altLang="en-US" sz="1300" dirty="0"/>
              <a:t>A desktop computer might use the Windows Operating System, but a Cisco Router uses the Cisco Internetwork Operating System (IOS).</a:t>
            </a:r>
            <a:endParaRPr lang="en-CA" altLang="en-US" sz="1300" dirty="0"/>
          </a:p>
          <a:p>
            <a:pPr lvl="1"/>
            <a:r>
              <a:rPr lang="en-CA" altLang="en-US" dirty="0"/>
              <a:t>Memory and storage (RAM, ROM, NVRAM, Flash, hard drive)</a:t>
            </a:r>
            <a:endParaRPr lang="en-CA" altLang="en-US" dirty="0"/>
          </a:p>
          <a:p>
            <a:pPr lvl="2"/>
            <a:r>
              <a:rPr lang="en-CA" altLang="en-US" sz="1300" dirty="0"/>
              <a:t>Non-volatile vs. volatile memory</a:t>
            </a:r>
            <a:endParaRPr lang="en-CA" altLang="en-US" sz="1300" dirty="0"/>
          </a:p>
          <a:p>
            <a:pPr lvl="2"/>
            <a:r>
              <a:rPr lang="en-CA" altLang="en-US" sz="1300" dirty="0"/>
              <a:t>Which one requires constant power to retain content?</a:t>
            </a:r>
            <a:endParaRPr lang="en-CA" altLang="en-US" sz="1300" dirty="0"/>
          </a:p>
          <a:p>
            <a:r>
              <a:rPr lang="en-CA" altLang="en-US" dirty="0"/>
              <a:t>Routers have specialized ports and network interface cards to interconnect devices to other networks</a:t>
            </a:r>
            <a:endParaRPr lang="en-CA" altLang="en-US" dirty="0"/>
          </a:p>
          <a:p>
            <a:endParaRPr lang="en-CA" altLang="en-US" dirty="0"/>
          </a:p>
        </p:txBody>
      </p:sp>
      <p:pic>
        <p:nvPicPr>
          <p:cNvPr id="2" name="Picture 1"/>
          <p:cNvPicPr>
            <a:picLocks noChangeAspect="1"/>
          </p:cNvPicPr>
          <p:nvPr/>
        </p:nvPicPr>
        <p:blipFill>
          <a:blip r:embed="rId1"/>
          <a:stretch>
            <a:fillRect/>
          </a:stretch>
        </p:blipFill>
        <p:spPr>
          <a:xfrm>
            <a:off x="433868" y="798944"/>
            <a:ext cx="3486150" cy="3590925"/>
          </a:xfrm>
          <a:prstGeom prst="rect">
            <a:avLst/>
          </a:prstGeom>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4760535" cy="757551"/>
          </a:xfrm>
        </p:spPr>
        <p:txBody>
          <a:bodyPr/>
          <a:lstStyle/>
          <a:p>
            <a:r>
              <a:rPr lang="en-CA" altLang="en-US" sz="1600" dirty="0"/>
              <a:t>Router Functions</a:t>
            </a:r>
            <a:br>
              <a:rPr lang="en-CA" altLang="en-US" sz="1600" dirty="0"/>
            </a:br>
            <a:r>
              <a:rPr lang="en-CA" altLang="en-US" dirty="0"/>
              <a:t>Routers Are Computers (Cont.)</a:t>
            </a:r>
            <a:endParaRPr lang="en-CA" altLang="en-US" dirty="0"/>
          </a:p>
        </p:txBody>
      </p:sp>
      <p:pic>
        <p:nvPicPr>
          <p:cNvPr id="5" name="Picture 4"/>
          <p:cNvPicPr>
            <a:picLocks noChangeAspect="1"/>
          </p:cNvPicPr>
          <p:nvPr/>
        </p:nvPicPr>
        <p:blipFill>
          <a:blip r:embed="rId1"/>
          <a:stretch>
            <a:fillRect/>
          </a:stretch>
        </p:blipFill>
        <p:spPr>
          <a:xfrm>
            <a:off x="195814" y="1442301"/>
            <a:ext cx="5150843" cy="2318994"/>
          </a:xfrm>
          <a:prstGeom prst="rect">
            <a:avLst/>
          </a:prstGeom>
        </p:spPr>
      </p:pic>
      <p:pic>
        <p:nvPicPr>
          <p:cNvPr id="6" name="Picture 5"/>
          <p:cNvPicPr>
            <a:picLocks noChangeAspect="1"/>
          </p:cNvPicPr>
          <p:nvPr/>
        </p:nvPicPr>
        <p:blipFill>
          <a:blip r:embed="rId2"/>
          <a:stretch>
            <a:fillRect/>
          </a:stretch>
        </p:blipFill>
        <p:spPr>
          <a:xfrm>
            <a:off x="5436805" y="1276154"/>
            <a:ext cx="3445784" cy="2485141"/>
          </a:xfrm>
          <a:prstGeom prst="rect">
            <a:avLst/>
          </a:prstGeom>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4504887" cy="757551"/>
          </a:xfrm>
        </p:spPr>
        <p:txBody>
          <a:bodyPr/>
          <a:lstStyle/>
          <a:p>
            <a:r>
              <a:rPr lang="en-CA" altLang="en-US" sz="1600" dirty="0"/>
              <a:t>Router Functions</a:t>
            </a:r>
            <a:br>
              <a:rPr lang="en-CA" altLang="en-US" sz="1600" dirty="0"/>
            </a:br>
            <a:r>
              <a:rPr lang="en-CA" altLang="en-US" dirty="0"/>
              <a:t>Routers Interconnect Networks</a:t>
            </a:r>
            <a:endParaRPr lang="en-CA" altLang="en-US" dirty="0"/>
          </a:p>
        </p:txBody>
      </p:sp>
      <p:sp>
        <p:nvSpPr>
          <p:cNvPr id="3" name="Content Placeholder 2"/>
          <p:cNvSpPr>
            <a:spLocks noGrp="1"/>
          </p:cNvSpPr>
          <p:nvPr>
            <p:ph idx="1"/>
          </p:nvPr>
        </p:nvSpPr>
        <p:spPr>
          <a:xfrm>
            <a:off x="5108894" y="646412"/>
            <a:ext cx="4035106" cy="4227246"/>
          </a:xfrm>
        </p:spPr>
        <p:txBody>
          <a:bodyPr/>
          <a:lstStyle/>
          <a:p>
            <a:r>
              <a:rPr lang="en-CA" altLang="en-US" dirty="0"/>
              <a:t>Router is responsible for forwarding packets from network to network, from the source to the destination</a:t>
            </a:r>
            <a:endParaRPr lang="en-CA" altLang="en-US" dirty="0"/>
          </a:p>
          <a:p>
            <a:r>
              <a:rPr lang="en-CA" altLang="en-US" dirty="0"/>
              <a:t>Multiple networks on a router require multiple interfaces that each belong to a different IP network</a:t>
            </a:r>
            <a:endParaRPr lang="en-CA" altLang="en-US" dirty="0"/>
          </a:p>
          <a:p>
            <a:pPr lvl="1"/>
            <a:r>
              <a:rPr lang="en-CA" altLang="en-US" dirty="0"/>
              <a:t>These interfaces are used to connect:</a:t>
            </a:r>
            <a:endParaRPr lang="en-CA" altLang="en-US" dirty="0"/>
          </a:p>
          <a:p>
            <a:pPr lvl="2"/>
            <a:r>
              <a:rPr lang="en-CA" altLang="en-US" sz="1300" dirty="0"/>
              <a:t>LANs – Ethernet networks that contain PCs, printers, and servers</a:t>
            </a:r>
            <a:endParaRPr lang="en-CA" altLang="en-US" sz="1300" dirty="0"/>
          </a:p>
          <a:p>
            <a:pPr lvl="2"/>
            <a:r>
              <a:rPr lang="en-CA" altLang="en-US" sz="1300" dirty="0"/>
              <a:t>WANs – used to connect networks over large geographical areas such as to an ISP</a:t>
            </a:r>
            <a:endParaRPr lang="en-CA" altLang="en-US" sz="1300" dirty="0"/>
          </a:p>
          <a:p>
            <a:r>
              <a:rPr lang="en-CA" altLang="en-US" dirty="0"/>
              <a:t>When a packet arrives on a router’s interface, the router might be the final destination, or it may have to send it to another router to reach its final destination.</a:t>
            </a:r>
            <a:endParaRPr lang="en-CA" altLang="en-US" dirty="0"/>
          </a:p>
          <a:p>
            <a:endParaRPr lang="en-CA" altLang="en-US" dirty="0"/>
          </a:p>
          <a:p>
            <a:endParaRPr lang="en-CA" altLang="en-US" dirty="0"/>
          </a:p>
        </p:txBody>
      </p:sp>
      <p:pic>
        <p:nvPicPr>
          <p:cNvPr id="5" name="Picture 4"/>
          <p:cNvPicPr>
            <a:picLocks noChangeAspect="1"/>
          </p:cNvPicPr>
          <p:nvPr/>
        </p:nvPicPr>
        <p:blipFill>
          <a:blip r:embed="rId1"/>
          <a:stretch>
            <a:fillRect/>
          </a:stretch>
        </p:blipFill>
        <p:spPr>
          <a:xfrm>
            <a:off x="127319" y="798944"/>
            <a:ext cx="4981575" cy="3619500"/>
          </a:xfrm>
          <a:prstGeom prst="rect">
            <a:avLst/>
          </a:prstGeom>
        </p:spPr>
      </p:pic>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4504887" cy="757551"/>
          </a:xfrm>
        </p:spPr>
        <p:txBody>
          <a:bodyPr/>
          <a:lstStyle/>
          <a:p>
            <a:r>
              <a:rPr lang="en-CA" altLang="en-US" sz="1600" dirty="0"/>
              <a:t>Router Functions</a:t>
            </a:r>
            <a:br>
              <a:rPr lang="en-CA" altLang="en-US" sz="1600" dirty="0"/>
            </a:br>
            <a:r>
              <a:rPr lang="en-CA" altLang="en-US" dirty="0"/>
              <a:t>Routers Choose Best Paths</a:t>
            </a:r>
            <a:endParaRPr lang="en-CA" altLang="en-US" dirty="0"/>
          </a:p>
        </p:txBody>
      </p:sp>
      <p:sp>
        <p:nvSpPr>
          <p:cNvPr id="3" name="Content Placeholder 2"/>
          <p:cNvSpPr>
            <a:spLocks noGrp="1"/>
          </p:cNvSpPr>
          <p:nvPr>
            <p:ph idx="1"/>
          </p:nvPr>
        </p:nvSpPr>
        <p:spPr>
          <a:xfrm>
            <a:off x="4649642" y="254524"/>
            <a:ext cx="4494358" cy="4647414"/>
          </a:xfrm>
        </p:spPr>
        <p:txBody>
          <a:bodyPr/>
          <a:lstStyle/>
          <a:p>
            <a:r>
              <a:rPr lang="en-CA" altLang="en-US" dirty="0"/>
              <a:t>The primary functions of a router are to:</a:t>
            </a:r>
            <a:endParaRPr lang="en-CA" altLang="en-US" dirty="0"/>
          </a:p>
          <a:p>
            <a:pPr lvl="1"/>
            <a:r>
              <a:rPr lang="en-CA" altLang="en-US" sz="1300" dirty="0"/>
              <a:t>Determine the best path to send packets</a:t>
            </a:r>
            <a:endParaRPr lang="en-CA" altLang="en-US" sz="1300" dirty="0"/>
          </a:p>
          <a:p>
            <a:pPr lvl="1"/>
            <a:r>
              <a:rPr lang="en-CA" altLang="en-US" sz="1300" dirty="0"/>
              <a:t>Forward packets toward their destination</a:t>
            </a:r>
            <a:endParaRPr lang="en-CA" altLang="en-US" sz="1300" dirty="0"/>
          </a:p>
          <a:p>
            <a:r>
              <a:rPr lang="en-CA" altLang="en-US" dirty="0"/>
              <a:t>When a router receives a packet, it examines the destination address of the packet and uses the routing table to look for the best path to that network.</a:t>
            </a:r>
            <a:endParaRPr lang="en-CA" altLang="en-US" dirty="0"/>
          </a:p>
          <a:p>
            <a:pPr lvl="1"/>
            <a:r>
              <a:rPr lang="en-CA" altLang="en-US" sz="1300" dirty="0"/>
              <a:t>When a match is found, the router encapsulates the packet into the data link frame of the outgoing exit interface and then forwards the packet out that interface to its destination.</a:t>
            </a:r>
            <a:endParaRPr lang="en-CA" altLang="en-US" sz="1300" dirty="0"/>
          </a:p>
          <a:p>
            <a:r>
              <a:rPr lang="en-CA" altLang="en-US" dirty="0"/>
              <a:t>A router can handle different data link layer frame encapsulations. </a:t>
            </a:r>
            <a:endParaRPr lang="en-CA" altLang="en-US" dirty="0"/>
          </a:p>
          <a:p>
            <a:pPr lvl="1"/>
            <a:r>
              <a:rPr lang="en-CA" altLang="en-US" sz="1300" dirty="0"/>
              <a:t>The router might receive a frame from its Ethernet interface. It will have to de-encapsulate the packet to search the routing table for a matching network. Once it finds a match, it will encapsulate it inside of the corresponding frame required for the outgoing interface, such as a PPP frame.</a:t>
            </a:r>
            <a:endParaRPr lang="en-CA" altLang="en-US" sz="1300" dirty="0"/>
          </a:p>
        </p:txBody>
      </p:sp>
      <p:pic>
        <p:nvPicPr>
          <p:cNvPr id="2" name="Picture 1"/>
          <p:cNvPicPr>
            <a:picLocks noChangeAspect="1"/>
          </p:cNvPicPr>
          <p:nvPr/>
        </p:nvPicPr>
        <p:blipFill>
          <a:blip r:embed="rId1"/>
          <a:stretch>
            <a:fillRect/>
          </a:stretch>
        </p:blipFill>
        <p:spPr>
          <a:xfrm>
            <a:off x="134792" y="798944"/>
            <a:ext cx="4514850" cy="3371850"/>
          </a:xfrm>
          <a:prstGeom prst="rect">
            <a:avLst/>
          </a:prstGeom>
        </p:spPr>
      </p:pic>
      <p:sp>
        <p:nvSpPr>
          <p:cNvPr id="6" name="Content Placeholder 2"/>
          <p:cNvSpPr txBox="1"/>
          <p:nvPr/>
        </p:nvSpPr>
        <p:spPr bwMode="auto">
          <a:xfrm>
            <a:off x="83104" y="4170794"/>
            <a:ext cx="4229143" cy="485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lstStyle>
            <a:lvl1pPr marL="170180" indent="-170180" algn="l" defTabSz="684530"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MS PGothic" panose="020B0600070205080204" pitchFamily="34" charset="-128"/>
                <a:cs typeface="CiscoSans"/>
              </a:defRPr>
            </a:lvl1pPr>
            <a:lvl2pPr marL="358775" indent="-215900" algn="l" defTabSz="684530" rtl="0" eaLnBrk="1" fontAlgn="base" hangingPunct="1">
              <a:lnSpc>
                <a:spcPct val="100000"/>
              </a:lnSpc>
              <a:spcBef>
                <a:spcPts val="300"/>
              </a:spcBef>
              <a:spcAft>
                <a:spcPts val="300"/>
              </a:spcAft>
              <a:buClr>
                <a:schemeClr val="tx2"/>
              </a:buClr>
              <a:buFont typeface="Arial" panose="020B0604020202020204" pitchFamily="34" charset="0"/>
              <a:buChar char="•"/>
              <a:defRPr lang="en-US" sz="1400" kern="1200">
                <a:solidFill>
                  <a:srgbClr val="000000"/>
                </a:solidFill>
                <a:latin typeface="+mn-lt"/>
                <a:ea typeface="MS PGothic" panose="020B0600070205080204" pitchFamily="34" charset="-128"/>
                <a:cs typeface="CiscoSans"/>
              </a:defRPr>
            </a:lvl2pPr>
            <a:lvl3pPr marL="431800" indent="-170180" algn="l" defTabSz="684530" rtl="0" eaLnBrk="1" fontAlgn="base" hangingPunct="1">
              <a:lnSpc>
                <a:spcPct val="100000"/>
              </a:lnSpc>
              <a:spcBef>
                <a:spcPts val="300"/>
              </a:spcBef>
              <a:spcAft>
                <a:spcPts val="300"/>
              </a:spcAft>
              <a:buFont typeface="Arial" panose="020B0604020202020204" pitchFamily="34" charset="0"/>
              <a:buChar char="•"/>
              <a:defRPr lang="en-US" sz="1200" kern="1200">
                <a:solidFill>
                  <a:srgbClr val="000000"/>
                </a:solidFill>
                <a:latin typeface="+mn-lt"/>
                <a:ea typeface="MS PGothic" panose="020B0600070205080204" pitchFamily="34" charset="-128"/>
                <a:cs typeface="CiscoSans"/>
              </a:defRPr>
            </a:lvl3pPr>
            <a:lvl4pPr marL="503555" indent="-170180" algn="l" defTabSz="684530" rtl="0" eaLnBrk="1" fontAlgn="base" hangingPunct="1">
              <a:lnSpc>
                <a:spcPct val="100000"/>
              </a:lnSpc>
              <a:spcBef>
                <a:spcPts val="300"/>
              </a:spcBef>
              <a:spcAft>
                <a:spcPts val="300"/>
              </a:spcAft>
              <a:buFont typeface="Arial" panose="020B0604020202020204" pitchFamily="34" charset="0"/>
              <a:buChar char="•"/>
              <a:defRPr lang="en-US" sz="1100" kern="1200">
                <a:solidFill>
                  <a:srgbClr val="000000"/>
                </a:solidFill>
                <a:latin typeface="+mn-lt"/>
                <a:ea typeface="MS PGothic" panose="020B0600070205080204" pitchFamily="34" charset="-128"/>
                <a:cs typeface="CiscoSans"/>
              </a:defRPr>
            </a:lvl4pPr>
            <a:lvl5pPr marL="57467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panose="020B0600070205080204" pitchFamily="34" charset="-128"/>
                <a:cs typeface="CiscoSans"/>
              </a:defRPr>
            </a:lvl5pPr>
            <a:lvl6pPr marL="863600" indent="-171450" algn="l" defTabSz="685800" rtl="0" eaLnBrk="1" latinLnBrk="0" hangingPunct="1">
              <a:spcBef>
                <a:spcPts val="600"/>
              </a:spcBef>
              <a:buFont typeface="Arial" panose="020B0604020202020204" pitchFamily="34" charset="0"/>
              <a:buChar char="•"/>
              <a:defRPr sz="900" kern="1200" baseline="0">
                <a:solidFill>
                  <a:schemeClr val="tx1"/>
                </a:solidFill>
                <a:latin typeface="+mn-lt"/>
                <a:ea typeface="+mn-ea"/>
                <a:cs typeface="+mn-cs"/>
              </a:defRPr>
            </a:lvl6pPr>
            <a:lvl7pPr marL="935990" indent="-171450" algn="l" defTabSz="685800" rtl="0" eaLnBrk="1" latinLnBrk="0" hangingPunct="1">
              <a:spcBef>
                <a:spcPts val="600"/>
              </a:spcBef>
              <a:buFont typeface="Arial" panose="020B0604020202020204" pitchFamily="34" charset="0"/>
              <a:buChar char="•"/>
              <a:defRPr sz="800" kern="1200" baseline="0">
                <a:solidFill>
                  <a:schemeClr val="tx1"/>
                </a:solidFill>
                <a:latin typeface="+mn-lt"/>
                <a:ea typeface="+mn-ea"/>
                <a:cs typeface="+mn-cs"/>
              </a:defRPr>
            </a:lvl7pPr>
            <a:lvl8pPr marL="2400300" indent="0" algn="l" defTabSz="685800" rtl="0" eaLnBrk="1" latinLnBrk="0" hangingPunct="1">
              <a:spcBef>
                <a:spcPct val="20000"/>
              </a:spcBef>
              <a:buFont typeface="Arial" panose="020B0604020202020204" pitchFamily="34" charset="0"/>
              <a:buNone/>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a:buClr>
                <a:srgbClr val="58585B"/>
              </a:buClr>
            </a:pPr>
            <a:r>
              <a:rPr lang="en-CA" altLang="en-US" sz="1300" dirty="0"/>
              <a:t>Routers use the routing table like a map to discover the best path to a given network.</a:t>
            </a:r>
            <a:endParaRPr lang="en-CA" altLang="en-US" sz="1300" dirty="0"/>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12247" y="1234911"/>
            <a:ext cx="4156148" cy="3054286"/>
          </a:xfrm>
          <a:prstGeom prst="rect">
            <a:avLst/>
          </a:prstGeom>
        </p:spPr>
      </p:pic>
      <p:sp>
        <p:nvSpPr>
          <p:cNvPr id="35842" name="Title 1"/>
          <p:cNvSpPr>
            <a:spLocks noGrp="1"/>
          </p:cNvSpPr>
          <p:nvPr>
            <p:ph type="title"/>
          </p:nvPr>
        </p:nvSpPr>
        <p:spPr>
          <a:xfrm>
            <a:off x="1" y="41393"/>
            <a:ext cx="5108893" cy="757551"/>
          </a:xfrm>
        </p:spPr>
        <p:txBody>
          <a:bodyPr/>
          <a:lstStyle/>
          <a:p>
            <a:r>
              <a:rPr lang="en-CA" altLang="en-US" sz="1600" dirty="0"/>
              <a:t>Router Functions</a:t>
            </a:r>
            <a:br>
              <a:rPr lang="en-CA" altLang="en-US" sz="1600" dirty="0"/>
            </a:br>
            <a:r>
              <a:rPr lang="en-CA" altLang="en-US" dirty="0"/>
              <a:t>Packet Forwarding Mechanisms</a:t>
            </a:r>
            <a:endParaRPr lang="en-CA" altLang="en-US" dirty="0"/>
          </a:p>
        </p:txBody>
      </p:sp>
      <p:sp>
        <p:nvSpPr>
          <p:cNvPr id="3" name="Content Placeholder 2"/>
          <p:cNvSpPr>
            <a:spLocks noGrp="1"/>
          </p:cNvSpPr>
          <p:nvPr>
            <p:ph idx="1"/>
          </p:nvPr>
        </p:nvSpPr>
        <p:spPr>
          <a:xfrm>
            <a:off x="4298623" y="712902"/>
            <a:ext cx="4732255" cy="4339865"/>
          </a:xfrm>
        </p:spPr>
        <p:txBody>
          <a:bodyPr/>
          <a:lstStyle/>
          <a:p>
            <a:r>
              <a:rPr lang="en-CA" altLang="en-US" sz="1400" dirty="0"/>
              <a:t>Routers support three packet-forwarding mechanisms:</a:t>
            </a:r>
            <a:endParaRPr lang="en-CA" altLang="en-US" sz="1400" dirty="0"/>
          </a:p>
          <a:p>
            <a:pPr lvl="1"/>
            <a:r>
              <a:rPr lang="en-CA" altLang="en-US" dirty="0"/>
              <a:t>Process switching –</a:t>
            </a:r>
            <a:endParaRPr lang="en-CA" altLang="en-US" dirty="0"/>
          </a:p>
          <a:p>
            <a:pPr lvl="2"/>
            <a:r>
              <a:rPr lang="en-CA" altLang="en-US" sz="1300" dirty="0"/>
              <a:t>Slower and older packet forwarding mechanism </a:t>
            </a:r>
            <a:endParaRPr lang="en-CA" altLang="en-US" sz="1300" dirty="0"/>
          </a:p>
          <a:p>
            <a:pPr lvl="2"/>
            <a:r>
              <a:rPr lang="en-CA" altLang="en-US" sz="1300" dirty="0"/>
              <a:t>Packet arrives on an interface, it is forwarded to the control plane where the CPU matches the destination address with an entry in its routing table in order to determine the exit interface</a:t>
            </a:r>
            <a:endParaRPr lang="en-CA" altLang="en-US" sz="1300" dirty="0"/>
          </a:p>
          <a:p>
            <a:pPr lvl="2"/>
            <a:r>
              <a:rPr lang="en-CA" altLang="en-US" sz="1300" dirty="0"/>
              <a:t>Slow because it does this for every packet in a stream </a:t>
            </a:r>
            <a:endParaRPr lang="en-CA" altLang="en-US" sz="1300" dirty="0"/>
          </a:p>
          <a:p>
            <a:pPr lvl="1"/>
            <a:r>
              <a:rPr lang="en-CA" altLang="en-US" dirty="0"/>
              <a:t>Fast Switching –</a:t>
            </a:r>
            <a:endParaRPr lang="en-CA" altLang="en-US" dirty="0"/>
          </a:p>
          <a:p>
            <a:pPr lvl="2"/>
            <a:r>
              <a:rPr lang="en-CA" altLang="en-US" sz="1300" dirty="0"/>
              <a:t>Common packet forwarding mechanism which uses a fast-switching cache to store the next-hop information</a:t>
            </a:r>
            <a:endParaRPr lang="en-CA" altLang="en-US" sz="1300" dirty="0"/>
          </a:p>
          <a:p>
            <a:pPr lvl="2">
              <a:buClr>
                <a:srgbClr val="58585B"/>
              </a:buClr>
            </a:pPr>
            <a:r>
              <a:rPr lang="en-CA" altLang="en-US" sz="1300" dirty="0"/>
              <a:t>Packet arrives on an interface, it is forwarded to the control plane where the CPU searches for a match in the fast-switching cache</a:t>
            </a:r>
            <a:endParaRPr lang="en-CA" altLang="en-US" sz="1300" dirty="0"/>
          </a:p>
          <a:p>
            <a:pPr lvl="2">
              <a:buClr>
                <a:srgbClr val="58585B"/>
              </a:buClr>
            </a:pPr>
            <a:r>
              <a:rPr lang="en-CA" altLang="en-US" sz="1300" dirty="0"/>
              <a:t>If no match, it is process-switched and forwarded to the exit interface  </a:t>
            </a:r>
            <a:endParaRPr lang="en-CA" altLang="en-US" sz="1300" dirty="0"/>
          </a:p>
          <a:p>
            <a:pPr lvl="2">
              <a:buClr>
                <a:srgbClr val="58585B"/>
              </a:buClr>
            </a:pPr>
            <a:r>
              <a:rPr lang="en-CA" altLang="en-US" sz="1300" dirty="0"/>
              <a:t>Packet flow information stored in the fast-switching cache for quick lookup</a:t>
            </a:r>
            <a:endParaRPr lang="en-CA" altLang="en-US" sz="1300" dirty="0"/>
          </a:p>
          <a:p>
            <a:pPr lvl="1"/>
            <a:endParaRPr lang="en-CA" altLang="en-US" dirty="0"/>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5989738" cy="757551"/>
          </a:xfrm>
        </p:spPr>
        <p:txBody>
          <a:bodyPr/>
          <a:lstStyle/>
          <a:p>
            <a:r>
              <a:rPr lang="en-CA" altLang="en-US" sz="1600" dirty="0"/>
              <a:t>Router Functions</a:t>
            </a:r>
            <a:br>
              <a:rPr lang="en-CA" altLang="en-US" sz="1600" dirty="0"/>
            </a:br>
            <a:r>
              <a:rPr lang="en-CA" altLang="en-US" dirty="0"/>
              <a:t>Packet Forwarding Mechanisms (Cont.)</a:t>
            </a:r>
            <a:endParaRPr lang="en-CA" altLang="en-US" dirty="0"/>
          </a:p>
        </p:txBody>
      </p:sp>
      <p:sp>
        <p:nvSpPr>
          <p:cNvPr id="3" name="Content Placeholder 2"/>
          <p:cNvSpPr>
            <a:spLocks noGrp="1"/>
          </p:cNvSpPr>
          <p:nvPr>
            <p:ph idx="1"/>
          </p:nvPr>
        </p:nvSpPr>
        <p:spPr>
          <a:xfrm>
            <a:off x="5016618" y="991246"/>
            <a:ext cx="3951214" cy="3966004"/>
          </a:xfrm>
        </p:spPr>
        <p:txBody>
          <a:bodyPr/>
          <a:lstStyle/>
          <a:p>
            <a:pPr lvl="1"/>
            <a:r>
              <a:rPr lang="en-CA" altLang="en-US" dirty="0"/>
              <a:t>Cisco Express Forwarding – CEF </a:t>
            </a:r>
            <a:endParaRPr lang="en-CA" altLang="en-US" dirty="0"/>
          </a:p>
          <a:p>
            <a:pPr lvl="2"/>
            <a:r>
              <a:rPr lang="en-CA" altLang="en-US" sz="1300" dirty="0"/>
              <a:t>Fastest, most recent, and preferred packet-forwarding mechanism</a:t>
            </a:r>
            <a:endParaRPr lang="en-CA" altLang="en-US" sz="1300" dirty="0"/>
          </a:p>
          <a:p>
            <a:pPr lvl="2"/>
            <a:r>
              <a:rPr lang="en-CA" altLang="en-US" sz="1300" dirty="0"/>
              <a:t>CEF builds a Forwarding Information Base (FIB) and an adjacency table</a:t>
            </a:r>
            <a:endParaRPr lang="en-CA" altLang="en-US" sz="1300" dirty="0"/>
          </a:p>
          <a:p>
            <a:pPr lvl="2"/>
            <a:r>
              <a:rPr lang="en-CA" altLang="en-US" sz="1300" dirty="0"/>
              <a:t>Table entries are not packet-triggered like fast switching, but change-triggered when something changes in the network topology</a:t>
            </a:r>
            <a:endParaRPr lang="en-CA" altLang="en-US" sz="1300" dirty="0"/>
          </a:p>
          <a:p>
            <a:pPr lvl="2"/>
            <a:r>
              <a:rPr lang="en-CA" altLang="en-US" sz="1300" dirty="0"/>
              <a:t>When a network has converged, the FIB and adjacency tables contain all the information a router would have to consider when forwarding a packet</a:t>
            </a:r>
            <a:endParaRPr lang="en-CA" altLang="en-US" sz="1300" dirty="0"/>
          </a:p>
          <a:p>
            <a:pPr lvl="2"/>
            <a:r>
              <a:rPr lang="en-CA" altLang="en-US" sz="1300" dirty="0"/>
              <a:t>FIB contains pre-computed reverse lookups, next hop information for routes including the interface and Layer 2 information</a:t>
            </a:r>
            <a:endParaRPr lang="en-CA" altLang="en-US" sz="1300" dirty="0"/>
          </a:p>
        </p:txBody>
      </p:sp>
      <p:pic>
        <p:nvPicPr>
          <p:cNvPr id="4" name="Picture 3"/>
          <p:cNvPicPr>
            <a:picLocks noChangeAspect="1"/>
          </p:cNvPicPr>
          <p:nvPr/>
        </p:nvPicPr>
        <p:blipFill>
          <a:blip r:embed="rId1"/>
          <a:stretch>
            <a:fillRect/>
          </a:stretch>
        </p:blipFill>
        <p:spPr>
          <a:xfrm>
            <a:off x="141347" y="991246"/>
            <a:ext cx="4733925" cy="3581400"/>
          </a:xfrm>
          <a:prstGeom prst="rect">
            <a:avLst/>
          </a:prstGeom>
        </p:spPr>
      </p:pic>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0" y="41393"/>
            <a:ext cx="8682605" cy="757551"/>
          </a:xfrm>
        </p:spPr>
        <p:txBody>
          <a:bodyPr/>
          <a:lstStyle/>
          <a:p>
            <a:r>
              <a:rPr lang="en-CA" altLang="en-US" sz="1600" dirty="0"/>
              <a:t>Router Functions</a:t>
            </a:r>
            <a:br>
              <a:rPr lang="en-CA" altLang="en-US" sz="1600" dirty="0"/>
            </a:br>
            <a:r>
              <a:rPr lang="en-CA" altLang="en-US" dirty="0"/>
              <a:t>Packet Tracer – Using Traceroute to Discover the Network </a:t>
            </a:r>
            <a:endParaRPr lang="en-CA" altLang="en-US" dirty="0"/>
          </a:p>
        </p:txBody>
      </p:sp>
      <p:pic>
        <p:nvPicPr>
          <p:cNvPr id="4" name="Picture 3"/>
          <p:cNvPicPr>
            <a:picLocks noChangeAspect="1"/>
          </p:cNvPicPr>
          <p:nvPr/>
        </p:nvPicPr>
        <p:blipFill>
          <a:blip r:embed="rId1"/>
          <a:stretch>
            <a:fillRect/>
          </a:stretch>
        </p:blipFill>
        <p:spPr>
          <a:xfrm>
            <a:off x="1974758" y="901873"/>
            <a:ext cx="5008160" cy="3815741"/>
          </a:xfrm>
          <a:prstGeom prst="rect">
            <a:avLst/>
          </a:prstGeom>
          <a:ln>
            <a:solidFill>
              <a:srgbClr val="000000"/>
            </a:solidFill>
          </a:ln>
        </p:spPr>
      </p:pic>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0" y="41393"/>
            <a:ext cx="8682605" cy="757551"/>
          </a:xfrm>
        </p:spPr>
        <p:txBody>
          <a:bodyPr/>
          <a:lstStyle/>
          <a:p>
            <a:r>
              <a:rPr lang="en-CA" altLang="en-US" sz="1600" dirty="0"/>
              <a:t>Router Functions</a:t>
            </a:r>
            <a:br>
              <a:rPr lang="en-CA" altLang="en-US" sz="1600" dirty="0"/>
            </a:br>
            <a:r>
              <a:rPr lang="en-CA" altLang="en-US" dirty="0"/>
              <a:t>Lab – Mapping the Internet</a:t>
            </a:r>
            <a:endParaRPr lang="en-CA" altLang="en-US" dirty="0"/>
          </a:p>
        </p:txBody>
      </p:sp>
      <p:pic>
        <p:nvPicPr>
          <p:cNvPr id="6" name="Picture 5"/>
          <p:cNvPicPr>
            <a:picLocks noChangeAspect="1"/>
          </p:cNvPicPr>
          <p:nvPr/>
        </p:nvPicPr>
        <p:blipFill>
          <a:blip r:embed="rId1"/>
          <a:stretch>
            <a:fillRect/>
          </a:stretch>
        </p:blipFill>
        <p:spPr>
          <a:xfrm>
            <a:off x="1648037" y="798944"/>
            <a:ext cx="5386529" cy="4002638"/>
          </a:xfrm>
          <a:prstGeom prst="rect">
            <a:avLst/>
          </a:prstGeom>
          <a:ln>
            <a:solidFill>
              <a:srgbClr val="000000"/>
            </a:solidFill>
          </a:ln>
        </p:spPr>
      </p:pic>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0" y="41393"/>
            <a:ext cx="5024481" cy="757551"/>
          </a:xfrm>
        </p:spPr>
        <p:txBody>
          <a:bodyPr/>
          <a:lstStyle/>
          <a:p>
            <a:r>
              <a:rPr lang="en-CA" altLang="en-US" sz="1600" dirty="0"/>
              <a:t>Connect Devices</a:t>
            </a:r>
            <a:br>
              <a:rPr lang="en-CA" altLang="en-US" sz="1600" dirty="0"/>
            </a:br>
            <a:r>
              <a:rPr lang="en-CA" altLang="en-US" dirty="0"/>
              <a:t>Connect to a Network</a:t>
            </a:r>
            <a:endParaRPr lang="en-CA" altLang="en-US" dirty="0"/>
          </a:p>
        </p:txBody>
      </p:sp>
      <p:sp>
        <p:nvSpPr>
          <p:cNvPr id="3" name="Content Placeholder 2"/>
          <p:cNvSpPr>
            <a:spLocks noGrp="1"/>
          </p:cNvSpPr>
          <p:nvPr>
            <p:ph idx="1"/>
          </p:nvPr>
        </p:nvSpPr>
        <p:spPr>
          <a:xfrm>
            <a:off x="5171754" y="798944"/>
            <a:ext cx="3816991" cy="3547588"/>
          </a:xfrm>
        </p:spPr>
        <p:txBody>
          <a:bodyPr/>
          <a:lstStyle/>
          <a:p>
            <a:r>
              <a:rPr lang="en-CA" altLang="en-US" dirty="0"/>
              <a:t>Home Office devices might connect as follows: </a:t>
            </a:r>
            <a:endParaRPr lang="en-CA" altLang="en-US" dirty="0"/>
          </a:p>
          <a:p>
            <a:pPr lvl="1"/>
            <a:r>
              <a:rPr lang="en-CA" altLang="en-US" dirty="0"/>
              <a:t>Laptops and tablets connect wirelessly to a home router. </a:t>
            </a:r>
            <a:endParaRPr lang="en-CA" altLang="en-US" dirty="0"/>
          </a:p>
          <a:p>
            <a:pPr lvl="1"/>
            <a:r>
              <a:rPr lang="en-CA" altLang="en-US" dirty="0"/>
              <a:t>A network printer connects using an Ethernet cable to the switch port on the home router</a:t>
            </a:r>
            <a:endParaRPr lang="en-CA" altLang="en-US" dirty="0"/>
          </a:p>
          <a:p>
            <a:pPr lvl="1"/>
            <a:r>
              <a:rPr lang="en-CA" altLang="en-US" dirty="0"/>
              <a:t>The home router connects to the Internet service provider cable modem using an Ethernet cable.</a:t>
            </a:r>
            <a:endParaRPr lang="en-CA" altLang="en-US" dirty="0"/>
          </a:p>
          <a:p>
            <a:pPr lvl="1"/>
            <a:r>
              <a:rPr lang="en-CA" altLang="en-US" dirty="0"/>
              <a:t>The cable modem connects to the ISP network.</a:t>
            </a:r>
            <a:endParaRPr lang="en-CA" altLang="en-US" dirty="0"/>
          </a:p>
        </p:txBody>
      </p:sp>
      <p:pic>
        <p:nvPicPr>
          <p:cNvPr id="4" name="Picture 3"/>
          <p:cNvPicPr>
            <a:picLocks noChangeAspect="1"/>
          </p:cNvPicPr>
          <p:nvPr/>
        </p:nvPicPr>
        <p:blipFill>
          <a:blip r:embed="rId1"/>
          <a:stretch>
            <a:fillRect/>
          </a:stretch>
        </p:blipFill>
        <p:spPr>
          <a:xfrm>
            <a:off x="109581" y="948958"/>
            <a:ext cx="4914900" cy="3590925"/>
          </a:xfrm>
          <a:prstGeom prst="rect">
            <a:avLst/>
          </a:prstGeom>
        </p:spPr>
      </p:pic>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0" y="41393"/>
            <a:ext cx="5024481" cy="757551"/>
          </a:xfrm>
        </p:spPr>
        <p:txBody>
          <a:bodyPr/>
          <a:lstStyle/>
          <a:p>
            <a:r>
              <a:rPr lang="en-CA" altLang="en-US" sz="1600" dirty="0"/>
              <a:t>Connect Devices</a:t>
            </a:r>
            <a:br>
              <a:rPr lang="en-CA" altLang="en-US" sz="1600" dirty="0"/>
            </a:br>
            <a:r>
              <a:rPr lang="en-CA" altLang="en-US" dirty="0"/>
              <a:t>Connect to a Network (Cont.)</a:t>
            </a:r>
            <a:endParaRPr lang="en-CA" altLang="en-US" dirty="0"/>
          </a:p>
        </p:txBody>
      </p:sp>
      <p:sp>
        <p:nvSpPr>
          <p:cNvPr id="3" name="Content Placeholder 2"/>
          <p:cNvSpPr>
            <a:spLocks noGrp="1"/>
          </p:cNvSpPr>
          <p:nvPr>
            <p:ph idx="1"/>
          </p:nvPr>
        </p:nvSpPr>
        <p:spPr>
          <a:xfrm>
            <a:off x="5167094" y="798944"/>
            <a:ext cx="3976906" cy="3998524"/>
          </a:xfrm>
        </p:spPr>
        <p:txBody>
          <a:bodyPr/>
          <a:lstStyle/>
          <a:p>
            <a:pPr lvl="0">
              <a:buClr>
                <a:srgbClr val="58585B"/>
              </a:buClr>
            </a:pPr>
            <a:r>
              <a:rPr lang="en-CA" altLang="en-US" dirty="0"/>
              <a:t>Branch site devices might connect as follows:</a:t>
            </a:r>
            <a:endParaRPr lang="en-CA" altLang="en-US" dirty="0"/>
          </a:p>
          <a:p>
            <a:pPr lvl="1">
              <a:buClr>
                <a:srgbClr val="58585B"/>
              </a:buClr>
            </a:pPr>
            <a:r>
              <a:rPr lang="en-CA" altLang="en-US" dirty="0"/>
              <a:t>Desktop PCs, VoIP phones, and corporate resources such as file servers and printers connect to Layer 2 switches using Ethernet cables.  </a:t>
            </a:r>
            <a:endParaRPr lang="en-CA" altLang="en-US" dirty="0"/>
          </a:p>
          <a:p>
            <a:pPr lvl="1"/>
            <a:r>
              <a:rPr lang="en-CA" altLang="en-US" dirty="0"/>
              <a:t>Laptops and smartphones connect wirelessly to wireless access points (WAPs). </a:t>
            </a:r>
            <a:endParaRPr lang="en-CA" altLang="en-US" dirty="0"/>
          </a:p>
          <a:p>
            <a:pPr lvl="1"/>
            <a:r>
              <a:rPr lang="en-CA" altLang="en-US" dirty="0"/>
              <a:t>The WAPs connect to switches using Ethernet cables.</a:t>
            </a:r>
            <a:endParaRPr lang="en-CA" altLang="en-US" dirty="0"/>
          </a:p>
          <a:p>
            <a:pPr lvl="1"/>
            <a:r>
              <a:rPr lang="en-CA" altLang="en-US" dirty="0"/>
              <a:t>Layer 2 switches connect to an Ethernet interface on the edge router using Ethernet cables.  </a:t>
            </a:r>
            <a:endParaRPr lang="en-CA" altLang="en-US" dirty="0"/>
          </a:p>
          <a:p>
            <a:pPr lvl="1"/>
            <a:r>
              <a:rPr lang="en-CA" altLang="en-US" dirty="0"/>
              <a:t>The edge router connects to a WAN service provider.</a:t>
            </a:r>
            <a:endParaRPr lang="en-CA" altLang="en-US" dirty="0"/>
          </a:p>
        </p:txBody>
      </p:sp>
      <p:pic>
        <p:nvPicPr>
          <p:cNvPr id="4" name="Picture 3"/>
          <p:cNvPicPr>
            <a:picLocks noChangeAspect="1"/>
          </p:cNvPicPr>
          <p:nvPr/>
        </p:nvPicPr>
        <p:blipFill>
          <a:blip r:embed="rId1"/>
          <a:stretch>
            <a:fillRect/>
          </a:stretch>
        </p:blipFill>
        <p:spPr>
          <a:xfrm>
            <a:off x="109581" y="948958"/>
            <a:ext cx="4914900" cy="3590925"/>
          </a:xfrm>
          <a:prstGeom prst="rect">
            <a:avLst/>
          </a:prstGeom>
        </p:spPr>
      </p:pic>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0" y="41393"/>
            <a:ext cx="5024481" cy="757551"/>
          </a:xfrm>
        </p:spPr>
        <p:txBody>
          <a:bodyPr/>
          <a:lstStyle/>
          <a:p>
            <a:r>
              <a:rPr lang="en-CA" altLang="en-US" sz="1600" dirty="0"/>
              <a:t>Connect Devices</a:t>
            </a:r>
            <a:br>
              <a:rPr lang="en-CA" altLang="en-US" sz="1600" dirty="0"/>
            </a:br>
            <a:r>
              <a:rPr lang="en-CA" altLang="en-US" dirty="0"/>
              <a:t>Connect to a Network (Cont.)</a:t>
            </a:r>
            <a:endParaRPr lang="en-CA" altLang="en-US" dirty="0"/>
          </a:p>
        </p:txBody>
      </p:sp>
      <p:sp>
        <p:nvSpPr>
          <p:cNvPr id="3" name="Content Placeholder 2"/>
          <p:cNvSpPr>
            <a:spLocks noGrp="1"/>
          </p:cNvSpPr>
          <p:nvPr>
            <p:ph idx="1"/>
          </p:nvPr>
        </p:nvSpPr>
        <p:spPr>
          <a:xfrm>
            <a:off x="5024481" y="948958"/>
            <a:ext cx="3976906" cy="3590925"/>
          </a:xfrm>
        </p:spPr>
        <p:txBody>
          <a:bodyPr/>
          <a:lstStyle/>
          <a:p>
            <a:r>
              <a:rPr lang="en-CA" altLang="en-US" dirty="0"/>
              <a:t>Central site devices might connect as follows:</a:t>
            </a:r>
            <a:endParaRPr lang="en-CA" altLang="en-US" dirty="0"/>
          </a:p>
          <a:p>
            <a:pPr lvl="1"/>
            <a:r>
              <a:rPr lang="en-CA" altLang="en-US" dirty="0"/>
              <a:t>Desktop PCs and VoIP phones connect to Layer 2 switches using Ethernet cables.</a:t>
            </a:r>
            <a:endParaRPr lang="en-CA" altLang="en-US" dirty="0"/>
          </a:p>
          <a:p>
            <a:pPr lvl="1"/>
            <a:r>
              <a:rPr lang="en-CA" altLang="en-US" dirty="0"/>
              <a:t>Layer 2 switches connect redundantly to multilayer Layer 3 switches using Ethernet fiber-optic cables.</a:t>
            </a:r>
            <a:endParaRPr lang="en-CA" altLang="en-US" dirty="0"/>
          </a:p>
          <a:p>
            <a:pPr lvl="1"/>
            <a:r>
              <a:rPr lang="en-CA" altLang="en-US" dirty="0"/>
              <a:t>Layer 3 multilayer switches connect to an Ethernet interface on the edge router using Ethernet cables.</a:t>
            </a:r>
            <a:endParaRPr lang="en-CA" altLang="en-US" dirty="0"/>
          </a:p>
          <a:p>
            <a:pPr lvl="1"/>
            <a:r>
              <a:rPr lang="en-CA" altLang="en-US" dirty="0"/>
              <a:t>The corporate website server connects to the edge router interface.</a:t>
            </a:r>
            <a:endParaRPr lang="en-CA" altLang="en-US" dirty="0"/>
          </a:p>
          <a:p>
            <a:pPr lvl="1"/>
            <a:r>
              <a:rPr lang="en-CA" altLang="en-US" dirty="0"/>
              <a:t>The edge router connects to a WAN SP and also to an ISP for backup purposes.</a:t>
            </a:r>
            <a:endParaRPr lang="en-CA" altLang="en-US" dirty="0"/>
          </a:p>
        </p:txBody>
      </p:sp>
      <p:pic>
        <p:nvPicPr>
          <p:cNvPr id="4" name="Picture 3"/>
          <p:cNvPicPr>
            <a:picLocks noChangeAspect="1"/>
          </p:cNvPicPr>
          <p:nvPr/>
        </p:nvPicPr>
        <p:blipFill>
          <a:blip r:embed="rId1"/>
          <a:stretch>
            <a:fillRect/>
          </a:stretch>
        </p:blipFill>
        <p:spPr>
          <a:xfrm>
            <a:off x="109581" y="948958"/>
            <a:ext cx="4914900" cy="3590925"/>
          </a:xfrm>
          <a:prstGeom prst="rect">
            <a:avLst/>
          </a:prstGeom>
        </p:spPr>
      </p:pic>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0" y="41393"/>
            <a:ext cx="5024481" cy="757551"/>
          </a:xfrm>
        </p:spPr>
        <p:txBody>
          <a:bodyPr/>
          <a:lstStyle/>
          <a:p>
            <a:r>
              <a:rPr lang="en-CA" altLang="en-US" sz="1600" dirty="0"/>
              <a:t>Connect Devices</a:t>
            </a:r>
            <a:br>
              <a:rPr lang="en-CA" altLang="en-US" sz="1600" dirty="0"/>
            </a:br>
            <a:r>
              <a:rPr lang="en-CA" altLang="en-US" dirty="0"/>
              <a:t>Default Gateways</a:t>
            </a:r>
            <a:endParaRPr lang="en-CA" altLang="en-US" dirty="0"/>
          </a:p>
        </p:txBody>
      </p:sp>
      <p:sp>
        <p:nvSpPr>
          <p:cNvPr id="3" name="Content Placeholder 2"/>
          <p:cNvSpPr>
            <a:spLocks noGrp="1"/>
          </p:cNvSpPr>
          <p:nvPr>
            <p:ph idx="1"/>
          </p:nvPr>
        </p:nvSpPr>
        <p:spPr>
          <a:xfrm>
            <a:off x="5091856" y="420168"/>
            <a:ext cx="3951476" cy="4740332"/>
          </a:xfrm>
        </p:spPr>
        <p:txBody>
          <a:bodyPr/>
          <a:lstStyle/>
          <a:p>
            <a:r>
              <a:rPr lang="en-CA" altLang="en-US" dirty="0"/>
              <a:t>Devices need the following information for network access: IP address, subnet mask, and default gateway.</a:t>
            </a:r>
            <a:endParaRPr lang="en-CA" altLang="en-US" dirty="0"/>
          </a:p>
          <a:p>
            <a:r>
              <a:rPr lang="en-CA" altLang="en-US" dirty="0"/>
              <a:t>When a host sends a packet to a device that is on the same IP network, the packet is forwarded out the host interface to the destination device. The router does not need to get involved.</a:t>
            </a:r>
            <a:endParaRPr lang="en-CA" altLang="en-US" dirty="0"/>
          </a:p>
          <a:p>
            <a:r>
              <a:rPr lang="en-CA" altLang="en-US" dirty="0"/>
              <a:t>When a host sends a packet to a device on a different IP network, the packet is forwarded to the default gateway because the host device cannot communicate with devices outside of the local network.</a:t>
            </a:r>
            <a:endParaRPr lang="en-CA" altLang="en-US" dirty="0"/>
          </a:p>
          <a:p>
            <a:r>
              <a:rPr lang="en-CA" altLang="en-US" dirty="0"/>
              <a:t>The default gateway is the device that routes traffic from the local network to devices on remote networks, such as devices on the Internet.</a:t>
            </a:r>
            <a:endParaRPr lang="en-CA" altLang="en-US" dirty="0"/>
          </a:p>
        </p:txBody>
      </p:sp>
      <p:pic>
        <p:nvPicPr>
          <p:cNvPr id="2" name="Picture 1"/>
          <p:cNvPicPr>
            <a:picLocks noChangeAspect="1"/>
          </p:cNvPicPr>
          <p:nvPr/>
        </p:nvPicPr>
        <p:blipFill>
          <a:blip r:embed="rId1"/>
          <a:stretch>
            <a:fillRect/>
          </a:stretch>
        </p:blipFill>
        <p:spPr>
          <a:xfrm>
            <a:off x="86119" y="798944"/>
            <a:ext cx="4972050" cy="3438525"/>
          </a:xfrm>
          <a:prstGeom prst="rect">
            <a:avLst/>
          </a:prstGeom>
        </p:spPr>
      </p:pic>
      <p:sp>
        <p:nvSpPr>
          <p:cNvPr id="6" name="Content Placeholder 2"/>
          <p:cNvSpPr txBox="1"/>
          <p:nvPr/>
        </p:nvSpPr>
        <p:spPr bwMode="auto">
          <a:xfrm>
            <a:off x="86119" y="4319706"/>
            <a:ext cx="5005737" cy="344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lstStyle>
            <a:lvl1pPr marL="170180" indent="-170180" algn="l" defTabSz="684530"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MS PGothic" panose="020B0600070205080204" pitchFamily="34" charset="-128"/>
                <a:cs typeface="CiscoSans"/>
              </a:defRPr>
            </a:lvl1pPr>
            <a:lvl2pPr marL="358775" indent="-215900" algn="l" defTabSz="684530" rtl="0" eaLnBrk="1" fontAlgn="base" hangingPunct="1">
              <a:lnSpc>
                <a:spcPct val="100000"/>
              </a:lnSpc>
              <a:spcBef>
                <a:spcPts val="300"/>
              </a:spcBef>
              <a:spcAft>
                <a:spcPts val="300"/>
              </a:spcAft>
              <a:buClr>
                <a:schemeClr val="tx2"/>
              </a:buClr>
              <a:buFont typeface="Arial" panose="020B0604020202020204" pitchFamily="34" charset="0"/>
              <a:buChar char="•"/>
              <a:defRPr lang="en-US" sz="1400" kern="1200">
                <a:solidFill>
                  <a:srgbClr val="000000"/>
                </a:solidFill>
                <a:latin typeface="+mn-lt"/>
                <a:ea typeface="MS PGothic" panose="020B0600070205080204" pitchFamily="34" charset="-128"/>
                <a:cs typeface="CiscoSans"/>
              </a:defRPr>
            </a:lvl2pPr>
            <a:lvl3pPr marL="431800" indent="-170180" algn="l" defTabSz="684530" rtl="0" eaLnBrk="1" fontAlgn="base" hangingPunct="1">
              <a:lnSpc>
                <a:spcPct val="100000"/>
              </a:lnSpc>
              <a:spcBef>
                <a:spcPts val="300"/>
              </a:spcBef>
              <a:spcAft>
                <a:spcPts val="300"/>
              </a:spcAft>
              <a:buFont typeface="Arial" panose="020B0604020202020204" pitchFamily="34" charset="0"/>
              <a:buChar char="•"/>
              <a:defRPr lang="en-US" sz="1200" kern="1200">
                <a:solidFill>
                  <a:srgbClr val="000000"/>
                </a:solidFill>
                <a:latin typeface="+mn-lt"/>
                <a:ea typeface="MS PGothic" panose="020B0600070205080204" pitchFamily="34" charset="-128"/>
                <a:cs typeface="CiscoSans"/>
              </a:defRPr>
            </a:lvl3pPr>
            <a:lvl4pPr marL="503555" indent="-170180" algn="l" defTabSz="684530" rtl="0" eaLnBrk="1" fontAlgn="base" hangingPunct="1">
              <a:lnSpc>
                <a:spcPct val="100000"/>
              </a:lnSpc>
              <a:spcBef>
                <a:spcPts val="300"/>
              </a:spcBef>
              <a:spcAft>
                <a:spcPts val="300"/>
              </a:spcAft>
              <a:buFont typeface="Arial" panose="020B0604020202020204" pitchFamily="34" charset="0"/>
              <a:buChar char="•"/>
              <a:defRPr lang="en-US" sz="1100" kern="1200">
                <a:solidFill>
                  <a:srgbClr val="000000"/>
                </a:solidFill>
                <a:latin typeface="+mn-lt"/>
                <a:ea typeface="MS PGothic" panose="020B0600070205080204" pitchFamily="34" charset="-128"/>
                <a:cs typeface="CiscoSans"/>
              </a:defRPr>
            </a:lvl4pPr>
            <a:lvl5pPr marL="57467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panose="020B0600070205080204" pitchFamily="34" charset="-128"/>
                <a:cs typeface="CiscoSans"/>
              </a:defRPr>
            </a:lvl5pPr>
            <a:lvl6pPr marL="863600" indent="-171450" algn="l" defTabSz="685800" rtl="0" eaLnBrk="1" latinLnBrk="0" hangingPunct="1">
              <a:spcBef>
                <a:spcPts val="600"/>
              </a:spcBef>
              <a:buFont typeface="Arial" panose="020B0604020202020204" pitchFamily="34" charset="0"/>
              <a:buChar char="•"/>
              <a:defRPr sz="900" kern="1200" baseline="0">
                <a:solidFill>
                  <a:schemeClr val="tx1"/>
                </a:solidFill>
                <a:latin typeface="+mn-lt"/>
                <a:ea typeface="+mn-ea"/>
                <a:cs typeface="+mn-cs"/>
              </a:defRPr>
            </a:lvl6pPr>
            <a:lvl7pPr marL="935990" indent="-171450" algn="l" defTabSz="685800" rtl="0" eaLnBrk="1" latinLnBrk="0" hangingPunct="1">
              <a:spcBef>
                <a:spcPts val="600"/>
              </a:spcBef>
              <a:buFont typeface="Arial" panose="020B0604020202020204" pitchFamily="34" charset="0"/>
              <a:buChar char="•"/>
              <a:defRPr sz="800" kern="1200" baseline="0">
                <a:solidFill>
                  <a:schemeClr val="tx1"/>
                </a:solidFill>
                <a:latin typeface="+mn-lt"/>
                <a:ea typeface="+mn-ea"/>
                <a:cs typeface="+mn-cs"/>
              </a:defRPr>
            </a:lvl7pPr>
            <a:lvl8pPr marL="2400300" indent="0" algn="l" defTabSz="685800" rtl="0" eaLnBrk="1" latinLnBrk="0" hangingPunct="1">
              <a:spcBef>
                <a:spcPct val="20000"/>
              </a:spcBef>
              <a:buFont typeface="Arial" panose="020B0604020202020204" pitchFamily="34" charset="0"/>
              <a:buNone/>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r>
              <a:rPr lang="en-CA" altLang="en-US" sz="1200" dirty="0"/>
              <a:t>Routers are also usually configured with their own default gateway.</a:t>
            </a:r>
            <a:endParaRPr lang="en-CA" altLang="en-US" sz="1200" dirty="0"/>
          </a:p>
        </p:txBody>
      </p:sp>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0" y="41393"/>
            <a:ext cx="5024481" cy="757551"/>
          </a:xfrm>
        </p:spPr>
        <p:txBody>
          <a:bodyPr/>
          <a:lstStyle/>
          <a:p>
            <a:r>
              <a:rPr lang="en-CA" altLang="en-US" sz="1600" dirty="0"/>
              <a:t>Connect Devices</a:t>
            </a:r>
            <a:br>
              <a:rPr lang="en-CA" altLang="en-US" sz="1600" dirty="0"/>
            </a:br>
            <a:r>
              <a:rPr lang="en-CA" altLang="en-US" dirty="0"/>
              <a:t>Document Network Addressing</a:t>
            </a:r>
            <a:endParaRPr lang="en-CA" altLang="en-US" dirty="0"/>
          </a:p>
        </p:txBody>
      </p:sp>
      <p:sp>
        <p:nvSpPr>
          <p:cNvPr id="3" name="Content Placeholder 2"/>
          <p:cNvSpPr>
            <a:spLocks noGrp="1"/>
          </p:cNvSpPr>
          <p:nvPr>
            <p:ph idx="1"/>
          </p:nvPr>
        </p:nvSpPr>
        <p:spPr>
          <a:xfrm>
            <a:off x="5159228" y="563110"/>
            <a:ext cx="3766656" cy="4197426"/>
          </a:xfrm>
        </p:spPr>
        <p:txBody>
          <a:bodyPr/>
          <a:lstStyle/>
          <a:p>
            <a:r>
              <a:rPr lang="en-CA" altLang="en-US" dirty="0"/>
              <a:t>When designing a new network or mapping an existing one, the documentation should identify:</a:t>
            </a:r>
            <a:endParaRPr lang="en-CA" altLang="en-US" dirty="0"/>
          </a:p>
          <a:p>
            <a:pPr lvl="1"/>
            <a:r>
              <a:rPr lang="en-CA" altLang="en-US" dirty="0"/>
              <a:t>Device names</a:t>
            </a:r>
            <a:endParaRPr lang="en-CA" altLang="en-US" dirty="0"/>
          </a:p>
          <a:p>
            <a:pPr lvl="1"/>
            <a:r>
              <a:rPr lang="en-CA" altLang="en-US" dirty="0"/>
              <a:t>Interfaces used in the design</a:t>
            </a:r>
            <a:endParaRPr lang="en-CA" altLang="en-US" dirty="0"/>
          </a:p>
          <a:p>
            <a:pPr lvl="1"/>
            <a:r>
              <a:rPr lang="en-CA" altLang="en-US" dirty="0"/>
              <a:t>IP addresses and subnet masks</a:t>
            </a:r>
            <a:endParaRPr lang="en-CA" altLang="en-US" dirty="0"/>
          </a:p>
          <a:p>
            <a:pPr lvl="1"/>
            <a:r>
              <a:rPr lang="en-CA" altLang="en-US" dirty="0"/>
              <a:t>Default gateway addresses</a:t>
            </a:r>
            <a:endParaRPr lang="en-CA" altLang="en-US" dirty="0"/>
          </a:p>
          <a:p>
            <a:r>
              <a:rPr lang="en-CA" altLang="en-US" dirty="0"/>
              <a:t>The figure in the left shows two useful documents:</a:t>
            </a:r>
            <a:endParaRPr lang="en-CA" altLang="en-US" dirty="0"/>
          </a:p>
          <a:p>
            <a:pPr lvl="1"/>
            <a:r>
              <a:rPr lang="en-CA" altLang="en-US" dirty="0"/>
              <a:t>Topology diagram – provides a visual reference that indicates the physical and logical Layer 3 addressing.  </a:t>
            </a:r>
            <a:endParaRPr lang="en-CA" altLang="en-US" dirty="0"/>
          </a:p>
          <a:p>
            <a:pPr lvl="1"/>
            <a:r>
              <a:rPr lang="en-CA" altLang="en-US" dirty="0"/>
              <a:t>An addressing table – captures device names, interfaces, IPv4 addresses, subnet masks, and default gateway addresses.</a:t>
            </a:r>
            <a:endParaRPr lang="en-CA" altLang="en-US" dirty="0"/>
          </a:p>
        </p:txBody>
      </p:sp>
      <p:pic>
        <p:nvPicPr>
          <p:cNvPr id="2" name="Picture 1"/>
          <p:cNvPicPr>
            <a:picLocks noChangeAspect="1"/>
          </p:cNvPicPr>
          <p:nvPr/>
        </p:nvPicPr>
        <p:blipFill>
          <a:blip r:embed="rId1"/>
          <a:stretch>
            <a:fillRect/>
          </a:stretch>
        </p:blipFill>
        <p:spPr>
          <a:xfrm>
            <a:off x="101453" y="1192635"/>
            <a:ext cx="5057775" cy="2438400"/>
          </a:xfrm>
          <a:prstGeom prst="rect">
            <a:avLst/>
          </a:prstGeom>
        </p:spPr>
      </p:pic>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0" y="41393"/>
            <a:ext cx="5024481" cy="757551"/>
          </a:xfrm>
        </p:spPr>
        <p:txBody>
          <a:bodyPr/>
          <a:lstStyle/>
          <a:p>
            <a:r>
              <a:rPr lang="en-CA" altLang="en-US" sz="1600" dirty="0"/>
              <a:t>Connect Devices</a:t>
            </a:r>
            <a:br>
              <a:rPr lang="en-CA" altLang="en-US" sz="1600" dirty="0"/>
            </a:br>
            <a:r>
              <a:rPr lang="en-CA" altLang="en-US" dirty="0"/>
              <a:t>Enable IP on a Host</a:t>
            </a:r>
            <a:endParaRPr lang="en-CA" altLang="en-US" dirty="0"/>
          </a:p>
        </p:txBody>
      </p:sp>
      <p:sp>
        <p:nvSpPr>
          <p:cNvPr id="3" name="Content Placeholder 2"/>
          <p:cNvSpPr>
            <a:spLocks noGrp="1"/>
          </p:cNvSpPr>
          <p:nvPr>
            <p:ph idx="1"/>
          </p:nvPr>
        </p:nvSpPr>
        <p:spPr>
          <a:xfrm>
            <a:off x="5024480" y="377504"/>
            <a:ext cx="3565847" cy="4328720"/>
          </a:xfrm>
        </p:spPr>
        <p:txBody>
          <a:bodyPr/>
          <a:lstStyle/>
          <a:p>
            <a:r>
              <a:rPr lang="en-CA" altLang="en-US" dirty="0"/>
              <a:t>A host can be assigned IP address information either:</a:t>
            </a:r>
            <a:endParaRPr lang="en-CA" altLang="en-US" dirty="0"/>
          </a:p>
          <a:p>
            <a:pPr lvl="1"/>
            <a:r>
              <a:rPr lang="en-CA" altLang="en-US" dirty="0"/>
              <a:t>Statically – </a:t>
            </a:r>
            <a:endParaRPr lang="en-CA" altLang="en-US" dirty="0"/>
          </a:p>
          <a:p>
            <a:pPr lvl="2"/>
            <a:r>
              <a:rPr lang="en-CA" altLang="en-US" sz="1300" dirty="0"/>
              <a:t>Manually configure the IP address, subnet mask, default gateway and probably the DNS server IP address. </a:t>
            </a:r>
            <a:endParaRPr lang="en-CA" altLang="en-US" sz="1300" dirty="0"/>
          </a:p>
          <a:p>
            <a:pPr lvl="2"/>
            <a:r>
              <a:rPr lang="en-CA" altLang="en-US" sz="1300" dirty="0"/>
              <a:t>Servers and printers commonly use static address assignment.</a:t>
            </a:r>
            <a:endParaRPr lang="en-CA" altLang="en-US" sz="1300" dirty="0"/>
          </a:p>
          <a:p>
            <a:pPr lvl="1"/>
            <a:r>
              <a:rPr lang="en-CA" altLang="en-US" dirty="0"/>
              <a:t>Dynamically – </a:t>
            </a:r>
            <a:endParaRPr lang="en-CA" altLang="en-US" dirty="0"/>
          </a:p>
          <a:p>
            <a:pPr lvl="2"/>
            <a:r>
              <a:rPr lang="en-CA" altLang="en-US" sz="1300" dirty="0"/>
              <a:t>IP address information is obtained from a Dynamic Host Configuration Protocol (DHCP) server. </a:t>
            </a:r>
            <a:endParaRPr lang="en-CA" altLang="en-US" sz="1300" dirty="0"/>
          </a:p>
          <a:p>
            <a:pPr lvl="2"/>
            <a:r>
              <a:rPr lang="en-CA" altLang="en-US" sz="1300" dirty="0"/>
              <a:t>DHCP server provides an IP address, subnet mask, default gateway and probably the DNS server information. </a:t>
            </a:r>
            <a:endParaRPr lang="en-CA" altLang="en-US" sz="1300" dirty="0"/>
          </a:p>
          <a:p>
            <a:pPr lvl="2"/>
            <a:r>
              <a:rPr lang="en-CA" altLang="en-US" sz="1300" dirty="0"/>
              <a:t>Most host devices uses DHCP.</a:t>
            </a:r>
            <a:endParaRPr lang="en-CA" altLang="en-US" sz="1300" dirty="0"/>
          </a:p>
        </p:txBody>
      </p:sp>
      <p:pic>
        <p:nvPicPr>
          <p:cNvPr id="6" name="Picture 5"/>
          <p:cNvPicPr>
            <a:picLocks noChangeAspect="1"/>
          </p:cNvPicPr>
          <p:nvPr/>
        </p:nvPicPr>
        <p:blipFill>
          <a:blip r:embed="rId1"/>
          <a:stretch>
            <a:fillRect/>
          </a:stretch>
        </p:blipFill>
        <p:spPr>
          <a:xfrm>
            <a:off x="148424" y="969496"/>
            <a:ext cx="4333875" cy="3305175"/>
          </a:xfrm>
          <a:prstGeom prst="rect">
            <a:avLst/>
          </a:prstGeom>
        </p:spPr>
      </p:pic>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0" y="41393"/>
            <a:ext cx="5024481" cy="757551"/>
          </a:xfrm>
        </p:spPr>
        <p:txBody>
          <a:bodyPr/>
          <a:lstStyle/>
          <a:p>
            <a:r>
              <a:rPr lang="en-CA" altLang="en-US" sz="1600" dirty="0"/>
              <a:t>Connect Devices</a:t>
            </a:r>
            <a:br>
              <a:rPr lang="en-CA" altLang="en-US" sz="1600" dirty="0"/>
            </a:br>
            <a:r>
              <a:rPr lang="en-CA" altLang="en-US" dirty="0"/>
              <a:t>Device LEDs</a:t>
            </a:r>
            <a:endParaRPr lang="en-CA" altLang="en-US" dirty="0"/>
          </a:p>
        </p:txBody>
      </p:sp>
      <p:sp>
        <p:nvSpPr>
          <p:cNvPr id="3" name="Content Placeholder 2"/>
          <p:cNvSpPr>
            <a:spLocks noGrp="1"/>
          </p:cNvSpPr>
          <p:nvPr>
            <p:ph idx="1"/>
          </p:nvPr>
        </p:nvSpPr>
        <p:spPr>
          <a:xfrm>
            <a:off x="4788817" y="266954"/>
            <a:ext cx="4271294" cy="4512436"/>
          </a:xfrm>
        </p:spPr>
        <p:txBody>
          <a:bodyPr/>
          <a:lstStyle/>
          <a:p>
            <a:r>
              <a:rPr lang="en-CA" altLang="en-US" dirty="0"/>
              <a:t>Host computers connect to a wired network using a RJ-45 Ethernet cable.  </a:t>
            </a:r>
            <a:endParaRPr lang="en-CA" altLang="en-US" dirty="0"/>
          </a:p>
          <a:p>
            <a:r>
              <a:rPr lang="en-CA" altLang="en-US" dirty="0"/>
              <a:t>Most network interface cards have one or two LED indicators next to the interface.  </a:t>
            </a:r>
            <a:endParaRPr lang="en-CA" altLang="en-US" dirty="0"/>
          </a:p>
          <a:p>
            <a:pPr lvl="1"/>
            <a:r>
              <a:rPr lang="en-CA" altLang="en-US" dirty="0"/>
              <a:t>Green LED indicates a good connection.</a:t>
            </a:r>
            <a:endParaRPr lang="en-CA" altLang="en-US" dirty="0"/>
          </a:p>
          <a:p>
            <a:pPr lvl="1"/>
            <a:r>
              <a:rPr lang="en-CA" altLang="en-US" dirty="0"/>
              <a:t>A blinking green indicates network activity.</a:t>
            </a:r>
            <a:endParaRPr lang="en-CA" altLang="en-US" dirty="0"/>
          </a:p>
          <a:p>
            <a:pPr lvl="1"/>
            <a:r>
              <a:rPr lang="en-CA" altLang="en-US" dirty="0"/>
              <a:t>No light indicates a problem with either the network cable or the network itself.</a:t>
            </a:r>
            <a:endParaRPr lang="en-CA" altLang="en-US" dirty="0"/>
          </a:p>
          <a:p>
            <a:r>
              <a:rPr lang="en-CA" altLang="en-US" dirty="0"/>
              <a:t>Network infrastructure devices also use LEDs to provide a quick status view. For example, a Cisco Catalyst 2960 switch:</a:t>
            </a:r>
            <a:endParaRPr lang="en-CA" altLang="en-US" dirty="0"/>
          </a:p>
          <a:p>
            <a:pPr lvl="1"/>
            <a:r>
              <a:rPr lang="en-CA" altLang="en-US" dirty="0"/>
              <a:t>Green LEDs indicate a switch is functioning normally.</a:t>
            </a:r>
            <a:endParaRPr lang="en-CA" altLang="en-US" dirty="0"/>
          </a:p>
          <a:p>
            <a:pPr lvl="1"/>
            <a:r>
              <a:rPr lang="en-CA" altLang="en-US" dirty="0"/>
              <a:t>Amber LEDs indicate a malfunction.</a:t>
            </a:r>
            <a:endParaRPr lang="en-CA" altLang="en-US" dirty="0"/>
          </a:p>
          <a:p>
            <a:pPr lvl="0">
              <a:buClr>
                <a:srgbClr val="58585B"/>
              </a:buClr>
            </a:pPr>
            <a:r>
              <a:rPr lang="en-CA" altLang="en-US" dirty="0"/>
              <a:t>Cisco routers also use various LED indicators to provide status information.</a:t>
            </a:r>
            <a:endParaRPr lang="en-CA" altLang="en-US" dirty="0"/>
          </a:p>
          <a:p>
            <a:pPr lvl="1"/>
            <a:endParaRPr lang="en-CA" altLang="en-US" dirty="0"/>
          </a:p>
        </p:txBody>
      </p:sp>
      <p:pic>
        <p:nvPicPr>
          <p:cNvPr id="2" name="Picture 1"/>
          <p:cNvPicPr>
            <a:picLocks noChangeAspect="1"/>
          </p:cNvPicPr>
          <p:nvPr/>
        </p:nvPicPr>
        <p:blipFill>
          <a:blip r:embed="rId1"/>
          <a:stretch>
            <a:fillRect/>
          </a:stretch>
        </p:blipFill>
        <p:spPr>
          <a:xfrm>
            <a:off x="119107" y="955821"/>
            <a:ext cx="4594296" cy="3480029"/>
          </a:xfrm>
          <a:prstGeom prst="rect">
            <a:avLst/>
          </a:prstGeom>
        </p:spPr>
      </p:pic>
    </p:spTree>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0" y="41393"/>
            <a:ext cx="5024481" cy="757551"/>
          </a:xfrm>
        </p:spPr>
        <p:txBody>
          <a:bodyPr/>
          <a:lstStyle/>
          <a:p>
            <a:r>
              <a:rPr lang="en-CA" altLang="en-US" sz="1600" dirty="0"/>
              <a:t>Connect Devices</a:t>
            </a:r>
            <a:br>
              <a:rPr lang="en-CA" altLang="en-US" sz="1600" dirty="0"/>
            </a:br>
            <a:r>
              <a:rPr lang="en-CA" altLang="en-US" dirty="0"/>
              <a:t>Console Access</a:t>
            </a:r>
            <a:endParaRPr lang="en-CA" altLang="en-US" dirty="0"/>
          </a:p>
        </p:txBody>
      </p:sp>
      <p:sp>
        <p:nvSpPr>
          <p:cNvPr id="3" name="Content Placeholder 2"/>
          <p:cNvSpPr>
            <a:spLocks noGrp="1"/>
          </p:cNvSpPr>
          <p:nvPr>
            <p:ph idx="1"/>
          </p:nvPr>
        </p:nvSpPr>
        <p:spPr>
          <a:xfrm>
            <a:off x="4183693" y="348827"/>
            <a:ext cx="4607969" cy="4605555"/>
          </a:xfrm>
        </p:spPr>
        <p:txBody>
          <a:bodyPr/>
          <a:lstStyle/>
          <a:p>
            <a:r>
              <a:rPr lang="en-CA" altLang="en-US" dirty="0"/>
              <a:t>Devices including routers and switches are commonly accessed using Secure Shell (SSH) or </a:t>
            </a:r>
            <a:r>
              <a:rPr lang="en-CA" altLang="en-US" dirty="0" err="1"/>
              <a:t>HyperText</a:t>
            </a:r>
            <a:r>
              <a:rPr lang="en-CA" altLang="en-US" dirty="0"/>
              <a:t> Transfer Protocol Secure (HTTPS).</a:t>
            </a:r>
            <a:endParaRPr lang="en-CA" altLang="en-US" dirty="0"/>
          </a:p>
          <a:p>
            <a:r>
              <a:rPr lang="en-CA" altLang="en-US" dirty="0"/>
              <a:t>Console access is usually only required when initially configuring a device, or if remote access fails.</a:t>
            </a:r>
            <a:endParaRPr lang="en-CA" altLang="en-US" dirty="0"/>
          </a:p>
          <a:p>
            <a:r>
              <a:rPr lang="en-CA" altLang="en-US" dirty="0"/>
              <a:t>Console access requires:</a:t>
            </a:r>
            <a:endParaRPr lang="en-CA" altLang="en-US" dirty="0"/>
          </a:p>
          <a:p>
            <a:pPr lvl="1"/>
            <a:r>
              <a:rPr lang="en-CA" altLang="en-US" dirty="0"/>
              <a:t>Console cable – RJ-45 to DB-9 serial cable or a USB serial cable.</a:t>
            </a:r>
            <a:endParaRPr lang="en-CA" altLang="en-US" dirty="0"/>
          </a:p>
          <a:p>
            <a:pPr lvl="1"/>
            <a:r>
              <a:rPr lang="en-CA" altLang="en-US" dirty="0"/>
              <a:t>Terminal emulation software – Tera Term, </a:t>
            </a:r>
            <a:r>
              <a:rPr lang="en-CA" altLang="en-US" dirty="0" err="1"/>
              <a:t>PuTTY</a:t>
            </a:r>
            <a:r>
              <a:rPr lang="en-CA" altLang="en-US" dirty="0"/>
              <a:t>, or HyperTerminal</a:t>
            </a:r>
            <a:endParaRPr lang="en-CA" altLang="en-US" dirty="0"/>
          </a:p>
          <a:p>
            <a:r>
              <a:rPr lang="en-CA" altLang="en-US" dirty="0"/>
              <a:t>Cable is connected between the serial port of the host and the console port on the device.	</a:t>
            </a:r>
            <a:endParaRPr lang="en-CA" altLang="en-US" dirty="0"/>
          </a:p>
          <a:p>
            <a:pPr lvl="1"/>
            <a:r>
              <a:rPr lang="en-CA" altLang="en-US" dirty="0"/>
              <a:t>If a host does not have a serial port, use the USB port and a USB-to-RS-232 adapter.</a:t>
            </a:r>
            <a:endParaRPr lang="en-CA" altLang="en-US" dirty="0"/>
          </a:p>
          <a:p>
            <a:pPr lvl="1"/>
            <a:endParaRPr lang="en-CA" altLang="en-US" dirty="0"/>
          </a:p>
          <a:p>
            <a:endParaRPr lang="en-CA" altLang="en-US" dirty="0"/>
          </a:p>
        </p:txBody>
      </p:sp>
      <p:pic>
        <p:nvPicPr>
          <p:cNvPr id="4" name="Picture 3"/>
          <p:cNvPicPr>
            <a:picLocks noChangeAspect="1"/>
          </p:cNvPicPr>
          <p:nvPr/>
        </p:nvPicPr>
        <p:blipFill>
          <a:blip r:embed="rId1"/>
          <a:stretch>
            <a:fillRect/>
          </a:stretch>
        </p:blipFill>
        <p:spPr>
          <a:xfrm>
            <a:off x="358017" y="798944"/>
            <a:ext cx="3562350" cy="3381375"/>
          </a:xfrm>
          <a:prstGeom prst="rect">
            <a:avLst/>
          </a:prstGeom>
        </p:spPr>
      </p:pic>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4169327" cy="757551"/>
          </a:xfrm>
        </p:spPr>
        <p:txBody>
          <a:bodyPr/>
          <a:lstStyle/>
          <a:p>
            <a:r>
              <a:rPr lang="en-CA" altLang="en-US" sz="1600" dirty="0"/>
              <a:t>Connect Devices</a:t>
            </a:r>
            <a:br>
              <a:rPr lang="en-CA" altLang="en-US" sz="1600" dirty="0"/>
            </a:br>
            <a:r>
              <a:rPr lang="en-CA" altLang="en-US" dirty="0"/>
              <a:t>Enable IP on a Switch</a:t>
            </a:r>
            <a:endParaRPr lang="en-CA" altLang="en-US" dirty="0"/>
          </a:p>
        </p:txBody>
      </p:sp>
      <p:sp>
        <p:nvSpPr>
          <p:cNvPr id="3" name="Content Placeholder 2"/>
          <p:cNvSpPr>
            <a:spLocks noGrp="1"/>
          </p:cNvSpPr>
          <p:nvPr>
            <p:ph idx="1"/>
          </p:nvPr>
        </p:nvSpPr>
        <p:spPr>
          <a:xfrm>
            <a:off x="5421298" y="798944"/>
            <a:ext cx="3370363" cy="4022464"/>
          </a:xfrm>
        </p:spPr>
        <p:txBody>
          <a:bodyPr/>
          <a:lstStyle/>
          <a:p>
            <a:r>
              <a:rPr lang="en-CA" altLang="en-US" dirty="0"/>
              <a:t>Network devices require IP addresses in order for the network administrator to connect to the devices using Telnet, SSH, HTTP, or HTTPS.  </a:t>
            </a:r>
            <a:endParaRPr lang="en-CA" altLang="en-US" dirty="0"/>
          </a:p>
          <a:p>
            <a:r>
              <a:rPr lang="en-CA" altLang="en-US" dirty="0"/>
              <a:t>A switch requires an IP address to be configured on a virtual interface, called the switched virtual interface (SVI).</a:t>
            </a:r>
            <a:endParaRPr lang="en-CA" altLang="en-US" dirty="0"/>
          </a:p>
          <a:p>
            <a:r>
              <a:rPr lang="en-CA" altLang="en-US" dirty="0"/>
              <a:t>Commands in the figure to the left should be used to configure the IP address on </a:t>
            </a:r>
            <a:r>
              <a:rPr lang="en-CA" altLang="en-US" dirty="0" err="1"/>
              <a:t>vlan</a:t>
            </a:r>
            <a:r>
              <a:rPr lang="en-CA" altLang="en-US" dirty="0"/>
              <a:t> 1 and also the default-gateway information.  </a:t>
            </a:r>
            <a:endParaRPr lang="en-CA" altLang="en-US" dirty="0"/>
          </a:p>
        </p:txBody>
      </p:sp>
      <p:pic>
        <p:nvPicPr>
          <p:cNvPr id="2" name="Picture 1"/>
          <p:cNvPicPr>
            <a:picLocks noChangeAspect="1"/>
          </p:cNvPicPr>
          <p:nvPr/>
        </p:nvPicPr>
        <p:blipFill>
          <a:blip r:embed="rId1"/>
          <a:stretch>
            <a:fillRect/>
          </a:stretch>
        </p:blipFill>
        <p:spPr>
          <a:xfrm>
            <a:off x="182548" y="950490"/>
            <a:ext cx="5238750" cy="2990850"/>
          </a:xfrm>
          <a:prstGeom prst="rect">
            <a:avLst/>
          </a:prstGeom>
        </p:spPr>
      </p:pic>
    </p:spTree>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6140740" cy="757551"/>
          </a:xfrm>
        </p:spPr>
        <p:txBody>
          <a:bodyPr/>
          <a:lstStyle/>
          <a:p>
            <a:r>
              <a:rPr lang="en-CA" altLang="en-US" sz="1600" dirty="0"/>
              <a:t>Connect Devices</a:t>
            </a:r>
            <a:br>
              <a:rPr lang="en-CA" altLang="en-US" sz="1600" dirty="0"/>
            </a:br>
            <a:r>
              <a:rPr lang="en-CA" altLang="en-US" dirty="0"/>
              <a:t>Packet Tracer – Documenting the Network</a:t>
            </a:r>
            <a:endParaRPr lang="en-CA" altLang="en-US" dirty="0"/>
          </a:p>
        </p:txBody>
      </p:sp>
      <p:pic>
        <p:nvPicPr>
          <p:cNvPr id="5" name="Picture 4"/>
          <p:cNvPicPr>
            <a:picLocks noChangeAspect="1"/>
          </p:cNvPicPr>
          <p:nvPr/>
        </p:nvPicPr>
        <p:blipFill>
          <a:blip r:embed="rId1"/>
          <a:stretch>
            <a:fillRect/>
          </a:stretch>
        </p:blipFill>
        <p:spPr>
          <a:xfrm>
            <a:off x="1946406" y="926926"/>
            <a:ext cx="5107418" cy="3853319"/>
          </a:xfrm>
          <a:prstGeom prst="rect">
            <a:avLst/>
          </a:prstGeom>
          <a:ln>
            <a:solidFill>
              <a:srgbClr val="000000"/>
            </a:solidFill>
          </a:ln>
        </p:spPr>
      </p:pic>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5545122" cy="757551"/>
          </a:xfrm>
        </p:spPr>
        <p:txBody>
          <a:bodyPr/>
          <a:lstStyle/>
          <a:p>
            <a:r>
              <a:rPr lang="en-CA" altLang="en-US" sz="1600" dirty="0"/>
              <a:t>Router Basic Settings</a:t>
            </a:r>
            <a:br>
              <a:rPr lang="en-CA" altLang="en-US" sz="1600" dirty="0"/>
            </a:br>
            <a:r>
              <a:rPr lang="en-CA" altLang="en-US" dirty="0"/>
              <a:t>Configure Basic Router Settings </a:t>
            </a:r>
            <a:endParaRPr lang="en-CA" altLang="en-US" dirty="0"/>
          </a:p>
        </p:txBody>
      </p:sp>
      <p:sp>
        <p:nvSpPr>
          <p:cNvPr id="3" name="Content Placeholder 2"/>
          <p:cNvSpPr>
            <a:spLocks noGrp="1"/>
          </p:cNvSpPr>
          <p:nvPr>
            <p:ph idx="1"/>
          </p:nvPr>
        </p:nvSpPr>
        <p:spPr>
          <a:xfrm>
            <a:off x="5545123" y="348668"/>
            <a:ext cx="3481431" cy="4597166"/>
          </a:xfrm>
        </p:spPr>
        <p:txBody>
          <a:bodyPr/>
          <a:lstStyle/>
          <a:p>
            <a:r>
              <a:rPr lang="en-CA" altLang="en-US" dirty="0"/>
              <a:t>Cisco routers and switches have similar initial configuration steps:</a:t>
            </a:r>
            <a:endParaRPr lang="en-CA" altLang="en-US" dirty="0"/>
          </a:p>
          <a:p>
            <a:pPr lvl="1"/>
            <a:r>
              <a:rPr lang="en-CA" altLang="en-US" dirty="0"/>
              <a:t>Name the device in order to distinguish it from other devices in the network using the </a:t>
            </a:r>
            <a:r>
              <a:rPr lang="en-CA" altLang="en-US" b="1" dirty="0"/>
              <a:t>hostname</a:t>
            </a:r>
            <a:r>
              <a:rPr lang="en-CA" altLang="en-US" dirty="0"/>
              <a:t> command in global config mode.  </a:t>
            </a:r>
            <a:endParaRPr lang="en-CA" altLang="en-US" dirty="0"/>
          </a:p>
          <a:p>
            <a:pPr lvl="1"/>
            <a:r>
              <a:rPr lang="en-CA" altLang="en-US" dirty="0"/>
              <a:t>Secure management access as shown in the figure to the left in order to secure privileged EXEC, user EXEC, and remote access.</a:t>
            </a:r>
            <a:endParaRPr lang="en-CA" altLang="en-US" dirty="0"/>
          </a:p>
          <a:p>
            <a:pPr lvl="1"/>
            <a:r>
              <a:rPr lang="en-CA" altLang="en-US" dirty="0"/>
              <a:t>Configure a banner to provide legal notification of unauthorized access in global </a:t>
            </a:r>
            <a:r>
              <a:rPr lang="en-CA" altLang="en-US" dirty="0" err="1"/>
              <a:t>config</a:t>
            </a:r>
            <a:r>
              <a:rPr lang="en-CA" altLang="en-US" dirty="0"/>
              <a:t> mode: </a:t>
            </a:r>
            <a:r>
              <a:rPr lang="en-CA" altLang="en-US" b="1" dirty="0"/>
              <a:t>banner </a:t>
            </a:r>
            <a:r>
              <a:rPr lang="en-CA" altLang="en-US" b="1" dirty="0" err="1"/>
              <a:t>motd</a:t>
            </a:r>
            <a:r>
              <a:rPr lang="en-CA" altLang="en-US" b="1" dirty="0"/>
              <a:t> ** Authorized Access Only! **</a:t>
            </a:r>
            <a:endParaRPr lang="en-CA" altLang="en-US" dirty="0"/>
          </a:p>
          <a:p>
            <a:pPr lvl="0">
              <a:buClr>
                <a:srgbClr val="58585B"/>
              </a:buClr>
            </a:pPr>
            <a:r>
              <a:rPr lang="en-CA" altLang="en-US" dirty="0"/>
              <a:t>Always save your configuration changes and verify your settings:</a:t>
            </a:r>
            <a:r>
              <a:rPr lang="en-CA" altLang="en-US" b="1" dirty="0"/>
              <a:t>  R1# copy running-</a:t>
            </a:r>
            <a:r>
              <a:rPr lang="en-CA" altLang="en-US" b="1" dirty="0" err="1"/>
              <a:t>config</a:t>
            </a:r>
            <a:r>
              <a:rPr lang="en-CA" altLang="en-US" b="1" dirty="0"/>
              <a:t> </a:t>
            </a:r>
            <a:r>
              <a:rPr lang="en-CA" altLang="en-US" b="1" dirty="0" err="1"/>
              <a:t>startup-config</a:t>
            </a:r>
            <a:endParaRPr lang="en-CA" altLang="en-US" dirty="0"/>
          </a:p>
        </p:txBody>
      </p:sp>
      <p:pic>
        <p:nvPicPr>
          <p:cNvPr id="6" name="Picture 5"/>
          <p:cNvPicPr>
            <a:picLocks noChangeAspect="1"/>
          </p:cNvPicPr>
          <p:nvPr/>
        </p:nvPicPr>
        <p:blipFill>
          <a:blip r:embed="rId1"/>
          <a:stretch>
            <a:fillRect/>
          </a:stretch>
        </p:blipFill>
        <p:spPr>
          <a:xfrm>
            <a:off x="158517" y="932751"/>
            <a:ext cx="5219700" cy="3429000"/>
          </a:xfrm>
          <a:prstGeom prst="rect">
            <a:avLst/>
          </a:prstGeom>
        </p:spPr>
      </p:pic>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5545122" cy="757551"/>
          </a:xfrm>
        </p:spPr>
        <p:txBody>
          <a:bodyPr/>
          <a:lstStyle/>
          <a:p>
            <a:r>
              <a:rPr lang="en-CA" altLang="en-US" sz="1600" dirty="0"/>
              <a:t>Router Basic Settings</a:t>
            </a:r>
            <a:br>
              <a:rPr lang="en-CA" altLang="en-US" sz="1600" dirty="0"/>
            </a:br>
            <a:r>
              <a:rPr lang="en-CA" altLang="en-US" dirty="0"/>
              <a:t>Configure an IPv4 Router Interface</a:t>
            </a:r>
            <a:endParaRPr lang="en-CA" altLang="en-US" dirty="0"/>
          </a:p>
        </p:txBody>
      </p:sp>
      <p:sp>
        <p:nvSpPr>
          <p:cNvPr id="3" name="Content Placeholder 2"/>
          <p:cNvSpPr>
            <a:spLocks noGrp="1"/>
          </p:cNvSpPr>
          <p:nvPr>
            <p:ph idx="1"/>
          </p:nvPr>
        </p:nvSpPr>
        <p:spPr>
          <a:xfrm>
            <a:off x="5545123" y="314186"/>
            <a:ext cx="3548543" cy="4546833"/>
          </a:xfrm>
        </p:spPr>
        <p:txBody>
          <a:bodyPr/>
          <a:lstStyle/>
          <a:p>
            <a:r>
              <a:rPr lang="en-CA" altLang="en-US" dirty="0"/>
              <a:t>Layer 2 switches support LANs and have multiple </a:t>
            </a:r>
            <a:r>
              <a:rPr lang="en-CA" altLang="en-US" dirty="0" err="1"/>
              <a:t>FastEthernet</a:t>
            </a:r>
            <a:r>
              <a:rPr lang="en-CA" altLang="en-US" dirty="0"/>
              <a:t> or Gigabit Ethernet ports.</a:t>
            </a:r>
            <a:endParaRPr lang="en-CA" altLang="en-US" dirty="0"/>
          </a:p>
          <a:p>
            <a:r>
              <a:rPr lang="en-CA" altLang="en-US" dirty="0"/>
              <a:t>Routers support LANs and WANs and have many types of interfaces including Gigabit Ethernet and High-Speed WAN Interface Card (HWIC) slots to support WAN connections.   </a:t>
            </a:r>
            <a:endParaRPr lang="en-CA" altLang="en-US" dirty="0"/>
          </a:p>
          <a:p>
            <a:r>
              <a:rPr lang="en-CA" altLang="en-US" dirty="0"/>
              <a:t>As shown in the figure to the left, an interface must be configured with an IP address, subnet mask, and activated with the </a:t>
            </a:r>
            <a:r>
              <a:rPr lang="en-CA" altLang="en-US" b="1" dirty="0"/>
              <a:t>no shutdown </a:t>
            </a:r>
            <a:r>
              <a:rPr lang="en-CA" altLang="en-US" dirty="0"/>
              <a:t>command. </a:t>
            </a:r>
            <a:endParaRPr lang="en-CA" altLang="en-US" dirty="0"/>
          </a:p>
          <a:p>
            <a:pPr marL="0" indent="0">
              <a:buNone/>
            </a:pPr>
            <a:r>
              <a:rPr lang="en-CA" altLang="en-US" sz="1400" dirty="0"/>
              <a:t>Note: In a lab environment, the serial interface with the cable end labeled DCE needs to be configured with a </a:t>
            </a:r>
            <a:r>
              <a:rPr lang="en-CA" altLang="en-US" sz="1400" b="1" dirty="0"/>
              <a:t>clock rate </a:t>
            </a:r>
            <a:r>
              <a:rPr lang="en-CA" altLang="en-US" sz="1400" dirty="0"/>
              <a:t>command. </a:t>
            </a:r>
            <a:endParaRPr lang="en-CA" altLang="en-US" sz="1400" dirty="0"/>
          </a:p>
        </p:txBody>
      </p:sp>
      <p:pic>
        <p:nvPicPr>
          <p:cNvPr id="4" name="Picture 3"/>
          <p:cNvPicPr>
            <a:picLocks noChangeAspect="1"/>
          </p:cNvPicPr>
          <p:nvPr/>
        </p:nvPicPr>
        <p:blipFill>
          <a:blip r:embed="rId1"/>
          <a:stretch>
            <a:fillRect/>
          </a:stretch>
        </p:blipFill>
        <p:spPr>
          <a:xfrm>
            <a:off x="95031" y="1051114"/>
            <a:ext cx="5229225" cy="3343275"/>
          </a:xfrm>
          <a:prstGeom prst="rect">
            <a:avLst/>
          </a:prstGeom>
        </p:spPr>
      </p:pic>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5545122" cy="757551"/>
          </a:xfrm>
        </p:spPr>
        <p:txBody>
          <a:bodyPr/>
          <a:lstStyle/>
          <a:p>
            <a:r>
              <a:rPr lang="en-CA" altLang="en-US" sz="1600" dirty="0"/>
              <a:t>Router Basic Settings</a:t>
            </a:r>
            <a:br>
              <a:rPr lang="en-CA" altLang="en-US" sz="1600" dirty="0"/>
            </a:br>
            <a:r>
              <a:rPr lang="en-CA" altLang="en-US" dirty="0"/>
              <a:t>Configure an IPv6 Router Interface</a:t>
            </a:r>
            <a:endParaRPr lang="en-CA" altLang="en-US" dirty="0"/>
          </a:p>
        </p:txBody>
      </p:sp>
      <p:sp>
        <p:nvSpPr>
          <p:cNvPr id="3" name="Content Placeholder 2"/>
          <p:cNvSpPr>
            <a:spLocks noGrp="1"/>
          </p:cNvSpPr>
          <p:nvPr>
            <p:ph idx="1"/>
          </p:nvPr>
        </p:nvSpPr>
        <p:spPr>
          <a:xfrm>
            <a:off x="5417388" y="226503"/>
            <a:ext cx="3648973" cy="4546833"/>
          </a:xfrm>
        </p:spPr>
        <p:txBody>
          <a:bodyPr/>
          <a:lstStyle/>
          <a:p>
            <a:r>
              <a:rPr lang="en-CA" altLang="en-US" dirty="0"/>
              <a:t>To configure host PC1, statically assign an IPv6 address to the host under Internet Control Protocol Version 6 (TCP/IPv6) Properties.</a:t>
            </a:r>
            <a:endParaRPr lang="en-CA" altLang="en-US" dirty="0"/>
          </a:p>
          <a:p>
            <a:r>
              <a:rPr lang="en-CA" altLang="en-US" dirty="0"/>
              <a:t>Configuring an IPv6 interface is very similar to configuring an IPv4 interface, use the </a:t>
            </a:r>
            <a:r>
              <a:rPr lang="en-CA" altLang="en-US" b="1" dirty="0"/>
              <a:t>ipv6 address</a:t>
            </a:r>
            <a:r>
              <a:rPr lang="en-CA" altLang="en-US" dirty="0"/>
              <a:t> command.</a:t>
            </a:r>
            <a:endParaRPr lang="en-CA" altLang="en-US" dirty="0"/>
          </a:p>
          <a:p>
            <a:r>
              <a:rPr lang="en-CA" altLang="en-US" dirty="0"/>
              <a:t>As shown in the figure, configure the interface with an IPv6 address and subnet mask prefix.</a:t>
            </a:r>
            <a:endParaRPr lang="en-CA" altLang="en-US" dirty="0"/>
          </a:p>
          <a:p>
            <a:r>
              <a:rPr lang="en-CA" altLang="en-US" dirty="0"/>
              <a:t>Activate the interface with the </a:t>
            </a:r>
            <a:r>
              <a:rPr lang="en-CA" altLang="en-US" b="1" dirty="0"/>
              <a:t>no shutdown </a:t>
            </a:r>
            <a:r>
              <a:rPr lang="en-CA" altLang="en-US" dirty="0"/>
              <a:t>command.</a:t>
            </a:r>
            <a:endParaRPr lang="en-CA" altLang="en-US" dirty="0"/>
          </a:p>
          <a:p>
            <a:r>
              <a:rPr lang="en-CA" altLang="en-US" dirty="0"/>
              <a:t>An interface can generate its own IPv6 link-local address without having a global unicast address by using the </a:t>
            </a:r>
            <a:r>
              <a:rPr lang="en-CA" altLang="en-US" b="1" dirty="0"/>
              <a:t>ipv6 enable</a:t>
            </a:r>
            <a:r>
              <a:rPr lang="en-CA" altLang="en-US" dirty="0"/>
              <a:t> interface </a:t>
            </a:r>
            <a:r>
              <a:rPr lang="en-CA" altLang="en-US" dirty="0" err="1"/>
              <a:t>config</a:t>
            </a:r>
            <a:r>
              <a:rPr lang="en-CA" altLang="en-US" dirty="0"/>
              <a:t> command.</a:t>
            </a:r>
            <a:endParaRPr lang="en-CA" altLang="en-US" dirty="0"/>
          </a:p>
        </p:txBody>
      </p:sp>
      <p:pic>
        <p:nvPicPr>
          <p:cNvPr id="2" name="Picture 1"/>
          <p:cNvPicPr>
            <a:picLocks noChangeAspect="1"/>
          </p:cNvPicPr>
          <p:nvPr/>
        </p:nvPicPr>
        <p:blipFill>
          <a:blip r:embed="rId1"/>
          <a:stretch>
            <a:fillRect/>
          </a:stretch>
        </p:blipFill>
        <p:spPr>
          <a:xfrm>
            <a:off x="79412" y="798944"/>
            <a:ext cx="5172075" cy="2886075"/>
          </a:xfrm>
          <a:prstGeom prst="rect">
            <a:avLst/>
          </a:prstGeom>
        </p:spPr>
      </p:pic>
      <p:sp>
        <p:nvSpPr>
          <p:cNvPr id="7" name="Content Placeholder 2"/>
          <p:cNvSpPr txBox="1"/>
          <p:nvPr/>
        </p:nvSpPr>
        <p:spPr bwMode="auto">
          <a:xfrm>
            <a:off x="98438" y="3872602"/>
            <a:ext cx="5172075" cy="48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lstStyle>
            <a:lvl1pPr marL="170180" indent="-170180" algn="l" defTabSz="684530"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MS PGothic" panose="020B0600070205080204" pitchFamily="34" charset="-128"/>
                <a:cs typeface="CiscoSans"/>
              </a:defRPr>
            </a:lvl1pPr>
            <a:lvl2pPr marL="358775" indent="-215900" algn="l" defTabSz="684530" rtl="0" eaLnBrk="1" fontAlgn="base" hangingPunct="1">
              <a:lnSpc>
                <a:spcPct val="100000"/>
              </a:lnSpc>
              <a:spcBef>
                <a:spcPts val="300"/>
              </a:spcBef>
              <a:spcAft>
                <a:spcPts val="300"/>
              </a:spcAft>
              <a:buClr>
                <a:schemeClr val="tx2"/>
              </a:buClr>
              <a:buFont typeface="Arial" panose="020B0604020202020204" pitchFamily="34" charset="0"/>
              <a:buChar char="•"/>
              <a:defRPr lang="en-US" sz="1400" kern="1200">
                <a:solidFill>
                  <a:srgbClr val="000000"/>
                </a:solidFill>
                <a:latin typeface="+mn-lt"/>
                <a:ea typeface="MS PGothic" panose="020B0600070205080204" pitchFamily="34" charset="-128"/>
                <a:cs typeface="CiscoSans"/>
              </a:defRPr>
            </a:lvl2pPr>
            <a:lvl3pPr marL="431800" indent="-170180" algn="l" defTabSz="684530" rtl="0" eaLnBrk="1" fontAlgn="base" hangingPunct="1">
              <a:lnSpc>
                <a:spcPct val="100000"/>
              </a:lnSpc>
              <a:spcBef>
                <a:spcPts val="300"/>
              </a:spcBef>
              <a:spcAft>
                <a:spcPts val="300"/>
              </a:spcAft>
              <a:buFont typeface="Arial" panose="020B0604020202020204" pitchFamily="34" charset="0"/>
              <a:buChar char="•"/>
              <a:defRPr lang="en-US" sz="1200" kern="1200">
                <a:solidFill>
                  <a:srgbClr val="000000"/>
                </a:solidFill>
                <a:latin typeface="+mn-lt"/>
                <a:ea typeface="MS PGothic" panose="020B0600070205080204" pitchFamily="34" charset="-128"/>
                <a:cs typeface="CiscoSans"/>
              </a:defRPr>
            </a:lvl3pPr>
            <a:lvl4pPr marL="503555" indent="-170180" algn="l" defTabSz="684530" rtl="0" eaLnBrk="1" fontAlgn="base" hangingPunct="1">
              <a:lnSpc>
                <a:spcPct val="100000"/>
              </a:lnSpc>
              <a:spcBef>
                <a:spcPts val="300"/>
              </a:spcBef>
              <a:spcAft>
                <a:spcPts val="300"/>
              </a:spcAft>
              <a:buFont typeface="Arial" panose="020B0604020202020204" pitchFamily="34" charset="0"/>
              <a:buChar char="•"/>
              <a:defRPr lang="en-US" sz="1100" kern="1200">
                <a:solidFill>
                  <a:srgbClr val="000000"/>
                </a:solidFill>
                <a:latin typeface="+mn-lt"/>
                <a:ea typeface="MS PGothic" panose="020B0600070205080204" pitchFamily="34" charset="-128"/>
                <a:cs typeface="CiscoSans"/>
              </a:defRPr>
            </a:lvl4pPr>
            <a:lvl5pPr marL="57467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panose="020B0600070205080204" pitchFamily="34" charset="-128"/>
                <a:cs typeface="CiscoSans"/>
              </a:defRPr>
            </a:lvl5pPr>
            <a:lvl6pPr marL="863600" indent="-171450" algn="l" defTabSz="685800" rtl="0" eaLnBrk="1" latinLnBrk="0" hangingPunct="1">
              <a:spcBef>
                <a:spcPts val="600"/>
              </a:spcBef>
              <a:buFont typeface="Arial" panose="020B0604020202020204" pitchFamily="34" charset="0"/>
              <a:buChar char="•"/>
              <a:defRPr sz="900" kern="1200" baseline="0">
                <a:solidFill>
                  <a:schemeClr val="tx1"/>
                </a:solidFill>
                <a:latin typeface="+mn-lt"/>
                <a:ea typeface="+mn-ea"/>
                <a:cs typeface="+mn-cs"/>
              </a:defRPr>
            </a:lvl6pPr>
            <a:lvl7pPr marL="935990" indent="-171450" algn="l" defTabSz="685800" rtl="0" eaLnBrk="1" latinLnBrk="0" hangingPunct="1">
              <a:spcBef>
                <a:spcPts val="600"/>
              </a:spcBef>
              <a:buFont typeface="Arial" panose="020B0604020202020204" pitchFamily="34" charset="0"/>
              <a:buChar char="•"/>
              <a:defRPr sz="800" kern="1200" baseline="0">
                <a:solidFill>
                  <a:schemeClr val="tx1"/>
                </a:solidFill>
                <a:latin typeface="+mn-lt"/>
                <a:ea typeface="+mn-ea"/>
                <a:cs typeface="+mn-cs"/>
              </a:defRPr>
            </a:lvl7pPr>
            <a:lvl8pPr marL="2400300" indent="0" algn="l" defTabSz="685800" rtl="0" eaLnBrk="1" latinLnBrk="0" hangingPunct="1">
              <a:spcBef>
                <a:spcPct val="20000"/>
              </a:spcBef>
              <a:buFont typeface="Arial" panose="020B0604020202020204" pitchFamily="34" charset="0"/>
              <a:buNone/>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r>
              <a:rPr lang="en-CA" altLang="en-US" sz="1300" dirty="0"/>
              <a:t>The </a:t>
            </a:r>
            <a:r>
              <a:rPr lang="en-CA" altLang="en-US" sz="1300" b="1" dirty="0"/>
              <a:t>clock rate 128000 </a:t>
            </a:r>
            <a:r>
              <a:rPr lang="en-CA" altLang="en-US" sz="1300" dirty="0"/>
              <a:t>command was used since this is being configured in a lab environment.</a:t>
            </a:r>
            <a:endParaRPr lang="en-CA" altLang="en-US" sz="1300" dirty="0"/>
          </a:p>
        </p:txBody>
      </p:sp>
    </p:spTree>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0" y="41393"/>
            <a:ext cx="5960853" cy="757551"/>
          </a:xfrm>
        </p:spPr>
        <p:txBody>
          <a:bodyPr/>
          <a:lstStyle/>
          <a:p>
            <a:r>
              <a:rPr lang="en-CA" altLang="en-US" sz="1600" dirty="0"/>
              <a:t>Router Basic Settings</a:t>
            </a:r>
            <a:br>
              <a:rPr lang="en-CA" altLang="en-US" sz="1600" dirty="0"/>
            </a:br>
            <a:r>
              <a:rPr lang="en-CA" altLang="en-US" dirty="0"/>
              <a:t>Configure an IPv6 Router Interface (Cont.)</a:t>
            </a:r>
            <a:endParaRPr lang="en-CA" altLang="en-US" dirty="0"/>
          </a:p>
        </p:txBody>
      </p:sp>
      <p:sp>
        <p:nvSpPr>
          <p:cNvPr id="3" name="Content Placeholder 2"/>
          <p:cNvSpPr>
            <a:spLocks noGrp="1"/>
          </p:cNvSpPr>
          <p:nvPr>
            <p:ph idx="1"/>
          </p:nvPr>
        </p:nvSpPr>
        <p:spPr>
          <a:xfrm>
            <a:off x="5303359" y="924203"/>
            <a:ext cx="3763003" cy="4036103"/>
          </a:xfrm>
        </p:spPr>
        <p:txBody>
          <a:bodyPr/>
          <a:lstStyle/>
          <a:p>
            <a:r>
              <a:rPr lang="en-CA" altLang="en-US" sz="1400" dirty="0"/>
              <a:t>Unlike IPv4, IPv6 interfaces will typically have more than one IPv6 address.</a:t>
            </a:r>
            <a:endParaRPr lang="en-CA" altLang="en-US" sz="1400" dirty="0"/>
          </a:p>
          <a:p>
            <a:r>
              <a:rPr lang="en-CA" altLang="en-US" sz="1400" dirty="0"/>
              <a:t>An IPv6 device must have an IPv6 link-local address but will most likely also have an IPv6 global unicast address.  </a:t>
            </a:r>
            <a:endParaRPr lang="en-CA" altLang="en-US" sz="1400" dirty="0"/>
          </a:p>
          <a:p>
            <a:r>
              <a:rPr lang="en-CA" altLang="en-US" sz="1400" dirty="0"/>
              <a:t>An interface can also have multiple IPv6 global unicast addresses from the same subnet.</a:t>
            </a:r>
            <a:endParaRPr lang="en-CA" altLang="en-US" sz="1400" dirty="0"/>
          </a:p>
          <a:p>
            <a:r>
              <a:rPr lang="en-CA" altLang="en-US" sz="1400" dirty="0"/>
              <a:t>These commands can be used to create a global unicast or link-local IPv6 address:</a:t>
            </a:r>
            <a:endParaRPr lang="en-CA" altLang="en-US" sz="1400" dirty="0"/>
          </a:p>
          <a:p>
            <a:pPr lvl="1"/>
            <a:r>
              <a:rPr lang="en-CA" altLang="en-US" sz="1300" b="1" dirty="0"/>
              <a:t>ipv6 address </a:t>
            </a:r>
            <a:r>
              <a:rPr lang="en-CA" altLang="en-US" sz="1300" dirty="0"/>
              <a:t>ipv6-address/prefix-length</a:t>
            </a:r>
            <a:endParaRPr lang="en-CA" altLang="en-US" sz="1300" dirty="0"/>
          </a:p>
          <a:p>
            <a:pPr lvl="1"/>
            <a:r>
              <a:rPr lang="en-CA" altLang="en-US" sz="1300" b="1" dirty="0"/>
              <a:t>ipv6 address </a:t>
            </a:r>
            <a:r>
              <a:rPr lang="en-CA" altLang="en-US" sz="1300" dirty="0"/>
              <a:t>ipv6-address/prefix-length </a:t>
            </a:r>
            <a:r>
              <a:rPr lang="en-CA" altLang="en-US" sz="1300" b="1" dirty="0"/>
              <a:t>eui-64</a:t>
            </a:r>
            <a:endParaRPr lang="en-CA" altLang="en-US" sz="1300" b="1" dirty="0"/>
          </a:p>
          <a:p>
            <a:pPr lvl="1"/>
            <a:r>
              <a:rPr lang="en-CA" altLang="en-US" sz="1300" b="1" dirty="0"/>
              <a:t>ipv6 address </a:t>
            </a:r>
            <a:r>
              <a:rPr lang="en-CA" altLang="en-US" sz="1300" dirty="0"/>
              <a:t>ipv6-address/prefix-length </a:t>
            </a:r>
            <a:r>
              <a:rPr lang="en-CA" altLang="en-US" sz="1300" b="1" dirty="0"/>
              <a:t>link-local</a:t>
            </a:r>
            <a:endParaRPr lang="en-CA" altLang="en-US" sz="1300" b="1" dirty="0"/>
          </a:p>
          <a:p>
            <a:pPr lvl="1"/>
            <a:endParaRPr lang="en-CA" altLang="en-US" sz="1300" dirty="0"/>
          </a:p>
        </p:txBody>
      </p:sp>
      <p:pic>
        <p:nvPicPr>
          <p:cNvPr id="2" name="Picture 1"/>
          <p:cNvPicPr>
            <a:picLocks noChangeAspect="1"/>
          </p:cNvPicPr>
          <p:nvPr/>
        </p:nvPicPr>
        <p:blipFill>
          <a:blip r:embed="rId1"/>
          <a:stretch>
            <a:fillRect/>
          </a:stretch>
        </p:blipFill>
        <p:spPr>
          <a:xfrm>
            <a:off x="131284" y="1264770"/>
            <a:ext cx="5172075" cy="2886075"/>
          </a:xfrm>
          <a:prstGeom prst="rect">
            <a:avLst/>
          </a:prstGeom>
        </p:spPr>
      </p:pic>
    </p:spTree>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5545122" cy="757551"/>
          </a:xfrm>
        </p:spPr>
        <p:txBody>
          <a:bodyPr/>
          <a:lstStyle/>
          <a:p>
            <a:r>
              <a:rPr lang="en-CA" altLang="en-US" sz="1600" dirty="0"/>
              <a:t>Router Basic Settings</a:t>
            </a:r>
            <a:br>
              <a:rPr lang="en-CA" altLang="en-US" sz="1600" dirty="0"/>
            </a:br>
            <a:r>
              <a:rPr lang="en-CA" altLang="en-US" dirty="0"/>
              <a:t>Configure an IPv4 Loopback Interface</a:t>
            </a:r>
            <a:endParaRPr lang="en-CA" altLang="en-US" dirty="0"/>
          </a:p>
        </p:txBody>
      </p:sp>
      <p:sp>
        <p:nvSpPr>
          <p:cNvPr id="3" name="Content Placeholder 2"/>
          <p:cNvSpPr>
            <a:spLocks noGrp="1"/>
          </p:cNvSpPr>
          <p:nvPr>
            <p:ph idx="1"/>
          </p:nvPr>
        </p:nvSpPr>
        <p:spPr>
          <a:xfrm>
            <a:off x="5486400" y="327171"/>
            <a:ext cx="3548543" cy="4446165"/>
          </a:xfrm>
        </p:spPr>
        <p:txBody>
          <a:bodyPr/>
          <a:lstStyle/>
          <a:p>
            <a:r>
              <a:rPr lang="en-CA" altLang="en-US" dirty="0"/>
              <a:t>An IPv4 loopback interface is typically configured on a router for testing and management purposes.</a:t>
            </a:r>
            <a:endParaRPr lang="en-CA" altLang="en-US" dirty="0"/>
          </a:p>
          <a:p>
            <a:r>
              <a:rPr lang="en-CA" altLang="en-US" dirty="0"/>
              <a:t>A loopback interface is a logical interface internal to the router. </a:t>
            </a:r>
            <a:endParaRPr lang="en-CA" altLang="en-US" dirty="0"/>
          </a:p>
          <a:p>
            <a:pPr lvl="1"/>
            <a:r>
              <a:rPr lang="en-CA" altLang="en-US" dirty="0"/>
              <a:t>It is not assigned to a physical port and can not be connected to any other device.  </a:t>
            </a:r>
            <a:endParaRPr lang="en-CA" altLang="en-US" dirty="0"/>
          </a:p>
          <a:p>
            <a:pPr lvl="1"/>
            <a:r>
              <a:rPr lang="en-CA" altLang="en-US" dirty="0"/>
              <a:t>It is a software interface that is automatically placed in an “up” state as long as the router is functioning.</a:t>
            </a:r>
            <a:endParaRPr lang="en-CA" altLang="en-US" dirty="0"/>
          </a:p>
          <a:p>
            <a:r>
              <a:rPr lang="en-CA" altLang="en-US" dirty="0"/>
              <a:t>Some routing protocols such as OSPF require an address for identification, the loopback address can be used rather than an interface address which might go down on occasion, disrupting OSPF routing.  </a:t>
            </a:r>
            <a:endParaRPr lang="en-CA" altLang="en-US" dirty="0"/>
          </a:p>
          <a:p>
            <a:endParaRPr lang="en-CA" altLang="en-US" dirty="0"/>
          </a:p>
        </p:txBody>
      </p:sp>
      <p:pic>
        <p:nvPicPr>
          <p:cNvPr id="5" name="Picture 4"/>
          <p:cNvPicPr>
            <a:picLocks noChangeAspect="1"/>
          </p:cNvPicPr>
          <p:nvPr/>
        </p:nvPicPr>
        <p:blipFill>
          <a:blip r:embed="rId1"/>
          <a:stretch>
            <a:fillRect/>
          </a:stretch>
        </p:blipFill>
        <p:spPr>
          <a:xfrm>
            <a:off x="128588" y="964996"/>
            <a:ext cx="5229225" cy="3028950"/>
          </a:xfrm>
          <a:prstGeom prst="rect">
            <a:avLst/>
          </a:prstGeom>
        </p:spPr>
      </p:pic>
    </p:spTree>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0" y="41393"/>
            <a:ext cx="8247529" cy="757551"/>
          </a:xfrm>
        </p:spPr>
        <p:txBody>
          <a:bodyPr/>
          <a:lstStyle/>
          <a:p>
            <a:r>
              <a:rPr lang="en-CA" altLang="en-US" sz="1600" dirty="0"/>
              <a:t>Router Basic Settings</a:t>
            </a:r>
            <a:br>
              <a:rPr lang="en-CA" altLang="en-US" sz="1600" dirty="0"/>
            </a:br>
            <a:r>
              <a:rPr lang="en-CA" altLang="en-US" dirty="0"/>
              <a:t>Packet Tracer – Configuring IPv4 and IPv6 Interfaces</a:t>
            </a:r>
            <a:endParaRPr lang="en-CA" altLang="en-US" dirty="0"/>
          </a:p>
        </p:txBody>
      </p:sp>
      <p:pic>
        <p:nvPicPr>
          <p:cNvPr id="6" name="Picture 5"/>
          <p:cNvPicPr>
            <a:picLocks noChangeAspect="1"/>
          </p:cNvPicPr>
          <p:nvPr/>
        </p:nvPicPr>
        <p:blipFill>
          <a:blip r:embed="rId1"/>
          <a:stretch>
            <a:fillRect/>
          </a:stretch>
        </p:blipFill>
        <p:spPr>
          <a:xfrm>
            <a:off x="1778696" y="771482"/>
            <a:ext cx="5473874" cy="4171600"/>
          </a:xfrm>
          <a:prstGeom prst="rect">
            <a:avLst/>
          </a:prstGeom>
          <a:ln>
            <a:solidFill>
              <a:srgbClr val="000000"/>
            </a:solidFill>
          </a:ln>
        </p:spPr>
      </p:pic>
    </p:spTree>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5486399" cy="757551"/>
          </a:xfrm>
        </p:spPr>
        <p:txBody>
          <a:bodyPr/>
          <a:lstStyle/>
          <a:p>
            <a:r>
              <a:rPr lang="en-CA" altLang="en-US" sz="1600" dirty="0"/>
              <a:t>Verify Connectivity of Directly Connected Networks</a:t>
            </a:r>
            <a:br>
              <a:rPr lang="en-CA" altLang="en-US" sz="1600" dirty="0"/>
            </a:br>
            <a:r>
              <a:rPr lang="en-CA" altLang="en-US" dirty="0"/>
              <a:t>Verify Interface Settings</a:t>
            </a:r>
            <a:endParaRPr lang="en-CA" altLang="en-US" dirty="0"/>
          </a:p>
        </p:txBody>
      </p:sp>
      <p:sp>
        <p:nvSpPr>
          <p:cNvPr id="3" name="Content Placeholder 2"/>
          <p:cNvSpPr>
            <a:spLocks noGrp="1"/>
          </p:cNvSpPr>
          <p:nvPr>
            <p:ph idx="1"/>
          </p:nvPr>
        </p:nvSpPr>
        <p:spPr>
          <a:xfrm>
            <a:off x="4827532" y="358219"/>
            <a:ext cx="4113703" cy="4326904"/>
          </a:xfrm>
        </p:spPr>
        <p:txBody>
          <a:bodyPr/>
          <a:lstStyle/>
          <a:p>
            <a:r>
              <a:rPr lang="en-CA" altLang="en-US" dirty="0"/>
              <a:t>The following commands are used to verify the operation and configuration of an interface:</a:t>
            </a:r>
            <a:endParaRPr lang="en-CA" altLang="en-US" dirty="0"/>
          </a:p>
          <a:p>
            <a:pPr lvl="1"/>
            <a:r>
              <a:rPr lang="en-CA" altLang="en-US" sz="1300" b="1" dirty="0"/>
              <a:t>show </a:t>
            </a:r>
            <a:r>
              <a:rPr lang="en-CA" altLang="en-US" sz="1300" b="1" dirty="0" err="1"/>
              <a:t>ip</a:t>
            </a:r>
            <a:r>
              <a:rPr lang="en-CA" altLang="en-US" sz="1300" b="1" dirty="0"/>
              <a:t> interface brief </a:t>
            </a:r>
            <a:r>
              <a:rPr lang="en-CA" altLang="en-US" sz="1300" dirty="0"/>
              <a:t>– Displays a summary for all interfaces including the IPv4 address of the interface as well as the current operational status.</a:t>
            </a:r>
            <a:endParaRPr lang="en-CA" altLang="en-US" sz="1300" dirty="0"/>
          </a:p>
          <a:p>
            <a:pPr lvl="1"/>
            <a:r>
              <a:rPr lang="en-CA" altLang="en-US" sz="1300" b="1" dirty="0"/>
              <a:t>show </a:t>
            </a:r>
            <a:r>
              <a:rPr lang="en-CA" altLang="en-US" sz="1300" b="1" dirty="0" err="1"/>
              <a:t>ip</a:t>
            </a:r>
            <a:r>
              <a:rPr lang="en-CA" altLang="en-US" sz="1300" b="1" dirty="0"/>
              <a:t> route </a:t>
            </a:r>
            <a:r>
              <a:rPr lang="en-CA" altLang="en-US" sz="1300" dirty="0"/>
              <a:t>– Displays the contents of the IPv4 routing table. </a:t>
            </a:r>
            <a:endParaRPr lang="en-CA" altLang="en-US" sz="1300" dirty="0"/>
          </a:p>
          <a:p>
            <a:pPr lvl="1"/>
            <a:r>
              <a:rPr lang="en-CA" altLang="en-US" sz="1300" b="1" dirty="0"/>
              <a:t>show running-</a:t>
            </a:r>
            <a:r>
              <a:rPr lang="en-CA" altLang="en-US" sz="1300" b="1" dirty="0" err="1"/>
              <a:t>config</a:t>
            </a:r>
            <a:r>
              <a:rPr lang="en-CA" altLang="en-US" sz="1300" b="1" dirty="0"/>
              <a:t> interface </a:t>
            </a:r>
            <a:r>
              <a:rPr lang="en-CA" altLang="en-US" sz="1300" i="1" dirty="0"/>
              <a:t>interface-id</a:t>
            </a:r>
            <a:r>
              <a:rPr lang="en-CA" altLang="en-US" sz="1300" dirty="0"/>
              <a:t> – Displays the commands configured on the specified interface.</a:t>
            </a:r>
            <a:endParaRPr lang="en-CA" altLang="en-US" sz="1300" dirty="0"/>
          </a:p>
          <a:p>
            <a:pPr lvl="0">
              <a:buClr>
                <a:srgbClr val="58585B"/>
              </a:buClr>
            </a:pPr>
            <a:r>
              <a:rPr lang="en-CA" altLang="en-US" dirty="0"/>
              <a:t>The following commands can be used to gather more detailed interface information:</a:t>
            </a:r>
            <a:endParaRPr lang="en-CA" altLang="en-US" dirty="0"/>
          </a:p>
          <a:p>
            <a:pPr lvl="1">
              <a:buClr>
                <a:srgbClr val="58585B"/>
              </a:buClr>
            </a:pPr>
            <a:r>
              <a:rPr lang="en-CA" altLang="en-US" sz="1300" b="1" dirty="0"/>
              <a:t>show interfaces </a:t>
            </a:r>
            <a:r>
              <a:rPr lang="en-CA" altLang="en-US" sz="1300" dirty="0"/>
              <a:t>– Displays interface information and packet flow counts.</a:t>
            </a:r>
            <a:endParaRPr lang="en-CA" altLang="en-US" sz="1300" dirty="0"/>
          </a:p>
          <a:p>
            <a:pPr lvl="1">
              <a:buClr>
                <a:srgbClr val="58585B"/>
              </a:buClr>
            </a:pPr>
            <a:r>
              <a:rPr lang="en-CA" altLang="en-US" sz="1300" b="1" dirty="0"/>
              <a:t>show </a:t>
            </a:r>
            <a:r>
              <a:rPr lang="en-CA" altLang="en-US" sz="1300" b="1" dirty="0" err="1"/>
              <a:t>ip</a:t>
            </a:r>
            <a:r>
              <a:rPr lang="en-CA" altLang="en-US" sz="1300" b="1" dirty="0"/>
              <a:t> interface </a:t>
            </a:r>
            <a:r>
              <a:rPr lang="en-CA" altLang="en-US" sz="1300" dirty="0"/>
              <a:t>– Displays the IPv4 related information for all interfaces on a router.</a:t>
            </a:r>
            <a:endParaRPr lang="en-CA" altLang="en-US" sz="1300" dirty="0"/>
          </a:p>
          <a:p>
            <a:pPr marL="142875" lvl="1" indent="0">
              <a:buNone/>
            </a:pPr>
            <a:endParaRPr lang="en-CA" altLang="en-US" dirty="0"/>
          </a:p>
        </p:txBody>
      </p:sp>
      <p:pic>
        <p:nvPicPr>
          <p:cNvPr id="2" name="Picture 1"/>
          <p:cNvPicPr>
            <a:picLocks noChangeAspect="1"/>
          </p:cNvPicPr>
          <p:nvPr/>
        </p:nvPicPr>
        <p:blipFill>
          <a:blip r:embed="rId1"/>
          <a:stretch>
            <a:fillRect/>
          </a:stretch>
        </p:blipFill>
        <p:spPr>
          <a:xfrm>
            <a:off x="116541" y="964996"/>
            <a:ext cx="4710991" cy="2447507"/>
          </a:xfrm>
          <a:prstGeom prst="rect">
            <a:avLst/>
          </a:prstGeom>
        </p:spPr>
      </p:pic>
    </p:spTree>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5486399" cy="757551"/>
          </a:xfrm>
        </p:spPr>
        <p:txBody>
          <a:bodyPr/>
          <a:lstStyle/>
          <a:p>
            <a:r>
              <a:rPr lang="en-CA" altLang="en-US" sz="1600" dirty="0"/>
              <a:t>Verify Connectivity of Directly Connected Networks</a:t>
            </a:r>
            <a:br>
              <a:rPr lang="en-CA" altLang="en-US" sz="1600" dirty="0"/>
            </a:br>
            <a:r>
              <a:rPr lang="en-CA" altLang="en-US" dirty="0"/>
              <a:t>Verify IPv6 Interface Settings</a:t>
            </a:r>
            <a:endParaRPr lang="en-CA" altLang="en-US" dirty="0"/>
          </a:p>
        </p:txBody>
      </p:sp>
      <p:sp>
        <p:nvSpPr>
          <p:cNvPr id="3" name="Content Placeholder 2"/>
          <p:cNvSpPr>
            <a:spLocks noGrp="1"/>
          </p:cNvSpPr>
          <p:nvPr>
            <p:ph idx="1"/>
          </p:nvPr>
        </p:nvSpPr>
        <p:spPr>
          <a:xfrm>
            <a:off x="4899213" y="287215"/>
            <a:ext cx="4182157" cy="4856285"/>
          </a:xfrm>
        </p:spPr>
        <p:txBody>
          <a:bodyPr/>
          <a:lstStyle/>
          <a:p>
            <a:r>
              <a:rPr lang="en-CA" altLang="en-US" dirty="0"/>
              <a:t>IPv6 commands used for interface configuration verification are similar to IPv4. </a:t>
            </a:r>
            <a:endParaRPr lang="en-CA" altLang="en-US" dirty="0"/>
          </a:p>
          <a:p>
            <a:pPr lvl="1"/>
            <a:r>
              <a:rPr lang="en-CA" altLang="en-US" b="1" dirty="0"/>
              <a:t>show ipv6 interface brief </a:t>
            </a:r>
            <a:r>
              <a:rPr lang="en-CA" altLang="en-US" dirty="0"/>
              <a:t>– If the output shows up/up, this shows that Layers 1 and 2 are operational  </a:t>
            </a:r>
            <a:endParaRPr lang="en-CA" altLang="en-US" dirty="0"/>
          </a:p>
          <a:p>
            <a:pPr lvl="1"/>
            <a:r>
              <a:rPr lang="en-CA" altLang="en-US" b="1" dirty="0"/>
              <a:t>show ipv6 interface </a:t>
            </a:r>
            <a:r>
              <a:rPr lang="en-CA" altLang="en-US" i="1" dirty="0"/>
              <a:t>interface-id</a:t>
            </a:r>
            <a:r>
              <a:rPr lang="en-CA" altLang="en-US" dirty="0"/>
              <a:t> – Shows the interface status and all of the IPv6 addresses that belong to the interface.</a:t>
            </a:r>
            <a:endParaRPr lang="en-CA" altLang="en-US" dirty="0"/>
          </a:p>
          <a:p>
            <a:pPr lvl="1"/>
            <a:r>
              <a:rPr lang="en-CA" altLang="en-US" b="1" dirty="0"/>
              <a:t>show ipv6 route </a:t>
            </a:r>
            <a:r>
              <a:rPr lang="en-CA" altLang="en-US" dirty="0"/>
              <a:t>– Verifies that IPv6 networks and specific IPv6 interface addresses have been installed in the IPv6 routing table.  </a:t>
            </a:r>
            <a:endParaRPr lang="en-CA" altLang="en-US" dirty="0"/>
          </a:p>
          <a:p>
            <a:r>
              <a:rPr lang="en-CA" altLang="en-US" dirty="0"/>
              <a:t>As shown in the figure to the left, a ‘C’ next to a route indicates that this is a directly connected network.  </a:t>
            </a:r>
            <a:endParaRPr lang="en-CA" altLang="en-US" dirty="0"/>
          </a:p>
          <a:p>
            <a:pPr lvl="2"/>
            <a:r>
              <a:rPr lang="en-CA" altLang="en-US" sz="1300" dirty="0"/>
              <a:t>When the router interface is configured with a global unicast address and is in the “up/up” state, the IPv6 prefix length is added to the IPv6 routing table as a connected route.</a:t>
            </a:r>
            <a:endParaRPr lang="en-CA" altLang="en-US" sz="1300" dirty="0"/>
          </a:p>
          <a:p>
            <a:endParaRPr lang="en-CA" altLang="en-US" dirty="0"/>
          </a:p>
          <a:p>
            <a:endParaRPr lang="en-CA" altLang="en-US" dirty="0"/>
          </a:p>
        </p:txBody>
      </p:sp>
      <p:pic>
        <p:nvPicPr>
          <p:cNvPr id="4" name="Picture 3"/>
          <p:cNvPicPr>
            <a:picLocks noChangeAspect="1"/>
          </p:cNvPicPr>
          <p:nvPr/>
        </p:nvPicPr>
        <p:blipFill>
          <a:blip r:embed="rId1"/>
          <a:stretch>
            <a:fillRect/>
          </a:stretch>
        </p:blipFill>
        <p:spPr>
          <a:xfrm>
            <a:off x="174813" y="929247"/>
            <a:ext cx="4724400" cy="3571875"/>
          </a:xfrm>
          <a:prstGeom prst="rect">
            <a:avLst/>
          </a:prstGeom>
        </p:spPr>
      </p:pic>
    </p:spTree>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53919"/>
            <a:ext cx="5486399" cy="757551"/>
          </a:xfrm>
        </p:spPr>
        <p:txBody>
          <a:bodyPr/>
          <a:lstStyle/>
          <a:p>
            <a:r>
              <a:rPr lang="en-CA" altLang="en-US" sz="1600" dirty="0"/>
              <a:t>Verify Connectivity of Directly Connected Networks</a:t>
            </a:r>
            <a:br>
              <a:rPr lang="en-CA" altLang="en-US" sz="1600" dirty="0"/>
            </a:br>
            <a:r>
              <a:rPr lang="en-CA" altLang="en-US" dirty="0"/>
              <a:t>Filter Show Command Output</a:t>
            </a:r>
            <a:endParaRPr lang="en-CA" altLang="en-US" dirty="0"/>
          </a:p>
        </p:txBody>
      </p:sp>
      <p:sp>
        <p:nvSpPr>
          <p:cNvPr id="3" name="Content Placeholder 2"/>
          <p:cNvSpPr>
            <a:spLocks noGrp="1"/>
          </p:cNvSpPr>
          <p:nvPr>
            <p:ph idx="1"/>
          </p:nvPr>
        </p:nvSpPr>
        <p:spPr>
          <a:xfrm>
            <a:off x="4423161" y="420168"/>
            <a:ext cx="4607859" cy="4563035"/>
          </a:xfrm>
        </p:spPr>
        <p:txBody>
          <a:bodyPr/>
          <a:lstStyle/>
          <a:p>
            <a:r>
              <a:rPr lang="en-CA" altLang="en-US" dirty="0"/>
              <a:t>Commands that generate multiple screens of output are, by default, paused after 24 lines. </a:t>
            </a:r>
            <a:endParaRPr lang="en-CA" altLang="en-US" dirty="0"/>
          </a:p>
          <a:p>
            <a:pPr lvl="1"/>
            <a:r>
              <a:rPr lang="en-CA" altLang="en-US" dirty="0"/>
              <a:t>The spacebar allows you to see the next set of lines, while the ENTER key will display the next line.  </a:t>
            </a:r>
            <a:endParaRPr lang="en-CA" altLang="en-US" dirty="0"/>
          </a:p>
          <a:p>
            <a:pPr lvl="1"/>
            <a:r>
              <a:rPr lang="en-CA" altLang="en-US" dirty="0"/>
              <a:t>Use the terminal length command to change the number of lines to be displayed.</a:t>
            </a:r>
            <a:endParaRPr lang="en-CA" altLang="en-US" dirty="0"/>
          </a:p>
          <a:p>
            <a:r>
              <a:rPr lang="en-CA" altLang="en-US" dirty="0"/>
              <a:t>Another useful feature that makes it easier to view show output is by filtering the output. To enable the filtering command, use the pipe character, “|”.   For example:</a:t>
            </a:r>
            <a:endParaRPr lang="en-CA" altLang="en-US" dirty="0"/>
          </a:p>
          <a:p>
            <a:pPr lvl="1"/>
            <a:r>
              <a:rPr lang="en-CA" altLang="en-US" sz="1200" b="1" dirty="0"/>
              <a:t>show running-</a:t>
            </a:r>
            <a:r>
              <a:rPr lang="en-CA" altLang="en-US" sz="1200" b="1" dirty="0" err="1"/>
              <a:t>config</a:t>
            </a:r>
            <a:r>
              <a:rPr lang="en-CA" altLang="en-US" sz="1200" b="1" dirty="0"/>
              <a:t> | section line con </a:t>
            </a:r>
            <a:r>
              <a:rPr lang="en-CA" altLang="en-US" sz="1200" dirty="0"/>
              <a:t>– shows the section that starts with “line con”</a:t>
            </a:r>
            <a:endParaRPr lang="en-CA" altLang="en-US" sz="1200" dirty="0"/>
          </a:p>
          <a:p>
            <a:pPr lvl="1"/>
            <a:r>
              <a:rPr lang="en-CA" altLang="en-US" sz="1200" b="1" dirty="0"/>
              <a:t>show </a:t>
            </a:r>
            <a:r>
              <a:rPr lang="en-CA" altLang="en-US" sz="1200" b="1" dirty="0" err="1"/>
              <a:t>ip</a:t>
            </a:r>
            <a:r>
              <a:rPr lang="en-CA" altLang="en-US" sz="1200" b="1" dirty="0"/>
              <a:t> interface brief  | include down </a:t>
            </a:r>
            <a:r>
              <a:rPr lang="en-CA" altLang="en-US" sz="1200" dirty="0"/>
              <a:t>– includes all output that matches “down”</a:t>
            </a:r>
            <a:endParaRPr lang="en-CA" altLang="en-US" sz="1200" dirty="0"/>
          </a:p>
          <a:p>
            <a:pPr lvl="1"/>
            <a:r>
              <a:rPr lang="en-CA" altLang="en-US" sz="1200" b="1" dirty="0"/>
              <a:t>show </a:t>
            </a:r>
            <a:r>
              <a:rPr lang="en-CA" altLang="en-US" sz="1200" b="1" dirty="0" err="1"/>
              <a:t>ip</a:t>
            </a:r>
            <a:r>
              <a:rPr lang="en-CA" altLang="en-US" sz="1200" b="1" dirty="0"/>
              <a:t> interface brief | exclude up </a:t>
            </a:r>
            <a:r>
              <a:rPr lang="en-CA" altLang="en-US" sz="1200" dirty="0"/>
              <a:t>– “excludes all output that matches up”</a:t>
            </a:r>
            <a:endParaRPr lang="en-CA" altLang="en-US" sz="1200" b="1" dirty="0"/>
          </a:p>
          <a:p>
            <a:pPr lvl="1"/>
            <a:r>
              <a:rPr lang="en-CA" altLang="en-US" sz="1200" b="1" dirty="0"/>
              <a:t>show running-</a:t>
            </a:r>
            <a:r>
              <a:rPr lang="en-CA" altLang="en-US" sz="1200" b="1" dirty="0" err="1"/>
              <a:t>config</a:t>
            </a:r>
            <a:r>
              <a:rPr lang="en-CA" altLang="en-US" sz="1200" b="1" dirty="0"/>
              <a:t> | begin line </a:t>
            </a:r>
            <a:r>
              <a:rPr lang="en-CA" altLang="en-US" sz="1200" dirty="0"/>
              <a:t>– shows all the remaining output starting with “line”</a:t>
            </a:r>
            <a:endParaRPr lang="en-CA" altLang="en-US" sz="1200" dirty="0"/>
          </a:p>
        </p:txBody>
      </p:sp>
      <p:pic>
        <p:nvPicPr>
          <p:cNvPr id="5" name="Picture 4"/>
          <p:cNvPicPr>
            <a:picLocks noChangeAspect="1"/>
          </p:cNvPicPr>
          <p:nvPr/>
        </p:nvPicPr>
        <p:blipFill>
          <a:blip r:embed="rId1"/>
          <a:stretch>
            <a:fillRect/>
          </a:stretch>
        </p:blipFill>
        <p:spPr>
          <a:xfrm>
            <a:off x="313765" y="1276594"/>
            <a:ext cx="3962400" cy="2409825"/>
          </a:xfrm>
          <a:prstGeom prst="rect">
            <a:avLst/>
          </a:prstGeom>
        </p:spPr>
      </p:pic>
    </p:spTree>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5486399" cy="757551"/>
          </a:xfrm>
        </p:spPr>
        <p:txBody>
          <a:bodyPr/>
          <a:lstStyle/>
          <a:p>
            <a:r>
              <a:rPr lang="en-CA" altLang="en-US" sz="1600" dirty="0"/>
              <a:t>Verify Connectivity of Directly Connected Networks</a:t>
            </a:r>
            <a:br>
              <a:rPr lang="en-CA" altLang="en-US" sz="1600" dirty="0"/>
            </a:br>
            <a:r>
              <a:rPr lang="en-CA" altLang="en-US" dirty="0"/>
              <a:t>Command History Feature</a:t>
            </a:r>
            <a:endParaRPr lang="en-CA" altLang="en-US" dirty="0"/>
          </a:p>
        </p:txBody>
      </p:sp>
      <p:sp>
        <p:nvSpPr>
          <p:cNvPr id="3" name="Content Placeholder 2"/>
          <p:cNvSpPr>
            <a:spLocks noGrp="1"/>
          </p:cNvSpPr>
          <p:nvPr>
            <p:ph idx="1"/>
          </p:nvPr>
        </p:nvSpPr>
        <p:spPr>
          <a:xfrm>
            <a:off x="4751109" y="349749"/>
            <a:ext cx="4267631" cy="4793751"/>
          </a:xfrm>
        </p:spPr>
        <p:txBody>
          <a:bodyPr/>
          <a:lstStyle/>
          <a:p>
            <a:r>
              <a:rPr lang="en-CA" altLang="en-US" dirty="0"/>
              <a:t>The command history feature shows previously executed commands when recalled.</a:t>
            </a:r>
            <a:endParaRPr lang="en-CA" altLang="en-US" dirty="0"/>
          </a:p>
          <a:p>
            <a:r>
              <a:rPr lang="en-CA" altLang="en-US" dirty="0"/>
              <a:t>Press </a:t>
            </a:r>
            <a:r>
              <a:rPr lang="en-CA" altLang="en-US" b="1" dirty="0" err="1"/>
              <a:t>Ctrl+P</a:t>
            </a:r>
            <a:r>
              <a:rPr lang="en-CA" altLang="en-US" dirty="0"/>
              <a:t> or the </a:t>
            </a:r>
            <a:r>
              <a:rPr lang="en-CA" altLang="en-US" b="1" dirty="0"/>
              <a:t>Up Arrow </a:t>
            </a:r>
            <a:r>
              <a:rPr lang="en-CA" altLang="en-US" dirty="0"/>
              <a:t>key to recall commands in the history buffer.</a:t>
            </a:r>
            <a:endParaRPr lang="en-CA" altLang="en-US" dirty="0"/>
          </a:p>
          <a:p>
            <a:pPr lvl="1"/>
            <a:r>
              <a:rPr lang="en-CA" altLang="en-US" dirty="0"/>
              <a:t>The most recent commands are displayed first</a:t>
            </a:r>
            <a:endParaRPr lang="en-CA" altLang="en-US" dirty="0"/>
          </a:p>
          <a:p>
            <a:pPr lvl="1"/>
            <a:r>
              <a:rPr lang="en-CA" altLang="en-US" dirty="0"/>
              <a:t>Keep pressing Up Arrow to recall the commands in the history buffer.</a:t>
            </a:r>
            <a:endParaRPr lang="en-CA" altLang="en-US" dirty="0"/>
          </a:p>
          <a:p>
            <a:r>
              <a:rPr lang="en-CA" altLang="en-US" dirty="0"/>
              <a:t>By default, command history is enabled and the last 10 commands are stored in the history buffer.  </a:t>
            </a:r>
            <a:endParaRPr lang="en-CA" altLang="en-US" dirty="0"/>
          </a:p>
          <a:p>
            <a:r>
              <a:rPr lang="en-CA" altLang="en-US" dirty="0"/>
              <a:t>Use the </a:t>
            </a:r>
            <a:r>
              <a:rPr lang="en-CA" altLang="en-US" b="1" dirty="0"/>
              <a:t>terminal history size </a:t>
            </a:r>
            <a:r>
              <a:rPr lang="en-CA" altLang="en-US" dirty="0"/>
              <a:t>user EXEC command to change this number.</a:t>
            </a:r>
            <a:endParaRPr lang="en-CA" altLang="en-US" dirty="0"/>
          </a:p>
          <a:p>
            <a:r>
              <a:rPr lang="en-CA" altLang="en-US" dirty="0"/>
              <a:t>Use the </a:t>
            </a:r>
            <a:r>
              <a:rPr lang="en-CA" altLang="en-US" b="1" dirty="0"/>
              <a:t>show history </a:t>
            </a:r>
            <a:r>
              <a:rPr lang="en-CA" altLang="en-US" dirty="0"/>
              <a:t>privileged EXEC command to display the contents of the buffer.</a:t>
            </a:r>
            <a:endParaRPr lang="en-CA" altLang="en-US" dirty="0"/>
          </a:p>
          <a:p>
            <a:pPr marL="142875" lvl="1" indent="0">
              <a:buNone/>
            </a:pPr>
            <a:endParaRPr lang="en-CA" altLang="en-US" dirty="0"/>
          </a:p>
        </p:txBody>
      </p:sp>
      <p:pic>
        <p:nvPicPr>
          <p:cNvPr id="4" name="Picture 3"/>
          <p:cNvPicPr>
            <a:picLocks noChangeAspect="1"/>
          </p:cNvPicPr>
          <p:nvPr/>
        </p:nvPicPr>
        <p:blipFill>
          <a:blip r:embed="rId1"/>
          <a:stretch>
            <a:fillRect/>
          </a:stretch>
        </p:blipFill>
        <p:spPr>
          <a:xfrm>
            <a:off x="238685" y="962304"/>
            <a:ext cx="4381500" cy="2752725"/>
          </a:xfrm>
          <a:prstGeom prst="rect">
            <a:avLst/>
          </a:prstGeom>
        </p:spPr>
      </p:pic>
    </p:spTree>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8579223" cy="757551"/>
          </a:xfrm>
        </p:spPr>
        <p:txBody>
          <a:bodyPr/>
          <a:lstStyle/>
          <a:p>
            <a:r>
              <a:rPr lang="en-CA" altLang="en-US" sz="1600" dirty="0"/>
              <a:t>Verify Connectivity of Directly Connected Networks</a:t>
            </a:r>
            <a:br>
              <a:rPr lang="en-CA" altLang="en-US" sz="1600" dirty="0"/>
            </a:br>
            <a:r>
              <a:rPr lang="en-CA" altLang="en-US" dirty="0"/>
              <a:t>Packet Tracer – Configuring and Verifying a Small Network </a:t>
            </a:r>
            <a:endParaRPr lang="en-CA" altLang="en-US" dirty="0"/>
          </a:p>
        </p:txBody>
      </p:sp>
      <p:pic>
        <p:nvPicPr>
          <p:cNvPr id="5" name="Picture 4"/>
          <p:cNvPicPr>
            <a:picLocks noChangeAspect="1"/>
          </p:cNvPicPr>
          <p:nvPr/>
        </p:nvPicPr>
        <p:blipFill>
          <a:blip r:embed="rId1"/>
          <a:stretch>
            <a:fillRect/>
          </a:stretch>
        </p:blipFill>
        <p:spPr>
          <a:xfrm>
            <a:off x="1803747" y="798944"/>
            <a:ext cx="5744917" cy="4233097"/>
          </a:xfrm>
          <a:prstGeom prst="rect">
            <a:avLst/>
          </a:prstGeom>
          <a:ln>
            <a:solidFill>
              <a:srgbClr val="000000"/>
            </a:solidFill>
          </a:ln>
        </p:spPr>
      </p:pic>
    </p:spTree>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8579223" cy="757551"/>
          </a:xfrm>
        </p:spPr>
        <p:txBody>
          <a:bodyPr/>
          <a:lstStyle/>
          <a:p>
            <a:r>
              <a:rPr lang="en-CA" altLang="en-US" sz="1600" dirty="0"/>
              <a:t>Verify Connectivity of Directly Connected Networks</a:t>
            </a:r>
            <a:br>
              <a:rPr lang="en-CA" altLang="en-US" sz="1600" dirty="0"/>
            </a:br>
            <a:r>
              <a:rPr lang="en-CA" altLang="en-US" dirty="0"/>
              <a:t>Lab – Configuring Basic Router Settings with IOS CLI</a:t>
            </a:r>
            <a:endParaRPr lang="en-CA" altLang="en-US" dirty="0"/>
          </a:p>
        </p:txBody>
      </p:sp>
      <p:pic>
        <p:nvPicPr>
          <p:cNvPr id="2" name="Picture 1"/>
          <p:cNvPicPr>
            <a:picLocks noChangeAspect="1"/>
          </p:cNvPicPr>
          <p:nvPr/>
        </p:nvPicPr>
        <p:blipFill>
          <a:blip r:embed="rId1"/>
          <a:stretch>
            <a:fillRect/>
          </a:stretch>
        </p:blipFill>
        <p:spPr>
          <a:xfrm>
            <a:off x="1988557" y="798944"/>
            <a:ext cx="5314117" cy="3949896"/>
          </a:xfrm>
          <a:prstGeom prst="rect">
            <a:avLst/>
          </a:prstGeom>
          <a:ln>
            <a:solidFill>
              <a:srgbClr val="000000"/>
            </a:solidFill>
          </a:ln>
        </p:spPr>
      </p:pic>
    </p:spTree>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199069" cy="1802391"/>
          </a:xfrm>
        </p:spPr>
        <p:txBody>
          <a:bodyPr/>
          <a:lstStyle/>
          <a:p>
            <a:r>
              <a:rPr lang="en-US" dirty="0"/>
              <a:t>1.2 Routing Decisions</a:t>
            </a:r>
            <a:endParaRPr lang="en-US" dirty="0"/>
          </a:p>
        </p:txBody>
      </p:sp>
    </p:spTree>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867834" cy="757551"/>
          </a:xfrm>
        </p:spPr>
        <p:txBody>
          <a:bodyPr/>
          <a:lstStyle/>
          <a:p>
            <a:r>
              <a:rPr lang="en-CA" altLang="en-US" sz="1600" dirty="0"/>
              <a:t>Switching Packets Between Networks</a:t>
            </a:r>
            <a:br>
              <a:rPr lang="en-CA" altLang="en-US" sz="1600" dirty="0"/>
            </a:br>
            <a:r>
              <a:rPr lang="en-CA" altLang="en-US" dirty="0"/>
              <a:t>Router Switching Function</a:t>
            </a:r>
            <a:endParaRPr lang="en-CA" altLang="en-US" dirty="0"/>
          </a:p>
        </p:txBody>
      </p:sp>
      <p:sp>
        <p:nvSpPr>
          <p:cNvPr id="3" name="Content Placeholder 2"/>
          <p:cNvSpPr>
            <a:spLocks noGrp="1"/>
          </p:cNvSpPr>
          <p:nvPr>
            <p:ph idx="1"/>
          </p:nvPr>
        </p:nvSpPr>
        <p:spPr>
          <a:xfrm>
            <a:off x="5378823" y="798944"/>
            <a:ext cx="3182471" cy="3961316"/>
          </a:xfrm>
        </p:spPr>
        <p:txBody>
          <a:bodyPr/>
          <a:lstStyle/>
          <a:p>
            <a:r>
              <a:rPr lang="en-CA" altLang="en-US" dirty="0"/>
              <a:t>The primary function of a router is to forward packets toward their destination.</a:t>
            </a:r>
            <a:endParaRPr lang="en-CA" altLang="en-US" dirty="0"/>
          </a:p>
          <a:p>
            <a:pPr lvl="1"/>
            <a:r>
              <a:rPr lang="en-CA" altLang="en-US" dirty="0"/>
              <a:t>Uses a switching function which is a process that accepts a packet on one interface and forwards it out of another interface. This is not to be confused with the function of a Layer 2 switch.</a:t>
            </a:r>
            <a:endParaRPr lang="en-CA" altLang="en-US" dirty="0"/>
          </a:p>
          <a:p>
            <a:pPr lvl="1"/>
            <a:r>
              <a:rPr lang="en-CA" altLang="en-US" dirty="0"/>
              <a:t>The switching function also encapsulates the packets in the appropriate data link frame type for the outgoing interface.</a:t>
            </a:r>
            <a:endParaRPr lang="en-CA" altLang="en-US" dirty="0"/>
          </a:p>
          <a:p>
            <a:pPr lvl="1"/>
            <a:endParaRPr lang="en-CA" altLang="en-US" sz="1300" dirty="0"/>
          </a:p>
        </p:txBody>
      </p:sp>
      <p:pic>
        <p:nvPicPr>
          <p:cNvPr id="2" name="Picture 1"/>
          <p:cNvPicPr>
            <a:picLocks noChangeAspect="1"/>
          </p:cNvPicPr>
          <p:nvPr/>
        </p:nvPicPr>
        <p:blipFill>
          <a:blip r:embed="rId1"/>
          <a:stretch>
            <a:fillRect/>
          </a:stretch>
        </p:blipFill>
        <p:spPr>
          <a:xfrm>
            <a:off x="248211" y="798944"/>
            <a:ext cx="4619625" cy="3476625"/>
          </a:xfrm>
          <a:prstGeom prst="rect">
            <a:avLst/>
          </a:prstGeom>
        </p:spPr>
      </p:pic>
    </p:spTree>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867834" cy="757551"/>
          </a:xfrm>
        </p:spPr>
        <p:txBody>
          <a:bodyPr/>
          <a:lstStyle/>
          <a:p>
            <a:r>
              <a:rPr lang="en-CA" altLang="en-US" sz="1600" dirty="0"/>
              <a:t>Switching Packets Between Networks</a:t>
            </a:r>
            <a:br>
              <a:rPr lang="en-CA" altLang="en-US" sz="1600" dirty="0"/>
            </a:br>
            <a:r>
              <a:rPr lang="en-CA" altLang="en-US" dirty="0"/>
              <a:t>Router Switching Function (Cont.)</a:t>
            </a:r>
            <a:endParaRPr lang="en-CA" altLang="en-US" dirty="0"/>
          </a:p>
        </p:txBody>
      </p:sp>
      <p:sp>
        <p:nvSpPr>
          <p:cNvPr id="3" name="Content Placeholder 2"/>
          <p:cNvSpPr>
            <a:spLocks noGrp="1"/>
          </p:cNvSpPr>
          <p:nvPr>
            <p:ph idx="1"/>
          </p:nvPr>
        </p:nvSpPr>
        <p:spPr>
          <a:xfrm>
            <a:off x="4938167" y="229928"/>
            <a:ext cx="3935506" cy="4763689"/>
          </a:xfrm>
        </p:spPr>
        <p:txBody>
          <a:bodyPr/>
          <a:lstStyle/>
          <a:p>
            <a:r>
              <a:rPr lang="en-CA" altLang="en-US" sz="1400" dirty="0"/>
              <a:t>When a router receives a packet from one network that is destined for another network, the router performs the following three steps:</a:t>
            </a:r>
            <a:endParaRPr lang="en-CA" altLang="en-US" sz="1400" dirty="0"/>
          </a:p>
          <a:p>
            <a:pPr lvl="1"/>
            <a:r>
              <a:rPr lang="en-CA" altLang="en-US" sz="1300" dirty="0"/>
              <a:t>Step 1. De-encapsulates the Layer 2 frame header and trailer to expose the Layer 3 packet.</a:t>
            </a:r>
            <a:endParaRPr lang="en-CA" altLang="en-US" sz="1300" dirty="0"/>
          </a:p>
          <a:p>
            <a:pPr lvl="1"/>
            <a:r>
              <a:rPr lang="en-CA" altLang="en-US" sz="1300" dirty="0"/>
              <a:t>Step 2.  Examines the destination IP address of the IP packet to find the best path in the routing table.</a:t>
            </a:r>
            <a:endParaRPr lang="en-CA" altLang="en-US" sz="1300" dirty="0"/>
          </a:p>
          <a:p>
            <a:pPr lvl="1"/>
            <a:r>
              <a:rPr lang="en-CA" altLang="en-US" sz="1300" dirty="0"/>
              <a:t>Step 3.  If the router finds a path to the destination, it encapsulates the Layer 3 packet into a new Layer 2 frame and forwards the frame out the exit interface.</a:t>
            </a:r>
            <a:endParaRPr lang="en-CA" altLang="en-US" sz="1300" dirty="0"/>
          </a:p>
          <a:p>
            <a:pPr lvl="0">
              <a:buClr>
                <a:srgbClr val="58585B"/>
              </a:buClr>
            </a:pPr>
            <a:r>
              <a:rPr lang="en-CA" altLang="en-US" sz="1400" dirty="0"/>
              <a:t>As a packet travels from the source device to the destination device, the Layer 3 IP addresses do not change.  However, the Layer 2 data link addresses change at every hop as it is de-encapsulated and re-encapsulated.</a:t>
            </a:r>
            <a:endParaRPr lang="en-CA" altLang="en-US" sz="1400" dirty="0"/>
          </a:p>
          <a:p>
            <a:pPr lvl="1"/>
            <a:endParaRPr lang="en-CA" altLang="en-US" sz="1300" dirty="0"/>
          </a:p>
        </p:txBody>
      </p:sp>
      <p:pic>
        <p:nvPicPr>
          <p:cNvPr id="2" name="Picture 1"/>
          <p:cNvPicPr>
            <a:picLocks noChangeAspect="1"/>
          </p:cNvPicPr>
          <p:nvPr/>
        </p:nvPicPr>
        <p:blipFill>
          <a:blip r:embed="rId1"/>
          <a:stretch>
            <a:fillRect/>
          </a:stretch>
        </p:blipFill>
        <p:spPr>
          <a:xfrm>
            <a:off x="248211" y="798944"/>
            <a:ext cx="4619625" cy="3476625"/>
          </a:xfrm>
          <a:prstGeom prst="rect">
            <a:avLst/>
          </a:prstGeom>
        </p:spPr>
      </p:pic>
    </p:spTree>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867834" cy="757551"/>
          </a:xfrm>
        </p:spPr>
        <p:txBody>
          <a:bodyPr/>
          <a:lstStyle/>
          <a:p>
            <a:r>
              <a:rPr lang="en-CA" altLang="en-US" sz="1600" dirty="0"/>
              <a:t>Switching Packets Between Networks</a:t>
            </a:r>
            <a:br>
              <a:rPr lang="en-CA" altLang="en-US" sz="1600" dirty="0"/>
            </a:br>
            <a:r>
              <a:rPr lang="en-CA" altLang="en-US" dirty="0"/>
              <a:t>Send a Packet</a:t>
            </a:r>
            <a:endParaRPr lang="en-CA" altLang="en-US" dirty="0"/>
          </a:p>
        </p:txBody>
      </p:sp>
      <p:sp>
        <p:nvSpPr>
          <p:cNvPr id="3" name="Content Placeholder 2"/>
          <p:cNvSpPr>
            <a:spLocks noGrp="1"/>
          </p:cNvSpPr>
          <p:nvPr>
            <p:ph idx="1"/>
          </p:nvPr>
        </p:nvSpPr>
        <p:spPr>
          <a:xfrm>
            <a:off x="5417484" y="420168"/>
            <a:ext cx="3565152" cy="4620256"/>
          </a:xfrm>
        </p:spPr>
        <p:txBody>
          <a:bodyPr/>
          <a:lstStyle/>
          <a:p>
            <a:r>
              <a:rPr lang="en-CA" altLang="en-US" dirty="0"/>
              <a:t>For PC1 to send a packet to PC2, the following occurs:</a:t>
            </a:r>
            <a:endParaRPr lang="en-CA" altLang="en-US" dirty="0"/>
          </a:p>
          <a:p>
            <a:pPr lvl="1"/>
            <a:r>
              <a:rPr lang="en-CA" altLang="en-US" dirty="0"/>
              <a:t>PC1 must determine if the destination IPv4 address is on the same network. If it is on the same network, PC1 will obtain the destination MAC address from its ARP cache or use an ARP request.</a:t>
            </a:r>
            <a:endParaRPr lang="en-CA" altLang="en-US" dirty="0"/>
          </a:p>
          <a:p>
            <a:pPr lvl="1"/>
            <a:r>
              <a:rPr lang="en-CA" altLang="en-US" dirty="0"/>
              <a:t>Because the destination network is on a different network, PC1 forwards the packet to its default gateway.</a:t>
            </a:r>
            <a:endParaRPr lang="en-CA" altLang="en-US" dirty="0"/>
          </a:p>
          <a:p>
            <a:pPr lvl="1"/>
            <a:r>
              <a:rPr lang="en-CA" altLang="en-US" dirty="0"/>
              <a:t>To determine the MAC address of the default gateway, PC1 checks its ARP table for the IPv4 address of the default gateway and its corresponding MAC address. An ARP request is sent if it is not found.</a:t>
            </a:r>
            <a:endParaRPr lang="en-CA" altLang="en-US" dirty="0"/>
          </a:p>
          <a:p>
            <a:pPr lvl="1"/>
            <a:r>
              <a:rPr lang="en-CA" altLang="en-US" dirty="0"/>
              <a:t>When PC1 has the MAC address of Router R1, it can forward the packet. </a:t>
            </a:r>
            <a:endParaRPr lang="en-CA" altLang="en-US" dirty="0"/>
          </a:p>
          <a:p>
            <a:pPr marL="142875" lvl="1" indent="0">
              <a:buNone/>
            </a:pPr>
            <a:endParaRPr lang="en-CA" altLang="en-US" dirty="0"/>
          </a:p>
        </p:txBody>
      </p:sp>
      <p:pic>
        <p:nvPicPr>
          <p:cNvPr id="2" name="Picture 1"/>
          <p:cNvPicPr>
            <a:picLocks noChangeAspect="1"/>
          </p:cNvPicPr>
          <p:nvPr/>
        </p:nvPicPr>
        <p:blipFill>
          <a:blip r:embed="rId1"/>
          <a:stretch>
            <a:fillRect/>
          </a:stretch>
        </p:blipFill>
        <p:spPr>
          <a:xfrm>
            <a:off x="140634" y="878507"/>
            <a:ext cx="5276850" cy="3143250"/>
          </a:xfrm>
          <a:prstGeom prst="rect">
            <a:avLst/>
          </a:prstGeom>
        </p:spPr>
      </p:pic>
    </p:spTree>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867834" cy="757551"/>
          </a:xfrm>
        </p:spPr>
        <p:txBody>
          <a:bodyPr/>
          <a:lstStyle/>
          <a:p>
            <a:r>
              <a:rPr lang="en-CA" altLang="en-US" sz="1600" dirty="0"/>
              <a:t>Switching Packets Between Networks</a:t>
            </a:r>
            <a:br>
              <a:rPr lang="en-CA" altLang="en-US" sz="1600" dirty="0"/>
            </a:br>
            <a:r>
              <a:rPr lang="en-CA" altLang="en-US" dirty="0"/>
              <a:t>Forward to the Next Hop</a:t>
            </a:r>
            <a:endParaRPr lang="en-CA" altLang="en-US" dirty="0"/>
          </a:p>
        </p:txBody>
      </p:sp>
      <p:sp>
        <p:nvSpPr>
          <p:cNvPr id="3" name="Content Placeholder 2"/>
          <p:cNvSpPr>
            <a:spLocks noGrp="1"/>
          </p:cNvSpPr>
          <p:nvPr>
            <p:ph idx="1"/>
          </p:nvPr>
        </p:nvSpPr>
        <p:spPr>
          <a:xfrm>
            <a:off x="5150223" y="324375"/>
            <a:ext cx="3792072" cy="4620256"/>
          </a:xfrm>
        </p:spPr>
        <p:txBody>
          <a:bodyPr/>
          <a:lstStyle/>
          <a:p>
            <a:r>
              <a:rPr lang="en-CA" altLang="en-US" dirty="0"/>
              <a:t>When R1 receives the Ethernet frame from PC1, the following occurs:</a:t>
            </a:r>
            <a:endParaRPr lang="en-CA" altLang="en-US" dirty="0"/>
          </a:p>
          <a:p>
            <a:pPr lvl="1"/>
            <a:r>
              <a:rPr lang="en-CA" altLang="en-US" dirty="0"/>
              <a:t>R1 examines the destination MAC address which matches the MAC address of the receiving interface and copies the frame into its buffer.</a:t>
            </a:r>
            <a:endParaRPr lang="en-CA" altLang="en-US" dirty="0"/>
          </a:p>
          <a:p>
            <a:pPr lvl="1"/>
            <a:r>
              <a:rPr lang="en-CA" altLang="en-US" dirty="0"/>
              <a:t>R1 identifies the Ethernet Type field as </a:t>
            </a:r>
            <a:r>
              <a:rPr lang="en-CA" altLang="en-US" dirty="0">
                <a:highlight>
                  <a:srgbClr val="FFFF00"/>
                </a:highlight>
              </a:rPr>
              <a:t>0x800 which indicates that the Ethernet frame contains an IPv4 packet in the data portion of the frame.</a:t>
            </a:r>
            <a:endParaRPr lang="en-CA" altLang="en-US" dirty="0"/>
          </a:p>
          <a:p>
            <a:pPr lvl="1"/>
            <a:r>
              <a:rPr lang="en-CA" altLang="en-US" dirty="0"/>
              <a:t>R1 de-encapsulates the Ethernet frame.</a:t>
            </a:r>
            <a:endParaRPr lang="en-CA" altLang="en-US" dirty="0"/>
          </a:p>
          <a:p>
            <a:pPr lvl="1"/>
            <a:r>
              <a:rPr lang="en-CA" altLang="en-US" dirty="0"/>
              <a:t>Because the destination IPv4 address of the packet, 192.168.4.10,  does not match any of the directly connected networks on R1, R1 searches the routing table for a corresponding route.</a:t>
            </a:r>
            <a:endParaRPr lang="en-CA" altLang="en-US" dirty="0"/>
          </a:p>
          <a:p>
            <a:pPr lvl="2"/>
            <a:r>
              <a:rPr lang="en-CA" altLang="en-US" sz="1300" dirty="0"/>
              <a:t>R1’s Routing Table has a route for the 192.168.4.0/24 network.</a:t>
            </a:r>
            <a:endParaRPr lang="en-CA" altLang="en-US" sz="1300" dirty="0"/>
          </a:p>
          <a:p>
            <a:pPr lvl="1"/>
            <a:endParaRPr lang="en-CA" altLang="en-US" dirty="0"/>
          </a:p>
          <a:p>
            <a:endParaRPr lang="en-CA" altLang="en-US" dirty="0"/>
          </a:p>
          <a:p>
            <a:pPr marL="142875" lvl="1" indent="0">
              <a:buNone/>
            </a:pPr>
            <a:endParaRPr lang="en-CA" altLang="en-US" dirty="0"/>
          </a:p>
        </p:txBody>
      </p:sp>
      <p:pic>
        <p:nvPicPr>
          <p:cNvPr id="2" name="Picture 1"/>
          <p:cNvPicPr>
            <a:picLocks noChangeAspect="1"/>
          </p:cNvPicPr>
          <p:nvPr/>
        </p:nvPicPr>
        <p:blipFill>
          <a:blip r:embed="rId1"/>
          <a:stretch>
            <a:fillRect/>
          </a:stretch>
        </p:blipFill>
        <p:spPr>
          <a:xfrm>
            <a:off x="121023" y="939053"/>
            <a:ext cx="5029200" cy="3390900"/>
          </a:xfrm>
          <a:prstGeom prst="rect">
            <a:avLst/>
          </a:prstGeom>
        </p:spPr>
      </p:pic>
    </p:spTree>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867834" cy="757551"/>
          </a:xfrm>
        </p:spPr>
        <p:txBody>
          <a:bodyPr/>
          <a:lstStyle/>
          <a:p>
            <a:r>
              <a:rPr lang="en-CA" altLang="en-US" sz="1600" dirty="0"/>
              <a:t>Switching Packets Between Networks</a:t>
            </a:r>
            <a:br>
              <a:rPr lang="en-CA" altLang="en-US" sz="1600" dirty="0"/>
            </a:br>
            <a:r>
              <a:rPr lang="en-CA" altLang="en-US" dirty="0"/>
              <a:t>Forward to the Next Hop (Cont.)</a:t>
            </a:r>
            <a:endParaRPr lang="en-CA" altLang="en-US" dirty="0"/>
          </a:p>
        </p:txBody>
      </p:sp>
      <p:sp>
        <p:nvSpPr>
          <p:cNvPr id="3" name="Content Placeholder 2"/>
          <p:cNvSpPr>
            <a:spLocks noGrp="1"/>
          </p:cNvSpPr>
          <p:nvPr>
            <p:ph idx="1"/>
          </p:nvPr>
        </p:nvSpPr>
        <p:spPr>
          <a:xfrm>
            <a:off x="5235387" y="140004"/>
            <a:ext cx="3792072" cy="4781620"/>
          </a:xfrm>
        </p:spPr>
        <p:txBody>
          <a:bodyPr/>
          <a:lstStyle/>
          <a:p>
            <a:r>
              <a:rPr lang="en-CA" altLang="en-US" dirty="0"/>
              <a:t>When R1 receives the Ethernet frame from PC1, the following occurs:</a:t>
            </a:r>
            <a:endParaRPr lang="en-CA" altLang="en-US" dirty="0"/>
          </a:p>
          <a:p>
            <a:pPr lvl="1"/>
            <a:r>
              <a:rPr lang="en-CA" altLang="en-US" dirty="0"/>
              <a:t>The route that R1 finds to the 192.168.4.0/24 network has a next-hop address of 192.168.2.2 and an exit interface of </a:t>
            </a:r>
            <a:r>
              <a:rPr lang="en-CA" altLang="en-US" dirty="0" err="1"/>
              <a:t>FastEthernet</a:t>
            </a:r>
            <a:r>
              <a:rPr lang="en-CA" altLang="en-US" dirty="0"/>
              <a:t> 0/1.  </a:t>
            </a:r>
            <a:endParaRPr lang="en-CA" altLang="en-US" dirty="0"/>
          </a:p>
          <a:p>
            <a:pPr lvl="1"/>
            <a:r>
              <a:rPr lang="en-CA" altLang="en-US" dirty="0"/>
              <a:t>This will require that the IPv4 packet be encapsulated in a new Ethernet frame with the destination MAC address of the IPv4 address of the next-hop router, 192.168.2.2</a:t>
            </a:r>
            <a:endParaRPr lang="en-CA" altLang="en-US" dirty="0"/>
          </a:p>
          <a:p>
            <a:pPr lvl="1"/>
            <a:r>
              <a:rPr lang="en-CA" altLang="en-US" dirty="0"/>
              <a:t>Because the exit interface is on an Ethernet network, R1 must resolve the next-hop IPv4 address with a destination MAC address using ARP, assuming it is not in its ARP cache.</a:t>
            </a:r>
            <a:endParaRPr lang="en-CA" altLang="en-US" dirty="0"/>
          </a:p>
          <a:p>
            <a:pPr lvl="1"/>
            <a:r>
              <a:rPr lang="en-CA" altLang="en-US" dirty="0"/>
              <a:t>When R1 has the MAC address for the next-hop, the Ethernet frame is forwarded out of the FastEthernet 0/1 interface of R1.</a:t>
            </a:r>
            <a:endParaRPr lang="en-CA" altLang="en-US" dirty="0"/>
          </a:p>
          <a:p>
            <a:pPr lvl="1"/>
            <a:endParaRPr lang="en-CA" altLang="en-US" dirty="0"/>
          </a:p>
          <a:p>
            <a:endParaRPr lang="en-CA" altLang="en-US" dirty="0"/>
          </a:p>
          <a:p>
            <a:pPr marL="142875" lvl="1" indent="0">
              <a:buNone/>
            </a:pPr>
            <a:endParaRPr lang="en-CA" altLang="en-US" dirty="0"/>
          </a:p>
        </p:txBody>
      </p:sp>
      <p:pic>
        <p:nvPicPr>
          <p:cNvPr id="2" name="Picture 1"/>
          <p:cNvPicPr>
            <a:picLocks noChangeAspect="1"/>
          </p:cNvPicPr>
          <p:nvPr/>
        </p:nvPicPr>
        <p:blipFill>
          <a:blip r:embed="rId1"/>
          <a:stretch>
            <a:fillRect/>
          </a:stretch>
        </p:blipFill>
        <p:spPr>
          <a:xfrm>
            <a:off x="121023" y="939053"/>
            <a:ext cx="5029200" cy="3390900"/>
          </a:xfrm>
          <a:prstGeom prst="rect">
            <a:avLst/>
          </a:prstGeom>
        </p:spPr>
      </p:pic>
    </p:spTree>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867834" cy="757551"/>
          </a:xfrm>
        </p:spPr>
        <p:txBody>
          <a:bodyPr/>
          <a:lstStyle/>
          <a:p>
            <a:r>
              <a:rPr lang="en-CA" altLang="en-US" sz="1600" dirty="0"/>
              <a:t>Switching Packets Between Networks</a:t>
            </a:r>
            <a:br>
              <a:rPr lang="en-CA" altLang="en-US" sz="1600" dirty="0"/>
            </a:br>
            <a:r>
              <a:rPr lang="en-CA" altLang="en-US" dirty="0"/>
              <a:t>Packet Routing</a:t>
            </a:r>
            <a:endParaRPr lang="en-CA" altLang="en-US" dirty="0"/>
          </a:p>
        </p:txBody>
      </p:sp>
      <p:sp>
        <p:nvSpPr>
          <p:cNvPr id="3" name="Content Placeholder 2"/>
          <p:cNvSpPr>
            <a:spLocks noGrp="1"/>
          </p:cNvSpPr>
          <p:nvPr>
            <p:ph idx="1"/>
          </p:nvPr>
        </p:nvSpPr>
        <p:spPr>
          <a:xfrm>
            <a:off x="5320832" y="798944"/>
            <a:ext cx="3473545" cy="4154090"/>
          </a:xfrm>
        </p:spPr>
        <p:txBody>
          <a:bodyPr/>
          <a:lstStyle/>
          <a:p>
            <a:r>
              <a:rPr lang="en-CA" altLang="en-US" dirty="0"/>
              <a:t>R2 examines the destination MAC address. Because it matches the MAC address of its receiving interface, R2 copies the frame into its buffer.</a:t>
            </a:r>
            <a:endParaRPr lang="en-CA" altLang="en-US" dirty="0"/>
          </a:p>
          <a:p>
            <a:r>
              <a:rPr lang="en-CA" altLang="en-US" dirty="0"/>
              <a:t>R2 determines that that frame contains an IPv4 packet in the data portion of the frame.</a:t>
            </a:r>
            <a:endParaRPr lang="en-CA" altLang="en-US" dirty="0"/>
          </a:p>
          <a:p>
            <a:r>
              <a:rPr lang="en-CA" altLang="en-US" dirty="0"/>
              <a:t>R2 de-encapsulates the Ethernet frame.</a:t>
            </a:r>
            <a:endParaRPr lang="en-CA" altLang="en-US" dirty="0"/>
          </a:p>
          <a:p>
            <a:r>
              <a:rPr lang="en-CA" altLang="en-US" dirty="0"/>
              <a:t>Because the destination IP address is on a different network, the routing table is searched to find a corresponding route for the destination IPv4 address. </a:t>
            </a:r>
            <a:endParaRPr lang="en-CA" altLang="en-US" dirty="0"/>
          </a:p>
        </p:txBody>
      </p:sp>
      <p:pic>
        <p:nvPicPr>
          <p:cNvPr id="4" name="Picture 3"/>
          <p:cNvPicPr>
            <a:picLocks noChangeAspect="1"/>
          </p:cNvPicPr>
          <p:nvPr/>
        </p:nvPicPr>
        <p:blipFill>
          <a:blip r:embed="rId1"/>
          <a:stretch>
            <a:fillRect/>
          </a:stretch>
        </p:blipFill>
        <p:spPr>
          <a:xfrm>
            <a:off x="129707" y="1061758"/>
            <a:ext cx="5191125" cy="2266950"/>
          </a:xfrm>
          <a:prstGeom prst="rect">
            <a:avLst/>
          </a:prstGeom>
        </p:spPr>
      </p:pic>
      <p:sp>
        <p:nvSpPr>
          <p:cNvPr id="6" name="Content Placeholder 2"/>
          <p:cNvSpPr txBox="1"/>
          <p:nvPr/>
        </p:nvSpPr>
        <p:spPr bwMode="auto">
          <a:xfrm>
            <a:off x="313764" y="3430157"/>
            <a:ext cx="4823010" cy="1031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lstStyle>
            <a:lvl1pPr marL="170180" indent="-170180" algn="l" defTabSz="684530"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MS PGothic" panose="020B0600070205080204" pitchFamily="34" charset="-128"/>
                <a:cs typeface="CiscoSans"/>
              </a:defRPr>
            </a:lvl1pPr>
            <a:lvl2pPr marL="358775" indent="-215900" algn="l" defTabSz="684530" rtl="0" eaLnBrk="1" fontAlgn="base" hangingPunct="1">
              <a:lnSpc>
                <a:spcPct val="100000"/>
              </a:lnSpc>
              <a:spcBef>
                <a:spcPts val="300"/>
              </a:spcBef>
              <a:spcAft>
                <a:spcPts val="300"/>
              </a:spcAft>
              <a:buClr>
                <a:schemeClr val="tx2"/>
              </a:buClr>
              <a:buFont typeface="Arial" panose="020B0604020202020204" pitchFamily="34" charset="0"/>
              <a:buChar char="•"/>
              <a:defRPr lang="en-US" sz="1400" kern="1200">
                <a:solidFill>
                  <a:srgbClr val="000000"/>
                </a:solidFill>
                <a:latin typeface="+mn-lt"/>
                <a:ea typeface="MS PGothic" panose="020B0600070205080204" pitchFamily="34" charset="-128"/>
                <a:cs typeface="CiscoSans"/>
              </a:defRPr>
            </a:lvl2pPr>
            <a:lvl3pPr marL="431800" indent="-170180" algn="l" defTabSz="684530" rtl="0" eaLnBrk="1" fontAlgn="base" hangingPunct="1">
              <a:lnSpc>
                <a:spcPct val="100000"/>
              </a:lnSpc>
              <a:spcBef>
                <a:spcPts val="300"/>
              </a:spcBef>
              <a:spcAft>
                <a:spcPts val="300"/>
              </a:spcAft>
              <a:buFont typeface="Arial" panose="020B0604020202020204" pitchFamily="34" charset="0"/>
              <a:buChar char="•"/>
              <a:defRPr lang="en-US" sz="1200" kern="1200">
                <a:solidFill>
                  <a:srgbClr val="000000"/>
                </a:solidFill>
                <a:latin typeface="+mn-lt"/>
                <a:ea typeface="MS PGothic" panose="020B0600070205080204" pitchFamily="34" charset="-128"/>
                <a:cs typeface="CiscoSans"/>
              </a:defRPr>
            </a:lvl3pPr>
            <a:lvl4pPr marL="503555" indent="-170180" algn="l" defTabSz="684530" rtl="0" eaLnBrk="1" fontAlgn="base" hangingPunct="1">
              <a:lnSpc>
                <a:spcPct val="100000"/>
              </a:lnSpc>
              <a:spcBef>
                <a:spcPts val="300"/>
              </a:spcBef>
              <a:spcAft>
                <a:spcPts val="300"/>
              </a:spcAft>
              <a:buFont typeface="Arial" panose="020B0604020202020204" pitchFamily="34" charset="0"/>
              <a:buChar char="•"/>
              <a:defRPr lang="en-US" sz="1100" kern="1200">
                <a:solidFill>
                  <a:srgbClr val="000000"/>
                </a:solidFill>
                <a:latin typeface="+mn-lt"/>
                <a:ea typeface="MS PGothic" panose="020B0600070205080204" pitchFamily="34" charset="-128"/>
                <a:cs typeface="CiscoSans"/>
              </a:defRPr>
            </a:lvl4pPr>
            <a:lvl5pPr marL="57467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panose="020B0600070205080204" pitchFamily="34" charset="-128"/>
                <a:cs typeface="CiscoSans"/>
              </a:defRPr>
            </a:lvl5pPr>
            <a:lvl6pPr marL="863600" indent="-171450" algn="l" defTabSz="685800" rtl="0" eaLnBrk="1" latinLnBrk="0" hangingPunct="1">
              <a:spcBef>
                <a:spcPts val="600"/>
              </a:spcBef>
              <a:buFont typeface="Arial" panose="020B0604020202020204" pitchFamily="34" charset="0"/>
              <a:buChar char="•"/>
              <a:defRPr sz="900" kern="1200" baseline="0">
                <a:solidFill>
                  <a:schemeClr val="tx1"/>
                </a:solidFill>
                <a:latin typeface="+mn-lt"/>
                <a:ea typeface="+mn-ea"/>
                <a:cs typeface="+mn-cs"/>
              </a:defRPr>
            </a:lvl6pPr>
            <a:lvl7pPr marL="935990" indent="-171450" algn="l" defTabSz="685800" rtl="0" eaLnBrk="1" latinLnBrk="0" hangingPunct="1">
              <a:spcBef>
                <a:spcPts val="600"/>
              </a:spcBef>
              <a:buFont typeface="Arial" panose="020B0604020202020204" pitchFamily="34" charset="0"/>
              <a:buChar char="•"/>
              <a:defRPr sz="800" kern="1200" baseline="0">
                <a:solidFill>
                  <a:schemeClr val="tx1"/>
                </a:solidFill>
                <a:latin typeface="+mn-lt"/>
                <a:ea typeface="+mn-ea"/>
                <a:cs typeface="+mn-cs"/>
              </a:defRPr>
            </a:lvl7pPr>
            <a:lvl8pPr marL="2400300" indent="0" algn="l" defTabSz="685800" rtl="0" eaLnBrk="1" latinLnBrk="0" hangingPunct="1">
              <a:spcBef>
                <a:spcPct val="20000"/>
              </a:spcBef>
              <a:buFont typeface="Arial" panose="020B0604020202020204" pitchFamily="34" charset="0"/>
              <a:buNone/>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r>
              <a:rPr lang="en-CA" altLang="en-US" dirty="0"/>
              <a:t>The process outlined to the right describes what happens when router R2 receives a frame on its FA0/0 interface that needs to be forwarded to router R3.</a:t>
            </a:r>
            <a:endParaRPr lang="en-CA" altLang="en-US" dirty="0"/>
          </a:p>
          <a:p>
            <a:pPr marL="142875" lvl="1" indent="0">
              <a:buFont typeface="Arial" panose="020B0604020202020204" pitchFamily="34" charset="0"/>
              <a:buNone/>
            </a:pPr>
            <a:endParaRPr lang="en-CA" altLang="en-US" dirty="0"/>
          </a:p>
        </p:txBody>
      </p:sp>
    </p:spTree>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867834" cy="757551"/>
          </a:xfrm>
        </p:spPr>
        <p:txBody>
          <a:bodyPr/>
          <a:lstStyle/>
          <a:p>
            <a:r>
              <a:rPr lang="en-CA" altLang="en-US" sz="1600" dirty="0"/>
              <a:t>Switching Packets Between Networks</a:t>
            </a:r>
            <a:br>
              <a:rPr lang="en-CA" altLang="en-US" sz="1600" dirty="0"/>
            </a:br>
            <a:r>
              <a:rPr lang="en-CA" altLang="en-US" dirty="0"/>
              <a:t>Packet Routing (Cont.)</a:t>
            </a:r>
            <a:endParaRPr lang="en-CA" altLang="en-US" dirty="0"/>
          </a:p>
        </p:txBody>
      </p:sp>
      <p:sp>
        <p:nvSpPr>
          <p:cNvPr id="3" name="Content Placeholder 2"/>
          <p:cNvSpPr>
            <a:spLocks noGrp="1"/>
          </p:cNvSpPr>
          <p:nvPr>
            <p:ph idx="1"/>
          </p:nvPr>
        </p:nvSpPr>
        <p:spPr>
          <a:xfrm>
            <a:off x="5320832" y="244540"/>
            <a:ext cx="3473545" cy="4638266"/>
          </a:xfrm>
        </p:spPr>
        <p:txBody>
          <a:bodyPr/>
          <a:lstStyle/>
          <a:p>
            <a:r>
              <a:rPr lang="en-CA" altLang="en-US" dirty="0"/>
              <a:t>The routing table of R2 has a route to the 192.168.4.0/24 network with a next-hop IPv4 address of 192.168.3.2 and an exit interface of Serial 0/0/0.   </a:t>
            </a:r>
            <a:endParaRPr lang="en-CA" altLang="en-US" dirty="0"/>
          </a:p>
          <a:p>
            <a:r>
              <a:rPr lang="en-CA" altLang="en-US" dirty="0"/>
              <a:t>Because the exit interface is not Ethernet, R2 does not have to resolve the next-hop IP-v4 address with a destination MAC address.</a:t>
            </a:r>
            <a:endParaRPr lang="en-CA" altLang="en-US" dirty="0"/>
          </a:p>
          <a:p>
            <a:r>
              <a:rPr lang="en-CA" altLang="en-US" dirty="0"/>
              <a:t>The IPv4 packet is encapsulated into a new data link frame used by the exit interface and sent out the Serial 0/0/0 exit interface.</a:t>
            </a:r>
            <a:endParaRPr lang="en-CA" altLang="en-US" dirty="0"/>
          </a:p>
          <a:p>
            <a:r>
              <a:rPr lang="en-CA" altLang="en-US" dirty="0"/>
              <a:t>Because there are no MAC addresses on serial interfaces, R2 sets the data link destination address to an equivalent of a broadcast.</a:t>
            </a:r>
            <a:endParaRPr lang="en-CA" altLang="en-US" dirty="0"/>
          </a:p>
        </p:txBody>
      </p:sp>
      <p:pic>
        <p:nvPicPr>
          <p:cNvPr id="4" name="Picture 3"/>
          <p:cNvPicPr>
            <a:picLocks noChangeAspect="1"/>
          </p:cNvPicPr>
          <p:nvPr/>
        </p:nvPicPr>
        <p:blipFill>
          <a:blip r:embed="rId1"/>
          <a:stretch>
            <a:fillRect/>
          </a:stretch>
        </p:blipFill>
        <p:spPr>
          <a:xfrm>
            <a:off x="129707" y="1429311"/>
            <a:ext cx="5191125" cy="2266950"/>
          </a:xfrm>
          <a:prstGeom prst="rect">
            <a:avLst/>
          </a:prstGeom>
        </p:spPr>
      </p:pic>
    </p:spTree>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867834" cy="757551"/>
          </a:xfrm>
        </p:spPr>
        <p:txBody>
          <a:bodyPr/>
          <a:lstStyle/>
          <a:p>
            <a:r>
              <a:rPr lang="en-CA" altLang="en-US" sz="1600" dirty="0"/>
              <a:t>Switching Packets Between Networks</a:t>
            </a:r>
            <a:br>
              <a:rPr lang="en-CA" altLang="en-US" sz="1600" dirty="0"/>
            </a:br>
            <a:r>
              <a:rPr lang="en-CA" altLang="en-US" dirty="0"/>
              <a:t>Reach the Destination</a:t>
            </a:r>
            <a:endParaRPr lang="en-CA" altLang="en-US" dirty="0"/>
          </a:p>
        </p:txBody>
      </p:sp>
      <p:sp>
        <p:nvSpPr>
          <p:cNvPr id="3" name="Content Placeholder 2"/>
          <p:cNvSpPr>
            <a:spLocks noGrp="1"/>
          </p:cNvSpPr>
          <p:nvPr>
            <p:ph idx="1"/>
          </p:nvPr>
        </p:nvSpPr>
        <p:spPr>
          <a:xfrm>
            <a:off x="5448693" y="798944"/>
            <a:ext cx="3345684" cy="4065286"/>
          </a:xfrm>
        </p:spPr>
        <p:txBody>
          <a:bodyPr/>
          <a:lstStyle/>
          <a:p>
            <a:r>
              <a:rPr lang="en-CA" altLang="en-US" dirty="0"/>
              <a:t>R3 copies the data link PPP frame into its buffer.</a:t>
            </a:r>
            <a:endParaRPr lang="en-CA" altLang="en-US" dirty="0"/>
          </a:p>
          <a:p>
            <a:r>
              <a:rPr lang="en-CA" altLang="en-US" sz="1300" dirty="0"/>
              <a:t>R3 de-encapsulates the data link PPP frame.</a:t>
            </a:r>
            <a:endParaRPr lang="en-CA" altLang="en-US" sz="1300" dirty="0"/>
          </a:p>
          <a:p>
            <a:r>
              <a:rPr lang="en-CA" altLang="en-US" sz="1300" dirty="0"/>
              <a:t>R3 searches the routing table for the destination IPv4 address of the packet.</a:t>
            </a:r>
            <a:endParaRPr lang="en-CA" altLang="en-US" sz="1300" dirty="0"/>
          </a:p>
          <a:p>
            <a:r>
              <a:rPr lang="en-CA" altLang="en-US" sz="1300" dirty="0"/>
              <a:t>Because the destination network is on R3’s directly connected network, the packet can be sent directly and does not need to be sent to another router.</a:t>
            </a:r>
            <a:endParaRPr lang="en-CA" altLang="en-US" sz="1300" dirty="0"/>
          </a:p>
          <a:p>
            <a:r>
              <a:rPr lang="en-CA" altLang="en-US" sz="1300" dirty="0"/>
              <a:t>Because the exit interface is a directly connected Ethernet network, R3 must resolve the destination IPv4 address of the packet with a destination MAC address by either finding it in its ARP cache or send out an ARP request.</a:t>
            </a:r>
            <a:endParaRPr lang="en-CA" altLang="en-US" sz="1300" dirty="0"/>
          </a:p>
        </p:txBody>
      </p:sp>
      <p:pic>
        <p:nvPicPr>
          <p:cNvPr id="4" name="Picture 3"/>
          <p:cNvPicPr>
            <a:picLocks noChangeAspect="1"/>
          </p:cNvPicPr>
          <p:nvPr/>
        </p:nvPicPr>
        <p:blipFill>
          <a:blip r:embed="rId1"/>
          <a:stretch>
            <a:fillRect/>
          </a:stretch>
        </p:blipFill>
        <p:spPr>
          <a:xfrm>
            <a:off x="142034" y="1159249"/>
            <a:ext cx="5076825" cy="2000250"/>
          </a:xfrm>
          <a:prstGeom prst="rect">
            <a:avLst/>
          </a:prstGeom>
        </p:spPr>
      </p:pic>
      <p:sp>
        <p:nvSpPr>
          <p:cNvPr id="6" name="Content Placeholder 2"/>
          <p:cNvSpPr txBox="1"/>
          <p:nvPr/>
        </p:nvSpPr>
        <p:spPr bwMode="auto">
          <a:xfrm>
            <a:off x="180977" y="3376262"/>
            <a:ext cx="5076824" cy="917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lstStyle>
            <a:lvl1pPr marL="170180" indent="-170180" algn="l" defTabSz="684530"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MS PGothic" panose="020B0600070205080204" pitchFamily="34" charset="-128"/>
                <a:cs typeface="CiscoSans"/>
              </a:defRPr>
            </a:lvl1pPr>
            <a:lvl2pPr marL="358775" indent="-215900" algn="l" defTabSz="684530" rtl="0" eaLnBrk="1" fontAlgn="base" hangingPunct="1">
              <a:lnSpc>
                <a:spcPct val="100000"/>
              </a:lnSpc>
              <a:spcBef>
                <a:spcPts val="300"/>
              </a:spcBef>
              <a:spcAft>
                <a:spcPts val="300"/>
              </a:spcAft>
              <a:buClr>
                <a:schemeClr val="tx2"/>
              </a:buClr>
              <a:buFont typeface="Arial" panose="020B0604020202020204" pitchFamily="34" charset="0"/>
              <a:buChar char="•"/>
              <a:defRPr lang="en-US" sz="1400" kern="1200">
                <a:solidFill>
                  <a:srgbClr val="000000"/>
                </a:solidFill>
                <a:latin typeface="+mn-lt"/>
                <a:ea typeface="MS PGothic" panose="020B0600070205080204" pitchFamily="34" charset="-128"/>
                <a:cs typeface="CiscoSans"/>
              </a:defRPr>
            </a:lvl2pPr>
            <a:lvl3pPr marL="431800" indent="-170180" algn="l" defTabSz="684530" rtl="0" eaLnBrk="1" fontAlgn="base" hangingPunct="1">
              <a:lnSpc>
                <a:spcPct val="100000"/>
              </a:lnSpc>
              <a:spcBef>
                <a:spcPts val="300"/>
              </a:spcBef>
              <a:spcAft>
                <a:spcPts val="300"/>
              </a:spcAft>
              <a:buFont typeface="Arial" panose="020B0604020202020204" pitchFamily="34" charset="0"/>
              <a:buChar char="•"/>
              <a:defRPr lang="en-US" sz="1200" kern="1200">
                <a:solidFill>
                  <a:srgbClr val="000000"/>
                </a:solidFill>
                <a:latin typeface="+mn-lt"/>
                <a:ea typeface="MS PGothic" panose="020B0600070205080204" pitchFamily="34" charset="-128"/>
                <a:cs typeface="CiscoSans"/>
              </a:defRPr>
            </a:lvl3pPr>
            <a:lvl4pPr marL="503555" indent="-170180" algn="l" defTabSz="684530" rtl="0" eaLnBrk="1" fontAlgn="base" hangingPunct="1">
              <a:lnSpc>
                <a:spcPct val="100000"/>
              </a:lnSpc>
              <a:spcBef>
                <a:spcPts val="300"/>
              </a:spcBef>
              <a:spcAft>
                <a:spcPts val="300"/>
              </a:spcAft>
              <a:buFont typeface="Arial" panose="020B0604020202020204" pitchFamily="34" charset="0"/>
              <a:buChar char="•"/>
              <a:defRPr lang="en-US" sz="1100" kern="1200">
                <a:solidFill>
                  <a:srgbClr val="000000"/>
                </a:solidFill>
                <a:latin typeface="+mn-lt"/>
                <a:ea typeface="MS PGothic" panose="020B0600070205080204" pitchFamily="34" charset="-128"/>
                <a:cs typeface="CiscoSans"/>
              </a:defRPr>
            </a:lvl4pPr>
            <a:lvl5pPr marL="57467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panose="020B0600070205080204" pitchFamily="34" charset="-128"/>
                <a:cs typeface="CiscoSans"/>
              </a:defRPr>
            </a:lvl5pPr>
            <a:lvl6pPr marL="863600" indent="-171450" algn="l" defTabSz="685800" rtl="0" eaLnBrk="1" latinLnBrk="0" hangingPunct="1">
              <a:spcBef>
                <a:spcPts val="600"/>
              </a:spcBef>
              <a:buFont typeface="Arial" panose="020B0604020202020204" pitchFamily="34" charset="0"/>
              <a:buChar char="•"/>
              <a:defRPr sz="900" kern="1200" baseline="0">
                <a:solidFill>
                  <a:schemeClr val="tx1"/>
                </a:solidFill>
                <a:latin typeface="+mn-lt"/>
                <a:ea typeface="+mn-ea"/>
                <a:cs typeface="+mn-cs"/>
              </a:defRPr>
            </a:lvl6pPr>
            <a:lvl7pPr marL="935990" indent="-171450" algn="l" defTabSz="685800" rtl="0" eaLnBrk="1" latinLnBrk="0" hangingPunct="1">
              <a:spcBef>
                <a:spcPts val="600"/>
              </a:spcBef>
              <a:buFont typeface="Arial" panose="020B0604020202020204" pitchFamily="34" charset="0"/>
              <a:buChar char="•"/>
              <a:defRPr sz="800" kern="1200" baseline="0">
                <a:solidFill>
                  <a:schemeClr val="tx1"/>
                </a:solidFill>
                <a:latin typeface="+mn-lt"/>
                <a:ea typeface="+mn-ea"/>
                <a:cs typeface="+mn-cs"/>
              </a:defRPr>
            </a:lvl7pPr>
            <a:lvl8pPr marL="2400300" indent="0" algn="l" defTabSz="685800" rtl="0" eaLnBrk="1" latinLnBrk="0" hangingPunct="1">
              <a:spcBef>
                <a:spcPct val="20000"/>
              </a:spcBef>
              <a:buFont typeface="Arial" panose="020B0604020202020204" pitchFamily="34" charset="0"/>
              <a:buNone/>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r>
              <a:rPr lang="en-CA" altLang="en-US" sz="1400" dirty="0"/>
              <a:t>The process outlined on the right describes what takes place when R3 receives a frame on its serial interface.</a:t>
            </a:r>
            <a:endParaRPr lang="en-CA" altLang="en-US" sz="1400" dirty="0"/>
          </a:p>
        </p:txBody>
      </p:sp>
    </p:spTree>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867834" cy="757551"/>
          </a:xfrm>
        </p:spPr>
        <p:txBody>
          <a:bodyPr/>
          <a:lstStyle/>
          <a:p>
            <a:r>
              <a:rPr lang="en-CA" altLang="en-US" sz="1600" dirty="0"/>
              <a:t>Path Determination</a:t>
            </a:r>
            <a:br>
              <a:rPr lang="en-CA" altLang="en-US" sz="1600" dirty="0"/>
            </a:br>
            <a:r>
              <a:rPr lang="en-CA" altLang="en-US" dirty="0"/>
              <a:t>Routing Decisions</a:t>
            </a:r>
            <a:endParaRPr lang="en-CA" altLang="en-US" dirty="0"/>
          </a:p>
        </p:txBody>
      </p:sp>
      <p:sp>
        <p:nvSpPr>
          <p:cNvPr id="3" name="Content Placeholder 2"/>
          <p:cNvSpPr>
            <a:spLocks noGrp="1"/>
          </p:cNvSpPr>
          <p:nvPr>
            <p:ph idx="1"/>
          </p:nvPr>
        </p:nvSpPr>
        <p:spPr>
          <a:xfrm>
            <a:off x="5099901" y="322252"/>
            <a:ext cx="4044099" cy="4541979"/>
          </a:xfrm>
        </p:spPr>
        <p:txBody>
          <a:bodyPr/>
          <a:lstStyle/>
          <a:p>
            <a:r>
              <a:rPr lang="en-CA" altLang="en-US" dirty="0"/>
              <a:t>The primary function of a router is to determine the best path to send packets.  </a:t>
            </a:r>
            <a:endParaRPr lang="en-CA" altLang="en-US" dirty="0"/>
          </a:p>
          <a:p>
            <a:r>
              <a:rPr lang="en-CA" altLang="en-US" dirty="0"/>
              <a:t>A routing table search results in one of three path determinations:</a:t>
            </a:r>
            <a:endParaRPr lang="en-CA" altLang="en-US" dirty="0"/>
          </a:p>
          <a:p>
            <a:pPr lvl="1"/>
            <a:r>
              <a:rPr lang="en-CA" altLang="en-US" dirty="0"/>
              <a:t>Directly connected network – If the destination IP address belongs to a network that is directly connected to the router, the packet is forwarded out of that interface.</a:t>
            </a:r>
            <a:endParaRPr lang="en-CA" altLang="en-US" dirty="0"/>
          </a:p>
          <a:p>
            <a:pPr lvl="1"/>
            <a:r>
              <a:rPr lang="en-CA" altLang="en-US" dirty="0"/>
              <a:t>Remote network – If the destination IP address of the packet belongs to a remote network, the packet is forwarded to another router.  </a:t>
            </a:r>
            <a:endParaRPr lang="en-CA" altLang="en-US" dirty="0"/>
          </a:p>
          <a:p>
            <a:pPr lvl="1"/>
            <a:r>
              <a:rPr lang="en-CA" altLang="en-US" dirty="0"/>
              <a:t>No route determined – If the destination IP address does not belong to a connected network or is in the routing table, the packet is sent to Gateway of Last Resort.  </a:t>
            </a:r>
            <a:endParaRPr lang="en-CA" altLang="en-US" dirty="0"/>
          </a:p>
        </p:txBody>
      </p:sp>
      <p:pic>
        <p:nvPicPr>
          <p:cNvPr id="2" name="Picture 1"/>
          <p:cNvPicPr>
            <a:picLocks noChangeAspect="1"/>
          </p:cNvPicPr>
          <p:nvPr/>
        </p:nvPicPr>
        <p:blipFill>
          <a:blip r:embed="rId1"/>
          <a:stretch>
            <a:fillRect/>
          </a:stretch>
        </p:blipFill>
        <p:spPr>
          <a:xfrm>
            <a:off x="413601" y="950236"/>
            <a:ext cx="4686300" cy="3419475"/>
          </a:xfrm>
          <a:prstGeom prst="rect">
            <a:avLst/>
          </a:prstGeom>
        </p:spPr>
      </p:pic>
    </p:spTree>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867834" cy="757551"/>
          </a:xfrm>
        </p:spPr>
        <p:txBody>
          <a:bodyPr/>
          <a:lstStyle/>
          <a:p>
            <a:r>
              <a:rPr lang="en-CA" altLang="en-US" sz="1600" dirty="0"/>
              <a:t>Path Determination</a:t>
            </a:r>
            <a:br>
              <a:rPr lang="en-CA" altLang="en-US" sz="1600" dirty="0"/>
            </a:br>
            <a:r>
              <a:rPr lang="en-CA" altLang="en-US" dirty="0"/>
              <a:t>Best Path</a:t>
            </a:r>
            <a:endParaRPr lang="en-CA" altLang="en-US" dirty="0"/>
          </a:p>
        </p:txBody>
      </p:sp>
      <p:sp>
        <p:nvSpPr>
          <p:cNvPr id="3" name="Content Placeholder 2"/>
          <p:cNvSpPr>
            <a:spLocks noGrp="1"/>
          </p:cNvSpPr>
          <p:nvPr>
            <p:ph idx="1"/>
          </p:nvPr>
        </p:nvSpPr>
        <p:spPr>
          <a:xfrm>
            <a:off x="4288690" y="159683"/>
            <a:ext cx="4554071" cy="4649881"/>
          </a:xfrm>
        </p:spPr>
        <p:txBody>
          <a:bodyPr/>
          <a:lstStyle/>
          <a:p>
            <a:r>
              <a:rPr lang="en-CA" altLang="en-US" sz="1400" dirty="0"/>
              <a:t>Determining the best path to a destination network involves the evaluation of multiple paths and selecting the optimum or shortest path to reach that network.</a:t>
            </a:r>
            <a:endParaRPr lang="en-CA" altLang="en-US" sz="1400" dirty="0"/>
          </a:p>
          <a:p>
            <a:r>
              <a:rPr lang="en-CA" altLang="en-US" sz="1400" dirty="0"/>
              <a:t>The best path is selected based on the metric or value that is used by the routing protocol.  </a:t>
            </a:r>
            <a:endParaRPr lang="en-CA" altLang="en-US" sz="1400" dirty="0"/>
          </a:p>
          <a:p>
            <a:r>
              <a:rPr lang="en-CA" altLang="en-US" sz="1400" dirty="0"/>
              <a:t>The best path to a network is the path with the lowest metric. A metric is a value that is used to measure the distance to a given network.</a:t>
            </a:r>
            <a:endParaRPr lang="en-CA" altLang="en-US" sz="1400" dirty="0"/>
          </a:p>
          <a:p>
            <a:r>
              <a:rPr lang="en-CA" altLang="en-US" sz="1400" dirty="0"/>
              <a:t>Each dynamic routing protocols has their own rules and metrics to build and update routing tables.  For example:</a:t>
            </a:r>
            <a:endParaRPr lang="en-CA" altLang="en-US" sz="1400" dirty="0"/>
          </a:p>
          <a:p>
            <a:pPr lvl="1"/>
            <a:r>
              <a:rPr lang="en-CA" altLang="en-US" sz="1300" dirty="0">
                <a:highlight>
                  <a:srgbClr val="FFFF00"/>
                </a:highlight>
              </a:rPr>
              <a:t>Routing Information Protocol (RIP) – Hop count</a:t>
            </a:r>
            <a:endParaRPr lang="en-CA" altLang="en-US" sz="1300" dirty="0">
              <a:highlight>
                <a:srgbClr val="FFFF00"/>
              </a:highlight>
            </a:endParaRPr>
          </a:p>
          <a:p>
            <a:pPr lvl="1"/>
            <a:r>
              <a:rPr lang="en-CA" altLang="en-US" sz="1300" dirty="0">
                <a:highlight>
                  <a:srgbClr val="FFFF00"/>
                </a:highlight>
              </a:rPr>
              <a:t>Open Shortest Path First (OSPF) – Cisco’s cost based cumulative bandwidth from source to destination</a:t>
            </a:r>
            <a:endParaRPr lang="en-CA" altLang="en-US" sz="1300" dirty="0">
              <a:highlight>
                <a:srgbClr val="FFFF00"/>
              </a:highlight>
            </a:endParaRPr>
          </a:p>
          <a:p>
            <a:pPr lvl="1"/>
            <a:r>
              <a:rPr lang="en-CA" altLang="en-US" sz="1300" dirty="0">
                <a:highlight>
                  <a:srgbClr val="FFFF00"/>
                </a:highlight>
              </a:rPr>
              <a:t>Enhanced Interior Gateway Routing Protocol (EIGRP) – Bandwidth, delay, load, reliability</a:t>
            </a:r>
            <a:endParaRPr lang="en-CA" altLang="en-US" sz="1300" dirty="0">
              <a:highlight>
                <a:srgbClr val="FFFF00"/>
              </a:highlight>
            </a:endParaRPr>
          </a:p>
        </p:txBody>
      </p:sp>
      <p:pic>
        <p:nvPicPr>
          <p:cNvPr id="4" name="Picture 3"/>
          <p:cNvPicPr>
            <a:picLocks noChangeAspect="1"/>
          </p:cNvPicPr>
          <p:nvPr/>
        </p:nvPicPr>
        <p:blipFill>
          <a:blip r:embed="rId1"/>
          <a:stretch>
            <a:fillRect/>
          </a:stretch>
        </p:blipFill>
        <p:spPr>
          <a:xfrm>
            <a:off x="331694" y="912999"/>
            <a:ext cx="3657600" cy="3143250"/>
          </a:xfrm>
          <a:prstGeom prst="rect">
            <a:avLst/>
          </a:prstGeom>
        </p:spPr>
      </p:pic>
    </p:spTree>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867834" cy="757551"/>
          </a:xfrm>
        </p:spPr>
        <p:txBody>
          <a:bodyPr/>
          <a:lstStyle/>
          <a:p>
            <a:r>
              <a:rPr lang="en-CA" altLang="en-US" sz="1600" dirty="0"/>
              <a:t>Path Determination</a:t>
            </a:r>
            <a:br>
              <a:rPr lang="en-CA" altLang="en-US" sz="1600" dirty="0"/>
            </a:br>
            <a:r>
              <a:rPr lang="en-CA" altLang="en-US" dirty="0"/>
              <a:t>Load Balancing</a:t>
            </a:r>
            <a:endParaRPr lang="en-CA" altLang="en-US" dirty="0"/>
          </a:p>
        </p:txBody>
      </p:sp>
      <p:sp>
        <p:nvSpPr>
          <p:cNvPr id="3" name="Content Placeholder 2"/>
          <p:cNvSpPr>
            <a:spLocks noGrp="1"/>
          </p:cNvSpPr>
          <p:nvPr>
            <p:ph idx="1"/>
          </p:nvPr>
        </p:nvSpPr>
        <p:spPr>
          <a:xfrm>
            <a:off x="4371584" y="604661"/>
            <a:ext cx="4584526" cy="4280490"/>
          </a:xfrm>
        </p:spPr>
        <p:txBody>
          <a:bodyPr/>
          <a:lstStyle/>
          <a:p>
            <a:r>
              <a:rPr lang="en-CA" altLang="en-US" dirty="0"/>
              <a:t>If a router has two or more paths with identical metrics to the same destination network, the router will forward the packets using both paths equally. </a:t>
            </a:r>
            <a:endParaRPr lang="en-CA" altLang="en-US" dirty="0"/>
          </a:p>
          <a:p>
            <a:r>
              <a:rPr lang="en-CA" altLang="en-US" dirty="0"/>
              <a:t>The routing table contains a single destination network, but has multiple exit interfaces – one for each equal cost path. This is referred to as equal cost load balancing.</a:t>
            </a:r>
            <a:endParaRPr lang="en-CA" altLang="en-US" dirty="0"/>
          </a:p>
          <a:p>
            <a:r>
              <a:rPr lang="en-CA" altLang="en-US" dirty="0"/>
              <a:t>If configured correctly, load balancing can increase the effectiveness and performance of the network. </a:t>
            </a:r>
            <a:endParaRPr lang="en-CA" altLang="en-US" dirty="0"/>
          </a:p>
          <a:p>
            <a:r>
              <a:rPr lang="en-CA" altLang="en-US" dirty="0"/>
              <a:t>Equal cost load balancing can be configured to use both dynamic routing protocols and static routes.</a:t>
            </a:r>
            <a:endParaRPr lang="en-CA" altLang="en-US" dirty="0"/>
          </a:p>
          <a:p>
            <a:r>
              <a:rPr lang="en-CA" altLang="en-US" dirty="0"/>
              <a:t>EIGRP supports unequal cost load balancing. </a:t>
            </a:r>
            <a:endParaRPr lang="en-CA" altLang="en-US" dirty="0"/>
          </a:p>
        </p:txBody>
      </p:sp>
      <p:pic>
        <p:nvPicPr>
          <p:cNvPr id="2" name="Picture 1"/>
          <p:cNvPicPr>
            <a:picLocks noChangeAspect="1"/>
          </p:cNvPicPr>
          <p:nvPr/>
        </p:nvPicPr>
        <p:blipFill>
          <a:blip r:embed="rId1"/>
          <a:stretch>
            <a:fillRect/>
          </a:stretch>
        </p:blipFill>
        <p:spPr>
          <a:xfrm>
            <a:off x="328333" y="1001246"/>
            <a:ext cx="3619500" cy="3105150"/>
          </a:xfrm>
          <a:prstGeom prst="rect">
            <a:avLst/>
          </a:prstGeom>
        </p:spPr>
      </p:pic>
    </p:spTree>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867834" cy="757551"/>
          </a:xfrm>
        </p:spPr>
        <p:txBody>
          <a:bodyPr/>
          <a:lstStyle/>
          <a:p>
            <a:r>
              <a:rPr lang="en-CA" altLang="en-US" sz="1600" dirty="0"/>
              <a:t>Path Determination</a:t>
            </a:r>
            <a:br>
              <a:rPr lang="en-CA" altLang="en-US" sz="1600" dirty="0"/>
            </a:br>
            <a:r>
              <a:rPr lang="en-CA" altLang="en-US" dirty="0"/>
              <a:t>Administrative Distance</a:t>
            </a:r>
            <a:endParaRPr lang="en-CA" altLang="en-US" dirty="0"/>
          </a:p>
        </p:txBody>
      </p:sp>
      <p:sp>
        <p:nvSpPr>
          <p:cNvPr id="3" name="Content Placeholder 2"/>
          <p:cNvSpPr>
            <a:spLocks noGrp="1"/>
          </p:cNvSpPr>
          <p:nvPr>
            <p:ph idx="1"/>
          </p:nvPr>
        </p:nvSpPr>
        <p:spPr>
          <a:xfrm>
            <a:off x="5123145" y="348827"/>
            <a:ext cx="3719615" cy="4486220"/>
          </a:xfrm>
        </p:spPr>
        <p:txBody>
          <a:bodyPr/>
          <a:lstStyle/>
          <a:p>
            <a:r>
              <a:rPr lang="en-CA" altLang="en-US" dirty="0"/>
              <a:t>If a router has multiple routing protocols configured and static routes, it is possible that the routing table might have more than one route source for the same destination network.  </a:t>
            </a:r>
            <a:endParaRPr lang="en-CA" altLang="en-US" dirty="0"/>
          </a:p>
          <a:p>
            <a:r>
              <a:rPr lang="en-CA" altLang="en-US" dirty="0"/>
              <a:t>Each routing protocol might prefer a different path to reach the same destination.  How does the router know which path to choose?</a:t>
            </a:r>
            <a:endParaRPr lang="en-CA" altLang="en-US" dirty="0"/>
          </a:p>
          <a:p>
            <a:r>
              <a:rPr lang="en-CA" altLang="en-US" dirty="0"/>
              <a:t>The Cisco IOS uses what is known as the administrative distance (AD) to determine which route to install in the routing table.</a:t>
            </a:r>
            <a:endParaRPr lang="en-CA" altLang="en-US" dirty="0"/>
          </a:p>
          <a:p>
            <a:r>
              <a:rPr lang="en-CA" altLang="en-US" dirty="0"/>
              <a:t>The AD represents the “trustworthiness” of the route. The lower the AD, the more trustworthy.</a:t>
            </a:r>
            <a:endParaRPr lang="en-CA" altLang="en-US" dirty="0"/>
          </a:p>
        </p:txBody>
      </p:sp>
      <p:pic>
        <p:nvPicPr>
          <p:cNvPr id="4" name="Picture 3"/>
          <p:cNvPicPr>
            <a:picLocks noChangeAspect="1"/>
          </p:cNvPicPr>
          <p:nvPr/>
        </p:nvPicPr>
        <p:blipFill>
          <a:blip r:embed="rId1"/>
          <a:stretch>
            <a:fillRect/>
          </a:stretch>
        </p:blipFill>
        <p:spPr>
          <a:xfrm>
            <a:off x="119344" y="891703"/>
            <a:ext cx="4629150" cy="2838450"/>
          </a:xfrm>
          <a:prstGeom prst="rect">
            <a:avLst/>
          </a:prstGeom>
        </p:spPr>
      </p:pic>
      <p:sp>
        <p:nvSpPr>
          <p:cNvPr id="6" name="Content Placeholder 2"/>
          <p:cNvSpPr txBox="1"/>
          <p:nvPr/>
        </p:nvSpPr>
        <p:spPr bwMode="auto">
          <a:xfrm>
            <a:off x="119344" y="3890513"/>
            <a:ext cx="4629150" cy="60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lstStyle>
            <a:lvl1pPr marL="170180" indent="-170180" algn="l" defTabSz="684530"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MS PGothic" panose="020B0600070205080204" pitchFamily="34" charset="-128"/>
                <a:cs typeface="CiscoSans"/>
              </a:defRPr>
            </a:lvl1pPr>
            <a:lvl2pPr marL="358775" indent="-215900" algn="l" defTabSz="684530" rtl="0" eaLnBrk="1" fontAlgn="base" hangingPunct="1">
              <a:lnSpc>
                <a:spcPct val="100000"/>
              </a:lnSpc>
              <a:spcBef>
                <a:spcPts val="300"/>
              </a:spcBef>
              <a:spcAft>
                <a:spcPts val="300"/>
              </a:spcAft>
              <a:buClr>
                <a:schemeClr val="tx2"/>
              </a:buClr>
              <a:buFont typeface="Arial" panose="020B0604020202020204" pitchFamily="34" charset="0"/>
              <a:buChar char="•"/>
              <a:defRPr lang="en-US" sz="1400" kern="1200">
                <a:solidFill>
                  <a:srgbClr val="000000"/>
                </a:solidFill>
                <a:latin typeface="+mn-lt"/>
                <a:ea typeface="MS PGothic" panose="020B0600070205080204" pitchFamily="34" charset="-128"/>
                <a:cs typeface="CiscoSans"/>
              </a:defRPr>
            </a:lvl2pPr>
            <a:lvl3pPr marL="431800" indent="-170180" algn="l" defTabSz="684530" rtl="0" eaLnBrk="1" fontAlgn="base" hangingPunct="1">
              <a:lnSpc>
                <a:spcPct val="100000"/>
              </a:lnSpc>
              <a:spcBef>
                <a:spcPts val="300"/>
              </a:spcBef>
              <a:spcAft>
                <a:spcPts val="300"/>
              </a:spcAft>
              <a:buFont typeface="Arial" panose="020B0604020202020204" pitchFamily="34" charset="0"/>
              <a:buChar char="•"/>
              <a:defRPr lang="en-US" sz="1200" kern="1200">
                <a:solidFill>
                  <a:srgbClr val="000000"/>
                </a:solidFill>
                <a:latin typeface="+mn-lt"/>
                <a:ea typeface="MS PGothic" panose="020B0600070205080204" pitchFamily="34" charset="-128"/>
                <a:cs typeface="CiscoSans"/>
              </a:defRPr>
            </a:lvl3pPr>
            <a:lvl4pPr marL="503555" indent="-170180" algn="l" defTabSz="684530" rtl="0" eaLnBrk="1" fontAlgn="base" hangingPunct="1">
              <a:lnSpc>
                <a:spcPct val="100000"/>
              </a:lnSpc>
              <a:spcBef>
                <a:spcPts val="300"/>
              </a:spcBef>
              <a:spcAft>
                <a:spcPts val="300"/>
              </a:spcAft>
              <a:buFont typeface="Arial" panose="020B0604020202020204" pitchFamily="34" charset="0"/>
              <a:buChar char="•"/>
              <a:defRPr lang="en-US" sz="1100" kern="1200">
                <a:solidFill>
                  <a:srgbClr val="000000"/>
                </a:solidFill>
                <a:latin typeface="+mn-lt"/>
                <a:ea typeface="MS PGothic" panose="020B0600070205080204" pitchFamily="34" charset="-128"/>
                <a:cs typeface="CiscoSans"/>
              </a:defRPr>
            </a:lvl4pPr>
            <a:lvl5pPr marL="57467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panose="020B0600070205080204" pitchFamily="34" charset="-128"/>
                <a:cs typeface="CiscoSans"/>
              </a:defRPr>
            </a:lvl5pPr>
            <a:lvl6pPr marL="863600" indent="-171450" algn="l" defTabSz="685800" rtl="0" eaLnBrk="1" latinLnBrk="0" hangingPunct="1">
              <a:spcBef>
                <a:spcPts val="600"/>
              </a:spcBef>
              <a:buFont typeface="Arial" panose="020B0604020202020204" pitchFamily="34" charset="0"/>
              <a:buChar char="•"/>
              <a:defRPr sz="900" kern="1200" baseline="0">
                <a:solidFill>
                  <a:schemeClr val="tx1"/>
                </a:solidFill>
                <a:latin typeface="+mn-lt"/>
                <a:ea typeface="+mn-ea"/>
                <a:cs typeface="+mn-cs"/>
              </a:defRPr>
            </a:lvl6pPr>
            <a:lvl7pPr marL="935990" indent="-171450" algn="l" defTabSz="685800" rtl="0" eaLnBrk="1" latinLnBrk="0" hangingPunct="1">
              <a:spcBef>
                <a:spcPts val="600"/>
              </a:spcBef>
              <a:buFont typeface="Arial" panose="020B0604020202020204" pitchFamily="34" charset="0"/>
              <a:buChar char="•"/>
              <a:defRPr sz="800" kern="1200" baseline="0">
                <a:solidFill>
                  <a:schemeClr val="tx1"/>
                </a:solidFill>
                <a:latin typeface="+mn-lt"/>
                <a:ea typeface="+mn-ea"/>
                <a:cs typeface="+mn-cs"/>
              </a:defRPr>
            </a:lvl7pPr>
            <a:lvl8pPr marL="2400300" indent="0" algn="l" defTabSz="685800" rtl="0" eaLnBrk="1" latinLnBrk="0" hangingPunct="1">
              <a:spcBef>
                <a:spcPct val="20000"/>
              </a:spcBef>
              <a:buFont typeface="Arial" panose="020B0604020202020204" pitchFamily="34" charset="0"/>
              <a:buNone/>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r>
              <a:rPr lang="en-CA" altLang="en-US" dirty="0"/>
              <a:t>Which route source is more trustworthy, Internal EIGRP or OSPF?</a:t>
            </a:r>
            <a:endParaRPr lang="en-CA" altLang="en-US" dirty="0"/>
          </a:p>
        </p:txBody>
      </p:sp>
    </p:spTree>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199069" cy="1802391"/>
          </a:xfrm>
        </p:spPr>
        <p:txBody>
          <a:bodyPr/>
          <a:lstStyle/>
          <a:p>
            <a:r>
              <a:rPr lang="en-US" dirty="0"/>
              <a:t>1.3 Router Operation</a:t>
            </a:r>
            <a:endParaRPr lang="en-US" dirty="0"/>
          </a:p>
        </p:txBody>
      </p:sp>
    </p:spTree>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554069" cy="757551"/>
          </a:xfrm>
        </p:spPr>
        <p:txBody>
          <a:bodyPr/>
          <a:lstStyle/>
          <a:p>
            <a:r>
              <a:rPr lang="en-CA" altLang="en-US" sz="1600" dirty="0"/>
              <a:t>Analyze the Routing Table</a:t>
            </a:r>
            <a:br>
              <a:rPr lang="en-CA" altLang="en-US" sz="1600" dirty="0"/>
            </a:br>
            <a:r>
              <a:rPr lang="en-CA" altLang="en-US" dirty="0"/>
              <a:t>The Routing Table</a:t>
            </a:r>
            <a:endParaRPr lang="en-CA" altLang="en-US" dirty="0"/>
          </a:p>
        </p:txBody>
      </p:sp>
      <p:sp>
        <p:nvSpPr>
          <p:cNvPr id="3" name="Content Placeholder 2"/>
          <p:cNvSpPr>
            <a:spLocks noGrp="1"/>
          </p:cNvSpPr>
          <p:nvPr>
            <p:ph idx="1"/>
          </p:nvPr>
        </p:nvSpPr>
        <p:spPr>
          <a:xfrm>
            <a:off x="5287991" y="310551"/>
            <a:ext cx="3674853" cy="4467637"/>
          </a:xfrm>
        </p:spPr>
        <p:txBody>
          <a:bodyPr/>
          <a:lstStyle/>
          <a:p>
            <a:r>
              <a:rPr lang="en-CA" altLang="en-US" dirty="0"/>
              <a:t>The routing table of a router stores information about:</a:t>
            </a:r>
            <a:endParaRPr lang="en-CA" altLang="en-US" dirty="0"/>
          </a:p>
          <a:p>
            <a:pPr lvl="1"/>
            <a:r>
              <a:rPr lang="en-CA" altLang="en-US" dirty="0"/>
              <a:t>Directly connected routes – Obtained from the active router interfaces.</a:t>
            </a:r>
            <a:endParaRPr lang="en-CA" altLang="en-US" dirty="0"/>
          </a:p>
          <a:p>
            <a:pPr lvl="1"/>
            <a:r>
              <a:rPr lang="en-CA" altLang="en-US" dirty="0"/>
              <a:t>Remote routes – These are remote networks connected to other routers that are learned from dynamic routing protocols or are statically configured.</a:t>
            </a:r>
            <a:endParaRPr lang="en-CA" altLang="en-US" dirty="0"/>
          </a:p>
          <a:p>
            <a:pPr lvl="0">
              <a:buClr>
                <a:srgbClr val="58585B"/>
              </a:buClr>
            </a:pPr>
            <a:r>
              <a:rPr lang="en-CA" altLang="en-US" dirty="0"/>
              <a:t>A routing table is a data file in RAM that is used to store information about directly connected and remote networks.  </a:t>
            </a:r>
            <a:endParaRPr lang="en-CA" altLang="en-US" dirty="0"/>
          </a:p>
          <a:p>
            <a:pPr lvl="0">
              <a:buClr>
                <a:srgbClr val="58585B"/>
              </a:buClr>
            </a:pPr>
            <a:r>
              <a:rPr lang="en-CA" altLang="en-US" dirty="0"/>
              <a:t>The routing table contains next hop associations for remote networks.  The association tells the router what the next hop is for a destination network.  </a:t>
            </a:r>
            <a:endParaRPr lang="en-CA" altLang="en-US" dirty="0"/>
          </a:p>
          <a:p>
            <a:pPr marL="142875" lvl="1" indent="0">
              <a:buNone/>
            </a:pPr>
            <a:endParaRPr lang="en-CA" altLang="en-US" dirty="0"/>
          </a:p>
        </p:txBody>
      </p:sp>
      <p:pic>
        <p:nvPicPr>
          <p:cNvPr id="4" name="Picture 3"/>
          <p:cNvPicPr>
            <a:picLocks noChangeAspect="1"/>
          </p:cNvPicPr>
          <p:nvPr/>
        </p:nvPicPr>
        <p:blipFill>
          <a:blip r:embed="rId1"/>
          <a:stretch>
            <a:fillRect/>
          </a:stretch>
        </p:blipFill>
        <p:spPr>
          <a:xfrm>
            <a:off x="188828" y="1086274"/>
            <a:ext cx="4857750" cy="2714625"/>
          </a:xfrm>
          <a:prstGeom prst="rect">
            <a:avLst/>
          </a:prstGeom>
        </p:spPr>
      </p:pic>
    </p:spTree>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675515" cy="757551"/>
          </a:xfrm>
        </p:spPr>
        <p:txBody>
          <a:bodyPr/>
          <a:lstStyle/>
          <a:p>
            <a:r>
              <a:rPr lang="en-CA" altLang="en-US" sz="1600" dirty="0"/>
              <a:t>Analyze the Routing Table</a:t>
            </a:r>
            <a:br>
              <a:rPr lang="en-CA" altLang="en-US" sz="1600" dirty="0"/>
            </a:br>
            <a:r>
              <a:rPr lang="en-CA" altLang="en-US" dirty="0"/>
              <a:t>Routing Table Sources</a:t>
            </a:r>
            <a:endParaRPr lang="en-CA" altLang="en-US" dirty="0"/>
          </a:p>
        </p:txBody>
      </p:sp>
      <p:sp>
        <p:nvSpPr>
          <p:cNvPr id="3" name="Content Placeholder 2"/>
          <p:cNvSpPr>
            <a:spLocks noGrp="1"/>
          </p:cNvSpPr>
          <p:nvPr>
            <p:ph idx="1"/>
          </p:nvPr>
        </p:nvSpPr>
        <p:spPr>
          <a:xfrm>
            <a:off x="5098211" y="277122"/>
            <a:ext cx="3976778" cy="4606506"/>
          </a:xfrm>
        </p:spPr>
        <p:txBody>
          <a:bodyPr/>
          <a:lstStyle/>
          <a:p>
            <a:r>
              <a:rPr lang="en-CA" altLang="en-US" sz="1400" dirty="0"/>
              <a:t>On a Cisco router, the </a:t>
            </a:r>
            <a:r>
              <a:rPr lang="en-CA" altLang="en-US" sz="1400" b="1" dirty="0"/>
              <a:t>show </a:t>
            </a:r>
            <a:r>
              <a:rPr lang="en-CA" altLang="en-US" sz="1400" b="1" dirty="0" err="1"/>
              <a:t>ip</a:t>
            </a:r>
            <a:r>
              <a:rPr lang="en-CA" altLang="en-US" sz="1400" b="1" dirty="0"/>
              <a:t> route </a:t>
            </a:r>
            <a:r>
              <a:rPr lang="en-CA" altLang="en-US" sz="1400" dirty="0"/>
              <a:t>command can be used to display the IPv4 routing table.</a:t>
            </a:r>
            <a:endParaRPr lang="en-CA" altLang="en-US" sz="1400" dirty="0"/>
          </a:p>
          <a:p>
            <a:r>
              <a:rPr lang="en-CA" altLang="en-US" sz="1400" dirty="0"/>
              <a:t>Additional route information is provided in the routing table including: how the route was learned, how long the route has been in the table, and which interface to send out of to reach a destination.</a:t>
            </a:r>
            <a:endParaRPr lang="en-CA" altLang="en-US" sz="1400" dirty="0"/>
          </a:p>
          <a:p>
            <a:r>
              <a:rPr lang="en-CA" altLang="en-US" sz="1400" dirty="0"/>
              <a:t>Sources of the routing table entries are identified by a code:</a:t>
            </a:r>
            <a:endParaRPr lang="en-CA" altLang="en-US" sz="1400" dirty="0"/>
          </a:p>
          <a:p>
            <a:pPr lvl="1"/>
            <a:r>
              <a:rPr lang="en-CA" altLang="en-US" sz="1300" dirty="0"/>
              <a:t>L - Local Route interfaces</a:t>
            </a:r>
            <a:endParaRPr lang="en-CA" altLang="en-US" sz="1300" dirty="0"/>
          </a:p>
          <a:p>
            <a:pPr lvl="1"/>
            <a:r>
              <a:rPr lang="en-CA" altLang="en-US" sz="1300" dirty="0"/>
              <a:t>C - Directly connected interfaces</a:t>
            </a:r>
            <a:endParaRPr lang="en-CA" altLang="en-US" sz="1300" dirty="0"/>
          </a:p>
          <a:p>
            <a:pPr lvl="1"/>
            <a:r>
              <a:rPr lang="en-CA" altLang="en-US" sz="1300" dirty="0"/>
              <a:t>S - Static routes</a:t>
            </a:r>
            <a:endParaRPr lang="en-CA" altLang="en-US" sz="1300" dirty="0"/>
          </a:p>
          <a:p>
            <a:pPr lvl="1"/>
            <a:r>
              <a:rPr lang="en-CA" altLang="en-US" sz="1300" dirty="0"/>
              <a:t>D – Learned dynamically from another router using the EIGRP routing protocol.  </a:t>
            </a:r>
            <a:endParaRPr lang="en-CA" altLang="en-US" sz="1300" dirty="0"/>
          </a:p>
          <a:p>
            <a:pPr lvl="1"/>
            <a:r>
              <a:rPr lang="en-CA" altLang="en-US" sz="1300" dirty="0"/>
              <a:t>O – Learned dynamically from another router using the OSPF routing protocol.</a:t>
            </a:r>
            <a:endParaRPr lang="en-CA" altLang="en-US" sz="1300" dirty="0"/>
          </a:p>
          <a:p>
            <a:endParaRPr lang="en-CA" altLang="en-US" dirty="0"/>
          </a:p>
        </p:txBody>
      </p:sp>
      <p:pic>
        <p:nvPicPr>
          <p:cNvPr id="4" name="Picture 3"/>
          <p:cNvPicPr>
            <a:picLocks noChangeAspect="1"/>
          </p:cNvPicPr>
          <p:nvPr/>
        </p:nvPicPr>
        <p:blipFill>
          <a:blip r:embed="rId1"/>
          <a:stretch>
            <a:fillRect/>
          </a:stretch>
        </p:blipFill>
        <p:spPr>
          <a:xfrm>
            <a:off x="202361" y="989896"/>
            <a:ext cx="4895850" cy="3381375"/>
          </a:xfrm>
          <a:prstGeom prst="rect">
            <a:avLst/>
          </a:prstGeom>
        </p:spPr>
      </p:pic>
    </p:spTree>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666889" cy="757551"/>
          </a:xfrm>
        </p:spPr>
        <p:txBody>
          <a:bodyPr/>
          <a:lstStyle/>
          <a:p>
            <a:r>
              <a:rPr lang="en-CA" altLang="en-US" sz="1600" dirty="0"/>
              <a:t>Analyze the Routing Table</a:t>
            </a:r>
            <a:br>
              <a:rPr lang="en-CA" altLang="en-US" sz="1600" dirty="0"/>
            </a:br>
            <a:r>
              <a:rPr lang="en-CA" altLang="en-US" dirty="0"/>
              <a:t>Remote Network Routing Entries</a:t>
            </a:r>
            <a:endParaRPr lang="en-CA" altLang="en-US" dirty="0"/>
          </a:p>
        </p:txBody>
      </p:sp>
      <p:sp>
        <p:nvSpPr>
          <p:cNvPr id="3" name="Content Placeholder 2"/>
          <p:cNvSpPr>
            <a:spLocks noGrp="1"/>
          </p:cNvSpPr>
          <p:nvPr>
            <p:ph idx="1"/>
          </p:nvPr>
        </p:nvSpPr>
        <p:spPr>
          <a:xfrm>
            <a:off x="5210355" y="420168"/>
            <a:ext cx="3752490" cy="4649881"/>
          </a:xfrm>
        </p:spPr>
        <p:txBody>
          <a:bodyPr/>
          <a:lstStyle/>
          <a:p>
            <a:r>
              <a:rPr lang="en-CA" altLang="en-US" dirty="0"/>
              <a:t>You must know how to interpret the content of IPv4 and IPv6 routing tables. The figure to the left highlights the details for the route to the remote network 10.1.1.0:</a:t>
            </a:r>
            <a:endParaRPr lang="en-CA" altLang="en-US" dirty="0"/>
          </a:p>
          <a:p>
            <a:pPr lvl="1"/>
            <a:r>
              <a:rPr lang="en-CA" altLang="en-US" sz="1300" dirty="0"/>
              <a:t>Route source – how the route was learned</a:t>
            </a:r>
            <a:endParaRPr lang="en-CA" altLang="en-US" sz="1300" dirty="0"/>
          </a:p>
          <a:p>
            <a:pPr lvl="1"/>
            <a:r>
              <a:rPr lang="en-CA" altLang="en-US" sz="1300" dirty="0"/>
              <a:t>Destination network – address of the remote network</a:t>
            </a:r>
            <a:endParaRPr lang="en-CA" altLang="en-US" sz="1300" dirty="0"/>
          </a:p>
          <a:p>
            <a:pPr lvl="1"/>
            <a:r>
              <a:rPr lang="en-CA" altLang="en-US" sz="1300" dirty="0"/>
              <a:t>Administrative distance – trustworthiness of the route</a:t>
            </a:r>
            <a:endParaRPr lang="en-CA" altLang="en-US" sz="1300" dirty="0"/>
          </a:p>
          <a:p>
            <a:pPr lvl="1"/>
            <a:r>
              <a:rPr lang="en-CA" altLang="en-US" sz="1300" dirty="0"/>
              <a:t>Metric – value assigned to reach the remote network; lower the better</a:t>
            </a:r>
            <a:endParaRPr lang="en-CA" altLang="en-US" sz="1300" dirty="0"/>
          </a:p>
          <a:p>
            <a:pPr lvl="1"/>
            <a:r>
              <a:rPr lang="en-CA" altLang="en-US" sz="1300" dirty="0"/>
              <a:t>Next-hop – the IPv4 address of the next router to forward the packet to</a:t>
            </a:r>
            <a:endParaRPr lang="en-CA" altLang="en-US" sz="1300" dirty="0"/>
          </a:p>
          <a:p>
            <a:pPr lvl="1"/>
            <a:r>
              <a:rPr lang="en-CA" altLang="en-US" sz="1300" dirty="0"/>
              <a:t>Route timestamp – how much time has passed since the route was learned</a:t>
            </a:r>
            <a:endParaRPr lang="en-CA" altLang="en-US" sz="1300" dirty="0"/>
          </a:p>
          <a:p>
            <a:pPr lvl="1"/>
            <a:r>
              <a:rPr lang="en-CA" altLang="en-US" sz="1300" dirty="0"/>
              <a:t>Outgoing interface – exit interface to forward packet out of</a:t>
            </a:r>
            <a:endParaRPr lang="en-CA" altLang="en-US" sz="1300" dirty="0"/>
          </a:p>
        </p:txBody>
      </p:sp>
      <p:pic>
        <p:nvPicPr>
          <p:cNvPr id="4" name="Picture 3"/>
          <p:cNvPicPr>
            <a:picLocks noChangeAspect="1"/>
          </p:cNvPicPr>
          <p:nvPr/>
        </p:nvPicPr>
        <p:blipFill>
          <a:blip r:embed="rId1"/>
          <a:stretch>
            <a:fillRect/>
          </a:stretch>
        </p:blipFill>
        <p:spPr>
          <a:xfrm>
            <a:off x="139729" y="798944"/>
            <a:ext cx="4810125" cy="3790950"/>
          </a:xfrm>
          <a:prstGeom prst="rect">
            <a:avLst/>
          </a:prstGeom>
        </p:spPr>
      </p:pic>
    </p:spTree>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 y="41393"/>
            <a:ext cx="4666889" cy="757551"/>
          </a:xfrm>
        </p:spPr>
        <p:txBody>
          <a:bodyPr/>
          <a:lstStyle/>
          <a:p>
            <a:r>
              <a:rPr lang="en-CA" altLang="en-US" sz="1600" dirty="0"/>
              <a:t>Directly Connected Routes</a:t>
            </a:r>
            <a:br>
              <a:rPr lang="en-CA" altLang="en-US" sz="1600" dirty="0"/>
            </a:br>
            <a:r>
              <a:rPr lang="en-CA" altLang="en-US" dirty="0"/>
              <a:t>Directly Connected Interfaces</a:t>
            </a:r>
            <a:endParaRPr lang="en-CA" altLang="en-US" dirty="0"/>
          </a:p>
        </p:txBody>
      </p:sp>
      <p:sp>
        <p:nvSpPr>
          <p:cNvPr id="3" name="Content Placeholder 2"/>
          <p:cNvSpPr>
            <a:spLocks noGrp="1"/>
          </p:cNvSpPr>
          <p:nvPr>
            <p:ph idx="1"/>
          </p:nvPr>
        </p:nvSpPr>
        <p:spPr>
          <a:xfrm>
            <a:off x="5198301" y="653550"/>
            <a:ext cx="3750365" cy="3970307"/>
          </a:xfrm>
        </p:spPr>
        <p:txBody>
          <a:bodyPr/>
          <a:lstStyle/>
          <a:p>
            <a:r>
              <a:rPr lang="en-CA" altLang="en-US" dirty="0"/>
              <a:t>A new router without any configured interfaces will have an empty routing table – as shown in the figure.</a:t>
            </a:r>
            <a:endParaRPr lang="en-CA" altLang="en-US" dirty="0"/>
          </a:p>
          <a:p>
            <a:r>
              <a:rPr lang="en-CA" altLang="en-US" dirty="0"/>
              <a:t>Before the interface state is considered up/up and added to the IPv4 routing table, </a:t>
            </a:r>
            <a:r>
              <a:rPr lang="en-CA" altLang="en-US" dirty="0">
                <a:highlight>
                  <a:srgbClr val="FFFF00"/>
                </a:highlight>
              </a:rPr>
              <a:t>the interface must:</a:t>
            </a:r>
            <a:endParaRPr lang="en-CA" altLang="en-US" dirty="0">
              <a:highlight>
                <a:srgbClr val="FFFF00"/>
              </a:highlight>
            </a:endParaRPr>
          </a:p>
          <a:p>
            <a:pPr lvl="1"/>
            <a:r>
              <a:rPr lang="en-CA" altLang="en-US" sz="1300" dirty="0">
                <a:highlight>
                  <a:srgbClr val="FFFF00"/>
                </a:highlight>
              </a:rPr>
              <a:t>Be assigned a valid IPv4 or IPv6 address</a:t>
            </a:r>
            <a:endParaRPr lang="en-CA" altLang="en-US" sz="1300" dirty="0">
              <a:highlight>
                <a:srgbClr val="FFFF00"/>
              </a:highlight>
            </a:endParaRPr>
          </a:p>
          <a:p>
            <a:pPr lvl="1"/>
            <a:r>
              <a:rPr lang="en-CA" altLang="en-US" sz="1300" dirty="0">
                <a:highlight>
                  <a:srgbClr val="FFFF00"/>
                </a:highlight>
              </a:rPr>
              <a:t>Be activated with the no shutdown command</a:t>
            </a:r>
            <a:endParaRPr lang="en-CA" altLang="en-US" sz="1300" dirty="0">
              <a:highlight>
                <a:srgbClr val="FFFF00"/>
              </a:highlight>
            </a:endParaRPr>
          </a:p>
          <a:p>
            <a:pPr lvl="1"/>
            <a:r>
              <a:rPr lang="en-CA" altLang="en-US" sz="1300" dirty="0">
                <a:highlight>
                  <a:srgbClr val="FFFF00"/>
                </a:highlight>
              </a:rPr>
              <a:t>Receive a carrier signal from another device such as a router, switch, or host.</a:t>
            </a:r>
            <a:endParaRPr lang="en-CA" altLang="en-US" sz="1200" dirty="0"/>
          </a:p>
          <a:p>
            <a:pPr lvl="0">
              <a:buClr>
                <a:srgbClr val="58585B"/>
              </a:buClr>
            </a:pPr>
            <a:r>
              <a:rPr lang="en-CA" altLang="en-US" dirty="0"/>
              <a:t>When the interface is up, the network of that interface is added to the routing table as a directly connected route.</a:t>
            </a:r>
            <a:endParaRPr lang="en-CA" altLang="en-US" sz="1200" dirty="0"/>
          </a:p>
        </p:txBody>
      </p:sp>
      <p:pic>
        <p:nvPicPr>
          <p:cNvPr id="2" name="Picture 1"/>
          <p:cNvPicPr>
            <a:picLocks noChangeAspect="1"/>
          </p:cNvPicPr>
          <p:nvPr/>
        </p:nvPicPr>
        <p:blipFill>
          <a:blip r:embed="rId1"/>
          <a:stretch>
            <a:fillRect/>
          </a:stretch>
        </p:blipFill>
        <p:spPr>
          <a:xfrm>
            <a:off x="204698" y="924204"/>
            <a:ext cx="4733925" cy="3429000"/>
          </a:xfrm>
          <a:prstGeom prst="rect">
            <a:avLst/>
          </a:prstGeom>
        </p:spPr>
      </p:pic>
    </p:spTree>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5788323" cy="757551"/>
          </a:xfrm>
        </p:spPr>
        <p:txBody>
          <a:bodyPr/>
          <a:lstStyle/>
          <a:p>
            <a:r>
              <a:rPr lang="en-CA" altLang="en-US" sz="1600" dirty="0"/>
              <a:t>Directly Connected Routes</a:t>
            </a:r>
            <a:br>
              <a:rPr lang="en-CA" altLang="en-US" sz="1600" dirty="0"/>
            </a:br>
            <a:r>
              <a:rPr lang="en-CA" altLang="en-US" dirty="0"/>
              <a:t>Directly Connected Routing Table Entries</a:t>
            </a:r>
            <a:endParaRPr lang="en-CA" altLang="en-US" dirty="0"/>
          </a:p>
        </p:txBody>
      </p:sp>
      <p:sp>
        <p:nvSpPr>
          <p:cNvPr id="3" name="Content Placeholder 2"/>
          <p:cNvSpPr>
            <a:spLocks noGrp="1"/>
          </p:cNvSpPr>
          <p:nvPr>
            <p:ph idx="1"/>
          </p:nvPr>
        </p:nvSpPr>
        <p:spPr>
          <a:xfrm>
            <a:off x="5285984" y="1052185"/>
            <a:ext cx="3625104" cy="3649211"/>
          </a:xfrm>
        </p:spPr>
        <p:txBody>
          <a:bodyPr/>
          <a:lstStyle/>
          <a:p>
            <a:r>
              <a:rPr lang="en-CA" altLang="en-US" dirty="0"/>
              <a:t>With IOS version 15 and later, an active directly connected interface creates two routing table entries as shown in the figure:</a:t>
            </a:r>
            <a:endParaRPr lang="en-CA" altLang="en-US" dirty="0"/>
          </a:p>
          <a:p>
            <a:pPr lvl="1"/>
            <a:r>
              <a:rPr lang="en-CA" altLang="en-US" dirty="0">
                <a:highlight>
                  <a:srgbClr val="FFFF00"/>
                </a:highlight>
              </a:rPr>
              <a:t>The route source “C” identifies t</a:t>
            </a:r>
            <a:r>
              <a:rPr lang="en-CA" altLang="en-US" dirty="0"/>
              <a:t>he route as a directly connected network.</a:t>
            </a:r>
            <a:endParaRPr lang="en-CA" altLang="en-US" dirty="0"/>
          </a:p>
          <a:p>
            <a:pPr lvl="1"/>
            <a:r>
              <a:rPr lang="en-CA" altLang="en-US" dirty="0">
                <a:highlight>
                  <a:srgbClr val="FFFF00"/>
                </a:highlight>
              </a:rPr>
              <a:t>The route source “L” identifies the IPv4 address assigned to the router’s interface.</a:t>
            </a:r>
            <a:endParaRPr lang="en-CA" altLang="en-US" dirty="0">
              <a:highlight>
                <a:srgbClr val="FFFF00"/>
              </a:highlight>
            </a:endParaRPr>
          </a:p>
          <a:p>
            <a:pPr lvl="0">
              <a:buClr>
                <a:srgbClr val="58585B"/>
              </a:buClr>
            </a:pPr>
            <a:r>
              <a:rPr lang="en-CA" altLang="en-US" dirty="0"/>
              <a:t>The routing table entry shows the destination network as well as the outgoing interface to use when forwarding packets to the destination network.</a:t>
            </a:r>
            <a:endParaRPr lang="en-CA" altLang="en-US" dirty="0"/>
          </a:p>
          <a:p>
            <a:pPr lvl="1"/>
            <a:endParaRPr lang="en-CA" altLang="en-US" dirty="0"/>
          </a:p>
        </p:txBody>
      </p:sp>
      <p:pic>
        <p:nvPicPr>
          <p:cNvPr id="4" name="Picture 3"/>
          <p:cNvPicPr>
            <a:picLocks noChangeAspect="1"/>
          </p:cNvPicPr>
          <p:nvPr/>
        </p:nvPicPr>
        <p:blipFill>
          <a:blip r:embed="rId1"/>
          <a:stretch>
            <a:fillRect/>
          </a:stretch>
        </p:blipFill>
        <p:spPr>
          <a:xfrm>
            <a:off x="230487" y="923026"/>
            <a:ext cx="4714875" cy="3562350"/>
          </a:xfrm>
          <a:prstGeom prst="rect">
            <a:avLst/>
          </a:prstGeom>
        </p:spPr>
      </p:pic>
    </p:spTree>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4399471" cy="757551"/>
          </a:xfrm>
        </p:spPr>
        <p:txBody>
          <a:bodyPr/>
          <a:lstStyle/>
          <a:p>
            <a:r>
              <a:rPr lang="en-CA" altLang="en-US" sz="1600" dirty="0"/>
              <a:t>Directly Connected Routes</a:t>
            </a:r>
            <a:br>
              <a:rPr lang="en-CA" altLang="en-US" sz="1600" dirty="0"/>
            </a:br>
            <a:r>
              <a:rPr lang="en-CA" altLang="en-US" dirty="0"/>
              <a:t>Directly Connected Examples</a:t>
            </a:r>
            <a:endParaRPr lang="en-CA" altLang="en-US" dirty="0"/>
          </a:p>
        </p:txBody>
      </p:sp>
      <p:sp>
        <p:nvSpPr>
          <p:cNvPr id="3" name="Content Placeholder 2"/>
          <p:cNvSpPr>
            <a:spLocks noGrp="1"/>
          </p:cNvSpPr>
          <p:nvPr>
            <p:ph idx="1"/>
          </p:nvPr>
        </p:nvSpPr>
        <p:spPr>
          <a:xfrm>
            <a:off x="5261287" y="942624"/>
            <a:ext cx="3444303" cy="3798108"/>
          </a:xfrm>
        </p:spPr>
        <p:txBody>
          <a:bodyPr/>
          <a:lstStyle/>
          <a:p>
            <a:r>
              <a:rPr lang="en-CA" altLang="en-US" dirty="0"/>
              <a:t>When the interfaces are configured with an appropriate IP address, </a:t>
            </a:r>
            <a:r>
              <a:rPr lang="en-CA" altLang="en-US" dirty="0" err="1"/>
              <a:t>subnetmask</a:t>
            </a:r>
            <a:r>
              <a:rPr lang="en-CA" altLang="en-US" dirty="0"/>
              <a:t>, and activated with the </a:t>
            </a:r>
            <a:r>
              <a:rPr lang="en-CA" altLang="en-US" b="1" dirty="0"/>
              <a:t>no shutdown </a:t>
            </a:r>
            <a:r>
              <a:rPr lang="en-CA" altLang="en-US" dirty="0"/>
              <a:t>command, they will be automatically added to the routing table as shown in the figure to the left.</a:t>
            </a:r>
            <a:endParaRPr lang="en-CA" altLang="en-US" dirty="0"/>
          </a:p>
          <a:p>
            <a:r>
              <a:rPr lang="en-CA" altLang="en-US" dirty="0"/>
              <a:t>As each interface is added, the routing table automatically adds the connected (‘C’) and local (‘L’) entries.</a:t>
            </a:r>
            <a:endParaRPr lang="en-CA" altLang="en-US" dirty="0"/>
          </a:p>
          <a:p>
            <a:endParaRPr lang="en-CA" altLang="en-US" dirty="0"/>
          </a:p>
        </p:txBody>
      </p:sp>
      <p:pic>
        <p:nvPicPr>
          <p:cNvPr id="2" name="Picture 1"/>
          <p:cNvPicPr>
            <a:picLocks noChangeAspect="1"/>
          </p:cNvPicPr>
          <p:nvPr/>
        </p:nvPicPr>
        <p:blipFill>
          <a:blip r:embed="rId1"/>
          <a:stretch>
            <a:fillRect/>
          </a:stretch>
        </p:blipFill>
        <p:spPr>
          <a:xfrm>
            <a:off x="147457" y="932820"/>
            <a:ext cx="4829175" cy="3381375"/>
          </a:xfrm>
          <a:prstGeom prst="rect">
            <a:avLst/>
          </a:prstGeom>
        </p:spPr>
      </p:pic>
    </p:spTree>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4839418" cy="757551"/>
          </a:xfrm>
        </p:spPr>
        <p:txBody>
          <a:bodyPr/>
          <a:lstStyle/>
          <a:p>
            <a:r>
              <a:rPr lang="en-CA" altLang="en-US" sz="1600" dirty="0"/>
              <a:t>Directly Connected Routes</a:t>
            </a:r>
            <a:br>
              <a:rPr lang="en-CA" altLang="en-US" sz="1600" dirty="0"/>
            </a:br>
            <a:r>
              <a:rPr lang="en-CA" altLang="en-US" dirty="0"/>
              <a:t>Directly Connected IPv6 Example</a:t>
            </a:r>
            <a:endParaRPr lang="en-CA" altLang="en-US" dirty="0"/>
          </a:p>
        </p:txBody>
      </p:sp>
      <p:sp>
        <p:nvSpPr>
          <p:cNvPr id="3" name="Content Placeholder 2"/>
          <p:cNvSpPr>
            <a:spLocks noGrp="1"/>
          </p:cNvSpPr>
          <p:nvPr>
            <p:ph idx="1"/>
          </p:nvPr>
        </p:nvSpPr>
        <p:spPr>
          <a:xfrm>
            <a:off x="5111565" y="507302"/>
            <a:ext cx="3786997" cy="4485737"/>
          </a:xfrm>
        </p:spPr>
        <p:txBody>
          <a:bodyPr/>
          <a:lstStyle/>
          <a:p>
            <a:r>
              <a:rPr lang="en-CA" altLang="en-US" dirty="0"/>
              <a:t>The figure to the left shows the configuration steps for the directly connected interfaces of R1 with the indicated IPv6 addresses.</a:t>
            </a:r>
            <a:endParaRPr lang="en-CA" altLang="en-US" dirty="0"/>
          </a:p>
          <a:p>
            <a:r>
              <a:rPr lang="en-CA" altLang="en-US" dirty="0"/>
              <a:t>The </a:t>
            </a:r>
            <a:r>
              <a:rPr lang="en-CA" altLang="en-US" b="1" dirty="0"/>
              <a:t>show ipv6 route </a:t>
            </a:r>
            <a:r>
              <a:rPr lang="en-CA" altLang="en-US" dirty="0"/>
              <a:t>command is used to verify that the IPv6 networks and specific IPv6 interface addresses have been installed in the IPv6 routing table.</a:t>
            </a:r>
            <a:endParaRPr lang="en-CA" altLang="en-US" dirty="0"/>
          </a:p>
          <a:p>
            <a:pPr lvl="1"/>
            <a:r>
              <a:rPr lang="en-CA" altLang="en-US" dirty="0"/>
              <a:t>A ‘C’ indicates that it is a directly connected route.</a:t>
            </a:r>
            <a:endParaRPr lang="en-CA" altLang="en-US" dirty="0"/>
          </a:p>
          <a:p>
            <a:pPr lvl="1"/>
            <a:r>
              <a:rPr lang="en-CA" altLang="en-US" dirty="0"/>
              <a:t>An ‘L’ indicates it is a local route, but with IPv6, it has a /128 prefix.</a:t>
            </a:r>
            <a:endParaRPr lang="en-CA" altLang="en-US" dirty="0"/>
          </a:p>
          <a:p>
            <a:r>
              <a:rPr lang="en-CA" altLang="en-US" dirty="0"/>
              <a:t>The ping command can be used to verify connectivity.  For example:</a:t>
            </a:r>
            <a:endParaRPr lang="en-CA" altLang="en-US" dirty="0"/>
          </a:p>
          <a:p>
            <a:pPr lvl="1"/>
            <a:r>
              <a:rPr lang="en-CA" altLang="en-US" dirty="0"/>
              <a:t>ping 2001:db8:acad:3::2</a:t>
            </a:r>
            <a:endParaRPr lang="en-CA" altLang="en-US" dirty="0"/>
          </a:p>
          <a:p>
            <a:pPr marL="0" indent="0">
              <a:buNone/>
            </a:pPr>
            <a:endParaRPr lang="en-CA" altLang="en-US" dirty="0"/>
          </a:p>
        </p:txBody>
      </p:sp>
      <p:pic>
        <p:nvPicPr>
          <p:cNvPr id="2" name="Picture 1"/>
          <p:cNvPicPr>
            <a:picLocks noChangeAspect="1"/>
          </p:cNvPicPr>
          <p:nvPr/>
        </p:nvPicPr>
        <p:blipFill>
          <a:blip r:embed="rId1"/>
          <a:stretch>
            <a:fillRect/>
          </a:stretch>
        </p:blipFill>
        <p:spPr>
          <a:xfrm>
            <a:off x="181694" y="892796"/>
            <a:ext cx="4657725" cy="3714750"/>
          </a:xfrm>
          <a:prstGeom prst="rect">
            <a:avLst/>
          </a:prstGeom>
        </p:spPr>
      </p:pic>
    </p:spTree>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7910423" cy="757551"/>
          </a:xfrm>
        </p:spPr>
        <p:txBody>
          <a:bodyPr/>
          <a:lstStyle/>
          <a:p>
            <a:r>
              <a:rPr lang="en-CA" altLang="en-US" sz="1600" dirty="0"/>
              <a:t>Directly Connected Routes</a:t>
            </a:r>
            <a:br>
              <a:rPr lang="en-CA" altLang="en-US" sz="1600" dirty="0"/>
            </a:br>
            <a:r>
              <a:rPr lang="en-CA" altLang="en-US" dirty="0"/>
              <a:t>Packet Tracer – Investigating Directly Connected Routes</a:t>
            </a:r>
            <a:endParaRPr lang="en-CA" altLang="en-US" dirty="0"/>
          </a:p>
        </p:txBody>
      </p:sp>
      <p:pic>
        <p:nvPicPr>
          <p:cNvPr id="5" name="Picture 4"/>
          <p:cNvPicPr>
            <a:picLocks noChangeAspect="1"/>
          </p:cNvPicPr>
          <p:nvPr/>
        </p:nvPicPr>
        <p:blipFill>
          <a:blip r:embed="rId1"/>
          <a:stretch>
            <a:fillRect/>
          </a:stretch>
        </p:blipFill>
        <p:spPr>
          <a:xfrm>
            <a:off x="1741117" y="798944"/>
            <a:ext cx="5549031" cy="4138260"/>
          </a:xfrm>
          <a:prstGeom prst="rect">
            <a:avLst/>
          </a:prstGeom>
          <a:ln>
            <a:solidFill>
              <a:srgbClr val="000000"/>
            </a:solidFill>
          </a:ln>
        </p:spPr>
      </p:pic>
    </p:spTree>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2976112" cy="757551"/>
          </a:xfrm>
        </p:spPr>
        <p:txBody>
          <a:bodyPr/>
          <a:lstStyle/>
          <a:p>
            <a:r>
              <a:rPr lang="en-CA" altLang="en-US" sz="1600" dirty="0"/>
              <a:t>Statically Learned Routes</a:t>
            </a:r>
            <a:br>
              <a:rPr lang="en-CA" altLang="en-US" sz="1600" dirty="0"/>
            </a:br>
            <a:r>
              <a:rPr lang="en-CA" altLang="en-US" dirty="0"/>
              <a:t>Static Routes</a:t>
            </a:r>
            <a:endParaRPr lang="en-CA" altLang="en-US" dirty="0"/>
          </a:p>
        </p:txBody>
      </p:sp>
      <p:sp>
        <p:nvSpPr>
          <p:cNvPr id="3" name="Content Placeholder 2"/>
          <p:cNvSpPr>
            <a:spLocks noGrp="1"/>
          </p:cNvSpPr>
          <p:nvPr>
            <p:ph idx="1"/>
          </p:nvPr>
        </p:nvSpPr>
        <p:spPr>
          <a:xfrm>
            <a:off x="5110839" y="635281"/>
            <a:ext cx="3933646" cy="3964999"/>
          </a:xfrm>
        </p:spPr>
        <p:txBody>
          <a:bodyPr/>
          <a:lstStyle/>
          <a:p>
            <a:r>
              <a:rPr lang="en-CA" altLang="en-US" dirty="0"/>
              <a:t>After directly connected interfaces are configured and added to the routing table, then static or dynamic routing can be configured.</a:t>
            </a:r>
            <a:endParaRPr lang="en-CA" altLang="en-US" dirty="0"/>
          </a:p>
          <a:p>
            <a:r>
              <a:rPr lang="en-CA" altLang="en-US" dirty="0">
                <a:highlight>
                  <a:srgbClr val="FFFF00"/>
                </a:highlight>
              </a:rPr>
              <a:t>Static routes are manually configured and define an explicit path between two networking devices. </a:t>
            </a:r>
            <a:endParaRPr lang="en-CA" altLang="en-US" dirty="0">
              <a:highlight>
                <a:srgbClr val="FFFF00"/>
              </a:highlight>
            </a:endParaRPr>
          </a:p>
          <a:p>
            <a:r>
              <a:rPr lang="en-CA" altLang="en-US" dirty="0"/>
              <a:t>If the network topology changes, static routes must manually be reconfigured.</a:t>
            </a:r>
            <a:endParaRPr lang="en-CA" altLang="en-US" dirty="0"/>
          </a:p>
          <a:p>
            <a:r>
              <a:rPr lang="en-CA" altLang="en-US" dirty="0">
                <a:highlight>
                  <a:srgbClr val="FFFF00"/>
                </a:highlight>
              </a:rPr>
              <a:t>Benefits of static routes include:</a:t>
            </a:r>
            <a:endParaRPr lang="en-CA" altLang="en-US" dirty="0">
              <a:highlight>
                <a:srgbClr val="FFFF00"/>
              </a:highlight>
            </a:endParaRPr>
          </a:p>
          <a:p>
            <a:pPr lvl="1"/>
            <a:r>
              <a:rPr lang="en-CA" altLang="en-US" dirty="0">
                <a:highlight>
                  <a:srgbClr val="FFFF00"/>
                </a:highlight>
              </a:rPr>
              <a:t>Improved security </a:t>
            </a:r>
            <a:endParaRPr lang="en-CA" altLang="en-US" dirty="0">
              <a:highlight>
                <a:srgbClr val="FFFF00"/>
              </a:highlight>
            </a:endParaRPr>
          </a:p>
          <a:p>
            <a:pPr lvl="1"/>
            <a:r>
              <a:rPr lang="en-CA" altLang="en-US" dirty="0">
                <a:highlight>
                  <a:srgbClr val="FFFF00"/>
                </a:highlight>
              </a:rPr>
              <a:t>Resource efficiency – less bandwidth usage and no CPU cycles are used to calculate and communicate route</a:t>
            </a:r>
            <a:endParaRPr lang="en-CA" altLang="en-US" dirty="0"/>
          </a:p>
          <a:p>
            <a:pPr lvl="1"/>
            <a:endParaRPr lang="en-CA" altLang="en-US" dirty="0"/>
          </a:p>
          <a:p>
            <a:endParaRPr lang="en-CA" altLang="en-US" dirty="0"/>
          </a:p>
          <a:p>
            <a:endParaRPr lang="en-CA" altLang="en-US" dirty="0"/>
          </a:p>
        </p:txBody>
      </p:sp>
      <p:pic>
        <p:nvPicPr>
          <p:cNvPr id="4" name="Picture 3"/>
          <p:cNvPicPr>
            <a:picLocks noChangeAspect="1"/>
          </p:cNvPicPr>
          <p:nvPr/>
        </p:nvPicPr>
        <p:blipFill>
          <a:blip r:embed="rId1"/>
          <a:stretch>
            <a:fillRect/>
          </a:stretch>
        </p:blipFill>
        <p:spPr>
          <a:xfrm>
            <a:off x="74583" y="798944"/>
            <a:ext cx="4819650" cy="3152775"/>
          </a:xfrm>
          <a:prstGeom prst="rect">
            <a:avLst/>
          </a:prstGeom>
        </p:spPr>
      </p:pic>
    </p:spTree>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3554082" cy="757551"/>
          </a:xfrm>
        </p:spPr>
        <p:txBody>
          <a:bodyPr/>
          <a:lstStyle/>
          <a:p>
            <a:r>
              <a:rPr lang="en-CA" altLang="en-US" sz="1600" dirty="0"/>
              <a:t>Statically Learned Routes</a:t>
            </a:r>
            <a:br>
              <a:rPr lang="en-CA" altLang="en-US" sz="1600" dirty="0"/>
            </a:br>
            <a:r>
              <a:rPr lang="en-CA" altLang="en-US" dirty="0"/>
              <a:t>Static Routes (Cont.)</a:t>
            </a:r>
            <a:endParaRPr lang="en-CA" altLang="en-US" dirty="0"/>
          </a:p>
        </p:txBody>
      </p:sp>
      <p:sp>
        <p:nvSpPr>
          <p:cNvPr id="3" name="Content Placeholder 2"/>
          <p:cNvSpPr>
            <a:spLocks noGrp="1"/>
          </p:cNvSpPr>
          <p:nvPr>
            <p:ph idx="1"/>
          </p:nvPr>
        </p:nvSpPr>
        <p:spPr>
          <a:xfrm>
            <a:off x="4647414" y="398439"/>
            <a:ext cx="4418948" cy="4745061"/>
          </a:xfrm>
        </p:spPr>
        <p:txBody>
          <a:bodyPr/>
          <a:lstStyle/>
          <a:p>
            <a:pPr>
              <a:buClr>
                <a:srgbClr val="58585B"/>
              </a:buClr>
            </a:pPr>
            <a:r>
              <a:rPr lang="en-CA" altLang="en-US" dirty="0"/>
              <a:t>There are two main types of static routes in the routing table:</a:t>
            </a:r>
            <a:endParaRPr lang="en-CA" altLang="en-US" dirty="0"/>
          </a:p>
          <a:p>
            <a:pPr lvl="1">
              <a:buClr>
                <a:srgbClr val="58585B"/>
              </a:buClr>
            </a:pPr>
            <a:r>
              <a:rPr lang="en-CA" altLang="en-US" dirty="0"/>
              <a:t>Static route to a specific network</a:t>
            </a:r>
            <a:endParaRPr lang="en-CA" altLang="en-US" dirty="0"/>
          </a:p>
          <a:p>
            <a:pPr lvl="1"/>
            <a:r>
              <a:rPr lang="en-CA" altLang="en-US" dirty="0"/>
              <a:t>Default static route</a:t>
            </a:r>
            <a:endParaRPr lang="en-CA" altLang="en-US" dirty="0"/>
          </a:p>
          <a:p>
            <a:r>
              <a:rPr lang="en-CA" altLang="en-US" dirty="0"/>
              <a:t>IPv4 static routes are configured using the following command:</a:t>
            </a:r>
            <a:endParaRPr lang="en-CA" altLang="en-US" dirty="0"/>
          </a:p>
          <a:p>
            <a:pPr lvl="1"/>
            <a:r>
              <a:rPr lang="en-CA" altLang="en-US" b="1" dirty="0" err="1"/>
              <a:t>ip</a:t>
            </a:r>
            <a:r>
              <a:rPr lang="en-CA" altLang="en-US" b="1" dirty="0"/>
              <a:t> route</a:t>
            </a:r>
            <a:r>
              <a:rPr lang="en-CA" altLang="en-US" dirty="0"/>
              <a:t> network mask { </a:t>
            </a:r>
            <a:r>
              <a:rPr lang="en-CA" altLang="en-US" i="1" dirty="0"/>
              <a:t>next-hop-</a:t>
            </a:r>
            <a:r>
              <a:rPr lang="en-CA" altLang="en-US" i="1" dirty="0" err="1"/>
              <a:t>ip</a:t>
            </a:r>
            <a:r>
              <a:rPr lang="en-CA" altLang="en-US" dirty="0"/>
              <a:t> | </a:t>
            </a:r>
            <a:r>
              <a:rPr lang="en-CA" altLang="en-US" i="1" dirty="0"/>
              <a:t>exit-</a:t>
            </a:r>
            <a:r>
              <a:rPr lang="en-CA" altLang="en-US" i="1" dirty="0" err="1"/>
              <a:t>intf</a:t>
            </a:r>
            <a:r>
              <a:rPr lang="en-CA" altLang="en-US" dirty="0"/>
              <a:t> }</a:t>
            </a:r>
            <a:endParaRPr lang="en-CA" altLang="en-US" dirty="0"/>
          </a:p>
          <a:p>
            <a:r>
              <a:rPr lang="en-CA" altLang="en-US" dirty="0"/>
              <a:t>A static route appears in the routing table with the code ‘S’.</a:t>
            </a:r>
            <a:endParaRPr lang="en-CA" altLang="en-US" dirty="0"/>
          </a:p>
          <a:p>
            <a:r>
              <a:rPr lang="en-CA" altLang="en-US" dirty="0"/>
              <a:t>A default static route is similar to a default gateway on a PC or host. The default static route specifies the exit point to use when the routing table does not have a path for the destination network. Use the command:</a:t>
            </a:r>
            <a:endParaRPr lang="en-CA" altLang="en-US" dirty="0"/>
          </a:p>
          <a:p>
            <a:pPr lvl="1"/>
            <a:r>
              <a:rPr lang="en-CA" altLang="en-US" b="1" dirty="0" err="1"/>
              <a:t>ip</a:t>
            </a:r>
            <a:r>
              <a:rPr lang="en-CA" altLang="en-US" b="1" dirty="0"/>
              <a:t> route </a:t>
            </a:r>
            <a:r>
              <a:rPr lang="en-CA" altLang="en-US" dirty="0"/>
              <a:t>0.0.0.0  0.0.0.0 { exit-</a:t>
            </a:r>
            <a:r>
              <a:rPr lang="en-CA" altLang="en-US" dirty="0" err="1"/>
              <a:t>intf</a:t>
            </a:r>
            <a:r>
              <a:rPr lang="en-CA" altLang="en-US" dirty="0"/>
              <a:t> | next-hop-</a:t>
            </a:r>
            <a:r>
              <a:rPr lang="en-CA" altLang="en-US" dirty="0" err="1"/>
              <a:t>ip</a:t>
            </a:r>
            <a:r>
              <a:rPr lang="en-CA" altLang="en-US" dirty="0"/>
              <a:t> }</a:t>
            </a:r>
            <a:endParaRPr lang="en-CA" altLang="en-US" dirty="0"/>
          </a:p>
          <a:p>
            <a:endParaRPr lang="en-CA" altLang="en-US" dirty="0"/>
          </a:p>
          <a:p>
            <a:pPr lvl="1"/>
            <a:endParaRPr lang="en-CA" altLang="en-US" dirty="0"/>
          </a:p>
          <a:p>
            <a:pPr lvl="1"/>
            <a:endParaRPr lang="en-CA" altLang="en-US" dirty="0"/>
          </a:p>
          <a:p>
            <a:endParaRPr lang="en-CA" altLang="en-US" dirty="0"/>
          </a:p>
          <a:p>
            <a:endParaRPr lang="en-CA" altLang="en-US" dirty="0"/>
          </a:p>
        </p:txBody>
      </p:sp>
      <p:pic>
        <p:nvPicPr>
          <p:cNvPr id="4" name="Picture 3"/>
          <p:cNvPicPr>
            <a:picLocks noChangeAspect="1"/>
          </p:cNvPicPr>
          <p:nvPr/>
        </p:nvPicPr>
        <p:blipFill>
          <a:blip r:embed="rId1"/>
          <a:stretch>
            <a:fillRect/>
          </a:stretch>
        </p:blipFill>
        <p:spPr>
          <a:xfrm>
            <a:off x="74583" y="960401"/>
            <a:ext cx="4572831" cy="2991318"/>
          </a:xfrm>
          <a:prstGeom prst="rect">
            <a:avLst/>
          </a:prstGeom>
        </p:spPr>
      </p:pic>
    </p:spTree>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4295954" cy="757551"/>
          </a:xfrm>
        </p:spPr>
        <p:txBody>
          <a:bodyPr/>
          <a:lstStyle/>
          <a:p>
            <a:r>
              <a:rPr lang="en-CA" altLang="en-US" sz="1600" dirty="0"/>
              <a:t>Statically Learned Routes</a:t>
            </a:r>
            <a:br>
              <a:rPr lang="en-CA" altLang="en-US" sz="1600" dirty="0"/>
            </a:br>
            <a:r>
              <a:rPr lang="en-CA" altLang="en-US" dirty="0"/>
              <a:t>Static Route Examples</a:t>
            </a:r>
            <a:endParaRPr lang="en-CA" altLang="en-US" dirty="0"/>
          </a:p>
        </p:txBody>
      </p:sp>
      <p:sp>
        <p:nvSpPr>
          <p:cNvPr id="3" name="Content Placeholder 2"/>
          <p:cNvSpPr>
            <a:spLocks noGrp="1"/>
          </p:cNvSpPr>
          <p:nvPr>
            <p:ph idx="1"/>
          </p:nvPr>
        </p:nvSpPr>
        <p:spPr>
          <a:xfrm>
            <a:off x="5063705" y="267419"/>
            <a:ext cx="3933646" cy="4725536"/>
          </a:xfrm>
        </p:spPr>
        <p:txBody>
          <a:bodyPr/>
          <a:lstStyle/>
          <a:p>
            <a:r>
              <a:rPr lang="en-CA" altLang="en-US" dirty="0"/>
              <a:t>The figure to the left shows the configuration of an IPv4 default static route on R1 to the Serial 0/0/0 interface.</a:t>
            </a:r>
            <a:endParaRPr lang="en-CA" altLang="en-US" dirty="0"/>
          </a:p>
          <a:p>
            <a:pPr lvl="1"/>
            <a:r>
              <a:rPr lang="en-CA" altLang="en-US" dirty="0"/>
              <a:t>The ‘S’ indicates that it is a static route</a:t>
            </a:r>
            <a:endParaRPr lang="en-CA" altLang="en-US" dirty="0"/>
          </a:p>
          <a:p>
            <a:pPr lvl="1"/>
            <a:r>
              <a:rPr lang="en-CA" altLang="en-US" dirty="0"/>
              <a:t>The asterisk (*) identifies this as a possible candidate to be the default route.</a:t>
            </a:r>
            <a:endParaRPr lang="en-CA" altLang="en-US" dirty="0"/>
          </a:p>
          <a:p>
            <a:pPr lvl="1"/>
            <a:r>
              <a:rPr lang="en-CA" altLang="en-US" dirty="0"/>
              <a:t>Notice that this route was chosen to be the Gateway of last resort (default route).</a:t>
            </a:r>
            <a:endParaRPr lang="en-CA" altLang="en-US" dirty="0"/>
          </a:p>
          <a:p>
            <a:r>
              <a:rPr lang="en-CA" altLang="en-US" dirty="0"/>
              <a:t>Here are two static route configurations from R2 to reach the two LANs on R1:</a:t>
            </a:r>
            <a:endParaRPr lang="en-CA" altLang="en-US" dirty="0"/>
          </a:p>
          <a:p>
            <a:pPr lvl="1"/>
            <a:r>
              <a:rPr lang="en-CA" altLang="en-US" sz="1200" b="1" dirty="0" err="1"/>
              <a:t>ip</a:t>
            </a:r>
            <a:r>
              <a:rPr lang="en-CA" altLang="en-US" sz="1200" b="1" dirty="0"/>
              <a:t> route </a:t>
            </a:r>
            <a:r>
              <a:rPr lang="en-CA" altLang="en-US" sz="1200" dirty="0"/>
              <a:t>192.168.10.0 255.255.255.0 s0/0/0</a:t>
            </a:r>
            <a:endParaRPr lang="en-CA" altLang="en-US" sz="1200" dirty="0"/>
          </a:p>
          <a:p>
            <a:pPr lvl="1"/>
            <a:r>
              <a:rPr lang="en-CA" altLang="en-US" sz="1200" b="1" dirty="0" err="1"/>
              <a:t>ip</a:t>
            </a:r>
            <a:r>
              <a:rPr lang="en-CA" altLang="en-US" sz="1200" b="1" dirty="0"/>
              <a:t> route </a:t>
            </a:r>
            <a:r>
              <a:rPr lang="en-CA" altLang="en-US" sz="1200" dirty="0"/>
              <a:t>192.168.11.0 255.255.255.0 209.165.200.225</a:t>
            </a:r>
            <a:endParaRPr lang="en-CA" altLang="en-US" sz="1200" dirty="0"/>
          </a:p>
          <a:p>
            <a:r>
              <a:rPr lang="en-CA" altLang="en-US" dirty="0"/>
              <a:t>Which route was configured to use the exit interface?</a:t>
            </a:r>
            <a:endParaRPr lang="en-CA" altLang="en-US" dirty="0"/>
          </a:p>
          <a:p>
            <a:r>
              <a:rPr lang="en-CA" altLang="en-US" dirty="0"/>
              <a:t>Will they send packets for these networks to the same router?</a:t>
            </a:r>
            <a:endParaRPr lang="en-CA" altLang="en-US" dirty="0"/>
          </a:p>
          <a:p>
            <a:endParaRPr lang="en-CA" altLang="en-US" dirty="0"/>
          </a:p>
        </p:txBody>
      </p:sp>
      <p:pic>
        <p:nvPicPr>
          <p:cNvPr id="2" name="Picture 1"/>
          <p:cNvPicPr>
            <a:picLocks noChangeAspect="1"/>
          </p:cNvPicPr>
          <p:nvPr/>
        </p:nvPicPr>
        <p:blipFill>
          <a:blip r:embed="rId1"/>
          <a:stretch>
            <a:fillRect/>
          </a:stretch>
        </p:blipFill>
        <p:spPr>
          <a:xfrm>
            <a:off x="217997" y="798944"/>
            <a:ext cx="4705350" cy="3781425"/>
          </a:xfrm>
          <a:prstGeom prst="rect">
            <a:avLst/>
          </a:prstGeom>
        </p:spPr>
      </p:pic>
    </p:spTree>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4295954" cy="757551"/>
          </a:xfrm>
        </p:spPr>
        <p:txBody>
          <a:bodyPr/>
          <a:lstStyle/>
          <a:p>
            <a:r>
              <a:rPr lang="en-CA" altLang="en-US" sz="1600" dirty="0"/>
              <a:t>Statically Learned Routes</a:t>
            </a:r>
            <a:br>
              <a:rPr lang="en-CA" altLang="en-US" sz="1600" dirty="0"/>
            </a:br>
            <a:r>
              <a:rPr lang="en-CA" altLang="en-US" dirty="0"/>
              <a:t>Static IPv6 Route Examples</a:t>
            </a:r>
            <a:endParaRPr lang="en-CA" altLang="en-US" dirty="0"/>
          </a:p>
        </p:txBody>
      </p:sp>
      <p:sp>
        <p:nvSpPr>
          <p:cNvPr id="3" name="Content Placeholder 2"/>
          <p:cNvSpPr>
            <a:spLocks noGrp="1"/>
          </p:cNvSpPr>
          <p:nvPr>
            <p:ph idx="1"/>
          </p:nvPr>
        </p:nvSpPr>
        <p:spPr>
          <a:xfrm>
            <a:off x="5546785" y="420168"/>
            <a:ext cx="3450566" cy="4477109"/>
          </a:xfrm>
        </p:spPr>
        <p:txBody>
          <a:bodyPr/>
          <a:lstStyle/>
          <a:p>
            <a:r>
              <a:rPr lang="en-CA" altLang="en-US" dirty="0"/>
              <a:t>To configure a default IPv6 static route, use the </a:t>
            </a:r>
            <a:r>
              <a:rPr lang="en-CA" altLang="en-US" b="1" dirty="0"/>
              <a:t>ipv6 route ::/0 </a:t>
            </a:r>
            <a:r>
              <a:rPr lang="en-CA" altLang="en-US" dirty="0"/>
              <a:t>[ipv6-address | interface-type interface-number} global configuration command:</a:t>
            </a:r>
            <a:endParaRPr lang="en-CA" altLang="en-US" dirty="0"/>
          </a:p>
          <a:p>
            <a:pPr lvl="1"/>
            <a:r>
              <a:rPr lang="en-CA" altLang="en-US" b="1" dirty="0"/>
              <a:t>ipv6 route ::/0 s0/0/0</a:t>
            </a:r>
            <a:endParaRPr lang="en-CA" altLang="en-US" b="1" dirty="0"/>
          </a:p>
          <a:p>
            <a:pPr lvl="1"/>
            <a:r>
              <a:rPr lang="en-CA" altLang="en-US" dirty="0"/>
              <a:t>Unlike the IPv4 static route, there is no asterisk (*) or Gateway of Last Resort explicitly identified in the routing table.</a:t>
            </a:r>
            <a:endParaRPr lang="en-CA" altLang="en-US" dirty="0"/>
          </a:p>
          <a:p>
            <a:r>
              <a:rPr lang="en-CA" altLang="en-US" dirty="0"/>
              <a:t>Use the </a:t>
            </a:r>
            <a:r>
              <a:rPr lang="en-CA" altLang="en-US" b="1" dirty="0"/>
              <a:t>show ipv6 route </a:t>
            </a:r>
            <a:r>
              <a:rPr lang="en-CA" altLang="en-US" dirty="0"/>
              <a:t>command to verify the static routes were installed.</a:t>
            </a:r>
            <a:endParaRPr lang="en-CA" altLang="en-US" dirty="0"/>
          </a:p>
          <a:p>
            <a:r>
              <a:rPr lang="en-CA" altLang="en-US" dirty="0"/>
              <a:t>Use ping to verify remote network connectivity from R1:</a:t>
            </a:r>
            <a:endParaRPr lang="en-CA" altLang="en-US" dirty="0"/>
          </a:p>
          <a:p>
            <a:pPr lvl="1"/>
            <a:r>
              <a:rPr lang="en-CA" altLang="en-US" b="1" dirty="0"/>
              <a:t>ping</a:t>
            </a:r>
            <a:r>
              <a:rPr lang="en-CA" altLang="en-US" dirty="0"/>
              <a:t> 2001:0DB8:ACAD:4::1</a:t>
            </a:r>
            <a:endParaRPr lang="en-CA" altLang="en-US" dirty="0"/>
          </a:p>
          <a:p>
            <a:endParaRPr lang="en-CA" altLang="en-US" dirty="0"/>
          </a:p>
        </p:txBody>
      </p:sp>
      <p:pic>
        <p:nvPicPr>
          <p:cNvPr id="5" name="Picture 4"/>
          <p:cNvPicPr>
            <a:picLocks noChangeAspect="1"/>
          </p:cNvPicPr>
          <p:nvPr/>
        </p:nvPicPr>
        <p:blipFill>
          <a:blip r:embed="rId1"/>
          <a:stretch>
            <a:fillRect/>
          </a:stretch>
        </p:blipFill>
        <p:spPr>
          <a:xfrm>
            <a:off x="196700" y="798944"/>
            <a:ext cx="5248275" cy="1943100"/>
          </a:xfrm>
          <a:prstGeom prst="rect">
            <a:avLst/>
          </a:prstGeom>
        </p:spPr>
      </p:pic>
      <p:sp>
        <p:nvSpPr>
          <p:cNvPr id="7" name="Content Placeholder 2"/>
          <p:cNvSpPr txBox="1"/>
          <p:nvPr/>
        </p:nvSpPr>
        <p:spPr bwMode="auto">
          <a:xfrm>
            <a:off x="1" y="2909632"/>
            <a:ext cx="5546784" cy="1826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lstStyle>
            <a:lvl1pPr marL="170180" indent="-170180" algn="l" defTabSz="684530"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MS PGothic" panose="020B0600070205080204" pitchFamily="34" charset="-128"/>
                <a:cs typeface="CiscoSans"/>
              </a:defRPr>
            </a:lvl1pPr>
            <a:lvl2pPr marL="358775" indent="-215900" algn="l" defTabSz="684530" rtl="0" eaLnBrk="1" fontAlgn="base" hangingPunct="1">
              <a:lnSpc>
                <a:spcPct val="100000"/>
              </a:lnSpc>
              <a:spcBef>
                <a:spcPts val="300"/>
              </a:spcBef>
              <a:spcAft>
                <a:spcPts val="300"/>
              </a:spcAft>
              <a:buClr>
                <a:schemeClr val="tx2"/>
              </a:buClr>
              <a:buFont typeface="Arial" panose="020B0604020202020204" pitchFamily="34" charset="0"/>
              <a:buChar char="•"/>
              <a:defRPr lang="en-US" sz="1400" kern="1200">
                <a:solidFill>
                  <a:srgbClr val="000000"/>
                </a:solidFill>
                <a:latin typeface="+mn-lt"/>
                <a:ea typeface="MS PGothic" panose="020B0600070205080204" pitchFamily="34" charset="-128"/>
                <a:cs typeface="CiscoSans"/>
              </a:defRPr>
            </a:lvl2pPr>
            <a:lvl3pPr marL="431800" indent="-170180" algn="l" defTabSz="684530" rtl="0" eaLnBrk="1" fontAlgn="base" hangingPunct="1">
              <a:lnSpc>
                <a:spcPct val="100000"/>
              </a:lnSpc>
              <a:spcBef>
                <a:spcPts val="300"/>
              </a:spcBef>
              <a:spcAft>
                <a:spcPts val="300"/>
              </a:spcAft>
              <a:buFont typeface="Arial" panose="020B0604020202020204" pitchFamily="34" charset="0"/>
              <a:buChar char="•"/>
              <a:defRPr lang="en-US" sz="1200" kern="1200">
                <a:solidFill>
                  <a:srgbClr val="000000"/>
                </a:solidFill>
                <a:latin typeface="+mn-lt"/>
                <a:ea typeface="MS PGothic" panose="020B0600070205080204" pitchFamily="34" charset="-128"/>
                <a:cs typeface="CiscoSans"/>
              </a:defRPr>
            </a:lvl3pPr>
            <a:lvl4pPr marL="503555" indent="-170180" algn="l" defTabSz="684530" rtl="0" eaLnBrk="1" fontAlgn="base" hangingPunct="1">
              <a:lnSpc>
                <a:spcPct val="100000"/>
              </a:lnSpc>
              <a:spcBef>
                <a:spcPts val="300"/>
              </a:spcBef>
              <a:spcAft>
                <a:spcPts val="300"/>
              </a:spcAft>
              <a:buFont typeface="Arial" panose="020B0604020202020204" pitchFamily="34" charset="0"/>
              <a:buChar char="•"/>
              <a:defRPr lang="en-US" sz="1100" kern="1200">
                <a:solidFill>
                  <a:srgbClr val="000000"/>
                </a:solidFill>
                <a:latin typeface="+mn-lt"/>
                <a:ea typeface="MS PGothic" panose="020B0600070205080204" pitchFamily="34" charset="-128"/>
                <a:cs typeface="CiscoSans"/>
              </a:defRPr>
            </a:lvl4pPr>
            <a:lvl5pPr marL="57467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panose="020B0600070205080204" pitchFamily="34" charset="-128"/>
                <a:cs typeface="CiscoSans"/>
              </a:defRPr>
            </a:lvl5pPr>
            <a:lvl6pPr marL="863600" indent="-171450" algn="l" defTabSz="685800" rtl="0" eaLnBrk="1" latinLnBrk="0" hangingPunct="1">
              <a:spcBef>
                <a:spcPts val="600"/>
              </a:spcBef>
              <a:buFont typeface="Arial" panose="020B0604020202020204" pitchFamily="34" charset="0"/>
              <a:buChar char="•"/>
              <a:defRPr sz="900" kern="1200" baseline="0">
                <a:solidFill>
                  <a:schemeClr val="tx1"/>
                </a:solidFill>
                <a:latin typeface="+mn-lt"/>
                <a:ea typeface="+mn-ea"/>
                <a:cs typeface="+mn-cs"/>
              </a:defRPr>
            </a:lvl6pPr>
            <a:lvl7pPr marL="935990" indent="-171450" algn="l" defTabSz="685800" rtl="0" eaLnBrk="1" latinLnBrk="0" hangingPunct="1">
              <a:spcBef>
                <a:spcPts val="600"/>
              </a:spcBef>
              <a:buFont typeface="Arial" panose="020B0604020202020204" pitchFamily="34" charset="0"/>
              <a:buChar char="•"/>
              <a:defRPr sz="800" kern="1200" baseline="0">
                <a:solidFill>
                  <a:schemeClr val="tx1"/>
                </a:solidFill>
                <a:latin typeface="+mn-lt"/>
                <a:ea typeface="+mn-ea"/>
                <a:cs typeface="+mn-cs"/>
              </a:defRPr>
            </a:lvl7pPr>
            <a:lvl8pPr marL="2400300" indent="0" algn="l" defTabSz="685800" rtl="0" eaLnBrk="1" latinLnBrk="0" hangingPunct="1">
              <a:spcBef>
                <a:spcPct val="20000"/>
              </a:spcBef>
              <a:buFont typeface="Arial" panose="020B0604020202020204" pitchFamily="34" charset="0"/>
              <a:buNone/>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r>
              <a:rPr lang="en-CA" altLang="en-US" sz="1400" dirty="0"/>
              <a:t>Like IPv4, static routes are explicitly configured to reach a specific remote network.  For example:</a:t>
            </a:r>
            <a:endParaRPr lang="en-CA" altLang="en-US" sz="1400" dirty="0"/>
          </a:p>
          <a:p>
            <a:pPr lvl="1"/>
            <a:r>
              <a:rPr lang="en-CA" altLang="en-US" sz="1200" b="1" dirty="0"/>
              <a:t>ipv6 route </a:t>
            </a:r>
            <a:r>
              <a:rPr lang="en-CA" altLang="en-US" sz="1200" dirty="0"/>
              <a:t>2001:0DB8:ACAD:1::/64 2001:0Db8:ACAD:3::1</a:t>
            </a:r>
            <a:endParaRPr lang="en-CA" altLang="en-US" sz="1200" dirty="0"/>
          </a:p>
          <a:p>
            <a:pPr lvl="1"/>
            <a:r>
              <a:rPr lang="en-CA" altLang="en-US" sz="1200" b="1" dirty="0"/>
              <a:t>ipv6 route </a:t>
            </a:r>
            <a:r>
              <a:rPr lang="en-CA" altLang="en-US" sz="1200" dirty="0"/>
              <a:t>2001:0DB8:ACAD:2::/64 s0/0/0</a:t>
            </a:r>
            <a:endParaRPr lang="en-CA" altLang="en-US" dirty="0"/>
          </a:p>
          <a:p>
            <a:pPr lvl="0">
              <a:buClr>
                <a:srgbClr val="58585B"/>
              </a:buClr>
            </a:pPr>
            <a:r>
              <a:rPr lang="en-CA" altLang="en-US" sz="1400" dirty="0"/>
              <a:t>Notice that one of these routes uses an exit interface while the other uses a next hop address.</a:t>
            </a:r>
            <a:endParaRPr lang="en-CA" altLang="en-US" sz="1400" dirty="0"/>
          </a:p>
        </p:txBody>
      </p:sp>
    </p:spTree>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4632384" cy="757551"/>
          </a:xfrm>
        </p:spPr>
        <p:txBody>
          <a:bodyPr/>
          <a:lstStyle/>
          <a:p>
            <a:r>
              <a:rPr lang="en-CA" altLang="en-US" sz="1600" dirty="0"/>
              <a:t>Dynamic Routing Protocols</a:t>
            </a:r>
            <a:br>
              <a:rPr lang="en-CA" altLang="en-US" sz="1600" dirty="0"/>
            </a:br>
            <a:r>
              <a:rPr lang="en-CA" altLang="en-US" dirty="0"/>
              <a:t>Dynamic Routing</a:t>
            </a:r>
            <a:endParaRPr lang="en-CA" altLang="en-US" dirty="0"/>
          </a:p>
        </p:txBody>
      </p:sp>
      <p:sp>
        <p:nvSpPr>
          <p:cNvPr id="3" name="Content Placeholder 2"/>
          <p:cNvSpPr>
            <a:spLocks noGrp="1"/>
          </p:cNvSpPr>
          <p:nvPr>
            <p:ph idx="1"/>
          </p:nvPr>
        </p:nvSpPr>
        <p:spPr>
          <a:xfrm>
            <a:off x="5089586" y="138023"/>
            <a:ext cx="4054414" cy="4589252"/>
          </a:xfrm>
        </p:spPr>
        <p:txBody>
          <a:bodyPr/>
          <a:lstStyle/>
          <a:p>
            <a:r>
              <a:rPr lang="en-CA" altLang="en-US" dirty="0"/>
              <a:t>Dynamic routing protocols are used by routers to share information about the reachability and status of remote networks.</a:t>
            </a:r>
            <a:endParaRPr lang="en-CA" altLang="en-US" dirty="0"/>
          </a:p>
          <a:p>
            <a:r>
              <a:rPr lang="en-CA" altLang="en-US" dirty="0"/>
              <a:t>Rather than manually configuring static routes, dynamic routing protocols use network discovery to share information about the networks that it knows about with other routers that are using the same routing protocol.</a:t>
            </a:r>
            <a:endParaRPr lang="en-CA" altLang="en-US" dirty="0"/>
          </a:p>
          <a:p>
            <a:pPr lvl="1"/>
            <a:r>
              <a:rPr lang="en-CA" altLang="en-US" dirty="0"/>
              <a:t>Routers automatically learn about remote networks from other routers</a:t>
            </a:r>
            <a:endParaRPr lang="en-CA" altLang="en-US" dirty="0"/>
          </a:p>
          <a:p>
            <a:pPr lvl="1"/>
            <a:r>
              <a:rPr lang="en-CA" altLang="en-US" dirty="0"/>
              <a:t>These networks and the best path to each are added to the routing table of the router.  </a:t>
            </a:r>
            <a:endParaRPr lang="en-CA" altLang="en-US" dirty="0"/>
          </a:p>
          <a:p>
            <a:r>
              <a:rPr lang="en-CA" altLang="en-US" dirty="0"/>
              <a:t>Routers have converged after they have finished exchanging and updating their routing tables. Routers then maintain the networks in their routing tables.</a:t>
            </a:r>
            <a:endParaRPr lang="en-CA" altLang="en-US" dirty="0"/>
          </a:p>
          <a:p>
            <a:pPr lvl="1"/>
            <a:endParaRPr lang="en-CA" altLang="en-US" dirty="0"/>
          </a:p>
          <a:p>
            <a:pPr lvl="1"/>
            <a:endParaRPr lang="en-CA" altLang="en-US" dirty="0"/>
          </a:p>
          <a:p>
            <a:endParaRPr lang="en-CA" altLang="en-US" dirty="0"/>
          </a:p>
          <a:p>
            <a:endParaRPr lang="en-CA" altLang="en-US" dirty="0"/>
          </a:p>
        </p:txBody>
      </p:sp>
      <p:pic>
        <p:nvPicPr>
          <p:cNvPr id="2" name="Picture 1"/>
          <p:cNvPicPr>
            <a:picLocks noChangeAspect="1"/>
          </p:cNvPicPr>
          <p:nvPr/>
        </p:nvPicPr>
        <p:blipFill>
          <a:blip r:embed="rId1"/>
          <a:stretch>
            <a:fillRect/>
          </a:stretch>
        </p:blipFill>
        <p:spPr>
          <a:xfrm>
            <a:off x="231836" y="884656"/>
            <a:ext cx="4857750" cy="3305175"/>
          </a:xfrm>
          <a:prstGeom prst="rect">
            <a:avLst/>
          </a:prstGeom>
        </p:spPr>
      </p:pic>
    </p:spTree>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 y="41393"/>
            <a:ext cx="4632384" cy="757551"/>
          </a:xfrm>
        </p:spPr>
        <p:txBody>
          <a:bodyPr/>
          <a:lstStyle/>
          <a:p>
            <a:r>
              <a:rPr lang="en-CA" altLang="en-US" sz="1600" dirty="0"/>
              <a:t>Dynamic Routing Protocols</a:t>
            </a:r>
            <a:br>
              <a:rPr lang="en-CA" altLang="en-US" sz="1600" dirty="0"/>
            </a:br>
            <a:r>
              <a:rPr lang="en-CA" altLang="en-US" dirty="0"/>
              <a:t>IPv4 Routing Protocols</a:t>
            </a:r>
            <a:endParaRPr lang="en-CA" altLang="en-US" dirty="0"/>
          </a:p>
        </p:txBody>
      </p:sp>
      <p:sp>
        <p:nvSpPr>
          <p:cNvPr id="3" name="Content Placeholder 2"/>
          <p:cNvSpPr>
            <a:spLocks noGrp="1"/>
          </p:cNvSpPr>
          <p:nvPr>
            <p:ph idx="1"/>
          </p:nvPr>
        </p:nvSpPr>
        <p:spPr>
          <a:xfrm>
            <a:off x="5118756" y="452487"/>
            <a:ext cx="3938180" cy="4072379"/>
          </a:xfrm>
        </p:spPr>
        <p:txBody>
          <a:bodyPr/>
          <a:lstStyle/>
          <a:p>
            <a:r>
              <a:rPr lang="en-CA" altLang="en-US" dirty="0"/>
              <a:t>One of the major advantages of dynamic routing protocols over static routes -determine a new best path if the initial path becomes unusable.  </a:t>
            </a:r>
            <a:endParaRPr lang="en-CA" altLang="en-US" dirty="0"/>
          </a:p>
          <a:p>
            <a:r>
              <a:rPr lang="en-CA" altLang="en-US" dirty="0"/>
              <a:t>Dynamic routing protocols can adjust to topology changes without involving the network administrator.</a:t>
            </a:r>
            <a:endParaRPr lang="en-CA" altLang="en-US" dirty="0"/>
          </a:p>
          <a:p>
            <a:r>
              <a:rPr lang="en-CA" altLang="en-US" dirty="0"/>
              <a:t>Cisco routers support a variety of IPv4 routing protocols including:</a:t>
            </a:r>
            <a:endParaRPr lang="en-CA" altLang="en-US" dirty="0"/>
          </a:p>
          <a:p>
            <a:pPr lvl="1"/>
            <a:r>
              <a:rPr lang="en-CA" altLang="en-US" dirty="0"/>
              <a:t>EIGRP</a:t>
            </a:r>
            <a:endParaRPr lang="en-CA" altLang="en-US" dirty="0"/>
          </a:p>
          <a:p>
            <a:pPr lvl="1"/>
            <a:r>
              <a:rPr lang="en-CA" altLang="en-US" dirty="0"/>
              <a:t>OSPF</a:t>
            </a:r>
            <a:endParaRPr lang="en-CA" altLang="en-US" dirty="0"/>
          </a:p>
          <a:p>
            <a:pPr lvl="1"/>
            <a:r>
              <a:rPr lang="en-CA" altLang="en-US" dirty="0"/>
              <a:t>IS-IS</a:t>
            </a:r>
            <a:endParaRPr lang="en-CA" altLang="en-US" dirty="0"/>
          </a:p>
          <a:p>
            <a:pPr lvl="1"/>
            <a:r>
              <a:rPr lang="en-CA" altLang="en-US" dirty="0"/>
              <a:t>RIP</a:t>
            </a:r>
            <a:endParaRPr lang="en-CA" altLang="en-US" dirty="0"/>
          </a:p>
          <a:p>
            <a:pPr lvl="1">
              <a:buClr>
                <a:srgbClr val="58585B"/>
              </a:buClr>
            </a:pPr>
            <a:r>
              <a:rPr lang="en-CA" altLang="en-US" dirty="0"/>
              <a:t>Use </a:t>
            </a:r>
            <a:r>
              <a:rPr lang="en-CA" altLang="en-US" b="1" dirty="0"/>
              <a:t>router ? </a:t>
            </a:r>
            <a:r>
              <a:rPr lang="en-CA" altLang="en-US" dirty="0"/>
              <a:t>in global </a:t>
            </a:r>
            <a:r>
              <a:rPr lang="en-CA" altLang="en-US" dirty="0" err="1"/>
              <a:t>config</a:t>
            </a:r>
            <a:r>
              <a:rPr lang="en-CA" altLang="en-US" dirty="0"/>
              <a:t> mode to see the complete list.</a:t>
            </a:r>
            <a:endParaRPr lang="en-CA" altLang="en-US" dirty="0"/>
          </a:p>
          <a:p>
            <a:pPr lvl="1"/>
            <a:endParaRPr lang="en-CA" altLang="en-US" dirty="0"/>
          </a:p>
          <a:p>
            <a:pPr lvl="1"/>
            <a:endParaRPr lang="en-CA" altLang="en-US" dirty="0"/>
          </a:p>
          <a:p>
            <a:pPr lvl="1"/>
            <a:endParaRPr lang="en-CA" altLang="en-US" dirty="0"/>
          </a:p>
          <a:p>
            <a:endParaRPr lang="en-CA" altLang="en-US" dirty="0"/>
          </a:p>
          <a:p>
            <a:endParaRPr lang="en-CA" altLang="en-US" dirty="0"/>
          </a:p>
        </p:txBody>
      </p:sp>
      <p:pic>
        <p:nvPicPr>
          <p:cNvPr id="4" name="Picture 3"/>
          <p:cNvPicPr>
            <a:picLocks noChangeAspect="1"/>
          </p:cNvPicPr>
          <p:nvPr/>
        </p:nvPicPr>
        <p:blipFill>
          <a:blip r:embed="rId1"/>
          <a:stretch>
            <a:fillRect/>
          </a:stretch>
        </p:blipFill>
        <p:spPr>
          <a:xfrm>
            <a:off x="156892" y="859946"/>
            <a:ext cx="4829175" cy="3371850"/>
          </a:xfrm>
          <a:prstGeom prst="rect">
            <a:avLst/>
          </a:prstGeom>
        </p:spPr>
      </p:pic>
    </p:spTree>
  </p:cSld>
  <p:clrMapOvr>
    <a:masterClrMapping/>
  </p:clrMapOvr>
  <p:transition spd="slow">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199069" cy="1802391"/>
          </a:xfrm>
        </p:spPr>
        <p:txBody>
          <a:bodyPr/>
          <a:lstStyle/>
          <a:p>
            <a:r>
              <a:rPr lang="en-US" dirty="0"/>
              <a:t>1.4 Summary</a:t>
            </a:r>
            <a:endParaRPr lang="en-US" dirty="0"/>
          </a:p>
        </p:txBody>
      </p:sp>
    </p:spTree>
  </p:cSld>
  <p:clrMapOvr>
    <a:masterClrMapping/>
  </p:clrMapOvr>
  <p:transition spd="slow">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p:cNvSpPr txBox="1"/>
          <p:nvPr/>
        </p:nvSpPr>
        <p:spPr bwMode="auto">
          <a:xfrm>
            <a:off x="1417131" y="1154627"/>
            <a:ext cx="6450388" cy="1864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1593" tIns="30796" rIns="61593" bIns="30796" numCol="1" anchor="t" anchorCtr="0" compatLnSpc="1"/>
          <a:lst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charset="0"/>
              <a:buChar char="§"/>
              <a:defRPr sz="2400">
                <a:solidFill>
                  <a:schemeClr val="tx1"/>
                </a:solidFill>
                <a:latin typeface="+mn-lt"/>
                <a:ea typeface="MS PGothic" panose="020B0600070205080204" pitchFamily="34" charset="-128"/>
                <a:cs typeface="MS PGothic" panose="020B0600070205080204" pitchFamily="34" charset="-128"/>
              </a:defRPr>
            </a:lvl1pPr>
            <a:lvl2pPr marL="574675" indent="-117475" algn="l" defTabSz="814705" rtl="0" eaLnBrk="0" fontAlgn="base" hangingPunct="0">
              <a:lnSpc>
                <a:spcPct val="95000"/>
              </a:lnSpc>
              <a:spcBef>
                <a:spcPct val="35000"/>
              </a:spcBef>
              <a:spcAft>
                <a:spcPct val="0"/>
              </a:spcAft>
              <a:buClr>
                <a:srgbClr val="708CA1"/>
              </a:buClr>
              <a:defRPr sz="2000">
                <a:solidFill>
                  <a:schemeClr val="tx1"/>
                </a:solidFill>
                <a:latin typeface="+mn-lt"/>
                <a:ea typeface="MS PGothic" panose="020B0600070205080204" pitchFamily="34" charset="-128"/>
              </a:defRPr>
            </a:lvl2pPr>
            <a:lvl3pPr marL="914400" algn="l" defTabSz="814705" rtl="0" eaLnBrk="0" fontAlgn="base" hangingPunct="0">
              <a:lnSpc>
                <a:spcPct val="95000"/>
              </a:lnSpc>
              <a:spcBef>
                <a:spcPct val="35000"/>
              </a:spcBef>
              <a:spcAft>
                <a:spcPct val="0"/>
              </a:spcAft>
              <a:buClr>
                <a:srgbClr val="708CA1"/>
              </a:buClr>
              <a:defRPr sz="2000">
                <a:solidFill>
                  <a:schemeClr val="tx1"/>
                </a:solidFill>
                <a:latin typeface="+mn-lt"/>
                <a:ea typeface="MS PGothic" panose="020B0600070205080204" pitchFamily="34" charset="-128"/>
              </a:defRPr>
            </a:lvl3pPr>
            <a:lvl4pPr marL="1254125" indent="117475" algn="l" defTabSz="814705" rtl="0" eaLnBrk="0" fontAlgn="base" hangingPunct="0">
              <a:lnSpc>
                <a:spcPct val="95000"/>
              </a:lnSpc>
              <a:spcBef>
                <a:spcPct val="35000"/>
              </a:spcBef>
              <a:spcAft>
                <a:spcPct val="0"/>
              </a:spcAft>
              <a:buClr>
                <a:srgbClr val="708CA1"/>
              </a:buClr>
              <a:defRPr sz="2000">
                <a:solidFill>
                  <a:schemeClr val="tx1"/>
                </a:solidFill>
                <a:latin typeface="+mn-lt"/>
                <a:ea typeface="MS PGothic" panose="020B0600070205080204" pitchFamily="34" charset="-128"/>
              </a:defRPr>
            </a:lvl4pPr>
            <a:lvl5pPr marL="1605280" indent="224155" algn="l" defTabSz="814705" rtl="0" eaLnBrk="0" fontAlgn="base" hangingPunct="0">
              <a:lnSpc>
                <a:spcPct val="95000"/>
              </a:lnSpc>
              <a:spcBef>
                <a:spcPct val="35000"/>
              </a:spcBef>
              <a:spcAft>
                <a:spcPct val="0"/>
              </a:spcAft>
              <a:buClr>
                <a:srgbClr val="708CA1"/>
              </a:buClr>
              <a:defRPr sz="2000">
                <a:solidFill>
                  <a:schemeClr val="tx1"/>
                </a:solidFill>
                <a:latin typeface="+mn-lt"/>
                <a:ea typeface="MS PGothic" panose="020B0600070205080204" pitchFamily="34" charset="-128"/>
              </a:defRPr>
            </a:lvl5pPr>
            <a:lvl6pPr marL="2062480" algn="l" defTabSz="814705" rtl="0" eaLnBrk="1" fontAlgn="base" hangingPunct="1">
              <a:lnSpc>
                <a:spcPct val="95000"/>
              </a:lnSpc>
              <a:spcBef>
                <a:spcPct val="35000"/>
              </a:spcBef>
              <a:spcAft>
                <a:spcPct val="0"/>
              </a:spcAft>
              <a:buClr>
                <a:srgbClr val="708CA1"/>
              </a:buClr>
              <a:defRPr sz="2000">
                <a:solidFill>
                  <a:schemeClr val="tx1"/>
                </a:solidFill>
                <a:latin typeface="+mn-lt"/>
              </a:defRPr>
            </a:lvl6pPr>
            <a:lvl7pPr marL="2519680" algn="l" defTabSz="814705" rtl="0" eaLnBrk="1" fontAlgn="base" hangingPunct="1">
              <a:lnSpc>
                <a:spcPct val="95000"/>
              </a:lnSpc>
              <a:spcBef>
                <a:spcPct val="35000"/>
              </a:spcBef>
              <a:spcAft>
                <a:spcPct val="0"/>
              </a:spcAft>
              <a:buClr>
                <a:srgbClr val="708CA1"/>
              </a:buClr>
              <a:defRPr sz="2000">
                <a:solidFill>
                  <a:schemeClr val="tx1"/>
                </a:solidFill>
                <a:latin typeface="+mn-lt"/>
              </a:defRPr>
            </a:lvl7pPr>
            <a:lvl8pPr marL="2976880" algn="l" defTabSz="814705" rtl="0" eaLnBrk="1" fontAlgn="base" hangingPunct="1">
              <a:lnSpc>
                <a:spcPct val="95000"/>
              </a:lnSpc>
              <a:spcBef>
                <a:spcPct val="35000"/>
              </a:spcBef>
              <a:spcAft>
                <a:spcPct val="0"/>
              </a:spcAft>
              <a:buClr>
                <a:srgbClr val="708CA1"/>
              </a:buClr>
              <a:defRPr sz="2000">
                <a:solidFill>
                  <a:schemeClr val="tx1"/>
                </a:solidFill>
                <a:latin typeface="+mn-lt"/>
              </a:defRPr>
            </a:lvl8pPr>
            <a:lvl9pPr marL="3434080" algn="l" defTabSz="814705" rtl="0" eaLnBrk="1" fontAlgn="base" hangingPunct="1">
              <a:lnSpc>
                <a:spcPct val="95000"/>
              </a:lnSpc>
              <a:spcBef>
                <a:spcPct val="35000"/>
              </a:spcBef>
              <a:spcAft>
                <a:spcPct val="0"/>
              </a:spcAft>
              <a:buClr>
                <a:srgbClr val="708CA1"/>
              </a:buClr>
              <a:defRPr sz="2000">
                <a:solidFill>
                  <a:schemeClr val="tx1"/>
                </a:solidFill>
                <a:latin typeface="+mn-lt"/>
              </a:defRPr>
            </a:lvl9pPr>
          </a:lstStyle>
          <a:p>
            <a:endParaRPr lang="en-US" sz="1200" dirty="0"/>
          </a:p>
        </p:txBody>
      </p:sp>
      <p:sp>
        <p:nvSpPr>
          <p:cNvPr id="4" name="Content Placeholder 3"/>
          <p:cNvSpPr>
            <a:spLocks noGrp="1"/>
          </p:cNvSpPr>
          <p:nvPr>
            <p:ph idx="1"/>
          </p:nvPr>
        </p:nvSpPr>
        <p:spPr/>
        <p:txBody>
          <a:bodyPr/>
          <a:lstStyle/>
          <a:p>
            <a:pPr marL="287020" indent="-285750">
              <a:buClr>
                <a:srgbClr val="58585B"/>
              </a:buClr>
            </a:pPr>
            <a:r>
              <a:rPr lang="en-US" dirty="0"/>
              <a:t>Configure a router to route between multiple directly connected networks.</a:t>
            </a:r>
            <a:endParaRPr lang="en-US" dirty="0"/>
          </a:p>
          <a:p>
            <a:pPr marL="287020" lvl="1" indent="-285750">
              <a:spcBef>
                <a:spcPts val="600"/>
              </a:spcBef>
              <a:spcAft>
                <a:spcPts val="600"/>
              </a:spcAft>
              <a:buClr>
                <a:srgbClr val="58585B"/>
              </a:buClr>
              <a:buSzPct val="90000"/>
              <a:buFont typeface="Wingdings" panose="05000000000000000000" pitchFamily="2" charset="2"/>
              <a:buChar char="§"/>
            </a:pPr>
            <a:r>
              <a:rPr lang="en-CA" dirty="0"/>
              <a:t>Explain how routers use information in data packets to make forwarding decisions in a small to medium-sized business network</a:t>
            </a:r>
            <a:endParaRPr lang="en-CA" dirty="0"/>
          </a:p>
          <a:p>
            <a:pPr marL="287020" lvl="1" indent="-285750">
              <a:spcBef>
                <a:spcPts val="600"/>
              </a:spcBef>
              <a:spcAft>
                <a:spcPts val="600"/>
              </a:spcAft>
              <a:buClr>
                <a:srgbClr val="58585B"/>
              </a:buClr>
              <a:buSzPct val="90000"/>
              <a:buFont typeface="Wingdings" panose="05000000000000000000" pitchFamily="2" charset="2"/>
              <a:buChar char="§"/>
            </a:pPr>
            <a:r>
              <a:rPr lang="en-US" dirty="0"/>
              <a:t>Explain how a router learns about remote networks when operating in a small to medium-sized business network.</a:t>
            </a:r>
            <a:endParaRPr lang="en-US" dirty="0"/>
          </a:p>
          <a:p>
            <a:pPr marL="287020" indent="-285750">
              <a:buClr>
                <a:srgbClr val="58585B"/>
              </a:buClr>
            </a:pPr>
            <a:endParaRPr lang="en-CA" dirty="0"/>
          </a:p>
          <a:p>
            <a:endParaRPr lang="en-US" dirty="0"/>
          </a:p>
        </p:txBody>
      </p:sp>
      <p:sp>
        <p:nvSpPr>
          <p:cNvPr id="21505" name="Rectangle 2"/>
          <p:cNvSpPr>
            <a:spLocks noGrp="1" noChangeArrowheads="1"/>
          </p:cNvSpPr>
          <p:nvPr>
            <p:ph type="title"/>
          </p:nvPr>
        </p:nvSpPr>
        <p:spPr/>
        <p:txBody>
          <a:bodyPr/>
          <a:lstStyle/>
          <a:p>
            <a:r>
              <a:rPr lang="en-US" sz="1400" dirty="0">
                <a:latin typeface="Arial" panose="020B0604020202020204" pitchFamily="34" charset="0"/>
              </a:rPr>
              <a:t>Conclusion</a:t>
            </a:r>
            <a:br>
              <a:rPr lang="en-US" dirty="0">
                <a:latin typeface="Arial" panose="020B0604020202020204" pitchFamily="34" charset="0"/>
              </a:rPr>
            </a:br>
            <a:r>
              <a:rPr lang="en-US" dirty="0">
                <a:latin typeface="Arial" panose="020B0604020202020204" pitchFamily="34" charset="0"/>
              </a:rPr>
              <a:t>Chapter 2: Routing Concepts</a:t>
            </a:r>
            <a:endParaRPr lang="en-US" dirty="0">
              <a:latin typeface="Arial" panose="020B0604020202020204" pitchFamily="34" charset="0"/>
            </a:endParaRPr>
          </a:p>
        </p:txBody>
      </p:sp>
    </p:spTree>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pPr eaLnBrk="1" hangingPunct="1"/>
            <a:r>
              <a:rPr lang="en-US" sz="1400" dirty="0">
                <a:latin typeface="Arial" panose="020B0604020202020204" pitchFamily="34" charset="0"/>
              </a:rPr>
              <a:t>Chapter 1</a:t>
            </a:r>
            <a:br>
              <a:rPr lang="en-US" dirty="0">
                <a:latin typeface="Arial" panose="020B0604020202020204" pitchFamily="34" charset="0"/>
              </a:rPr>
            </a:br>
            <a:r>
              <a:rPr lang="en-US" dirty="0">
                <a:latin typeface="Arial" panose="020B0604020202020204" pitchFamily="34" charset="0"/>
              </a:rPr>
              <a:t>New Terms and Commands</a:t>
            </a:r>
            <a:endParaRPr lang="en-US" dirty="0">
              <a:latin typeface="Arial" panose="020B0604020202020204" pitchFamily="34" charset="0"/>
            </a:endParaRPr>
          </a:p>
        </p:txBody>
      </p:sp>
      <p:graphicFrame>
        <p:nvGraphicFramePr>
          <p:cNvPr id="3" name="Content Placeholder 2"/>
          <p:cNvGraphicFramePr>
            <a:graphicFrameLocks noGrp="1"/>
          </p:cNvGraphicFramePr>
          <p:nvPr>
            <p:ph idx="1"/>
          </p:nvPr>
        </p:nvGraphicFramePr>
        <p:xfrm>
          <a:off x="350357" y="757639"/>
          <a:ext cx="8853486" cy="4277360"/>
        </p:xfrm>
        <a:graphic>
          <a:graphicData uri="http://schemas.openxmlformats.org/drawingml/2006/table">
            <a:tbl>
              <a:tblPr firstRow="1" bandRow="1">
                <a:tableStyleId>{F5AB1C69-6EDB-4FF4-983F-18BD219EF322}</a:tableStyleId>
              </a:tblPr>
              <a:tblGrid>
                <a:gridCol w="2951162"/>
                <a:gridCol w="2951162"/>
                <a:gridCol w="2951162"/>
              </a:tblGrid>
              <a:tr h="4003894">
                <a:tc>
                  <a:txBody>
                    <a:bodyPr/>
                    <a:lstStyle/>
                    <a:p>
                      <a:pPr marL="173355" indent="-173355">
                        <a:spcBef>
                          <a:spcPts val="200"/>
                        </a:spcBef>
                        <a:spcAft>
                          <a:spcPts val="200"/>
                        </a:spcAft>
                        <a:buFont typeface="Arial" panose="020B0604020202020204" pitchFamily="34" charset="0"/>
                        <a:buChar char="•"/>
                      </a:pPr>
                      <a:r>
                        <a:rPr lang="en-US" b="0" dirty="0">
                          <a:solidFill>
                            <a:schemeClr val="tx1"/>
                          </a:solidFill>
                          <a:latin typeface="+mn-lt"/>
                        </a:rPr>
                        <a:t>Topology</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physical topology</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logical Topology</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Speed</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Availability</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Scalability</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Reliability</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routing table</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Central processing unit (CPU)</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Internetwork Operating System (IOS) </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volatile</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non-volatile</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Random Access Memory (RAM)</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Read</a:t>
                      </a:r>
                      <a:r>
                        <a:rPr lang="en-US" b="0" baseline="0" dirty="0">
                          <a:solidFill>
                            <a:schemeClr val="tx1"/>
                          </a:solidFill>
                          <a:latin typeface="+mn-lt"/>
                        </a:rPr>
                        <a:t>-Only Memory (ROM)</a:t>
                      </a:r>
                      <a:endParaRPr lang="en-US"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Non-Volatile Random Access Memory (NVRAM)</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Flash</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static routes</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dynamic routing protocols </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Process switching </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Fast switching </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fast-switching cache</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Cisco Express Forwarding (CEF)</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Forwarding Information Base (FIB)</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adjacency table </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voice over IP (VoIP) phones</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wireless access points (WAPs)</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Gateway of Last Resort</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endParaRPr lang="en-US" sz="14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production environment</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USB-to-RS-232 compatible serial port adapter </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USB Type-A to USB Type-B (mini-B USB) </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switched virtual interface (SVI)</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High-Speed WAN Interface Card (HWIC) slots </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IPv6 link-local address </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IPv6 global unicast address</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EUI-64 </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loopback interface</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ICMPv6 Neighbor Solicitation and Neighbor Advertisement messages</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neighbor cache</a:t>
                      </a:r>
                      <a:endParaRPr lang="en-US" sz="1400" b="0" kern="1200" dirty="0">
                        <a:solidFill>
                          <a:schemeClr val="tx1"/>
                        </a:solidFill>
                        <a:latin typeface="+mn-lt"/>
                        <a:ea typeface="+mn-ea"/>
                        <a:cs typeface="+mn-cs"/>
                      </a:endParaRPr>
                    </a:p>
                    <a:p>
                      <a:pPr marL="173355" indent="-173355" algn="l" defTabSz="685800" rtl="0" eaLnBrk="1" latinLnBrk="0" hangingPunct="1">
                        <a:spcBef>
                          <a:spcPts val="200"/>
                        </a:spcBef>
                        <a:spcAft>
                          <a:spcPts val="200"/>
                        </a:spcAft>
                        <a:buFont typeface="Arial" panose="020B0604020202020204" pitchFamily="34" charset="0"/>
                        <a:buChar char="•"/>
                      </a:pPr>
                      <a:endParaRPr lang="en-US" sz="14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pPr eaLnBrk="1" hangingPunct="1"/>
            <a:r>
              <a:rPr lang="en-US" sz="1400" dirty="0">
                <a:latin typeface="Arial" panose="020B0604020202020204" pitchFamily="34" charset="0"/>
              </a:rPr>
              <a:t>Chapter 1</a:t>
            </a:r>
            <a:br>
              <a:rPr lang="en-US" dirty="0">
                <a:latin typeface="Arial" panose="020B0604020202020204" pitchFamily="34" charset="0"/>
              </a:rPr>
            </a:br>
            <a:r>
              <a:rPr lang="en-US" dirty="0">
                <a:latin typeface="Arial" panose="020B0604020202020204" pitchFamily="34" charset="0"/>
              </a:rPr>
              <a:t>New Terms and Commands (Cont.)</a:t>
            </a:r>
            <a:endParaRPr lang="en-US" dirty="0">
              <a:latin typeface="Arial" panose="020B0604020202020204" pitchFamily="34" charset="0"/>
            </a:endParaRPr>
          </a:p>
        </p:txBody>
      </p:sp>
      <p:graphicFrame>
        <p:nvGraphicFramePr>
          <p:cNvPr id="3" name="Content Placeholder 2"/>
          <p:cNvGraphicFramePr>
            <a:graphicFrameLocks noGrp="1"/>
          </p:cNvGraphicFramePr>
          <p:nvPr>
            <p:ph idx="1"/>
          </p:nvPr>
        </p:nvGraphicFramePr>
        <p:xfrm>
          <a:off x="144463" y="798513"/>
          <a:ext cx="8853486" cy="2682240"/>
        </p:xfrm>
        <a:graphic>
          <a:graphicData uri="http://schemas.openxmlformats.org/drawingml/2006/table">
            <a:tbl>
              <a:tblPr firstRow="1" bandRow="1">
                <a:tableStyleId>{F5AB1C69-6EDB-4FF4-983F-18BD219EF322}</a:tableStyleId>
              </a:tblPr>
              <a:tblGrid>
                <a:gridCol w="2951162"/>
                <a:gridCol w="2951162"/>
                <a:gridCol w="2951162"/>
              </a:tblGrid>
              <a:tr h="370840">
                <a:tc>
                  <a:txBody>
                    <a:bodyPr/>
                    <a:lstStyle/>
                    <a:p>
                      <a:pPr marL="173355" indent="-173355">
                        <a:spcBef>
                          <a:spcPts val="200"/>
                        </a:spcBef>
                        <a:spcAft>
                          <a:spcPts val="200"/>
                        </a:spcAft>
                        <a:buFont typeface="Arial" panose="020B0604020202020204" pitchFamily="34" charset="0"/>
                        <a:buChar char="•"/>
                      </a:pPr>
                      <a:r>
                        <a:rPr lang="en-US" b="0" dirty="0">
                          <a:solidFill>
                            <a:schemeClr val="tx1"/>
                          </a:solidFill>
                          <a:latin typeface="+mn-lt"/>
                        </a:rPr>
                        <a:t>administrative distance (AD) </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Directly connected routes </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Remote routes </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Local Route interfaces </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Directly connected interfaces </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default static route </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metric</a:t>
                      </a: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r>
                        <a:rPr lang="en-US" b="0" dirty="0">
                          <a:solidFill>
                            <a:schemeClr val="tx1"/>
                          </a:solidFill>
                          <a:latin typeface="+mn-lt"/>
                        </a:rPr>
                        <a:t>equal cost load balancing</a:t>
                      </a:r>
                      <a:endParaRPr lang="en-US" b="0" dirty="0">
                        <a:solidFill>
                          <a:schemeClr val="tx1"/>
                        </a:solidFill>
                        <a:latin typeface="+mn-lt"/>
                      </a:endParaRPr>
                    </a:p>
                    <a:p>
                      <a:pPr marL="0" indent="0">
                        <a:spcBef>
                          <a:spcPts val="200"/>
                        </a:spcBef>
                        <a:spcAft>
                          <a:spcPts val="200"/>
                        </a:spcAft>
                        <a:buFont typeface="Arial" panose="020B0604020202020204" pitchFamily="34" charset="0"/>
                        <a:buNone/>
                      </a:pPr>
                      <a:endParaRPr lang="en-US" b="0" dirty="0">
                        <a:solidFill>
                          <a:schemeClr val="tx1"/>
                        </a:solidFill>
                        <a:latin typeface="+mn-lt"/>
                      </a:endParaRPr>
                    </a:p>
                    <a:p>
                      <a:pPr marL="173355" indent="-173355">
                        <a:spcBef>
                          <a:spcPts val="200"/>
                        </a:spcBef>
                        <a:spcAft>
                          <a:spcPts val="200"/>
                        </a:spcAft>
                        <a:buFont typeface="Arial" panose="020B0604020202020204" pitchFamily="34" charset="0"/>
                        <a:buChar char="•"/>
                      </a:pPr>
                      <a:endParaRPr lang="en-US"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355" indent="-173355" algn="l" defTabSz="685800" rtl="0" eaLnBrk="1" latinLnBrk="0" hangingPunct="1">
                        <a:spcBef>
                          <a:spcPts val="200"/>
                        </a:spcBef>
                        <a:spcAft>
                          <a:spcPts val="200"/>
                        </a:spcAft>
                        <a:buFont typeface="Arial" panose="020B0604020202020204" pitchFamily="34" charset="0"/>
                        <a:buChar char="•"/>
                      </a:pPr>
                      <a:endParaRPr lang="en-US" sz="14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355" indent="-173355" algn="l" defTabSz="685800" rtl="0" eaLnBrk="1" latinLnBrk="0" hangingPunct="1">
                        <a:spcBef>
                          <a:spcPts val="200"/>
                        </a:spcBef>
                        <a:spcAft>
                          <a:spcPts val="200"/>
                        </a:spcAft>
                        <a:buFont typeface="Arial" panose="020B0604020202020204" pitchFamily="34" charset="0"/>
                        <a:buChar char="•"/>
                      </a:pPr>
                      <a:endParaRPr lang="en-US" sz="14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p:wipe/>
  </p:transition>
</p:sld>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0</TotalTime>
  <Words>35712</Words>
  <Application>WPS Presentation</Application>
  <PresentationFormat>On-screen Show (16:9)</PresentationFormat>
  <Paragraphs>671</Paragraphs>
  <Slides>72</Slides>
  <Notes>71</Notes>
  <HiddenSlides>5</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72</vt:i4>
      </vt:variant>
    </vt:vector>
  </HeadingPairs>
  <TitlesOfParts>
    <vt:vector size="88" baseType="lpstr">
      <vt:lpstr>Arial</vt:lpstr>
      <vt:lpstr>SimSun</vt:lpstr>
      <vt:lpstr>Wingdings</vt:lpstr>
      <vt:lpstr>MS PGothic</vt:lpstr>
      <vt:lpstr>CiscoSans Thin</vt:lpstr>
      <vt:lpstr>Siyam Rupali</vt:lpstr>
      <vt:lpstr>CiscoSans</vt:lpstr>
      <vt:lpstr>CiscoSans</vt:lpstr>
      <vt:lpstr>CiscoSans ExtraLight</vt:lpstr>
      <vt:lpstr>Arial</vt:lpstr>
      <vt:lpstr>CiscoSans ExtraLight</vt:lpstr>
      <vt:lpstr>Microsoft YaHei</vt:lpstr>
      <vt:lpstr>Arial Unicode MS</vt:lpstr>
      <vt:lpstr>Calibri</vt:lpstr>
      <vt:lpstr>Wingdings</vt:lpstr>
      <vt:lpstr>Default Theme</vt:lpstr>
      <vt:lpstr>Chapter 1: Routing Concepts</vt:lpstr>
      <vt:lpstr>Chapter 1: Best Practices</vt:lpstr>
      <vt:lpstr>Chapter 1: Best Practices (Cont.)</vt:lpstr>
      <vt:lpstr>Chapter 1: Best Practices (Cont.)</vt:lpstr>
      <vt:lpstr>Chapter 1 - Sections &amp; Objectives</vt:lpstr>
      <vt:lpstr>1.1 Router Initial Configuration</vt:lpstr>
      <vt:lpstr>Router Functions Characteristics of a Network</vt:lpstr>
      <vt:lpstr>Router Functions Characteristics of a Network (Cont.)</vt:lpstr>
      <vt:lpstr>Router Functions Why Routing?</vt:lpstr>
      <vt:lpstr>Router Functions Routers Are Computers</vt:lpstr>
      <vt:lpstr>Router Functions Routers Are Computers (Cont.)</vt:lpstr>
      <vt:lpstr>Router Functions Routers Interconnect Networks</vt:lpstr>
      <vt:lpstr>Router Functions Routers Choose Best Paths</vt:lpstr>
      <vt:lpstr>Router Functions Packet Forwarding Mechanisms</vt:lpstr>
      <vt:lpstr>Router Functions Packet Forwarding Mechanisms (Cont.)</vt:lpstr>
      <vt:lpstr>Router Functions Packet Tracer – Using Traceroute to Discover the Network </vt:lpstr>
      <vt:lpstr>Router Functions Lab – Mapping the Internet</vt:lpstr>
      <vt:lpstr>Connect Devices Connect to a Network</vt:lpstr>
      <vt:lpstr>Connect Devices Connect to a Network (Cont.)</vt:lpstr>
      <vt:lpstr>Connect Devices Connect to a Network (Cont.)</vt:lpstr>
      <vt:lpstr>Connect Devices Default Gateways</vt:lpstr>
      <vt:lpstr>Connect Devices Document Network Addressing</vt:lpstr>
      <vt:lpstr>Connect Devices Enable IP on a Host</vt:lpstr>
      <vt:lpstr>Connect Devices Device LEDs</vt:lpstr>
      <vt:lpstr>Connect Devices Console Access</vt:lpstr>
      <vt:lpstr>Connect Devices Enable IP on a Switch</vt:lpstr>
      <vt:lpstr>Connect Devices Packet Tracer – Documenting the Network</vt:lpstr>
      <vt:lpstr>Router Basic Settings Configure Basic Router Settings </vt:lpstr>
      <vt:lpstr>Router Basic Settings Configure an IPv4 Router Interface</vt:lpstr>
      <vt:lpstr>Router Basic Settings Configure an IPv6 Router Interface</vt:lpstr>
      <vt:lpstr>Router Basic Settings Configure an IPv6 Router Interface (Cont.)</vt:lpstr>
      <vt:lpstr>Router Basic Settings Configure an IPv4 Loopback Interface</vt:lpstr>
      <vt:lpstr>Router Basic Settings Packet Tracer – Configuring IPv4 and IPv6 Interfaces</vt:lpstr>
      <vt:lpstr>Verify Connectivity of Directly Connected Networks Verify Interface Settings</vt:lpstr>
      <vt:lpstr>Verify Connectivity of Directly Connected Networks Verify IPv6 Interface Settings</vt:lpstr>
      <vt:lpstr>Verify Connectivity of Directly Connected Networks Filter Show Command Output</vt:lpstr>
      <vt:lpstr>Verify Connectivity of Directly Connected Networks Command History Feature</vt:lpstr>
      <vt:lpstr>Verify Connectivity of Directly Connected Networks Packet Tracer – Configuring and Verifying a Small Network </vt:lpstr>
      <vt:lpstr>Verify Connectivity of Directly Connected Networks Lab – Configuring Basic Router Settings with IOS CLI</vt:lpstr>
      <vt:lpstr>1.2 Routing Decisions</vt:lpstr>
      <vt:lpstr>Switching Packets Between Networks Router Switching Function</vt:lpstr>
      <vt:lpstr>Switching Packets Between Networks Router Switching Function (Cont.)</vt:lpstr>
      <vt:lpstr>Switching Packets Between Networks Send a Packet</vt:lpstr>
      <vt:lpstr>Switching Packets Between Networks Forward to the Next Hop</vt:lpstr>
      <vt:lpstr>Switching Packets Between Networks Forward to the Next Hop (Cont.)</vt:lpstr>
      <vt:lpstr>Switching Packets Between Networks Packet Routing</vt:lpstr>
      <vt:lpstr>Switching Packets Between Networks Packet Routing (Cont.)</vt:lpstr>
      <vt:lpstr>Switching Packets Between Networks Reach the Destination</vt:lpstr>
      <vt:lpstr>Path Determination Routing Decisions</vt:lpstr>
      <vt:lpstr>Path Determination Best Path</vt:lpstr>
      <vt:lpstr>Path Determination Load Balancing</vt:lpstr>
      <vt:lpstr>Path Determination Administrative Distance</vt:lpstr>
      <vt:lpstr>1.3 Router Operation</vt:lpstr>
      <vt:lpstr>Analyze the Routing Table The Routing Table</vt:lpstr>
      <vt:lpstr>Analyze the Routing Table Routing Table Sources</vt:lpstr>
      <vt:lpstr>Analyze the Routing Table Remote Network Routing Entries</vt:lpstr>
      <vt:lpstr>Directly Connected Routes Directly Connected Interfaces</vt:lpstr>
      <vt:lpstr>Directly Connected Routes Directly Connected Routing Table Entries</vt:lpstr>
      <vt:lpstr>Directly Connected Routes Directly Connected Examples</vt:lpstr>
      <vt:lpstr>Directly Connected Routes Directly Connected IPv6 Example</vt:lpstr>
      <vt:lpstr>Directly Connected Routes Packet Tracer – Investigating Directly Connected Routes</vt:lpstr>
      <vt:lpstr>Statically Learned Routes Static Routes</vt:lpstr>
      <vt:lpstr>Statically Learned Routes Static Routes (Cont.)</vt:lpstr>
      <vt:lpstr>Statically Learned Routes Static Route Examples</vt:lpstr>
      <vt:lpstr>Statically Learned Routes Static IPv6 Route Examples</vt:lpstr>
      <vt:lpstr>Dynamic Routing Protocols Dynamic Routing</vt:lpstr>
      <vt:lpstr>Dynamic Routing Protocols IPv4 Routing Protocols</vt:lpstr>
      <vt:lpstr>1.4 Summary</vt:lpstr>
      <vt:lpstr>Conclusion Chapter 2: Routing Concepts</vt:lpstr>
      <vt:lpstr>Chapter 1 New Terms and Commands</vt:lpstr>
      <vt:lpstr>Chapter 1 New Terms and Commands (Cont.)</vt:lpstr>
      <vt:lpstr>PowerPoint 演示文稿</vt:lpstr>
    </vt:vector>
  </TitlesOfParts>
  <Company>Cisco Systems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PROSENJIT MONDOL</cp:lastModifiedBy>
  <cp:revision>468</cp:revision>
  <dcterms:created xsi:type="dcterms:W3CDTF">2016-08-22T22:27:00Z</dcterms:created>
  <dcterms:modified xsi:type="dcterms:W3CDTF">2026-09-14T04:07:15Z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ICV">
    <vt:lpwstr>88B22D0532AA4044A4A95711941D8DC2_12</vt:lpwstr>
  </property>
  <property fmtid="{D5CDD505-2E9C-101B-9397-08002B2CF9AE}" pid="9" name="KSOProductBuildVer">
    <vt:lpwstr>1033-12.2.0.20323</vt:lpwstr>
  </property>
</Properties>
</file>