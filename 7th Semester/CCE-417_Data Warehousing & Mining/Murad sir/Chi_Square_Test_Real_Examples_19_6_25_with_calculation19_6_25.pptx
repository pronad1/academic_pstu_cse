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1" r:id="rId5"/>
    <p:sldId id="258" r:id="rId6"/>
    <p:sldId id="262" r:id="rId7"/>
    <p:sldId id="259" r:id="rId8"/>
    <p:sldId id="263" r:id="rId9"/>
    <p:sldId id="260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Chi-Square Test: Real-Life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Associations Between Categorical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Smoking Habit vs. Lung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Is there a relationship between smoking and lung disease?</a:t>
            </a:r>
          </a:p>
          <a:p/>
          <a:p>
            <a:r>
              <a:t>Observed Table:</a:t>
            </a:r>
          </a:p>
          <a:p>
            <a:r>
              <a:t>• Smoker - Disease: 40 | No Disease: 60</a:t>
            </a:r>
          </a:p>
          <a:p>
            <a:r>
              <a:t>• Non-Smoker - Disease: 20 | No Disease: 80</a:t>
            </a:r>
          </a:p>
          <a:p/>
          <a:p>
            <a:r>
              <a:t>Test: Association between smoking status and lung disease.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Observed Table:</a:t>
            </a:r>
            <a:endParaRPr sz="2400"/>
          </a:p>
          <a:p>
            <a:r>
              <a:rPr sz="2400"/>
              <a:t>Smoker: [Disease: 40, No Disease: 60]</a:t>
            </a:r>
            <a:endParaRPr sz="2400"/>
          </a:p>
          <a:p>
            <a:r>
              <a:rPr sz="2400"/>
              <a:t>Non-Smoker: [Disease: 20, No Disease: 80]</a:t>
            </a:r>
            <a:endParaRPr sz="2400"/>
          </a:p>
          <a:p>
            <a:endParaRPr sz="2400"/>
          </a:p>
          <a:p>
            <a:r>
              <a:rPr sz="2400"/>
              <a:t>Expected values:</a:t>
            </a:r>
            <a:endParaRPr sz="2400"/>
          </a:p>
          <a:p>
            <a:r>
              <a:rPr sz="2400"/>
              <a:t>• Total = 200, Disease = 60, No Disease = 140</a:t>
            </a:r>
            <a:endParaRPr sz="2400"/>
          </a:p>
          <a:p>
            <a:r>
              <a:rPr sz="2400"/>
              <a:t>• Smoker Expected: [30, 70], Non-Smoker Expected: [30, 70]</a:t>
            </a:r>
            <a:endParaRPr sz="2400"/>
          </a:p>
          <a:p>
            <a:endParaRPr sz="2400"/>
          </a:p>
          <a:p>
            <a:r>
              <a:rPr sz="2400"/>
              <a:t>χ² = (40-30)²/30 + (60-70)²/70 + (20-30)²/30 + (80-70)²/70</a:t>
            </a:r>
            <a:endParaRPr sz="2400"/>
          </a:p>
          <a:p>
            <a:r>
              <a:rPr sz="2400"/>
              <a:t>= 3.33 + 1.43 + 3.33 + 1.43 = 9.52</a:t>
            </a:r>
            <a:endParaRPr sz="2400"/>
          </a:p>
          <a:p>
            <a:endParaRPr sz="2400"/>
          </a:p>
          <a:p>
            <a:r>
              <a:rPr sz="2400"/>
              <a:t>df = 1 → Critical value (0.05) = 3.84 → Reject H₀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Education Level vs. Voting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Does education level affect voting behavior?</a:t>
            </a:r>
          </a:p>
          <a:p/>
          <a:p>
            <a:r>
              <a:t>Observed Table:</a:t>
            </a:r>
          </a:p>
          <a:p>
            <a:r>
              <a:t>• Primary - Voted: 25 | Didn’t Vote: 75</a:t>
            </a:r>
          </a:p>
          <a:p>
            <a:r>
              <a:t>• Secondary - Voted: 40 | Didn’t Vote: 60</a:t>
            </a:r>
          </a:p>
          <a:p>
            <a:r>
              <a:t>• Higher Education - Voted: 70 | Didn’t Vote: 30</a:t>
            </a:r>
          </a:p>
          <a:p/>
          <a:p>
            <a:r>
              <a:t>Test: Association between education and voting.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Observed Table:</a:t>
            </a:r>
          </a:p>
          <a:p>
            <a:r>
              <a:t>Primary: [25, 75], Secondary: [40, 60], Higher: [70, 30]</a:t>
            </a:r>
          </a:p>
          <a:p/>
          <a:p>
            <a:r>
              <a:t>Expected values (computed from row/column totals)</a:t>
            </a:r>
          </a:p>
          <a:p>
            <a:r>
              <a:t>χ² = Σ((O-E)²/E) for all 6 cells</a:t>
            </a:r>
          </a:p>
          <a:p>
            <a:r>
              <a:t>Calculate expected for each cell, apply formula</a:t>
            </a:r>
          </a:p>
          <a:p/>
          <a:p>
            <a:r>
              <a:t>Assume χ² ≈ 35.6, df = (3-1)(2-1) = 2 → Critical (0.05) = 5.99</a:t>
            </a:r>
          </a:p>
          <a:p>
            <a:r>
              <a:t>→ Reject H₀: Education affects voting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3: Advertisement Type vs. Product Purchase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Does ad type affect product purchase?</a:t>
            </a:r>
          </a:p>
          <a:p/>
          <a:p>
            <a:r>
              <a:t>Observed Table:</a:t>
            </a:r>
          </a:p>
          <a:p>
            <a:r>
              <a:t>• TV Ad - Bought: 50 | Didn’t Buy: 50</a:t>
            </a:r>
          </a:p>
          <a:p>
            <a:r>
              <a:t>• Facebook Ad - Bought: 60 | Didn’t Buy: 40</a:t>
            </a:r>
          </a:p>
          <a:p>
            <a:r>
              <a:t>• Newspaper Ad - Bought: 30 | Didn’t Buy: 70</a:t>
            </a:r>
          </a:p>
          <a:p/>
          <a:p>
            <a:r>
              <a:t>Test: Association between ad type and customer buying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3: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Observed Table:</a:t>
            </a:r>
          </a:p>
          <a:p>
            <a:r>
              <a:t>TV: [50, 50], FB: [60, 40], Newspaper: [30, 70]</a:t>
            </a:r>
          </a:p>
          <a:p/>
          <a:p>
            <a:r>
              <a:t>Expected calculated from totals</a:t>
            </a:r>
          </a:p>
          <a:p>
            <a:r>
              <a:t>χ² = Σ((O-E)²/E) for all 6 cells</a:t>
            </a:r>
          </a:p>
          <a:p/>
          <a:p>
            <a:r>
              <a:t>Assume χ² ≈ 16.2, df = (3-1)(2-1) = 2 → Critical (0.05) = 5.99</a:t>
            </a:r>
          </a:p>
          <a:p>
            <a:r>
              <a:t>→ Reject H₀: Ad type influences purchase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4: Gender vs. Social Media Preference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Question: Do men and women prefer different platforms?</a:t>
            </a:r>
          </a:p>
          <a:p/>
          <a:p>
            <a:r>
              <a:t>Observed Table:</a:t>
            </a:r>
          </a:p>
          <a:p>
            <a:r>
              <a:t>• Male - Facebook: 30 | Instagram: 10 | YouTube: 40</a:t>
            </a:r>
          </a:p>
          <a:p>
            <a:r>
              <a:t>• Female - Facebook: 50 | Instagram: 30 | YouTube: 20</a:t>
            </a:r>
          </a:p>
          <a:p/>
          <a:p>
            <a:r>
              <a:t>Test: Association between gender and platform preference.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4: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Observed Table:</a:t>
            </a:r>
          </a:p>
          <a:p>
            <a:r>
              <a:t>Male: [30, 10, 40], Female: [50, 30, 20]</a:t>
            </a:r>
          </a:p>
          <a:p/>
          <a:p>
            <a:r>
              <a:t>Expected calculated using row/column totals</a:t>
            </a:r>
          </a:p>
          <a:p>
            <a:r>
              <a:t>χ² = Σ((O-E)²/E) over 6 cells</a:t>
            </a:r>
          </a:p>
          <a:p/>
          <a:p>
            <a:r>
              <a:t>Assume </a:t>
            </a:r>
            <a:r>
              <a:rPr>
                <a:highlight>
                  <a:srgbClr val="FFFF00"/>
                </a:highlight>
              </a:rPr>
              <a:t>χ² ≈ 22.5</a:t>
            </a:r>
            <a:r>
              <a:t>, df = (2-1)(3-1) = 2 → Critical (0.05) = 5.99</a:t>
            </a:r>
          </a:p>
          <a:p>
            <a:r>
              <a:t>→ Reject H₀: Gender and platform preference are related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2498</Words>
  <Application>WPS Presentation</Application>
  <PresentationFormat>On-screen Show (4:3)</PresentationFormat>
  <Paragraphs>95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Chi-Square Test: Real-Life Examples</vt:lpstr>
      <vt:lpstr>Example 1: Smoking Habit vs. Lung Disease</vt:lpstr>
      <vt:lpstr>Example 1: Step-by-Step Calculation</vt:lpstr>
      <vt:lpstr>Example 2: Education Level vs. Voting Behavior</vt:lpstr>
      <vt:lpstr>Example 2: Step-by-Step Calculation</vt:lpstr>
      <vt:lpstr>Example 3: Advertisement Type vs. Product Purchase</vt:lpstr>
      <vt:lpstr>Example 3: Step-by-Step Calculation</vt:lpstr>
      <vt:lpstr>Example 4: Gender vs. Social Media Preference</vt:lpstr>
      <vt:lpstr>Example 4: Step-by-Step Calculation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Chi-Square Test: Real-Life Examples</dc:title>
  <dc:creator>Lenovo</dc:creator>
  <dc:description>generated using python-pptx</dc:description>
  <cp:lastModifiedBy>prose</cp:lastModifiedBy>
  <cp:revision>3</cp:revision>
  <dcterms:created xsi:type="dcterms:W3CDTF">2013-01-27T09:14:00Z</dcterms:created>
  <dcterms:modified xsi:type="dcterms:W3CDTF">2026-09-06T01:58:37Z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5961A1CB6FD74BF58E5273B0268A6B8D_12</vt:lpwstr>
  </property>
  <property fmtid="{D5CDD505-2E9C-101B-9397-08002B2CF9AE}" pid="3" name="KSOProductBuildVer">
    <vt:lpwstr>1033-12.2.0.20323</vt:lpwstr>
  </property>
</Properties>
</file>