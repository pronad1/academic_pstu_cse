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JetBrains Mono" panose="020B0604020202020204" charset="0"/>
      <p:regular r:id="rId19"/>
      <p:bold r:id="rId20"/>
      <p:italic r:id="rId21"/>
      <p:boldItalic r:id="rId22"/>
    </p:embeddedFont>
    <p:embeddedFont>
      <p:font typeface="Oswald" panose="00000500000000000000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40F95A-6B00-4B2E-9FDB-71B46440A9DA}">
  <a:tblStyle styleId="{5640F95A-6B00-4B2E-9FDB-71B46440A9D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1362" y="4960590"/>
            <a:ext cx="562927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85523" y="2364134"/>
            <a:ext cx="76209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THE BISECTION METHOD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583334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robust, "brute-force" numerical approach to finding roots in engineering equations.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43587" y="1544984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E04DD4-2C8F-1F69-96EB-8852BFA1AC9E}"/>
              </a:ext>
            </a:extLst>
          </p:cNvPr>
          <p:cNvSpPr txBox="1"/>
          <p:nvPr/>
        </p:nvSpPr>
        <p:spPr>
          <a:xfrm>
            <a:off x="4417140" y="5715922"/>
            <a:ext cx="3357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Prosenjit Mondol</a:t>
            </a:r>
          </a:p>
          <a:p>
            <a:pPr algn="ctr"/>
            <a:r>
              <a:rPr lang="en-US" sz="1800" b="1" dirty="0">
                <a:solidFill>
                  <a:schemeClr val="bg1"/>
                </a:solidFill>
              </a:rPr>
              <a:t>ID:- 2102049 Reg:-10176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3360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051869"/>
            <a:ext cx="5229225" cy="57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614862"/>
            <a:ext cx="5229225" cy="54381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WHY DO WE NEED THIS?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1975544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THE ANALYTICAL TRAP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2556569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 high school algebra, we solve nice, clean equations: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38147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But real-world engineering equations are rarely this friendly. Consider this transcendental equation: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534918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cannot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isolate $x$ using standard algebra. We need a numerical approximation.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2301924"/>
            <a:ext cx="5210175" cy="34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THE INTUITION: "HIGH-LOW" GAME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23925" y="2143125"/>
            <a:ext cx="477059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THE LOGIC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23925" y="2867025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Imagine I pick a number between 1 and 100.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39112" y="2300287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958137" y="4300537"/>
            <a:ext cx="2180272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DIVIDE &amp; CONQUER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24650" y="5024437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Bisection method applies this exact logic to find where a function crosses zero.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3925" y="346710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guess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I say "Too High".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23925" y="386715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know the answer is between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 and 50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23925" y="426720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guess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25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I say "Too Low".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3925" y="466725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You've just halved the search space twice.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35242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39243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3243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3925" y="472440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3360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371975"/>
            <a:ext cx="52292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MATHEMATICAL FOUNDATION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81025" y="2190750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INTERMEDIATE VALUE THEOREM (IVT)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81025" y="277177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method relies on a simple mathematical truth: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326707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"If a continuous function $f(x)$ is positive at one point and negative at another, it </a:t>
            </a:r>
            <a:r>
              <a:rPr lang="en-US" sz="1500" b="1" i="1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must</a:t>
            </a: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cross zero somewhere in between."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3267075"/>
            <a:ext cx="3810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51339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"sign change" confirms a root exists in the interval $[a, b]$.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1426" y="2143125"/>
            <a:ext cx="4689723" cy="379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1037"/>
            <a:ext cx="3486150" cy="337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51037"/>
            <a:ext cx="3486150" cy="337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51037"/>
            <a:ext cx="3486150" cy="337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THE ALGORITHM: 3 SIMPLE STEPS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163955" y="3446412"/>
            <a:ext cx="232029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1. CHOOSE INTERVAL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23925" y="4170312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Pick two initial guesses, $a$ and $b$, such that $f(a)$ and $f(b)$ have opposite signs.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553432" y="3446412"/>
            <a:ext cx="108513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2. BISECT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95825" y="4170312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Calculate the midpoint $c$. This is your new best guess for the root.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707755" y="3446412"/>
            <a:ext cx="232029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3. UPDATE &amp; REPEAT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467725" y="4170312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If $f(a) \cdot f(c) &lt; 0$, the root is in the left half. Set $b = c$. Otherwise, set $a = c$.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4550" y="27415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9300" y="2741562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3360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VISUALIZING THE PROCESS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2794" y="2143125"/>
            <a:ext cx="4065686" cy="37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6381750" y="2447925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ZEROING IN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381750" y="302895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Notice how the brackets $[a, b]$ clearly trap the root.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81750" y="48768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repeat this until the interval is tinier than our required tolerance (e.g., 0.0001).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348615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Iteration 1: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gap is large.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381750" y="393382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Iteration 2: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gap is cut in half.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381750" y="438150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Iteration 3: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gap is quartered.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943475"/>
            <a:ext cx="4334767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1025" y="771525"/>
            <a:ext cx="455150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REAL WORLD: FLUID MECHANICS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81025" y="2266950"/>
            <a:ext cx="433476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81025" y="2667000"/>
            <a:ext cx="455150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THE COLEBROOK EQUATION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81025" y="3390900"/>
            <a:ext cx="433476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Civil and Mechanical engineers use this equation to calculate friction ($f$) inside turbulent pipes. It's crucial for designing pump systems.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6048375"/>
            <a:ext cx="433476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Notice that $f$ is on both the left and right sides inside a logarithm. You cannot solve for $f$ algebraically.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Bisection is the standard way to solve this.</a:t>
            </a:r>
            <a:endParaRPr/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7292" y="9525"/>
            <a:ext cx="669503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EXAMPLE: SOLVING $X^3 - X - 2 = 0$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52435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Notice how the midpoint </a:t>
            </a:r>
            <a:r>
              <a:rPr lang="en-US" sz="1500" b="1" i="1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slowly converging towards the true root (~1.521).</a:t>
            </a:r>
            <a:endParaRPr/>
          </a:p>
        </p:txBody>
      </p:sp>
      <p:graphicFrame>
        <p:nvGraphicFramePr>
          <p:cNvPr id="194" name="Google Shape;194;p20"/>
          <p:cNvGraphicFramePr/>
          <p:nvPr/>
        </p:nvGraphicFramePr>
        <p:xfrm>
          <a:off x="581025" y="2386012"/>
          <a:ext cx="11029950" cy="2571750"/>
        </p:xfrm>
        <a:graphic>
          <a:graphicData uri="http://schemas.openxmlformats.org/drawingml/2006/table">
            <a:tbl>
              <a:tblPr firstRow="1" bandRow="1">
                <a:noFill/>
                <a:tableStyleId>{5640F95A-6B00-4B2E-9FDB-71B46440A9DA}</a:tableStyleId>
              </a:tblPr>
              <a:tblGrid>
                <a:gridCol w="10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3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 (Low)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 (High)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 (Midpoint)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f(c)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2.0000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-0.125 (Negative)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Replace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2.0000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1.7500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+1.609 (Positive)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Replace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1.7500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1.6250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+0.666 (Positive)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Replace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1.6250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1.5625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+0.252 (Positive)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Replace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" name="Google Shape;195;p20"/>
          <p:cNvSpPr/>
          <p:nvPr/>
        </p:nvSpPr>
        <p:spPr>
          <a:xfrm>
            <a:off x="581025" y="2881312"/>
            <a:ext cx="101128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592312" y="2881312"/>
            <a:ext cx="146238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054697" y="2881312"/>
            <a:ext cx="16127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667398" y="2881312"/>
            <a:ext cx="221411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881514" y="2881312"/>
            <a:ext cx="296584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9847361" y="2881312"/>
            <a:ext cx="176361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81025" y="3409950"/>
            <a:ext cx="10112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592312" y="3409950"/>
            <a:ext cx="14623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054697" y="3409950"/>
            <a:ext cx="1612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667398" y="3409950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881514" y="3409950"/>
            <a:ext cx="29658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9847361" y="3409950"/>
            <a:ext cx="1763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81025" y="3924300"/>
            <a:ext cx="10112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1592312" y="3924300"/>
            <a:ext cx="14623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054697" y="3924300"/>
            <a:ext cx="1612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667398" y="3924300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881514" y="3924300"/>
            <a:ext cx="29658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9847361" y="3924300"/>
            <a:ext cx="1763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81025" y="4438650"/>
            <a:ext cx="10112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592312" y="4438650"/>
            <a:ext cx="14623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054697" y="4438650"/>
            <a:ext cx="1612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667398" y="4438650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881514" y="4438650"/>
            <a:ext cx="29658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847361" y="4438650"/>
            <a:ext cx="1763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00225"/>
            <a:ext cx="5229225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METHOD EVALUATION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923925" y="2143125"/>
            <a:ext cx="477059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Oswald"/>
                <a:ea typeface="Oswald"/>
                <a:cs typeface="Oswald"/>
                <a:sym typeface="Oswald"/>
              </a:rPr>
              <a:t>ADVANTAGES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24650" y="2143125"/>
            <a:ext cx="477059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43F5E"/>
                </a:solidFill>
                <a:latin typeface="Oswald"/>
                <a:ea typeface="Oswald"/>
                <a:cs typeface="Oswald"/>
                <a:sym typeface="Oswald"/>
              </a:rPr>
              <a:t>DISADVANTAGES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23925" y="282892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Guaranteed Convergence: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If the interval is correct, it will 100% find the root.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23925" y="3581400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Simple: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 calculus or derivatives required.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923925" y="402907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Error Bound: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You know exactly how accurate you are at any step.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724650" y="282892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Slow Speed: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It converges "linearly." It takes many steps to get high precision.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724650" y="3581400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Guessing Required: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You must know two initial points that bracket the root.</a:t>
            </a:r>
            <a:endParaRPr/>
          </a:p>
        </p:txBody>
      </p:sp>
      <p:pic>
        <p:nvPicPr>
          <p:cNvPr id="235" name="Google Shape;23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28860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36385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3925" y="40862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28860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24650" y="363855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3360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581025" y="581025"/>
            <a:ext cx="1158144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COMPARISON: SPEED VS. SAFETY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581025" y="14001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581025" y="2457450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BISECTION VS. NEWTON-RAPHSON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81025" y="30384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Think of Bisection as a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Tortoise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Newton-Raphson as a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Hare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67612" y="2828925"/>
            <a:ext cx="285750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857250" y="3800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962025" y="3800475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Newton-Raphson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uses the slope (derivative) to jump straight to the answer. It is extremely fast but can crash (diverge) if the function is weird.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57250" y="48577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962025" y="48577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Bisection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methodically cuts the space in half. It is slower, but it never fails.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4025741" y="581025"/>
            <a:ext cx="414051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CONCLUSION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2286000" y="2681287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Bisection method is the bedrock of numerical analysis.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2286000" y="3319462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While simpler than advanced optimization algorithms used in AI (like Gradient Descent), it teaches us the fundamental principle of computational engineering: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Iterative Refinement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2286000" y="4567237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safety and reliability matter more than raw speed, Bisection is still the engineer's choice.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305276" y="581025"/>
            <a:ext cx="11581447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8BDF8"/>
                </a:solidFill>
                <a:latin typeface="Oswald"/>
                <a:ea typeface="Oswald"/>
                <a:cs typeface="Oswald"/>
                <a:sym typeface="Oswald"/>
              </a:rPr>
              <a:t>Q &amp; A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581025" y="2466975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listening.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Widescreen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Oswald</vt:lpstr>
      <vt:lpstr>Inter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Prosenjit mondol</cp:lastModifiedBy>
  <cp:revision>1</cp:revision>
  <dcterms:modified xsi:type="dcterms:W3CDTF">2025-11-20T05:42:17Z</dcterms:modified>
</cp:coreProperties>
</file>