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Lato" panose="020F0502020204030203" pitchFamily="34" charset="0"/>
      <p:regular r:id="rId15"/>
      <p:bold r:id="rId16"/>
      <p:italic r:id="rId17"/>
      <p:boldItalic r:id="rId18"/>
    </p:embeddedFont>
    <p:embeddedFont>
      <p:font typeface="Poppins" panose="00000500000000000000"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2247900" y="1200150"/>
            <a:ext cx="7696200" cy="2857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FFFFFF"/>
                </a:solidFill>
                <a:latin typeface="Lato"/>
                <a:ea typeface="Lato"/>
                <a:cs typeface="Lato"/>
                <a:sym typeface="Lato"/>
              </a:rPr>
              <a:t>CCE 313 - Computer Networks</a:t>
            </a:r>
            <a:endParaRPr/>
          </a:p>
        </p:txBody>
      </p:sp>
      <p:sp>
        <p:nvSpPr>
          <p:cNvPr id="86" name="Google Shape;86;p13"/>
          <p:cNvSpPr txBox="1"/>
          <p:nvPr/>
        </p:nvSpPr>
        <p:spPr>
          <a:xfrm>
            <a:off x="2055494" y="1676400"/>
            <a:ext cx="8081010" cy="3028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250" b="1" i="0" u="none" strike="noStrike" cap="none">
                <a:solidFill>
                  <a:srgbClr val="FFFFFF"/>
                </a:solidFill>
                <a:latin typeface="Poppins"/>
                <a:ea typeface="Poppins"/>
                <a:cs typeface="Poppins"/>
                <a:sym typeface="Poppins"/>
              </a:rPr>
              <a:t>Analyzing DNS Queries with Wireshark</a:t>
            </a:r>
            <a:endParaRPr/>
          </a:p>
        </p:txBody>
      </p:sp>
      <p:sp>
        <p:nvSpPr>
          <p:cNvPr id="87" name="Google Shape;87;p13"/>
          <p:cNvSpPr txBox="1"/>
          <p:nvPr/>
        </p:nvSpPr>
        <p:spPr>
          <a:xfrm>
            <a:off x="2247900" y="4895850"/>
            <a:ext cx="7696200" cy="2857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FFFFFF"/>
                </a:solidFill>
                <a:latin typeface="Lato"/>
                <a:ea typeface="Lato"/>
                <a:cs typeface="Lato"/>
                <a:sym typeface="Lato"/>
              </a:rPr>
              <a:t>[Your Name] | [Your Student ID]</a:t>
            </a:r>
            <a:endParaRPr/>
          </a:p>
        </p:txBody>
      </p:sp>
      <p:sp>
        <p:nvSpPr>
          <p:cNvPr id="88" name="Google Shape;88;p13"/>
          <p:cNvSpPr txBox="1"/>
          <p:nvPr/>
        </p:nvSpPr>
        <p:spPr>
          <a:xfrm>
            <a:off x="2247900" y="5372100"/>
            <a:ext cx="7696200" cy="2857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FFFFFF"/>
                </a:solidFill>
                <a:latin typeface="Lato"/>
                <a:ea typeface="Lato"/>
                <a:cs typeface="Lato"/>
                <a:sym typeface="Lato"/>
              </a:rPr>
              <a:t>B.Sc. CSE, 5th Semester | November 17, 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4" name="Google Shape;94;p14" descr="image.png"/>
          <p:cNvPicPr preferRelativeResize="0"/>
          <p:nvPr/>
        </p:nvPicPr>
        <p:blipFill rotWithShape="1">
          <a:blip r:embed="rId4">
            <a:alphaModFix/>
          </a:blip>
          <a:srcRect/>
          <a:stretch/>
        </p:blipFill>
        <p:spPr>
          <a:xfrm>
            <a:off x="571500" y="2286000"/>
            <a:ext cx="5286375" cy="3238351"/>
          </a:xfrm>
          <a:prstGeom prst="rect">
            <a:avLst/>
          </a:prstGeom>
          <a:noFill/>
          <a:ln>
            <a:noFill/>
          </a:ln>
        </p:spPr>
      </p:pic>
      <p:pic>
        <p:nvPicPr>
          <p:cNvPr id="95" name="Google Shape;95;p14" descr="image.png"/>
          <p:cNvPicPr preferRelativeResize="0"/>
          <p:nvPr/>
        </p:nvPicPr>
        <p:blipFill rotWithShape="1">
          <a:blip r:embed="rId5">
            <a:alphaModFix/>
          </a:blip>
          <a:srcRect/>
          <a:stretch/>
        </p:blipFill>
        <p:spPr>
          <a:xfrm>
            <a:off x="6334125" y="2286000"/>
            <a:ext cx="5286375" cy="3238351"/>
          </a:xfrm>
          <a:prstGeom prst="rect">
            <a:avLst/>
          </a:prstGeom>
          <a:noFill/>
          <a:ln>
            <a:noFill/>
          </a:ln>
        </p:spPr>
      </p:pic>
      <p:sp>
        <p:nvSpPr>
          <p:cNvPr id="96" name="Google Shape;96;p14"/>
          <p:cNvSpPr txBox="1"/>
          <p:nvPr/>
        </p:nvSpPr>
        <p:spPr>
          <a:xfrm>
            <a:off x="962025" y="2676525"/>
            <a:ext cx="4730591"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A8CFFF"/>
                </a:solidFill>
                <a:latin typeface="Poppins"/>
                <a:ea typeface="Poppins"/>
                <a:cs typeface="Poppins"/>
                <a:sym typeface="Poppins"/>
              </a:rPr>
              <a:t>The Problem: Names vs. Numbers</a:t>
            </a:r>
            <a:endParaRPr/>
          </a:p>
        </p:txBody>
      </p:sp>
      <p:sp>
        <p:nvSpPr>
          <p:cNvPr id="97" name="Google Shape;97;p14"/>
          <p:cNvSpPr txBox="1"/>
          <p:nvPr/>
        </p:nvSpPr>
        <p:spPr>
          <a:xfrm>
            <a:off x="962025" y="3248025"/>
            <a:ext cx="450532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0E0E0"/>
                </a:solidFill>
                <a:latin typeface="Lato"/>
                <a:ea typeface="Lato"/>
                <a:cs typeface="Lato"/>
                <a:sym typeface="Lato"/>
              </a:rPr>
              <a:t>As humans, we remember names, like </a:t>
            </a:r>
            <a:r>
              <a:rPr lang="en-US" sz="1350" b="1" i="0" u="none" strike="noStrike" cap="none">
                <a:solidFill>
                  <a:srgbClr val="E0E0E0"/>
                </a:solidFill>
                <a:latin typeface="Lato"/>
                <a:ea typeface="Lato"/>
                <a:cs typeface="Lato"/>
                <a:sym typeface="Lato"/>
              </a:rPr>
              <a:t>google.com</a:t>
            </a:r>
            <a:r>
              <a:rPr lang="en-US" sz="1350" b="0" i="0" u="none" strike="noStrike" cap="none">
                <a:solidFill>
                  <a:srgbClr val="E0E0E0"/>
                </a:solidFill>
                <a:latin typeface="Lato"/>
                <a:ea typeface="Lato"/>
                <a:cs typeface="Lato"/>
                <a:sym typeface="Lato"/>
              </a:rPr>
              <a:t>.</a:t>
            </a:r>
            <a:endParaRPr/>
          </a:p>
        </p:txBody>
      </p:sp>
      <p:sp>
        <p:nvSpPr>
          <p:cNvPr id="98" name="Google Shape;98;p14"/>
          <p:cNvSpPr txBox="1"/>
          <p:nvPr/>
        </p:nvSpPr>
        <p:spPr>
          <a:xfrm>
            <a:off x="962025" y="3693765"/>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0E0E0"/>
                </a:solidFill>
                <a:latin typeface="Lato"/>
                <a:ea typeface="Lato"/>
                <a:cs typeface="Lato"/>
                <a:sym typeface="Lato"/>
              </a:rPr>
              <a:t>Computers and networks, however, communicate using numbers—IP addresses—like </a:t>
            </a:r>
            <a:r>
              <a:rPr lang="en-US" sz="1350" b="1" i="0" u="none" strike="noStrike" cap="none">
                <a:solidFill>
                  <a:srgbClr val="E0E0E0"/>
                </a:solidFill>
                <a:latin typeface="Lato"/>
                <a:ea typeface="Lato"/>
                <a:cs typeface="Lato"/>
                <a:sym typeface="Lato"/>
              </a:rPr>
              <a:t>142.250.190.78</a:t>
            </a:r>
            <a:r>
              <a:rPr lang="en-US" sz="1350" b="0" i="0" u="none" strike="noStrike" cap="none">
                <a:solidFill>
                  <a:srgbClr val="E0E0E0"/>
                </a:solidFill>
                <a:latin typeface="Lato"/>
                <a:ea typeface="Lato"/>
                <a:cs typeface="Lato"/>
                <a:sym typeface="Lato"/>
              </a:rPr>
              <a:t>.</a:t>
            </a:r>
            <a:endParaRPr/>
          </a:p>
        </p:txBody>
      </p:sp>
      <p:sp>
        <p:nvSpPr>
          <p:cNvPr id="99" name="Google Shape;99;p14"/>
          <p:cNvSpPr txBox="1"/>
          <p:nvPr/>
        </p:nvSpPr>
        <p:spPr>
          <a:xfrm>
            <a:off x="962025" y="4413795"/>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0E0E0"/>
                </a:solidFill>
                <a:latin typeface="Lato"/>
                <a:ea typeface="Lato"/>
                <a:cs typeface="Lato"/>
                <a:sym typeface="Lato"/>
              </a:rPr>
              <a:t>How does your browser find the right computer on the internet just by using a name?</a:t>
            </a:r>
            <a:endParaRPr/>
          </a:p>
        </p:txBody>
      </p:sp>
      <p:sp>
        <p:nvSpPr>
          <p:cNvPr id="100" name="Google Shape;100;p14"/>
          <p:cNvSpPr txBox="1"/>
          <p:nvPr/>
        </p:nvSpPr>
        <p:spPr>
          <a:xfrm>
            <a:off x="6724650" y="2676525"/>
            <a:ext cx="4730591"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A8CFFF"/>
                </a:solidFill>
                <a:latin typeface="Poppins"/>
                <a:ea typeface="Poppins"/>
                <a:cs typeface="Poppins"/>
                <a:sym typeface="Poppins"/>
              </a:rPr>
              <a:t>The Solution: DNS</a:t>
            </a:r>
            <a:endParaRPr/>
          </a:p>
        </p:txBody>
      </p:sp>
      <p:sp>
        <p:nvSpPr>
          <p:cNvPr id="101" name="Google Shape;101;p14"/>
          <p:cNvSpPr txBox="1"/>
          <p:nvPr/>
        </p:nvSpPr>
        <p:spPr>
          <a:xfrm>
            <a:off x="6724650" y="3248025"/>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0E0E0"/>
                </a:solidFill>
                <a:latin typeface="Lato"/>
                <a:ea typeface="Lato"/>
                <a:cs typeface="Lato"/>
                <a:sym typeface="Lato"/>
              </a:rPr>
              <a:t>The </a:t>
            </a:r>
            <a:r>
              <a:rPr lang="en-US" sz="1350" b="1" i="0" u="none" strike="noStrike" cap="none">
                <a:solidFill>
                  <a:srgbClr val="E0E0E0"/>
                </a:solidFill>
                <a:latin typeface="Lato"/>
                <a:ea typeface="Lato"/>
                <a:cs typeface="Lato"/>
                <a:sym typeface="Lato"/>
              </a:rPr>
              <a:t>Domain Name System (DNS)</a:t>
            </a:r>
            <a:r>
              <a:rPr lang="en-US" sz="1350" b="0" i="0" u="none" strike="noStrike" cap="none">
                <a:solidFill>
                  <a:srgbClr val="E0E0E0"/>
                </a:solidFill>
                <a:latin typeface="Lato"/>
                <a:ea typeface="Lato"/>
                <a:cs typeface="Lato"/>
                <a:sym typeface="Lato"/>
              </a:rPr>
              <a:t> is the "phonebook of the internet."</a:t>
            </a:r>
            <a:endParaRPr/>
          </a:p>
        </p:txBody>
      </p:sp>
      <p:sp>
        <p:nvSpPr>
          <p:cNvPr id="102" name="Google Shape;102;p14"/>
          <p:cNvSpPr txBox="1"/>
          <p:nvPr/>
        </p:nvSpPr>
        <p:spPr>
          <a:xfrm>
            <a:off x="6724650" y="3968055"/>
            <a:ext cx="4505325"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0E0E0"/>
                </a:solidFill>
                <a:latin typeface="Lato"/>
                <a:ea typeface="Lato"/>
                <a:cs typeface="Lato"/>
                <a:sym typeface="Lato"/>
              </a:rPr>
              <a:t>It's a global, distributed database system that translates human-friendly domain names into the machine-readable IP addresses required for network communication.</a:t>
            </a:r>
            <a:endParaRPr/>
          </a:p>
        </p:txBody>
      </p:sp>
      <p:sp>
        <p:nvSpPr>
          <p:cNvPr id="103" name="Google Shape;103;p14"/>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A8CFFF"/>
                </a:solidFill>
                <a:latin typeface="Poppins"/>
                <a:ea typeface="Poppins"/>
                <a:cs typeface="Poppins"/>
                <a:sym typeface="Poppins"/>
              </a:rPr>
              <a:t>Introduction: The Core Problem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107"/>
        <p:cNvGrpSpPr/>
        <p:nvPr/>
      </p:nvGrpSpPr>
      <p:grpSpPr>
        <a:xfrm>
          <a:off x="0" y="0"/>
          <a:ext cx="0" cy="0"/>
          <a:chOff x="0" y="0"/>
          <a:chExt cx="0" cy="0"/>
        </a:xfrm>
      </p:grpSpPr>
      <p:pic>
        <p:nvPicPr>
          <p:cNvPr id="108" name="Google Shape;108;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09" name="Google Shape;109;p15"/>
          <p:cNvSpPr txBox="1"/>
          <p:nvPr/>
        </p:nvSpPr>
        <p:spPr>
          <a:xfrm>
            <a:off x="2190750" y="238125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FFFFF"/>
                </a:solidFill>
                <a:latin typeface="Lato"/>
                <a:ea typeface="Lato"/>
                <a:cs typeface="Lato"/>
                <a:sym typeface="Lato"/>
              </a:rPr>
              <a:t>Foundation of the Internet:</a:t>
            </a:r>
            <a:r>
              <a:rPr lang="en-US" sz="1500" b="0" i="0" u="none" strike="noStrike" cap="none">
                <a:solidFill>
                  <a:srgbClr val="E0E0E0"/>
                </a:solidFill>
                <a:latin typeface="Lato"/>
                <a:ea typeface="Lato"/>
                <a:cs typeface="Lato"/>
                <a:sym typeface="Lato"/>
              </a:rPr>
              <a:t> Nearly every internet action—browsing, sending an email, or playing a game—starts with a DNS query.</a:t>
            </a:r>
            <a:endParaRPr/>
          </a:p>
        </p:txBody>
      </p:sp>
      <p:sp>
        <p:nvSpPr>
          <p:cNvPr id="110" name="Google Shape;110;p15"/>
          <p:cNvSpPr txBox="1"/>
          <p:nvPr/>
        </p:nvSpPr>
        <p:spPr>
          <a:xfrm>
            <a:off x="2190750" y="314325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FFFFF"/>
                </a:solidFill>
                <a:latin typeface="Lato"/>
                <a:ea typeface="Lato"/>
                <a:cs typeface="Lato"/>
                <a:sym typeface="Lato"/>
              </a:rPr>
              <a:t>Troubleshooting:</a:t>
            </a:r>
            <a:r>
              <a:rPr lang="en-US" sz="1500" b="0" i="0" u="none" strike="noStrike" cap="none">
                <a:solidFill>
                  <a:srgbClr val="E0E0E0"/>
                </a:solidFill>
                <a:latin typeface="Lato"/>
                <a:ea typeface="Lato"/>
                <a:cs typeface="Lato"/>
                <a:sym typeface="Lato"/>
              </a:rPr>
              <a:t> Network engineers often say, "It's always DNS." Analyzing queries helps diagnose network failures (e.g., "server not found").</a:t>
            </a:r>
            <a:endParaRPr/>
          </a:p>
        </p:txBody>
      </p:sp>
      <p:sp>
        <p:nvSpPr>
          <p:cNvPr id="111" name="Google Shape;111;p15"/>
          <p:cNvSpPr txBox="1"/>
          <p:nvPr/>
        </p:nvSpPr>
        <p:spPr>
          <a:xfrm>
            <a:off x="2190750" y="390525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FFFFF"/>
                </a:solidFill>
                <a:latin typeface="Lato"/>
                <a:ea typeface="Lato"/>
                <a:cs typeface="Lato"/>
                <a:sym typeface="Lato"/>
              </a:rPr>
              <a:t>Security:</a:t>
            </a:r>
            <a:r>
              <a:rPr lang="en-US" sz="1500" b="0" i="0" u="none" strike="noStrike" cap="none">
                <a:solidFill>
                  <a:srgbClr val="E0E0E0"/>
                </a:solidFill>
                <a:latin typeface="Lato"/>
                <a:ea typeface="Lato"/>
                <a:cs typeface="Lato"/>
                <a:sym typeface="Lato"/>
              </a:rPr>
              <a:t> DNS traffic is often unencrypted. Analyzing it can reveal security threats, like malware communicating with a "Command &amp; Control" server.</a:t>
            </a:r>
            <a:endParaRPr/>
          </a:p>
        </p:txBody>
      </p:sp>
      <p:sp>
        <p:nvSpPr>
          <p:cNvPr id="112" name="Google Shape;112;p15"/>
          <p:cNvSpPr txBox="1"/>
          <p:nvPr/>
        </p:nvSpPr>
        <p:spPr>
          <a:xfrm>
            <a:off x="2190750" y="466725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FFFFF"/>
                </a:solidFill>
                <a:latin typeface="Lato"/>
                <a:ea typeface="Lato"/>
                <a:cs typeface="Lato"/>
                <a:sym typeface="Lato"/>
              </a:rPr>
              <a:t>Performance:</a:t>
            </a:r>
            <a:r>
              <a:rPr lang="en-US" sz="1500" b="0" i="0" u="none" strike="noStrike" cap="none">
                <a:solidFill>
                  <a:srgbClr val="E0E0E0"/>
                </a:solidFill>
                <a:latin typeface="Lato"/>
                <a:ea typeface="Lato"/>
                <a:cs typeface="Lato"/>
                <a:sym typeface="Lato"/>
              </a:rPr>
              <a:t> Slow DNS resolution directly translates to slow website loading. Analysis helps identify and fix these performance bottlenecks.</a:t>
            </a:r>
            <a:endParaRPr/>
          </a:p>
        </p:txBody>
      </p:sp>
      <p:pic>
        <p:nvPicPr>
          <p:cNvPr id="113" name="Google Shape;113;p15" descr="image.png"/>
          <p:cNvPicPr preferRelativeResize="0"/>
          <p:nvPr/>
        </p:nvPicPr>
        <p:blipFill rotWithShape="1">
          <a:blip r:embed="rId4">
            <a:alphaModFix/>
          </a:blip>
          <a:srcRect/>
          <a:stretch/>
        </p:blipFill>
        <p:spPr>
          <a:xfrm>
            <a:off x="1809750" y="2428875"/>
            <a:ext cx="228600" cy="228600"/>
          </a:xfrm>
          <a:prstGeom prst="rect">
            <a:avLst/>
          </a:prstGeom>
          <a:noFill/>
          <a:ln>
            <a:noFill/>
          </a:ln>
        </p:spPr>
      </p:pic>
      <p:pic>
        <p:nvPicPr>
          <p:cNvPr id="114" name="Google Shape;114;p15" descr="image.png"/>
          <p:cNvPicPr preferRelativeResize="0"/>
          <p:nvPr/>
        </p:nvPicPr>
        <p:blipFill rotWithShape="1">
          <a:blip r:embed="rId5">
            <a:alphaModFix/>
          </a:blip>
          <a:srcRect/>
          <a:stretch/>
        </p:blipFill>
        <p:spPr>
          <a:xfrm>
            <a:off x="1809750" y="3190875"/>
            <a:ext cx="228600" cy="228600"/>
          </a:xfrm>
          <a:prstGeom prst="rect">
            <a:avLst/>
          </a:prstGeom>
          <a:noFill/>
          <a:ln>
            <a:noFill/>
          </a:ln>
        </p:spPr>
      </p:pic>
      <p:pic>
        <p:nvPicPr>
          <p:cNvPr id="115" name="Google Shape;115;p15" descr="image.png"/>
          <p:cNvPicPr preferRelativeResize="0"/>
          <p:nvPr/>
        </p:nvPicPr>
        <p:blipFill rotWithShape="1">
          <a:blip r:embed="rId6">
            <a:alphaModFix/>
          </a:blip>
          <a:srcRect/>
          <a:stretch/>
        </p:blipFill>
        <p:spPr>
          <a:xfrm>
            <a:off x="1809750" y="3952875"/>
            <a:ext cx="228600" cy="228600"/>
          </a:xfrm>
          <a:prstGeom prst="rect">
            <a:avLst/>
          </a:prstGeom>
          <a:noFill/>
          <a:ln>
            <a:noFill/>
          </a:ln>
        </p:spPr>
      </p:pic>
      <p:pic>
        <p:nvPicPr>
          <p:cNvPr id="116" name="Google Shape;116;p15" descr="image.png"/>
          <p:cNvPicPr preferRelativeResize="0"/>
          <p:nvPr/>
        </p:nvPicPr>
        <p:blipFill rotWithShape="1">
          <a:blip r:embed="rId7">
            <a:alphaModFix/>
          </a:blip>
          <a:srcRect/>
          <a:stretch/>
        </p:blipFill>
        <p:spPr>
          <a:xfrm>
            <a:off x="1809750" y="4714875"/>
            <a:ext cx="228600" cy="228600"/>
          </a:xfrm>
          <a:prstGeom prst="rect">
            <a:avLst/>
          </a:prstGeom>
          <a:noFill/>
          <a:ln>
            <a:noFill/>
          </a:ln>
        </p:spPr>
      </p:pic>
      <p:sp>
        <p:nvSpPr>
          <p:cNvPr id="117" name="Google Shape;117;p15"/>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A8CFFF"/>
                </a:solidFill>
                <a:latin typeface="Poppins"/>
                <a:ea typeface="Poppins"/>
                <a:cs typeface="Poppins"/>
                <a:sym typeface="Poppins"/>
              </a:rPr>
              <a:t>Why This Topic is Important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121"/>
        <p:cNvGrpSpPr/>
        <p:nvPr/>
      </p:nvGrpSpPr>
      <p:grpSpPr>
        <a:xfrm>
          <a:off x="0" y="0"/>
          <a:ext cx="0" cy="0"/>
          <a:chOff x="0" y="0"/>
          <a:chExt cx="0" cy="0"/>
        </a:xfrm>
      </p:grpSpPr>
      <p:pic>
        <p:nvPicPr>
          <p:cNvPr id="122" name="Google Shape;122;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3" name="Google Shape;123;p16" descr="image.png"/>
          <p:cNvPicPr preferRelativeResize="0"/>
          <p:nvPr/>
        </p:nvPicPr>
        <p:blipFill rotWithShape="1">
          <a:blip r:embed="rId4">
            <a:alphaModFix/>
          </a:blip>
          <a:srcRect/>
          <a:stretch/>
        </p:blipFill>
        <p:spPr>
          <a:xfrm>
            <a:off x="571500" y="1819275"/>
            <a:ext cx="3429000" cy="4171950"/>
          </a:xfrm>
          <a:prstGeom prst="rect">
            <a:avLst/>
          </a:prstGeom>
          <a:noFill/>
          <a:ln>
            <a:noFill/>
          </a:ln>
        </p:spPr>
      </p:pic>
      <p:pic>
        <p:nvPicPr>
          <p:cNvPr id="124" name="Google Shape;124;p16" descr="image.png"/>
          <p:cNvPicPr preferRelativeResize="0"/>
          <p:nvPr/>
        </p:nvPicPr>
        <p:blipFill rotWithShape="1">
          <a:blip r:embed="rId5">
            <a:alphaModFix/>
          </a:blip>
          <a:srcRect/>
          <a:stretch/>
        </p:blipFill>
        <p:spPr>
          <a:xfrm>
            <a:off x="4381500" y="1819275"/>
            <a:ext cx="3429000" cy="4171950"/>
          </a:xfrm>
          <a:prstGeom prst="rect">
            <a:avLst/>
          </a:prstGeom>
          <a:noFill/>
          <a:ln>
            <a:noFill/>
          </a:ln>
        </p:spPr>
      </p:pic>
      <p:pic>
        <p:nvPicPr>
          <p:cNvPr id="125" name="Google Shape;125;p16" descr="image.png"/>
          <p:cNvPicPr preferRelativeResize="0"/>
          <p:nvPr/>
        </p:nvPicPr>
        <p:blipFill rotWithShape="1">
          <a:blip r:embed="rId6">
            <a:alphaModFix/>
          </a:blip>
          <a:srcRect/>
          <a:stretch/>
        </p:blipFill>
        <p:spPr>
          <a:xfrm>
            <a:off x="8191500" y="1819275"/>
            <a:ext cx="3429000" cy="4171950"/>
          </a:xfrm>
          <a:prstGeom prst="rect">
            <a:avLst/>
          </a:prstGeom>
          <a:noFill/>
          <a:ln>
            <a:noFill/>
          </a:ln>
        </p:spPr>
      </p:pic>
      <p:sp>
        <p:nvSpPr>
          <p:cNvPr id="126" name="Google Shape;126;p16"/>
          <p:cNvSpPr txBox="1"/>
          <p:nvPr/>
        </p:nvSpPr>
        <p:spPr>
          <a:xfrm>
            <a:off x="795813" y="2828925"/>
            <a:ext cx="2980372" cy="914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A8CFFF"/>
                </a:solidFill>
                <a:latin typeface="Poppins"/>
                <a:ea typeface="Poppins"/>
                <a:cs typeface="Poppins"/>
                <a:sym typeface="Poppins"/>
              </a:rPr>
              <a:t>1. The Tool: Wireshark</a:t>
            </a:r>
            <a:endParaRPr/>
          </a:p>
        </p:txBody>
      </p:sp>
      <p:sp>
        <p:nvSpPr>
          <p:cNvPr id="127" name="Google Shape;127;p16"/>
          <p:cNvSpPr txBox="1"/>
          <p:nvPr/>
        </p:nvSpPr>
        <p:spPr>
          <a:xfrm>
            <a:off x="866775" y="4076700"/>
            <a:ext cx="2838450" cy="14287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E0E0E0"/>
                </a:solidFill>
                <a:latin typeface="Lato"/>
                <a:ea typeface="Lato"/>
                <a:cs typeface="Lato"/>
                <a:sym typeface="Lato"/>
              </a:rPr>
              <a:t>A free, open-source packet analyzer. It captures and displays all network traffic, allowing us to see individual protocols like DNS in action.</a:t>
            </a:r>
            <a:endParaRPr/>
          </a:p>
        </p:txBody>
      </p:sp>
      <p:sp>
        <p:nvSpPr>
          <p:cNvPr id="128" name="Google Shape;128;p16"/>
          <p:cNvSpPr txBox="1"/>
          <p:nvPr/>
        </p:nvSpPr>
        <p:spPr>
          <a:xfrm>
            <a:off x="4605813" y="2828925"/>
            <a:ext cx="2980372" cy="914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A8CFFF"/>
                </a:solidFill>
                <a:latin typeface="Poppins"/>
                <a:ea typeface="Poppins"/>
                <a:cs typeface="Poppins"/>
                <a:sym typeface="Poppins"/>
              </a:rPr>
              <a:t>2. The Test: nslookup</a:t>
            </a:r>
            <a:endParaRPr/>
          </a:p>
        </p:txBody>
      </p:sp>
      <p:sp>
        <p:nvSpPr>
          <p:cNvPr id="129" name="Google Shape;129;p16"/>
          <p:cNvSpPr txBox="1"/>
          <p:nvPr/>
        </p:nvSpPr>
        <p:spPr>
          <a:xfrm>
            <a:off x="4676775" y="4076700"/>
            <a:ext cx="2838450" cy="11430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E0E0E0"/>
                </a:solidFill>
                <a:latin typeface="Lato"/>
                <a:ea typeface="Lato"/>
                <a:cs typeface="Lato"/>
                <a:sym typeface="Lato"/>
              </a:rPr>
              <a:t>We will use the simple command-line tool </a:t>
            </a:r>
            <a:r>
              <a:rPr lang="en-US" sz="1500" b="1" i="0" u="none" strike="noStrike" cap="none">
                <a:solidFill>
                  <a:srgbClr val="E0E0E0"/>
                </a:solidFill>
                <a:latin typeface="Lato"/>
                <a:ea typeface="Lato"/>
                <a:cs typeface="Lato"/>
                <a:sym typeface="Lato"/>
              </a:rPr>
              <a:t>nslookup</a:t>
            </a:r>
            <a:r>
              <a:rPr lang="en-US" sz="1500" b="0" i="0" u="none" strike="noStrike" cap="none">
                <a:solidFill>
                  <a:srgbClr val="E0E0E0"/>
                </a:solidFill>
                <a:latin typeface="Lato"/>
                <a:ea typeface="Lato"/>
                <a:cs typeface="Lato"/>
                <a:sym typeface="Lato"/>
              </a:rPr>
              <a:t> (or just visit a website) to generate live DNS traffic for us to capture.</a:t>
            </a:r>
            <a:endParaRPr/>
          </a:p>
        </p:txBody>
      </p:sp>
      <p:sp>
        <p:nvSpPr>
          <p:cNvPr id="130" name="Google Shape;130;p16"/>
          <p:cNvSpPr txBox="1"/>
          <p:nvPr/>
        </p:nvSpPr>
        <p:spPr>
          <a:xfrm>
            <a:off x="8415813" y="2828925"/>
            <a:ext cx="2980372" cy="914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A8CFFF"/>
                </a:solidFill>
                <a:latin typeface="Poppins"/>
                <a:ea typeface="Poppins"/>
                <a:cs typeface="Poppins"/>
                <a:sym typeface="Poppins"/>
              </a:rPr>
              <a:t>3. The Process: Capture &amp; Filter</a:t>
            </a:r>
            <a:endParaRPr/>
          </a:p>
        </p:txBody>
      </p:sp>
      <p:sp>
        <p:nvSpPr>
          <p:cNvPr id="131" name="Google Shape;131;p16"/>
          <p:cNvSpPr txBox="1"/>
          <p:nvPr/>
        </p:nvSpPr>
        <p:spPr>
          <a:xfrm>
            <a:off x="8634412" y="4076700"/>
            <a:ext cx="2543175" cy="1428750"/>
          </a:xfrm>
          <a:prstGeom prst="rect">
            <a:avLst/>
          </a:prstGeom>
          <a:noFill/>
          <a:ln>
            <a:noFill/>
          </a:ln>
        </p:spPr>
        <p:txBody>
          <a:bodyPr spcFirstLastPara="1" wrap="square" lIns="0" tIns="0" rIns="0" bIns="0" anchor="t" anchorCtr="0">
            <a:spAutoFit/>
          </a:bodyPr>
          <a:lstStyle/>
          <a:p>
            <a:pPr marL="0" marR="0" lvl="0" indent="0" algn="ctr" rtl="0">
              <a:lnSpc>
                <a:spcPct val="125000"/>
              </a:lnSpc>
              <a:spcBef>
                <a:spcPts val="0"/>
              </a:spcBef>
              <a:spcAft>
                <a:spcPts val="0"/>
              </a:spcAft>
              <a:buNone/>
            </a:pPr>
            <a:r>
              <a:rPr lang="en-US" sz="1500" b="0" i="0" u="none" strike="noStrike" cap="none">
                <a:solidFill>
                  <a:srgbClr val="E0E0E0"/>
                </a:solidFill>
                <a:latin typeface="Lato"/>
                <a:ea typeface="Lato"/>
                <a:cs typeface="Lato"/>
                <a:sym typeface="Lato"/>
              </a:rPr>
              <a:t>We will: </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E0E0E0"/>
                </a:solidFill>
                <a:latin typeface="Lato"/>
                <a:ea typeface="Lato"/>
                <a:cs typeface="Lato"/>
                <a:sym typeface="Lato"/>
              </a:rPr>
              <a:t> 1. Start a Wireshark capture. </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E0E0E0"/>
                </a:solidFill>
                <a:latin typeface="Lato"/>
                <a:ea typeface="Lato"/>
                <a:cs typeface="Lato"/>
                <a:sym typeface="Lato"/>
              </a:rPr>
              <a:t> 2. Run our test. </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E0E0E0"/>
                </a:solidFill>
                <a:latin typeface="Lato"/>
                <a:ea typeface="Lato"/>
                <a:cs typeface="Lato"/>
                <a:sym typeface="Lato"/>
              </a:rPr>
              <a:t> 3. Stop the capture. </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E0E0E0"/>
                </a:solidFill>
                <a:latin typeface="Lato"/>
                <a:ea typeface="Lato"/>
                <a:cs typeface="Lato"/>
                <a:sym typeface="Lato"/>
              </a:rPr>
              <a:t> 4. Apply the display filter </a:t>
            </a:r>
            <a:r>
              <a:rPr lang="en-US" sz="1500" b="1" i="0" u="none" strike="noStrike" cap="none">
                <a:solidFill>
                  <a:srgbClr val="E0E0E0"/>
                </a:solidFill>
                <a:latin typeface="Lato"/>
                <a:ea typeface="Lato"/>
                <a:cs typeface="Lato"/>
                <a:sym typeface="Lato"/>
              </a:rPr>
              <a:t>"dns"</a:t>
            </a:r>
            <a:r>
              <a:rPr lang="en-US" sz="1500" b="0" i="0" u="none" strike="noStrike" cap="none">
                <a:solidFill>
                  <a:srgbClr val="E0E0E0"/>
                </a:solidFill>
                <a:latin typeface="Lato"/>
                <a:ea typeface="Lato"/>
                <a:cs typeface="Lato"/>
                <a:sym typeface="Lato"/>
              </a:rPr>
              <a:t>.</a:t>
            </a:r>
            <a:endParaRPr/>
          </a:p>
        </p:txBody>
      </p:sp>
      <p:pic>
        <p:nvPicPr>
          <p:cNvPr id="132" name="Google Shape;132;p16" descr="image.png"/>
          <p:cNvPicPr preferRelativeResize="0"/>
          <p:nvPr/>
        </p:nvPicPr>
        <p:blipFill rotWithShape="1">
          <a:blip r:embed="rId7">
            <a:alphaModFix/>
          </a:blip>
          <a:srcRect/>
          <a:stretch/>
        </p:blipFill>
        <p:spPr>
          <a:xfrm>
            <a:off x="2057400" y="2133600"/>
            <a:ext cx="457200" cy="457200"/>
          </a:xfrm>
          <a:prstGeom prst="rect">
            <a:avLst/>
          </a:prstGeom>
          <a:noFill/>
          <a:ln>
            <a:noFill/>
          </a:ln>
        </p:spPr>
      </p:pic>
      <p:pic>
        <p:nvPicPr>
          <p:cNvPr id="133" name="Google Shape;133;p16" descr="image.png"/>
          <p:cNvPicPr preferRelativeResize="0"/>
          <p:nvPr/>
        </p:nvPicPr>
        <p:blipFill rotWithShape="1">
          <a:blip r:embed="rId8">
            <a:alphaModFix/>
          </a:blip>
          <a:srcRect/>
          <a:stretch/>
        </p:blipFill>
        <p:spPr>
          <a:xfrm>
            <a:off x="5838825" y="2133600"/>
            <a:ext cx="514350" cy="457200"/>
          </a:xfrm>
          <a:prstGeom prst="rect">
            <a:avLst/>
          </a:prstGeom>
          <a:noFill/>
          <a:ln>
            <a:noFill/>
          </a:ln>
        </p:spPr>
      </p:pic>
      <p:pic>
        <p:nvPicPr>
          <p:cNvPr id="134" name="Google Shape;134;p16" descr="image.png"/>
          <p:cNvPicPr preferRelativeResize="0"/>
          <p:nvPr/>
        </p:nvPicPr>
        <p:blipFill rotWithShape="1">
          <a:blip r:embed="rId9">
            <a:alphaModFix/>
          </a:blip>
          <a:srcRect/>
          <a:stretch/>
        </p:blipFill>
        <p:spPr>
          <a:xfrm>
            <a:off x="9677400" y="2133600"/>
            <a:ext cx="457200" cy="457200"/>
          </a:xfrm>
          <a:prstGeom prst="rect">
            <a:avLst/>
          </a:prstGeom>
          <a:noFill/>
          <a:ln>
            <a:noFill/>
          </a:ln>
        </p:spPr>
      </p:pic>
      <p:sp>
        <p:nvSpPr>
          <p:cNvPr id="135" name="Google Shape;135;p16"/>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A8CFFF"/>
                </a:solidFill>
                <a:latin typeface="Poppins"/>
                <a:ea typeface="Poppins"/>
                <a:cs typeface="Poppins"/>
                <a:sym typeface="Poppins"/>
              </a:rPr>
              <a:t>Core Content: Our Toolkit &amp; Process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139"/>
        <p:cNvGrpSpPr/>
        <p:nvPr/>
      </p:nvGrpSpPr>
      <p:grpSpPr>
        <a:xfrm>
          <a:off x="0" y="0"/>
          <a:ext cx="0" cy="0"/>
          <a:chOff x="0" y="0"/>
          <a:chExt cx="0" cy="0"/>
        </a:xfrm>
      </p:grpSpPr>
      <p:pic>
        <p:nvPicPr>
          <p:cNvPr id="140" name="Google Shape;140;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1" name="Google Shape;141;p17" descr="image.png"/>
          <p:cNvPicPr preferRelativeResize="0"/>
          <p:nvPr/>
        </p:nvPicPr>
        <p:blipFill rotWithShape="1">
          <a:blip r:embed="rId4">
            <a:alphaModFix/>
          </a:blip>
          <a:srcRect/>
          <a:stretch/>
        </p:blipFill>
        <p:spPr>
          <a:xfrm>
            <a:off x="6334125" y="2000250"/>
            <a:ext cx="5286375" cy="3810000"/>
          </a:xfrm>
          <a:prstGeom prst="rect">
            <a:avLst/>
          </a:prstGeom>
          <a:noFill/>
          <a:ln>
            <a:noFill/>
          </a:ln>
        </p:spPr>
      </p:pic>
      <p:sp>
        <p:nvSpPr>
          <p:cNvPr id="142" name="Google Shape;142;p17"/>
          <p:cNvSpPr txBox="1"/>
          <p:nvPr/>
        </p:nvSpPr>
        <p:spPr>
          <a:xfrm>
            <a:off x="695325" y="2000250"/>
            <a:ext cx="11430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E0E0E0"/>
                </a:solidFill>
                <a:latin typeface="Lato"/>
                <a:ea typeface="Lato"/>
                <a:cs typeface="Lato"/>
                <a:sym typeface="Lato"/>
              </a:rPr>
              <a:t>•</a:t>
            </a:r>
            <a:endParaRPr/>
          </a:p>
        </p:txBody>
      </p:sp>
      <p:sp>
        <p:nvSpPr>
          <p:cNvPr id="143" name="Google Shape;143;p17"/>
          <p:cNvSpPr txBox="1"/>
          <p:nvPr/>
        </p:nvSpPr>
        <p:spPr>
          <a:xfrm>
            <a:off x="809625" y="2000250"/>
            <a:ext cx="5048250" cy="571500"/>
          </a:xfrm>
          <a:prstGeom prst="rect">
            <a:avLst/>
          </a:prstGeom>
          <a:noFill/>
          <a:ln>
            <a:noFill/>
          </a:ln>
        </p:spPr>
        <p:txBody>
          <a:bodyPr spcFirstLastPara="1" wrap="square" lIns="11430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E0E0E0"/>
                </a:solidFill>
                <a:latin typeface="Lato"/>
                <a:ea typeface="Lato"/>
                <a:cs typeface="Lato"/>
                <a:sym typeface="Lato"/>
              </a:rPr>
              <a:t>Your PC sends a </a:t>
            </a:r>
            <a:r>
              <a:rPr lang="en-US" sz="1500" b="1" i="0" u="none" strike="noStrike" cap="none">
                <a:solidFill>
                  <a:srgbClr val="E0E0E0"/>
                </a:solidFill>
                <a:latin typeface="Lato"/>
                <a:ea typeface="Lato"/>
                <a:cs typeface="Lato"/>
                <a:sym typeface="Lato"/>
              </a:rPr>
              <a:t>Recursive Query</a:t>
            </a:r>
            <a:r>
              <a:rPr lang="en-US" sz="1500" b="0" i="0" u="none" strike="noStrike" cap="none">
                <a:solidFill>
                  <a:srgbClr val="E0E0E0"/>
                </a:solidFill>
                <a:latin typeface="Lato"/>
                <a:ea typeface="Lato"/>
                <a:cs typeface="Lato"/>
                <a:sym typeface="Lato"/>
              </a:rPr>
              <a:t> to a Local DNS Server (e.g., your router or ISP). It asks, "Where is google.com?"</a:t>
            </a:r>
            <a:endParaRPr/>
          </a:p>
        </p:txBody>
      </p:sp>
      <p:sp>
        <p:nvSpPr>
          <p:cNvPr id="144" name="Google Shape;144;p17"/>
          <p:cNvSpPr txBox="1"/>
          <p:nvPr/>
        </p:nvSpPr>
        <p:spPr>
          <a:xfrm>
            <a:off x="695325" y="2714625"/>
            <a:ext cx="11430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E0E0E0"/>
                </a:solidFill>
                <a:latin typeface="Lato"/>
                <a:ea typeface="Lato"/>
                <a:cs typeface="Lato"/>
                <a:sym typeface="Lato"/>
              </a:rPr>
              <a:t>•</a:t>
            </a:r>
            <a:endParaRPr/>
          </a:p>
        </p:txBody>
      </p:sp>
      <p:sp>
        <p:nvSpPr>
          <p:cNvPr id="145" name="Google Shape;145;p17"/>
          <p:cNvSpPr txBox="1"/>
          <p:nvPr/>
        </p:nvSpPr>
        <p:spPr>
          <a:xfrm>
            <a:off x="809625" y="2714625"/>
            <a:ext cx="5048250" cy="571500"/>
          </a:xfrm>
          <a:prstGeom prst="rect">
            <a:avLst/>
          </a:prstGeom>
          <a:noFill/>
          <a:ln>
            <a:noFill/>
          </a:ln>
        </p:spPr>
        <p:txBody>
          <a:bodyPr spcFirstLastPara="1" wrap="square" lIns="11430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E0E0E0"/>
                </a:solidFill>
                <a:latin typeface="Lato"/>
                <a:ea typeface="Lato"/>
                <a:cs typeface="Lato"/>
                <a:sym typeface="Lato"/>
              </a:rPr>
              <a:t>The Local Server takes responsibility and performs </a:t>
            </a:r>
            <a:r>
              <a:rPr lang="en-US" sz="1500" b="1" i="0" u="none" strike="noStrike" cap="none">
                <a:solidFill>
                  <a:srgbClr val="E0E0E0"/>
                </a:solidFill>
                <a:latin typeface="Lato"/>
                <a:ea typeface="Lato"/>
                <a:cs typeface="Lato"/>
                <a:sym typeface="Lato"/>
              </a:rPr>
              <a:t>Iterative Queries</a:t>
            </a:r>
            <a:r>
              <a:rPr lang="en-US" sz="1500" b="0" i="0" u="none" strike="noStrike" cap="none">
                <a:solidFill>
                  <a:srgbClr val="E0E0E0"/>
                </a:solidFill>
                <a:latin typeface="Lato"/>
                <a:ea typeface="Lato"/>
                <a:cs typeface="Lato"/>
                <a:sym typeface="Lato"/>
              </a:rPr>
              <a:t>.</a:t>
            </a:r>
            <a:endParaRPr/>
          </a:p>
        </p:txBody>
      </p:sp>
      <p:sp>
        <p:nvSpPr>
          <p:cNvPr id="146" name="Google Shape;146;p17"/>
          <p:cNvSpPr txBox="1"/>
          <p:nvPr/>
        </p:nvSpPr>
        <p:spPr>
          <a:xfrm>
            <a:off x="695325" y="3429000"/>
            <a:ext cx="11430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E0E0E0"/>
                </a:solidFill>
                <a:latin typeface="Lato"/>
                <a:ea typeface="Lato"/>
                <a:cs typeface="Lato"/>
                <a:sym typeface="Lato"/>
              </a:rPr>
              <a:t>•</a:t>
            </a:r>
            <a:endParaRPr/>
          </a:p>
        </p:txBody>
      </p:sp>
      <p:sp>
        <p:nvSpPr>
          <p:cNvPr id="147" name="Google Shape;147;p17"/>
          <p:cNvSpPr txBox="1"/>
          <p:nvPr/>
        </p:nvSpPr>
        <p:spPr>
          <a:xfrm>
            <a:off x="809625" y="3429000"/>
            <a:ext cx="5048250" cy="571500"/>
          </a:xfrm>
          <a:prstGeom prst="rect">
            <a:avLst/>
          </a:prstGeom>
          <a:noFill/>
          <a:ln>
            <a:noFill/>
          </a:ln>
        </p:spPr>
        <p:txBody>
          <a:bodyPr spcFirstLastPara="1" wrap="square" lIns="11430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E0E0E0"/>
                </a:solidFill>
                <a:latin typeface="Lato"/>
                <a:ea typeface="Lato"/>
                <a:cs typeface="Lato"/>
                <a:sym typeface="Lato"/>
              </a:rPr>
              <a:t>It asks a </a:t>
            </a:r>
            <a:r>
              <a:rPr lang="en-US" sz="1500" b="1" i="0" u="none" strike="noStrike" cap="none">
                <a:solidFill>
                  <a:srgbClr val="E0E0E0"/>
                </a:solidFill>
                <a:latin typeface="Lato"/>
                <a:ea typeface="Lato"/>
                <a:cs typeface="Lato"/>
                <a:sym typeface="Lato"/>
              </a:rPr>
              <a:t>Root Server</a:t>
            </a:r>
            <a:r>
              <a:rPr lang="en-US" sz="1500" b="0" i="0" u="none" strike="noStrike" cap="none">
                <a:solidFill>
                  <a:srgbClr val="E0E0E0"/>
                </a:solidFill>
                <a:latin typeface="Lato"/>
                <a:ea typeface="Lato"/>
                <a:cs typeface="Lato"/>
                <a:sym typeface="Lato"/>
              </a:rPr>
              <a:t>, which points to the </a:t>
            </a:r>
            <a:r>
              <a:rPr lang="en-US" sz="1500" b="1" i="0" u="none" strike="noStrike" cap="none">
                <a:solidFill>
                  <a:srgbClr val="E0E0E0"/>
                </a:solidFill>
                <a:latin typeface="Lato"/>
                <a:ea typeface="Lato"/>
                <a:cs typeface="Lato"/>
                <a:sym typeface="Lato"/>
              </a:rPr>
              <a:t>TLD Server</a:t>
            </a:r>
            <a:r>
              <a:rPr lang="en-US" sz="1500" b="0" i="0" u="none" strike="noStrike" cap="none">
                <a:solidFill>
                  <a:srgbClr val="E0E0E0"/>
                </a:solidFill>
                <a:latin typeface="Lato"/>
                <a:ea typeface="Lato"/>
                <a:cs typeface="Lato"/>
                <a:sym typeface="Lato"/>
              </a:rPr>
              <a:t> (for .com).</a:t>
            </a:r>
            <a:endParaRPr/>
          </a:p>
        </p:txBody>
      </p:sp>
      <p:sp>
        <p:nvSpPr>
          <p:cNvPr id="148" name="Google Shape;148;p17"/>
          <p:cNvSpPr txBox="1"/>
          <p:nvPr/>
        </p:nvSpPr>
        <p:spPr>
          <a:xfrm>
            <a:off x="695325" y="4143375"/>
            <a:ext cx="11430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E0E0E0"/>
                </a:solidFill>
                <a:latin typeface="Lato"/>
                <a:ea typeface="Lato"/>
                <a:cs typeface="Lato"/>
                <a:sym typeface="Lato"/>
              </a:rPr>
              <a:t>•</a:t>
            </a:r>
            <a:endParaRPr/>
          </a:p>
        </p:txBody>
      </p:sp>
      <p:sp>
        <p:nvSpPr>
          <p:cNvPr id="149" name="Google Shape;149;p17"/>
          <p:cNvSpPr txBox="1"/>
          <p:nvPr/>
        </p:nvSpPr>
        <p:spPr>
          <a:xfrm>
            <a:off x="809625" y="4143375"/>
            <a:ext cx="5048250" cy="571500"/>
          </a:xfrm>
          <a:prstGeom prst="rect">
            <a:avLst/>
          </a:prstGeom>
          <a:noFill/>
          <a:ln>
            <a:noFill/>
          </a:ln>
        </p:spPr>
        <p:txBody>
          <a:bodyPr spcFirstLastPara="1" wrap="square" lIns="11430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E0E0E0"/>
                </a:solidFill>
                <a:latin typeface="Lato"/>
                <a:ea typeface="Lato"/>
                <a:cs typeface="Lato"/>
                <a:sym typeface="Lato"/>
              </a:rPr>
              <a:t>The TLD Server points to the </a:t>
            </a:r>
            <a:r>
              <a:rPr lang="en-US" sz="1500" b="1" i="0" u="none" strike="noStrike" cap="none">
                <a:solidFill>
                  <a:srgbClr val="E0E0E0"/>
                </a:solidFill>
                <a:latin typeface="Lato"/>
                <a:ea typeface="Lato"/>
                <a:cs typeface="Lato"/>
                <a:sym typeface="Lato"/>
              </a:rPr>
              <a:t>Authoritative Server</a:t>
            </a:r>
            <a:r>
              <a:rPr lang="en-US" sz="1500" b="0" i="0" u="none" strike="noStrike" cap="none">
                <a:solidFill>
                  <a:srgbClr val="E0E0E0"/>
                </a:solidFill>
                <a:latin typeface="Lato"/>
                <a:ea typeface="Lato"/>
                <a:cs typeface="Lato"/>
                <a:sym typeface="Lato"/>
              </a:rPr>
              <a:t> (for google.com).</a:t>
            </a:r>
            <a:endParaRPr/>
          </a:p>
        </p:txBody>
      </p:sp>
      <p:sp>
        <p:nvSpPr>
          <p:cNvPr id="150" name="Google Shape;150;p17"/>
          <p:cNvSpPr txBox="1"/>
          <p:nvPr/>
        </p:nvSpPr>
        <p:spPr>
          <a:xfrm>
            <a:off x="695325" y="4857750"/>
            <a:ext cx="11430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E0E0E0"/>
                </a:solidFill>
                <a:latin typeface="Lato"/>
                <a:ea typeface="Lato"/>
                <a:cs typeface="Lato"/>
                <a:sym typeface="Lato"/>
              </a:rPr>
              <a:t>•</a:t>
            </a:r>
            <a:endParaRPr/>
          </a:p>
        </p:txBody>
      </p:sp>
      <p:sp>
        <p:nvSpPr>
          <p:cNvPr id="151" name="Google Shape;151;p17"/>
          <p:cNvSpPr txBox="1"/>
          <p:nvPr/>
        </p:nvSpPr>
        <p:spPr>
          <a:xfrm>
            <a:off x="809625" y="4857750"/>
            <a:ext cx="5048250" cy="571500"/>
          </a:xfrm>
          <a:prstGeom prst="rect">
            <a:avLst/>
          </a:prstGeom>
          <a:noFill/>
          <a:ln>
            <a:noFill/>
          </a:ln>
        </p:spPr>
        <p:txBody>
          <a:bodyPr spcFirstLastPara="1" wrap="square" lIns="11430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E0E0E0"/>
                </a:solidFill>
                <a:latin typeface="Lato"/>
                <a:ea typeface="Lato"/>
                <a:cs typeface="Lato"/>
                <a:sym typeface="Lato"/>
              </a:rPr>
              <a:t>This server provides the final IP, which is sent all the way back to your PC.</a:t>
            </a:r>
            <a:endParaRPr/>
          </a:p>
        </p:txBody>
      </p:sp>
      <p:pic>
        <p:nvPicPr>
          <p:cNvPr id="152" name="Google Shape;152;p17" descr="image.png"/>
          <p:cNvPicPr preferRelativeResize="0"/>
          <p:nvPr/>
        </p:nvPicPr>
        <p:blipFill rotWithShape="1">
          <a:blip r:embed="rId5">
            <a:alphaModFix/>
          </a:blip>
          <a:srcRect/>
          <a:stretch/>
        </p:blipFill>
        <p:spPr>
          <a:xfrm>
            <a:off x="6353175" y="2019300"/>
            <a:ext cx="5248275" cy="3771900"/>
          </a:xfrm>
          <a:prstGeom prst="rect">
            <a:avLst/>
          </a:prstGeom>
          <a:noFill/>
          <a:ln>
            <a:noFill/>
          </a:ln>
        </p:spPr>
      </p:pic>
      <p:sp>
        <p:nvSpPr>
          <p:cNvPr id="153" name="Google Shape;153;p17"/>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A8CFFF"/>
                </a:solidFill>
                <a:latin typeface="Poppins"/>
                <a:ea typeface="Poppins"/>
                <a:cs typeface="Poppins"/>
                <a:sym typeface="Poppins"/>
              </a:rPr>
              <a:t>Core Content: The DNS Query Process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157"/>
        <p:cNvGrpSpPr/>
        <p:nvPr/>
      </p:nvGrpSpPr>
      <p:grpSpPr>
        <a:xfrm>
          <a:off x="0" y="0"/>
          <a:ext cx="0" cy="0"/>
          <a:chOff x="0" y="0"/>
          <a:chExt cx="0" cy="0"/>
        </a:xfrm>
      </p:grpSpPr>
      <p:pic>
        <p:nvPicPr>
          <p:cNvPr id="158" name="Google Shape;158;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9" name="Google Shape;159;p18" descr="image.png"/>
          <p:cNvPicPr preferRelativeResize="0"/>
          <p:nvPr/>
        </p:nvPicPr>
        <p:blipFill rotWithShape="1">
          <a:blip r:embed="rId4">
            <a:alphaModFix/>
          </a:blip>
          <a:srcRect/>
          <a:stretch/>
        </p:blipFill>
        <p:spPr>
          <a:xfrm>
            <a:off x="571500" y="1874639"/>
            <a:ext cx="5286375" cy="4061221"/>
          </a:xfrm>
          <a:prstGeom prst="rect">
            <a:avLst/>
          </a:prstGeom>
          <a:noFill/>
          <a:ln>
            <a:noFill/>
          </a:ln>
        </p:spPr>
      </p:pic>
      <p:pic>
        <p:nvPicPr>
          <p:cNvPr id="160" name="Google Shape;160;p18" descr="image.png"/>
          <p:cNvPicPr preferRelativeResize="0"/>
          <p:nvPr/>
        </p:nvPicPr>
        <p:blipFill rotWithShape="1">
          <a:blip r:embed="rId5">
            <a:alphaModFix/>
          </a:blip>
          <a:srcRect/>
          <a:stretch/>
        </p:blipFill>
        <p:spPr>
          <a:xfrm>
            <a:off x="6334125" y="1874639"/>
            <a:ext cx="5286375" cy="4061221"/>
          </a:xfrm>
          <a:prstGeom prst="rect">
            <a:avLst/>
          </a:prstGeom>
          <a:noFill/>
          <a:ln>
            <a:noFill/>
          </a:ln>
        </p:spPr>
      </p:pic>
      <p:sp>
        <p:nvSpPr>
          <p:cNvPr id="161" name="Google Shape;161;p18"/>
          <p:cNvSpPr txBox="1"/>
          <p:nvPr/>
        </p:nvSpPr>
        <p:spPr>
          <a:xfrm>
            <a:off x="962025" y="2265164"/>
            <a:ext cx="4730591"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A8CFFF"/>
                </a:solidFill>
                <a:latin typeface="Poppins"/>
                <a:ea typeface="Poppins"/>
                <a:cs typeface="Poppins"/>
                <a:sym typeface="Poppins"/>
              </a:rPr>
              <a:t>Key Record Types</a:t>
            </a:r>
            <a:endParaRPr/>
          </a:p>
        </p:txBody>
      </p:sp>
      <p:sp>
        <p:nvSpPr>
          <p:cNvPr id="162" name="Google Shape;162;p18"/>
          <p:cNvSpPr txBox="1"/>
          <p:nvPr/>
        </p:nvSpPr>
        <p:spPr>
          <a:xfrm>
            <a:off x="6724650" y="2265164"/>
            <a:ext cx="4730591"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A8CFFF"/>
                </a:solidFill>
                <a:latin typeface="Poppins"/>
                <a:ea typeface="Poppins"/>
                <a:cs typeface="Poppins"/>
                <a:sym typeface="Poppins"/>
              </a:rPr>
              <a:t>The Transport Protocol: UDP</a:t>
            </a:r>
            <a:endParaRPr/>
          </a:p>
        </p:txBody>
      </p:sp>
      <p:sp>
        <p:nvSpPr>
          <p:cNvPr id="163" name="Google Shape;163;p18"/>
          <p:cNvSpPr txBox="1"/>
          <p:nvPr/>
        </p:nvSpPr>
        <p:spPr>
          <a:xfrm>
            <a:off x="6724650" y="2836664"/>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0E0E0"/>
                </a:solidFill>
                <a:latin typeface="Lato"/>
                <a:ea typeface="Lato"/>
                <a:cs typeface="Lato"/>
                <a:sym typeface="Lato"/>
              </a:rPr>
              <a:t>DNS primarily uses </a:t>
            </a:r>
            <a:r>
              <a:rPr lang="en-US" sz="1350" b="1" i="0" u="none" strike="noStrike" cap="none">
                <a:solidFill>
                  <a:srgbClr val="E0E0E0"/>
                </a:solidFill>
                <a:latin typeface="Lato"/>
                <a:ea typeface="Lato"/>
                <a:cs typeface="Lato"/>
                <a:sym typeface="Lato"/>
              </a:rPr>
              <a:t>UDP (User Datagram Protocol)</a:t>
            </a:r>
            <a:r>
              <a:rPr lang="en-US" sz="1350" b="0" i="0" u="none" strike="noStrike" cap="none">
                <a:solidFill>
                  <a:srgbClr val="E0E0E0"/>
                </a:solidFill>
                <a:latin typeface="Lato"/>
                <a:ea typeface="Lato"/>
                <a:cs typeface="Lato"/>
                <a:sym typeface="Lato"/>
              </a:rPr>
              <a:t> on Port 53.</a:t>
            </a:r>
            <a:endParaRPr/>
          </a:p>
        </p:txBody>
      </p:sp>
      <p:sp>
        <p:nvSpPr>
          <p:cNvPr id="164" name="Google Shape;164;p18"/>
          <p:cNvSpPr txBox="1"/>
          <p:nvPr/>
        </p:nvSpPr>
        <p:spPr>
          <a:xfrm>
            <a:off x="6724650" y="3556694"/>
            <a:ext cx="4505325" cy="109716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50" b="1" i="0" u="none" strike="noStrike" cap="none">
                <a:solidFill>
                  <a:srgbClr val="E0E0E0"/>
                </a:solidFill>
                <a:latin typeface="Lato"/>
                <a:ea typeface="Lato"/>
                <a:cs typeface="Lato"/>
                <a:sym typeface="Lato"/>
              </a:rPr>
              <a:t>Why UDP?</a:t>
            </a:r>
            <a:r>
              <a:rPr lang="en-US" sz="1350" b="0" i="0" u="none" strike="noStrike" cap="none">
                <a:solidFill>
                  <a:srgbClr val="E0E0E0"/>
                </a:solidFill>
                <a:latin typeface="Lato"/>
                <a:ea typeface="Lato"/>
                <a:cs typeface="Lato"/>
                <a:sym typeface="Lato"/>
              </a:rPr>
              <a:t> </a:t>
            </a:r>
            <a:br>
              <a:rPr lang="en-US" sz="1800" b="0" i="0" u="none" strike="noStrike" cap="none">
                <a:solidFill>
                  <a:schemeClr val="dk1"/>
                </a:solidFill>
                <a:latin typeface="Calibri"/>
                <a:ea typeface="Calibri"/>
                <a:cs typeface="Calibri"/>
                <a:sym typeface="Calibri"/>
              </a:rPr>
            </a:br>
            <a:r>
              <a:rPr lang="en-US" sz="1350" b="0" i="0" u="none" strike="noStrike" cap="none">
                <a:solidFill>
                  <a:srgbClr val="E0E0E0"/>
                </a:solidFill>
                <a:latin typeface="Lato"/>
                <a:ea typeface="Lato"/>
                <a:cs typeface="Lato"/>
                <a:sym typeface="Lato"/>
              </a:rPr>
              <a:t> It's fast, low-overhead, and connectionless. A single request and its response can fit in one packet each, which is highly efficient.</a:t>
            </a:r>
            <a:endParaRPr/>
          </a:p>
        </p:txBody>
      </p:sp>
      <p:sp>
        <p:nvSpPr>
          <p:cNvPr id="165" name="Google Shape;165;p18"/>
          <p:cNvSpPr txBox="1"/>
          <p:nvPr/>
        </p:nvSpPr>
        <p:spPr>
          <a:xfrm>
            <a:off x="6724650" y="4825305"/>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0E0E0"/>
                </a:solidFill>
                <a:latin typeface="Lato"/>
                <a:ea typeface="Lato"/>
                <a:cs typeface="Lato"/>
                <a:sym typeface="Lato"/>
              </a:rPr>
              <a:t>(TCP is only used for large transfers, like a full zone transfer, not standard queries).</a:t>
            </a:r>
            <a:endParaRPr/>
          </a:p>
        </p:txBody>
      </p:sp>
      <p:sp>
        <p:nvSpPr>
          <p:cNvPr id="166" name="Google Shape;166;p18"/>
          <p:cNvSpPr txBox="1"/>
          <p:nvPr/>
        </p:nvSpPr>
        <p:spPr>
          <a:xfrm>
            <a:off x="1085850" y="2808089"/>
            <a:ext cx="11430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E0E0E0"/>
                </a:solidFill>
                <a:latin typeface="Lato"/>
                <a:ea typeface="Lato"/>
                <a:cs typeface="Lato"/>
                <a:sym typeface="Lato"/>
              </a:rPr>
              <a:t>•</a:t>
            </a:r>
            <a:endParaRPr/>
          </a:p>
        </p:txBody>
      </p:sp>
      <p:sp>
        <p:nvSpPr>
          <p:cNvPr id="167" name="Google Shape;167;p18"/>
          <p:cNvSpPr txBox="1"/>
          <p:nvPr/>
        </p:nvSpPr>
        <p:spPr>
          <a:xfrm>
            <a:off x="1200150" y="2808089"/>
            <a:ext cx="4267200" cy="571500"/>
          </a:xfrm>
          <a:prstGeom prst="rect">
            <a:avLst/>
          </a:prstGeom>
          <a:noFill/>
          <a:ln>
            <a:noFill/>
          </a:ln>
        </p:spPr>
        <p:txBody>
          <a:bodyPr spcFirstLastPara="1" wrap="square" lIns="11430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E0E0E0"/>
                </a:solidFill>
                <a:latin typeface="Lato"/>
                <a:ea typeface="Lato"/>
                <a:cs typeface="Lato"/>
                <a:sym typeface="Lato"/>
              </a:rPr>
              <a:t>A Record:</a:t>
            </a:r>
            <a:r>
              <a:rPr lang="en-US" sz="1500" b="0" i="0" u="none" strike="noStrike" cap="none">
                <a:solidFill>
                  <a:srgbClr val="E0E0E0"/>
                </a:solidFill>
                <a:latin typeface="Lato"/>
                <a:ea typeface="Lato"/>
                <a:cs typeface="Lato"/>
                <a:sym typeface="Lato"/>
              </a:rPr>
              <a:t> Maps a name to an IPv4 address (e.g., 1.2.3.4).</a:t>
            </a:r>
            <a:endParaRPr/>
          </a:p>
        </p:txBody>
      </p:sp>
      <p:sp>
        <p:nvSpPr>
          <p:cNvPr id="168" name="Google Shape;168;p18"/>
          <p:cNvSpPr txBox="1"/>
          <p:nvPr/>
        </p:nvSpPr>
        <p:spPr>
          <a:xfrm>
            <a:off x="1085850" y="3522464"/>
            <a:ext cx="11430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E0E0E0"/>
                </a:solidFill>
                <a:latin typeface="Lato"/>
                <a:ea typeface="Lato"/>
                <a:cs typeface="Lato"/>
                <a:sym typeface="Lato"/>
              </a:rPr>
              <a:t>•</a:t>
            </a:r>
            <a:endParaRPr/>
          </a:p>
        </p:txBody>
      </p:sp>
      <p:sp>
        <p:nvSpPr>
          <p:cNvPr id="169" name="Google Shape;169;p18"/>
          <p:cNvSpPr txBox="1"/>
          <p:nvPr/>
        </p:nvSpPr>
        <p:spPr>
          <a:xfrm>
            <a:off x="1200150" y="3522464"/>
            <a:ext cx="4267200" cy="285750"/>
          </a:xfrm>
          <a:prstGeom prst="rect">
            <a:avLst/>
          </a:prstGeom>
          <a:noFill/>
          <a:ln>
            <a:noFill/>
          </a:ln>
        </p:spPr>
        <p:txBody>
          <a:bodyPr spcFirstLastPara="1" wrap="square" lIns="11430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E0E0E0"/>
                </a:solidFill>
                <a:latin typeface="Lato"/>
                <a:ea typeface="Lato"/>
                <a:cs typeface="Lato"/>
                <a:sym typeface="Lato"/>
              </a:rPr>
              <a:t>AAAA Record:</a:t>
            </a:r>
            <a:r>
              <a:rPr lang="en-US" sz="1500" b="0" i="0" u="none" strike="noStrike" cap="none">
                <a:solidFill>
                  <a:srgbClr val="E0E0E0"/>
                </a:solidFill>
                <a:latin typeface="Lato"/>
                <a:ea typeface="Lato"/>
                <a:cs typeface="Lato"/>
                <a:sym typeface="Lato"/>
              </a:rPr>
              <a:t> Maps a name to an IPv6 address.</a:t>
            </a:r>
            <a:endParaRPr/>
          </a:p>
        </p:txBody>
      </p:sp>
      <p:sp>
        <p:nvSpPr>
          <p:cNvPr id="170" name="Google Shape;170;p18"/>
          <p:cNvSpPr txBox="1"/>
          <p:nvPr/>
        </p:nvSpPr>
        <p:spPr>
          <a:xfrm>
            <a:off x="1085850" y="3951089"/>
            <a:ext cx="11430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E0E0E0"/>
                </a:solidFill>
                <a:latin typeface="Lato"/>
                <a:ea typeface="Lato"/>
                <a:cs typeface="Lato"/>
                <a:sym typeface="Lato"/>
              </a:rPr>
              <a:t>•</a:t>
            </a:r>
            <a:endParaRPr/>
          </a:p>
        </p:txBody>
      </p:sp>
      <p:sp>
        <p:nvSpPr>
          <p:cNvPr id="171" name="Google Shape;171;p18"/>
          <p:cNvSpPr txBox="1"/>
          <p:nvPr/>
        </p:nvSpPr>
        <p:spPr>
          <a:xfrm>
            <a:off x="1200150" y="3951089"/>
            <a:ext cx="4267200" cy="571500"/>
          </a:xfrm>
          <a:prstGeom prst="rect">
            <a:avLst/>
          </a:prstGeom>
          <a:noFill/>
          <a:ln>
            <a:noFill/>
          </a:ln>
        </p:spPr>
        <p:txBody>
          <a:bodyPr spcFirstLastPara="1" wrap="square" lIns="11430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E0E0E0"/>
                </a:solidFill>
                <a:latin typeface="Lato"/>
                <a:ea typeface="Lato"/>
                <a:cs typeface="Lato"/>
                <a:sym typeface="Lato"/>
              </a:rPr>
              <a:t>CNAME:</a:t>
            </a:r>
            <a:r>
              <a:rPr lang="en-US" sz="1500" b="0" i="0" u="none" strike="noStrike" cap="none">
                <a:solidFill>
                  <a:srgbClr val="E0E0E0"/>
                </a:solidFill>
                <a:latin typeface="Lato"/>
                <a:ea typeface="Lato"/>
                <a:cs typeface="Lato"/>
                <a:sym typeface="Lato"/>
              </a:rPr>
              <a:t> (Canonical Name) An alias that points to another domain name.</a:t>
            </a:r>
            <a:endParaRPr/>
          </a:p>
        </p:txBody>
      </p:sp>
      <p:sp>
        <p:nvSpPr>
          <p:cNvPr id="172" name="Google Shape;172;p18"/>
          <p:cNvSpPr txBox="1"/>
          <p:nvPr/>
        </p:nvSpPr>
        <p:spPr>
          <a:xfrm>
            <a:off x="1085850" y="4665464"/>
            <a:ext cx="11430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E0E0E0"/>
                </a:solidFill>
                <a:latin typeface="Lato"/>
                <a:ea typeface="Lato"/>
                <a:cs typeface="Lato"/>
                <a:sym typeface="Lato"/>
              </a:rPr>
              <a:t>•</a:t>
            </a:r>
            <a:endParaRPr/>
          </a:p>
        </p:txBody>
      </p:sp>
      <p:sp>
        <p:nvSpPr>
          <p:cNvPr id="173" name="Google Shape;173;p18"/>
          <p:cNvSpPr txBox="1"/>
          <p:nvPr/>
        </p:nvSpPr>
        <p:spPr>
          <a:xfrm>
            <a:off x="1200150" y="4665464"/>
            <a:ext cx="4267200" cy="571500"/>
          </a:xfrm>
          <a:prstGeom prst="rect">
            <a:avLst/>
          </a:prstGeom>
          <a:noFill/>
          <a:ln>
            <a:noFill/>
          </a:ln>
        </p:spPr>
        <p:txBody>
          <a:bodyPr spcFirstLastPara="1" wrap="square" lIns="11430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E0E0E0"/>
                </a:solidFill>
                <a:latin typeface="Lato"/>
                <a:ea typeface="Lato"/>
                <a:cs typeface="Lato"/>
                <a:sym typeface="Lato"/>
              </a:rPr>
              <a:t>MX:</a:t>
            </a:r>
            <a:r>
              <a:rPr lang="en-US" sz="1500" b="0" i="0" u="none" strike="noStrike" cap="none">
                <a:solidFill>
                  <a:srgbClr val="E0E0E0"/>
                </a:solidFill>
                <a:latin typeface="Lato"/>
                <a:ea typeface="Lato"/>
                <a:cs typeface="Lato"/>
                <a:sym typeface="Lato"/>
              </a:rPr>
              <a:t> (Mail Exchange) Specifies the mail servers for a domain.</a:t>
            </a:r>
            <a:endParaRPr/>
          </a:p>
        </p:txBody>
      </p:sp>
      <p:sp>
        <p:nvSpPr>
          <p:cNvPr id="174" name="Google Shape;174;p18"/>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A8CFFF"/>
                </a:solidFill>
                <a:latin typeface="Poppins"/>
                <a:ea typeface="Poppins"/>
                <a:cs typeface="Poppins"/>
                <a:sym typeface="Poppins"/>
              </a:rPr>
              <a:t>Core Content: DNS Records &amp; Protocol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178"/>
        <p:cNvGrpSpPr/>
        <p:nvPr/>
      </p:nvGrpSpPr>
      <p:grpSpPr>
        <a:xfrm>
          <a:off x="0" y="0"/>
          <a:ext cx="0" cy="0"/>
          <a:chOff x="0" y="0"/>
          <a:chExt cx="0" cy="0"/>
        </a:xfrm>
      </p:grpSpPr>
      <p:pic>
        <p:nvPicPr>
          <p:cNvPr id="179" name="Google Shape;179;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0" name="Google Shape;180;p19"/>
          <p:cNvSpPr txBox="1"/>
          <p:nvPr/>
        </p:nvSpPr>
        <p:spPr>
          <a:xfrm>
            <a:off x="571500" y="571500"/>
            <a:ext cx="5550693" cy="1143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A8CFFF"/>
                </a:solidFill>
                <a:latin typeface="Poppins"/>
                <a:ea typeface="Poppins"/>
                <a:cs typeface="Poppins"/>
                <a:sym typeface="Poppins"/>
              </a:rPr>
              <a:t>Analysis: Live Wireshark Capture</a:t>
            </a:r>
            <a:endParaRPr/>
          </a:p>
        </p:txBody>
      </p:sp>
      <p:pic>
        <p:nvPicPr>
          <p:cNvPr id="181" name="Google Shape;181;p19" descr="image.png"/>
          <p:cNvPicPr preferRelativeResize="0"/>
          <p:nvPr/>
        </p:nvPicPr>
        <p:blipFill rotWithShape="1">
          <a:blip r:embed="rId4">
            <a:alphaModFix/>
          </a:blip>
          <a:srcRect/>
          <a:stretch/>
        </p:blipFill>
        <p:spPr>
          <a:xfrm>
            <a:off x="6334125" y="0"/>
            <a:ext cx="5857875" cy="6858000"/>
          </a:xfrm>
          <a:prstGeom prst="rect">
            <a:avLst/>
          </a:prstGeom>
          <a:noFill/>
          <a:ln>
            <a:noFill/>
          </a:ln>
        </p:spPr>
      </p:pic>
      <p:sp>
        <p:nvSpPr>
          <p:cNvPr id="182" name="Google Shape;182;p19"/>
          <p:cNvSpPr txBox="1"/>
          <p:nvPr/>
        </p:nvSpPr>
        <p:spPr>
          <a:xfrm>
            <a:off x="571500" y="2286000"/>
            <a:ext cx="52863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E0E0E0"/>
                </a:solidFill>
                <a:latin typeface="Lato"/>
                <a:ea typeface="Lato"/>
                <a:cs typeface="Lato"/>
                <a:sym typeface="Lato"/>
              </a:rPr>
              <a:t>This is the main Wireshark interface after capturing traffic.</a:t>
            </a:r>
            <a:endParaRPr/>
          </a:p>
        </p:txBody>
      </p:sp>
      <p:sp>
        <p:nvSpPr>
          <p:cNvPr id="183" name="Google Shape;183;p19"/>
          <p:cNvSpPr txBox="1"/>
          <p:nvPr/>
        </p:nvSpPr>
        <p:spPr>
          <a:xfrm>
            <a:off x="666750" y="2838450"/>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E0E0E0"/>
                </a:solidFill>
                <a:latin typeface="Lato"/>
                <a:ea typeface="Lato"/>
                <a:cs typeface="Lato"/>
                <a:sym typeface="Lato"/>
              </a:rPr>
              <a:t>•</a:t>
            </a:r>
            <a:endParaRPr/>
          </a:p>
        </p:txBody>
      </p:sp>
      <p:sp>
        <p:nvSpPr>
          <p:cNvPr id="184" name="Google Shape;184;p19"/>
          <p:cNvSpPr txBox="1"/>
          <p:nvPr/>
        </p:nvSpPr>
        <p:spPr>
          <a:xfrm>
            <a:off x="762000" y="2838450"/>
            <a:ext cx="5095875" cy="257175"/>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Lato"/>
                <a:ea typeface="Lato"/>
                <a:cs typeface="Lato"/>
                <a:sym typeface="Lato"/>
              </a:rPr>
              <a:t>We have applied the </a:t>
            </a:r>
            <a:r>
              <a:rPr lang="en-US" sz="1350" b="1" i="0" u="none" strike="noStrike" cap="none">
                <a:solidFill>
                  <a:srgbClr val="E0E0E0"/>
                </a:solidFill>
                <a:latin typeface="Lato"/>
                <a:ea typeface="Lato"/>
                <a:cs typeface="Lato"/>
                <a:sym typeface="Lato"/>
              </a:rPr>
              <a:t>"dns"</a:t>
            </a:r>
            <a:r>
              <a:rPr lang="en-US" sz="1350" b="0" i="0" u="none" strike="noStrike" cap="none">
                <a:solidFill>
                  <a:srgbClr val="E0E0E0"/>
                </a:solidFill>
                <a:latin typeface="Lato"/>
                <a:ea typeface="Lato"/>
                <a:cs typeface="Lato"/>
                <a:sym typeface="Lato"/>
              </a:rPr>
              <a:t> display filter at the top.</a:t>
            </a:r>
            <a:endParaRPr/>
          </a:p>
        </p:txBody>
      </p:sp>
      <p:sp>
        <p:nvSpPr>
          <p:cNvPr id="185" name="Google Shape;185;p19"/>
          <p:cNvSpPr txBox="1"/>
          <p:nvPr/>
        </p:nvSpPr>
        <p:spPr>
          <a:xfrm>
            <a:off x="666750" y="3190875"/>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E0E0E0"/>
                </a:solidFill>
                <a:latin typeface="Lato"/>
                <a:ea typeface="Lato"/>
                <a:cs typeface="Lato"/>
                <a:sym typeface="Lato"/>
              </a:rPr>
              <a:t>•</a:t>
            </a:r>
            <a:endParaRPr/>
          </a:p>
        </p:txBody>
      </p:sp>
      <p:sp>
        <p:nvSpPr>
          <p:cNvPr id="186" name="Google Shape;186;p19"/>
          <p:cNvSpPr txBox="1"/>
          <p:nvPr/>
        </p:nvSpPr>
        <p:spPr>
          <a:xfrm>
            <a:off x="762000" y="3190875"/>
            <a:ext cx="5095875" cy="514350"/>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Lato"/>
                <a:ea typeface="Lato"/>
                <a:cs typeface="Lato"/>
                <a:sym typeface="Lato"/>
              </a:rPr>
              <a:t>We can clearly see the packet list, showing the "Standard query" and "Standard query response".</a:t>
            </a:r>
            <a:endParaRPr/>
          </a:p>
        </p:txBody>
      </p:sp>
      <p:sp>
        <p:nvSpPr>
          <p:cNvPr id="187" name="Google Shape;187;p19"/>
          <p:cNvSpPr txBox="1"/>
          <p:nvPr/>
        </p:nvSpPr>
        <p:spPr>
          <a:xfrm>
            <a:off x="666750" y="3800475"/>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E0E0E0"/>
                </a:solidFill>
                <a:latin typeface="Lato"/>
                <a:ea typeface="Lato"/>
                <a:cs typeface="Lato"/>
                <a:sym typeface="Lato"/>
              </a:rPr>
              <a:t>•</a:t>
            </a:r>
            <a:endParaRPr/>
          </a:p>
        </p:txBody>
      </p:sp>
      <p:sp>
        <p:nvSpPr>
          <p:cNvPr id="188" name="Google Shape;188;p19"/>
          <p:cNvSpPr txBox="1"/>
          <p:nvPr/>
        </p:nvSpPr>
        <p:spPr>
          <a:xfrm>
            <a:off x="762000" y="3800475"/>
            <a:ext cx="5095875" cy="257175"/>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Lato"/>
                <a:ea typeface="Lato"/>
                <a:cs typeface="Lato"/>
                <a:sym typeface="Lato"/>
              </a:rPr>
              <a:t>The "Info" column gives us a quick summary of each packet.</a:t>
            </a:r>
            <a:endParaRPr/>
          </a:p>
        </p:txBody>
      </p:sp>
      <p:sp>
        <p:nvSpPr>
          <p:cNvPr id="189" name="Google Shape;189;p19"/>
          <p:cNvSpPr txBox="1"/>
          <p:nvPr/>
        </p:nvSpPr>
        <p:spPr>
          <a:xfrm>
            <a:off x="666750" y="4152900"/>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E0E0E0"/>
                </a:solidFill>
                <a:latin typeface="Lato"/>
                <a:ea typeface="Lato"/>
                <a:cs typeface="Lato"/>
                <a:sym typeface="Lato"/>
              </a:rPr>
              <a:t>•</a:t>
            </a:r>
            <a:endParaRPr/>
          </a:p>
        </p:txBody>
      </p:sp>
      <p:sp>
        <p:nvSpPr>
          <p:cNvPr id="190" name="Google Shape;190;p19"/>
          <p:cNvSpPr txBox="1"/>
          <p:nvPr/>
        </p:nvSpPr>
        <p:spPr>
          <a:xfrm>
            <a:off x="762000" y="4152900"/>
            <a:ext cx="5095875" cy="257175"/>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Lato"/>
                <a:ea typeface="Lato"/>
                <a:cs typeface="Lato"/>
                <a:sym typeface="Lato"/>
              </a:rPr>
              <a:t>We can see the Source (our PC) and Destination (the DNS server).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194"/>
        <p:cNvGrpSpPr/>
        <p:nvPr/>
      </p:nvGrpSpPr>
      <p:grpSpPr>
        <a:xfrm>
          <a:off x="0" y="0"/>
          <a:ext cx="0" cy="0"/>
          <a:chOff x="0" y="0"/>
          <a:chExt cx="0" cy="0"/>
        </a:xfrm>
      </p:grpSpPr>
      <p:pic>
        <p:nvPicPr>
          <p:cNvPr id="195" name="Google Shape;195;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6" name="Google Shape;196;p20"/>
          <p:cNvSpPr txBox="1"/>
          <p:nvPr/>
        </p:nvSpPr>
        <p:spPr>
          <a:xfrm>
            <a:off x="571500" y="571500"/>
            <a:ext cx="5550693" cy="1143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A8CFFF"/>
                </a:solidFill>
                <a:latin typeface="Poppins"/>
                <a:ea typeface="Poppins"/>
                <a:cs typeface="Poppins"/>
                <a:sym typeface="Poppins"/>
              </a:rPr>
              <a:t>Analysis: Dissecting the Query Packet</a:t>
            </a:r>
            <a:endParaRPr/>
          </a:p>
        </p:txBody>
      </p:sp>
      <p:pic>
        <p:nvPicPr>
          <p:cNvPr id="197" name="Google Shape;197;p20" descr="image.png"/>
          <p:cNvPicPr preferRelativeResize="0"/>
          <p:nvPr/>
        </p:nvPicPr>
        <p:blipFill rotWithShape="1">
          <a:blip r:embed="rId4">
            <a:alphaModFix/>
          </a:blip>
          <a:srcRect/>
          <a:stretch/>
        </p:blipFill>
        <p:spPr>
          <a:xfrm>
            <a:off x="6334125" y="0"/>
            <a:ext cx="5857875" cy="6858000"/>
          </a:xfrm>
          <a:prstGeom prst="rect">
            <a:avLst/>
          </a:prstGeom>
          <a:noFill/>
          <a:ln>
            <a:noFill/>
          </a:ln>
        </p:spPr>
      </p:pic>
      <p:sp>
        <p:nvSpPr>
          <p:cNvPr id="198" name="Google Shape;198;p20"/>
          <p:cNvSpPr txBox="1"/>
          <p:nvPr/>
        </p:nvSpPr>
        <p:spPr>
          <a:xfrm>
            <a:off x="571500" y="2286000"/>
            <a:ext cx="52863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E0E0E0"/>
                </a:solidFill>
                <a:latin typeface="Lato"/>
                <a:ea typeface="Lato"/>
                <a:cs typeface="Lato"/>
                <a:sym typeface="Lato"/>
              </a:rPr>
              <a:t>Here, we have selected the </a:t>
            </a:r>
            <a:r>
              <a:rPr lang="en-US" sz="1500" b="1" i="0" u="none" strike="noStrike" cap="none">
                <a:solidFill>
                  <a:srgbClr val="E0E0E0"/>
                </a:solidFill>
                <a:latin typeface="Lato"/>
                <a:ea typeface="Lato"/>
                <a:cs typeface="Lato"/>
                <a:sym typeface="Lato"/>
              </a:rPr>
              <a:t>first packet</a:t>
            </a:r>
            <a:r>
              <a:rPr lang="en-US" sz="1500" b="0" i="0" u="none" strike="noStrike" cap="none">
                <a:solidFill>
                  <a:srgbClr val="E0E0E0"/>
                </a:solidFill>
                <a:latin typeface="Lato"/>
                <a:ea typeface="Lato"/>
                <a:cs typeface="Lato"/>
                <a:sym typeface="Lato"/>
              </a:rPr>
              <a:t>—the query from our PC.</a:t>
            </a:r>
            <a:endParaRPr/>
          </a:p>
        </p:txBody>
      </p:sp>
      <p:sp>
        <p:nvSpPr>
          <p:cNvPr id="199" name="Google Shape;199;p20"/>
          <p:cNvSpPr txBox="1"/>
          <p:nvPr/>
        </p:nvSpPr>
        <p:spPr>
          <a:xfrm>
            <a:off x="666750" y="2838450"/>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E0E0E0"/>
                </a:solidFill>
                <a:latin typeface="Lato"/>
                <a:ea typeface="Lato"/>
                <a:cs typeface="Lato"/>
                <a:sym typeface="Lato"/>
              </a:rPr>
              <a:t>•</a:t>
            </a:r>
            <a:endParaRPr/>
          </a:p>
        </p:txBody>
      </p:sp>
      <p:sp>
        <p:nvSpPr>
          <p:cNvPr id="200" name="Google Shape;200;p20"/>
          <p:cNvSpPr txBox="1"/>
          <p:nvPr/>
        </p:nvSpPr>
        <p:spPr>
          <a:xfrm>
            <a:off x="762000" y="2838450"/>
            <a:ext cx="5095875" cy="514350"/>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Lato"/>
                <a:ea typeface="Lato"/>
                <a:cs typeface="Lato"/>
                <a:sym typeface="Lato"/>
              </a:rPr>
              <a:t>In the packet details pane (middle), we can expand the "Domain Name System (query)" section.</a:t>
            </a:r>
            <a:endParaRPr/>
          </a:p>
        </p:txBody>
      </p:sp>
      <p:sp>
        <p:nvSpPr>
          <p:cNvPr id="201" name="Google Shape;201;p20"/>
          <p:cNvSpPr txBox="1"/>
          <p:nvPr/>
        </p:nvSpPr>
        <p:spPr>
          <a:xfrm>
            <a:off x="666750" y="3448050"/>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E0E0E0"/>
                </a:solidFill>
                <a:latin typeface="Lato"/>
                <a:ea typeface="Lato"/>
                <a:cs typeface="Lato"/>
                <a:sym typeface="Lato"/>
              </a:rPr>
              <a:t>•</a:t>
            </a:r>
            <a:endParaRPr/>
          </a:p>
        </p:txBody>
      </p:sp>
      <p:sp>
        <p:nvSpPr>
          <p:cNvPr id="202" name="Google Shape;202;p20"/>
          <p:cNvSpPr txBox="1"/>
          <p:nvPr/>
        </p:nvSpPr>
        <p:spPr>
          <a:xfrm>
            <a:off x="762000" y="3448050"/>
            <a:ext cx="5095875" cy="257175"/>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Lato"/>
                <a:ea typeface="Lato"/>
                <a:cs typeface="Lato"/>
                <a:sym typeface="Lato"/>
              </a:rPr>
              <a:t>We can see the flags indicating it is a "Standard query".</a:t>
            </a:r>
            <a:endParaRPr/>
          </a:p>
        </p:txBody>
      </p:sp>
      <p:sp>
        <p:nvSpPr>
          <p:cNvPr id="203" name="Google Shape;203;p20"/>
          <p:cNvSpPr txBox="1"/>
          <p:nvPr/>
        </p:nvSpPr>
        <p:spPr>
          <a:xfrm>
            <a:off x="666750" y="3800475"/>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E0E0E0"/>
                </a:solidFill>
                <a:latin typeface="Lato"/>
                <a:ea typeface="Lato"/>
                <a:cs typeface="Lato"/>
                <a:sym typeface="Lato"/>
              </a:rPr>
              <a:t>•</a:t>
            </a:r>
            <a:endParaRPr/>
          </a:p>
        </p:txBody>
      </p:sp>
      <p:sp>
        <p:nvSpPr>
          <p:cNvPr id="204" name="Google Shape;204;p20"/>
          <p:cNvSpPr txBox="1"/>
          <p:nvPr/>
        </p:nvSpPr>
        <p:spPr>
          <a:xfrm>
            <a:off x="762000" y="3800475"/>
            <a:ext cx="5095875" cy="514350"/>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Lato"/>
                <a:ea typeface="Lato"/>
                <a:cs typeface="Lato"/>
                <a:sym typeface="Lato"/>
              </a:rPr>
              <a:t>Under "Queries", we see the name we are looking for: </a:t>
            </a:r>
            <a:r>
              <a:rPr lang="en-US" sz="1350" b="1" i="0" u="none" strike="noStrike" cap="none">
                <a:solidFill>
                  <a:srgbClr val="E0E0E0"/>
                </a:solidFill>
                <a:latin typeface="Lato"/>
                <a:ea typeface="Lato"/>
                <a:cs typeface="Lato"/>
                <a:sym typeface="Lato"/>
              </a:rPr>
              <a:t>www.google.com</a:t>
            </a:r>
            <a:r>
              <a:rPr lang="en-US" sz="1350" b="0" i="0" u="none" strike="noStrike" cap="none">
                <a:solidFill>
                  <a:srgbClr val="E0E0E0"/>
                </a:solidFill>
                <a:latin typeface="Lato"/>
                <a:ea typeface="Lato"/>
                <a:cs typeface="Lato"/>
                <a:sym typeface="Lato"/>
              </a:rPr>
              <a:t>.</a:t>
            </a:r>
            <a:endParaRPr/>
          </a:p>
        </p:txBody>
      </p:sp>
      <p:sp>
        <p:nvSpPr>
          <p:cNvPr id="205" name="Google Shape;205;p20"/>
          <p:cNvSpPr txBox="1"/>
          <p:nvPr/>
        </p:nvSpPr>
        <p:spPr>
          <a:xfrm>
            <a:off x="666750" y="4410075"/>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E0E0E0"/>
                </a:solidFill>
                <a:latin typeface="Lato"/>
                <a:ea typeface="Lato"/>
                <a:cs typeface="Lato"/>
                <a:sym typeface="Lato"/>
              </a:rPr>
              <a:t>•</a:t>
            </a:r>
            <a:endParaRPr/>
          </a:p>
        </p:txBody>
      </p:sp>
      <p:sp>
        <p:nvSpPr>
          <p:cNvPr id="206" name="Google Shape;206;p20"/>
          <p:cNvSpPr txBox="1"/>
          <p:nvPr/>
        </p:nvSpPr>
        <p:spPr>
          <a:xfrm>
            <a:off x="762000" y="4410075"/>
            <a:ext cx="5095875" cy="257175"/>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Lato"/>
                <a:ea typeface="Lato"/>
                <a:cs typeface="Lato"/>
                <a:sym typeface="Lato"/>
              </a:rPr>
              <a:t>It specifies we are asking for a </a:t>
            </a:r>
            <a:r>
              <a:rPr lang="en-US" sz="1350" b="1" i="0" u="none" strike="noStrike" cap="none">
                <a:solidFill>
                  <a:srgbClr val="E0E0E0"/>
                </a:solidFill>
                <a:latin typeface="Lato"/>
                <a:ea typeface="Lato"/>
                <a:cs typeface="Lato"/>
                <a:sym typeface="Lato"/>
              </a:rPr>
              <a:t>Type A</a:t>
            </a:r>
            <a:r>
              <a:rPr lang="en-US" sz="1350" b="0" i="0" u="none" strike="noStrike" cap="none">
                <a:solidFill>
                  <a:srgbClr val="E0E0E0"/>
                </a:solidFill>
                <a:latin typeface="Lato"/>
                <a:ea typeface="Lato"/>
                <a:cs typeface="Lato"/>
                <a:sym typeface="Lato"/>
              </a:rPr>
              <a:t> record (an IPv4 address).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210"/>
        <p:cNvGrpSpPr/>
        <p:nvPr/>
      </p:nvGrpSpPr>
      <p:grpSpPr>
        <a:xfrm>
          <a:off x="0" y="0"/>
          <a:ext cx="0" cy="0"/>
          <a:chOff x="0" y="0"/>
          <a:chExt cx="0" cy="0"/>
        </a:xfrm>
      </p:grpSpPr>
      <p:pic>
        <p:nvPicPr>
          <p:cNvPr id="211" name="Google Shape;211;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2" name="Google Shape;212;p21"/>
          <p:cNvSpPr txBox="1"/>
          <p:nvPr/>
        </p:nvSpPr>
        <p:spPr>
          <a:xfrm>
            <a:off x="571500" y="571500"/>
            <a:ext cx="5550693" cy="1143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A8CFFF"/>
                </a:solidFill>
                <a:latin typeface="Poppins"/>
                <a:ea typeface="Poppins"/>
                <a:cs typeface="Poppins"/>
                <a:sym typeface="Poppins"/>
              </a:rPr>
              <a:t>Analysis: Dissecting the Response Packet</a:t>
            </a:r>
            <a:endParaRPr/>
          </a:p>
        </p:txBody>
      </p:sp>
      <p:pic>
        <p:nvPicPr>
          <p:cNvPr id="213" name="Google Shape;213;p21" descr="image.png"/>
          <p:cNvPicPr preferRelativeResize="0"/>
          <p:nvPr/>
        </p:nvPicPr>
        <p:blipFill rotWithShape="1">
          <a:blip r:embed="rId4">
            <a:alphaModFix/>
          </a:blip>
          <a:srcRect/>
          <a:stretch/>
        </p:blipFill>
        <p:spPr>
          <a:xfrm>
            <a:off x="6334125" y="0"/>
            <a:ext cx="5857875" cy="6858000"/>
          </a:xfrm>
          <a:prstGeom prst="rect">
            <a:avLst/>
          </a:prstGeom>
          <a:noFill/>
          <a:ln>
            <a:noFill/>
          </a:ln>
        </p:spPr>
      </p:pic>
      <p:sp>
        <p:nvSpPr>
          <p:cNvPr id="214" name="Google Shape;214;p21"/>
          <p:cNvSpPr txBox="1"/>
          <p:nvPr/>
        </p:nvSpPr>
        <p:spPr>
          <a:xfrm>
            <a:off x="571500" y="2286000"/>
            <a:ext cx="52863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E0E0E0"/>
                </a:solidFill>
                <a:latin typeface="Lato"/>
                <a:ea typeface="Lato"/>
                <a:cs typeface="Lato"/>
                <a:sym typeface="Lato"/>
              </a:rPr>
              <a:t>Now, we select the </a:t>
            </a:r>
            <a:r>
              <a:rPr lang="en-US" sz="1500" b="1" i="0" u="none" strike="noStrike" cap="none">
                <a:solidFill>
                  <a:srgbClr val="E0E0E0"/>
                </a:solidFill>
                <a:latin typeface="Lato"/>
                <a:ea typeface="Lato"/>
                <a:cs typeface="Lato"/>
                <a:sym typeface="Lato"/>
              </a:rPr>
              <a:t>second packet</a:t>
            </a:r>
            <a:r>
              <a:rPr lang="en-US" sz="1500" b="0" i="0" u="none" strike="noStrike" cap="none">
                <a:solidFill>
                  <a:srgbClr val="E0E0E0"/>
                </a:solidFill>
                <a:latin typeface="Lato"/>
                <a:ea typeface="Lato"/>
                <a:cs typeface="Lato"/>
                <a:sym typeface="Lato"/>
              </a:rPr>
              <a:t>—the response from the DNS server.</a:t>
            </a:r>
            <a:endParaRPr/>
          </a:p>
        </p:txBody>
      </p:sp>
      <p:sp>
        <p:nvSpPr>
          <p:cNvPr id="215" name="Google Shape;215;p21"/>
          <p:cNvSpPr txBox="1"/>
          <p:nvPr/>
        </p:nvSpPr>
        <p:spPr>
          <a:xfrm>
            <a:off x="666750" y="3143250"/>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E0E0E0"/>
                </a:solidFill>
                <a:latin typeface="Lato"/>
                <a:ea typeface="Lato"/>
                <a:cs typeface="Lato"/>
                <a:sym typeface="Lato"/>
              </a:rPr>
              <a:t>•</a:t>
            </a:r>
            <a:endParaRPr/>
          </a:p>
        </p:txBody>
      </p:sp>
      <p:sp>
        <p:nvSpPr>
          <p:cNvPr id="216" name="Google Shape;216;p21"/>
          <p:cNvSpPr txBox="1"/>
          <p:nvPr/>
        </p:nvSpPr>
        <p:spPr>
          <a:xfrm>
            <a:off x="762000" y="3143250"/>
            <a:ext cx="5095875" cy="257175"/>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Lato"/>
                <a:ea typeface="Lato"/>
                <a:cs typeface="Lato"/>
                <a:sym typeface="Lato"/>
              </a:rPr>
              <a:t>The "Info" column shows "Standard query response".</a:t>
            </a:r>
            <a:endParaRPr/>
          </a:p>
        </p:txBody>
      </p:sp>
      <p:sp>
        <p:nvSpPr>
          <p:cNvPr id="217" name="Google Shape;217;p21"/>
          <p:cNvSpPr txBox="1"/>
          <p:nvPr/>
        </p:nvSpPr>
        <p:spPr>
          <a:xfrm>
            <a:off x="666750" y="3495675"/>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E0E0E0"/>
                </a:solidFill>
                <a:latin typeface="Lato"/>
                <a:ea typeface="Lato"/>
                <a:cs typeface="Lato"/>
                <a:sym typeface="Lato"/>
              </a:rPr>
              <a:t>•</a:t>
            </a:r>
            <a:endParaRPr/>
          </a:p>
        </p:txBody>
      </p:sp>
      <p:sp>
        <p:nvSpPr>
          <p:cNvPr id="218" name="Google Shape;218;p21"/>
          <p:cNvSpPr txBox="1"/>
          <p:nvPr/>
        </p:nvSpPr>
        <p:spPr>
          <a:xfrm>
            <a:off x="762000" y="3495675"/>
            <a:ext cx="5095875" cy="257175"/>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Lato"/>
                <a:ea typeface="Lato"/>
                <a:cs typeface="Lato"/>
                <a:sym typeface="Lato"/>
              </a:rPr>
              <a:t>In the packet details, we expand the </a:t>
            </a:r>
            <a:r>
              <a:rPr lang="en-US" sz="1350" b="1" i="0" u="none" strike="noStrike" cap="none">
                <a:solidFill>
                  <a:srgbClr val="E0E0E0"/>
                </a:solidFill>
                <a:latin typeface="Lato"/>
                <a:ea typeface="Lato"/>
                <a:cs typeface="Lato"/>
                <a:sym typeface="Lato"/>
              </a:rPr>
              <a:t>"Answers"</a:t>
            </a:r>
            <a:r>
              <a:rPr lang="en-US" sz="1350" b="0" i="0" u="none" strike="noStrike" cap="none">
                <a:solidFill>
                  <a:srgbClr val="E0E0E0"/>
                </a:solidFill>
                <a:latin typeface="Lato"/>
                <a:ea typeface="Lato"/>
                <a:cs typeface="Lato"/>
                <a:sym typeface="Lato"/>
              </a:rPr>
              <a:t> section.</a:t>
            </a:r>
            <a:endParaRPr/>
          </a:p>
        </p:txBody>
      </p:sp>
      <p:sp>
        <p:nvSpPr>
          <p:cNvPr id="219" name="Google Shape;219;p21"/>
          <p:cNvSpPr txBox="1"/>
          <p:nvPr/>
        </p:nvSpPr>
        <p:spPr>
          <a:xfrm>
            <a:off x="666750" y="3848100"/>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E0E0E0"/>
                </a:solidFill>
                <a:latin typeface="Lato"/>
                <a:ea typeface="Lato"/>
                <a:cs typeface="Lato"/>
                <a:sym typeface="Lato"/>
              </a:rPr>
              <a:t>•</a:t>
            </a:r>
            <a:endParaRPr/>
          </a:p>
        </p:txBody>
      </p:sp>
      <p:sp>
        <p:nvSpPr>
          <p:cNvPr id="220" name="Google Shape;220;p21"/>
          <p:cNvSpPr txBox="1"/>
          <p:nvPr/>
        </p:nvSpPr>
        <p:spPr>
          <a:xfrm>
            <a:off x="762000" y="3848100"/>
            <a:ext cx="5095875" cy="1028700"/>
          </a:xfrm>
          <a:prstGeom prst="rect">
            <a:avLst/>
          </a:prstGeom>
          <a:noFill/>
          <a:ln>
            <a:noFill/>
          </a:ln>
        </p:spPr>
        <p:txBody>
          <a:bodyPr spcFirstLastPara="1" wrap="square" lIns="95250" tIns="0" rIns="0" bIns="0" anchor="t" anchorCtr="0">
            <a:spAutoFit/>
          </a:bodyPr>
          <a:lstStyle/>
          <a:p>
            <a:pPr marL="0" marR="0" lvl="0" indent="0" algn="l" rtl="0">
              <a:lnSpc>
                <a:spcPct val="112500"/>
              </a:lnSpc>
              <a:spcBef>
                <a:spcPts val="0"/>
              </a:spcBef>
              <a:spcAft>
                <a:spcPts val="0"/>
              </a:spcAft>
              <a:buNone/>
            </a:pPr>
            <a:r>
              <a:rPr lang="en-US" sz="1350" b="0" i="0" u="none" strike="noStrike" cap="none">
                <a:solidFill>
                  <a:srgbClr val="E0E0E0"/>
                </a:solidFill>
                <a:latin typeface="Lato"/>
                <a:ea typeface="Lato"/>
                <a:cs typeface="Lato"/>
                <a:sym typeface="Lato"/>
              </a:rPr>
              <a:t>The server has provided the answer: </a:t>
            </a:r>
            <a:br>
              <a:rPr lang="en-US" sz="1800" b="0" i="0" u="none" strike="noStrike" cap="none">
                <a:solidFill>
                  <a:schemeClr val="dk1"/>
                </a:solidFill>
                <a:latin typeface="Calibri"/>
                <a:ea typeface="Calibri"/>
                <a:cs typeface="Calibri"/>
                <a:sym typeface="Calibri"/>
              </a:rPr>
            </a:br>
            <a:r>
              <a:rPr lang="en-US" sz="1350" b="1" i="0" u="none" strike="noStrike" cap="none">
                <a:solidFill>
                  <a:srgbClr val="E0E0E0"/>
                </a:solidFill>
                <a:latin typeface="Lato"/>
                <a:ea typeface="Lato"/>
                <a:cs typeface="Lato"/>
                <a:sym typeface="Lato"/>
              </a:rPr>
              <a:t>Name:</a:t>
            </a:r>
            <a:r>
              <a:rPr lang="en-US" sz="1350" b="0" i="0" u="none" strike="noStrike" cap="none">
                <a:solidFill>
                  <a:srgbClr val="E0E0E0"/>
                </a:solidFill>
                <a:latin typeface="Lato"/>
                <a:ea typeface="Lato"/>
                <a:cs typeface="Lato"/>
                <a:sym typeface="Lato"/>
              </a:rPr>
              <a:t> www.google.com </a:t>
            </a:r>
            <a:br>
              <a:rPr lang="en-US" sz="1800" b="0" i="0" u="none" strike="noStrike" cap="none">
                <a:solidFill>
                  <a:schemeClr val="dk1"/>
                </a:solidFill>
                <a:latin typeface="Calibri"/>
                <a:ea typeface="Calibri"/>
                <a:cs typeface="Calibri"/>
                <a:sym typeface="Calibri"/>
              </a:rPr>
            </a:br>
            <a:r>
              <a:rPr lang="en-US" sz="1350" b="1" i="0" u="none" strike="noStrike" cap="none">
                <a:solidFill>
                  <a:srgbClr val="E0E0E0"/>
                </a:solidFill>
                <a:latin typeface="Lato"/>
                <a:ea typeface="Lato"/>
                <a:cs typeface="Lato"/>
                <a:sym typeface="Lato"/>
              </a:rPr>
              <a:t>Type:</a:t>
            </a:r>
            <a:r>
              <a:rPr lang="en-US" sz="1350" b="0" i="0" u="none" strike="noStrike" cap="none">
                <a:solidFill>
                  <a:srgbClr val="E0E0E0"/>
                </a:solidFill>
                <a:latin typeface="Lato"/>
                <a:ea typeface="Lato"/>
                <a:cs typeface="Lato"/>
                <a:sym typeface="Lato"/>
              </a:rPr>
              <a:t> A (IPv4) </a:t>
            </a:r>
            <a:br>
              <a:rPr lang="en-US" sz="1800" b="0" i="0" u="none" strike="noStrike" cap="none">
                <a:solidFill>
                  <a:schemeClr val="dk1"/>
                </a:solidFill>
                <a:latin typeface="Calibri"/>
                <a:ea typeface="Calibri"/>
                <a:cs typeface="Calibri"/>
                <a:sym typeface="Calibri"/>
              </a:rPr>
            </a:br>
            <a:r>
              <a:rPr lang="en-US" sz="1350" b="1" i="0" u="none" strike="noStrike" cap="none">
                <a:solidFill>
                  <a:srgbClr val="E0E0E0"/>
                </a:solidFill>
                <a:latin typeface="Lato"/>
                <a:ea typeface="Lato"/>
                <a:cs typeface="Lato"/>
                <a:sym typeface="Lato"/>
              </a:rPr>
              <a:t>Address:</a:t>
            </a:r>
            <a:r>
              <a:rPr lang="en-US" sz="1350" b="0" i="0" u="none" strike="noStrike" cap="none">
                <a:solidFill>
                  <a:srgbClr val="E0E0E0"/>
                </a:solidFill>
                <a:latin typeface="Lato"/>
                <a:ea typeface="Lato"/>
                <a:cs typeface="Lato"/>
                <a:sym typeface="Lato"/>
              </a:rPr>
              <a:t> 142.250.190.78</a:t>
            </a:r>
            <a:endParaRPr/>
          </a:p>
        </p:txBody>
      </p:sp>
      <p:sp>
        <p:nvSpPr>
          <p:cNvPr id="221" name="Google Shape;221;p21"/>
          <p:cNvSpPr txBox="1"/>
          <p:nvPr/>
        </p:nvSpPr>
        <p:spPr>
          <a:xfrm>
            <a:off x="666750" y="4972050"/>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E0E0E0"/>
                </a:solidFill>
                <a:latin typeface="Lato"/>
                <a:ea typeface="Lato"/>
                <a:cs typeface="Lato"/>
                <a:sym typeface="Lato"/>
              </a:rPr>
              <a:t>•</a:t>
            </a:r>
            <a:endParaRPr/>
          </a:p>
        </p:txBody>
      </p:sp>
      <p:sp>
        <p:nvSpPr>
          <p:cNvPr id="222" name="Google Shape;222;p21"/>
          <p:cNvSpPr txBox="1"/>
          <p:nvPr/>
        </p:nvSpPr>
        <p:spPr>
          <a:xfrm>
            <a:off x="762000" y="4972050"/>
            <a:ext cx="5095875" cy="257175"/>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Lato"/>
                <a:ea typeface="Lato"/>
                <a:cs typeface="Lato"/>
                <a:sym typeface="Lato"/>
              </a:rPr>
              <a:t>This is the IP address our browser needs!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226"/>
        <p:cNvGrpSpPr/>
        <p:nvPr/>
      </p:nvGrpSpPr>
      <p:grpSpPr>
        <a:xfrm>
          <a:off x="0" y="0"/>
          <a:ext cx="0" cy="0"/>
          <a:chOff x="0" y="0"/>
          <a:chExt cx="0" cy="0"/>
        </a:xfrm>
      </p:grpSpPr>
      <p:pic>
        <p:nvPicPr>
          <p:cNvPr id="227" name="Google Shape;227;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8" name="Google Shape;228;p22"/>
          <p:cNvSpPr txBox="1"/>
          <p:nvPr/>
        </p:nvSpPr>
        <p:spPr>
          <a:xfrm>
            <a:off x="571500" y="2390775"/>
            <a:ext cx="5286375" cy="14287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1250" b="1" i="0" u="none" strike="noStrike" cap="none">
                <a:solidFill>
                  <a:srgbClr val="A8CFFF"/>
                </a:solidFill>
                <a:latin typeface="Poppins"/>
                <a:ea typeface="Poppins"/>
                <a:cs typeface="Poppins"/>
                <a:sym typeface="Poppins"/>
              </a:rPr>
              <a:t>&lt;50ms</a:t>
            </a:r>
            <a:endParaRPr/>
          </a:p>
        </p:txBody>
      </p:sp>
      <p:sp>
        <p:nvSpPr>
          <p:cNvPr id="229" name="Google Shape;229;p22"/>
          <p:cNvSpPr txBox="1"/>
          <p:nvPr/>
        </p:nvSpPr>
        <p:spPr>
          <a:xfrm>
            <a:off x="571500" y="3819525"/>
            <a:ext cx="5286375"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E0E0E0"/>
                </a:solidFill>
                <a:latin typeface="Lato"/>
                <a:ea typeface="Lato"/>
                <a:cs typeface="Lato"/>
                <a:sym typeface="Lato"/>
              </a:rPr>
              <a:t>Typical Query Time</a:t>
            </a:r>
            <a:endParaRPr/>
          </a:p>
        </p:txBody>
      </p:sp>
      <p:sp>
        <p:nvSpPr>
          <p:cNvPr id="230" name="Google Shape;230;p22"/>
          <p:cNvSpPr txBox="1"/>
          <p:nvPr/>
        </p:nvSpPr>
        <p:spPr>
          <a:xfrm>
            <a:off x="6334125" y="2390775"/>
            <a:ext cx="5550693"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FFFFFF"/>
                </a:solidFill>
                <a:latin typeface="Poppins"/>
                <a:ea typeface="Poppins"/>
                <a:cs typeface="Poppins"/>
                <a:sym typeface="Poppins"/>
              </a:rPr>
              <a:t>What We Found</a:t>
            </a:r>
            <a:endParaRPr/>
          </a:p>
        </p:txBody>
      </p:sp>
      <p:sp>
        <p:nvSpPr>
          <p:cNvPr id="231" name="Google Shape;231;p22"/>
          <p:cNvSpPr txBox="1"/>
          <p:nvPr/>
        </p:nvSpPr>
        <p:spPr>
          <a:xfrm>
            <a:off x="6334125" y="3038475"/>
            <a:ext cx="5286375" cy="8572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E0E0E0"/>
                </a:solidFill>
                <a:latin typeface="Lato"/>
                <a:ea typeface="Lato"/>
                <a:cs typeface="Lato"/>
                <a:sym typeface="Lato"/>
              </a:rPr>
              <a:t>Performance:</a:t>
            </a:r>
            <a:r>
              <a:rPr lang="en-US" sz="1500" b="0" i="0" u="none" strike="noStrike" cap="none">
                <a:solidFill>
                  <a:srgbClr val="E0E0E0"/>
                </a:solidFill>
                <a:latin typeface="Lato"/>
                <a:ea typeface="Lato"/>
                <a:cs typeface="Lato"/>
                <a:sym typeface="Lato"/>
              </a:rPr>
              <a:t> The entire process—from query to response—is incredibly fast, often taking less than 50 milliseconds. This speed is essential for a fast-feeling internet.</a:t>
            </a:r>
            <a:endParaRPr/>
          </a:p>
        </p:txBody>
      </p:sp>
      <p:sp>
        <p:nvSpPr>
          <p:cNvPr id="232" name="Google Shape;232;p22"/>
          <p:cNvSpPr txBox="1"/>
          <p:nvPr/>
        </p:nvSpPr>
        <p:spPr>
          <a:xfrm>
            <a:off x="6334125" y="4086225"/>
            <a:ext cx="5286375" cy="11430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E0E0E0"/>
                </a:solidFill>
                <a:latin typeface="Lato"/>
                <a:ea typeface="Lato"/>
                <a:cs typeface="Lato"/>
                <a:sym typeface="Lato"/>
              </a:rPr>
              <a:t>Security:</a:t>
            </a:r>
            <a:r>
              <a:rPr lang="en-US" sz="1500" b="0" i="0" u="none" strike="noStrike" cap="none">
                <a:solidFill>
                  <a:srgbClr val="E0E0E0"/>
                </a:solidFill>
                <a:latin typeface="Lato"/>
                <a:ea typeface="Lato"/>
                <a:cs typeface="Lato"/>
                <a:sym typeface="Lato"/>
              </a:rPr>
              <a:t> We also confirmed that this DNS traffic is sent in clear text. Anyone on the network can see what websites you are looking up. This major privacy flaw is why new protocols like DNS-over-HTTPS (DoH) were invented.</a:t>
            </a:r>
            <a:endParaRPr/>
          </a:p>
        </p:txBody>
      </p:sp>
      <p:sp>
        <p:nvSpPr>
          <p:cNvPr id="233" name="Google Shape;233;p22"/>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a:solidFill>
                  <a:srgbClr val="A8CFFF"/>
                </a:solidFill>
                <a:latin typeface="Poppins"/>
                <a:ea typeface="Poppins"/>
                <a:cs typeface="Poppins"/>
                <a:sym typeface="Poppins"/>
              </a:rPr>
              <a:t>Analysis &amp; Practical Implications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237"/>
        <p:cNvGrpSpPr/>
        <p:nvPr/>
      </p:nvGrpSpPr>
      <p:grpSpPr>
        <a:xfrm>
          <a:off x="0" y="0"/>
          <a:ext cx="0" cy="0"/>
          <a:chOff x="0" y="0"/>
          <a:chExt cx="0" cy="0"/>
        </a:xfrm>
      </p:grpSpPr>
      <p:pic>
        <p:nvPicPr>
          <p:cNvPr id="238" name="Google Shape;238;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9" name="Google Shape;239;p23"/>
          <p:cNvSpPr/>
          <p:nvPr/>
        </p:nvSpPr>
        <p:spPr>
          <a:xfrm>
            <a:off x="5619750" y="1538287"/>
            <a:ext cx="952500" cy="47625"/>
          </a:xfrm>
          <a:prstGeom prst="rect">
            <a:avLst/>
          </a:prstGeom>
          <a:solidFill>
            <a:srgbClr val="A8C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0" name="Google Shape;240;p23"/>
          <p:cNvSpPr txBox="1"/>
          <p:nvPr/>
        </p:nvSpPr>
        <p:spPr>
          <a:xfrm>
            <a:off x="3770709" y="1871662"/>
            <a:ext cx="4650581" cy="114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FFFFFF"/>
                </a:solidFill>
                <a:latin typeface="Poppins"/>
                <a:ea typeface="Poppins"/>
                <a:cs typeface="Poppins"/>
                <a:sym typeface="Poppins"/>
              </a:rPr>
              <a:t>Conclusion</a:t>
            </a:r>
            <a:endParaRPr/>
          </a:p>
        </p:txBody>
      </p:sp>
      <p:sp>
        <p:nvSpPr>
          <p:cNvPr id="241" name="Google Shape;241;p23"/>
          <p:cNvSpPr txBox="1"/>
          <p:nvPr/>
        </p:nvSpPr>
        <p:spPr>
          <a:xfrm>
            <a:off x="2762250" y="3205162"/>
            <a:ext cx="6667500" cy="24003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1" i="0" u="none" strike="noStrike" cap="none">
                <a:solidFill>
                  <a:srgbClr val="E0E0E0"/>
                </a:solidFill>
                <a:latin typeface="Lato"/>
                <a:ea typeface="Lato"/>
                <a:cs typeface="Lato"/>
                <a:sym typeface="Lato"/>
              </a:rPr>
              <a:t>Summary:</a:t>
            </a:r>
            <a:r>
              <a:rPr lang="en-US" sz="1800" b="0" i="0" u="none" strike="noStrike" cap="none">
                <a:solidFill>
                  <a:srgbClr val="E0E0E0"/>
                </a:solidFill>
                <a:latin typeface="Lato"/>
                <a:ea typeface="Lato"/>
                <a:cs typeface="Lato"/>
                <a:sym typeface="Lato"/>
              </a:rPr>
              <a:t> DNS is the essential translation service of the internet, turning names into IPs. </a:t>
            </a:r>
            <a:br>
              <a:rPr lang="en-US" sz="1800" b="0" i="0" u="none" strike="noStrike" cap="none">
                <a:solidFill>
                  <a:schemeClr val="dk1"/>
                </a:solidFill>
                <a:latin typeface="Calibri"/>
                <a:ea typeface="Calibri"/>
                <a:cs typeface="Calibri"/>
                <a:sym typeface="Calibri"/>
              </a:rPr>
            </a:br>
            <a:br>
              <a:rPr lang="en-US" sz="1800" b="0" i="0" u="none" strike="noStrike" cap="none">
                <a:solidFill>
                  <a:schemeClr val="dk1"/>
                </a:solidFill>
                <a:latin typeface="Calibri"/>
                <a:ea typeface="Calibri"/>
                <a:cs typeface="Calibri"/>
                <a:sym typeface="Calibri"/>
              </a:rPr>
            </a:br>
            <a:r>
              <a:rPr lang="en-US" sz="1800" b="1" i="0" u="none" strike="noStrike" cap="none">
                <a:solidFill>
                  <a:srgbClr val="E0E0E0"/>
                </a:solidFill>
                <a:latin typeface="Lato"/>
                <a:ea typeface="Lato"/>
                <a:cs typeface="Lato"/>
                <a:sym typeface="Lato"/>
              </a:rPr>
              <a:t>Takeaway:</a:t>
            </a:r>
            <a:r>
              <a:rPr lang="en-US" sz="1800" b="0" i="0" u="none" strike="noStrike" cap="none">
                <a:solidFill>
                  <a:srgbClr val="E0E0E0"/>
                </a:solidFill>
                <a:latin typeface="Lato"/>
                <a:ea typeface="Lato"/>
                <a:cs typeface="Lato"/>
                <a:sym typeface="Lato"/>
              </a:rPr>
              <a:t> Wireshark is a powerful, practical tool that makes this complex "invisible" protocol visible, allowing us to analyze the query/response flow, diagnose issues, and understand its performance.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245"/>
        <p:cNvGrpSpPr/>
        <p:nvPr/>
      </p:nvGrpSpPr>
      <p:grpSpPr>
        <a:xfrm>
          <a:off x="0" y="0"/>
          <a:ext cx="0" cy="0"/>
          <a:chOff x="0" y="0"/>
          <a:chExt cx="0" cy="0"/>
        </a:xfrm>
      </p:grpSpPr>
      <p:pic>
        <p:nvPicPr>
          <p:cNvPr id="246" name="Google Shape;246;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7" name="Google Shape;247;p24"/>
          <p:cNvSpPr txBox="1"/>
          <p:nvPr/>
        </p:nvSpPr>
        <p:spPr>
          <a:xfrm>
            <a:off x="295275" y="1758553"/>
            <a:ext cx="11601450" cy="114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FFFFFF"/>
                </a:solidFill>
                <a:latin typeface="Poppins"/>
                <a:ea typeface="Poppins"/>
                <a:cs typeface="Poppins"/>
                <a:sym typeface="Poppins"/>
              </a:rPr>
              <a:t>Thank You</a:t>
            </a:r>
            <a:endParaRPr/>
          </a:p>
        </p:txBody>
      </p:sp>
      <p:sp>
        <p:nvSpPr>
          <p:cNvPr id="248" name="Google Shape;248;p24"/>
          <p:cNvSpPr txBox="1"/>
          <p:nvPr/>
        </p:nvSpPr>
        <p:spPr>
          <a:xfrm>
            <a:off x="571500" y="3092053"/>
            <a:ext cx="11049000" cy="2857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E0E0E0"/>
                </a:solidFill>
                <a:latin typeface="Lato"/>
                <a:ea typeface="Lato"/>
                <a:cs typeface="Lato"/>
                <a:sym typeface="Lato"/>
              </a:rPr>
              <a:t>Questions?</a:t>
            </a:r>
            <a:endParaRPr/>
          </a:p>
        </p:txBody>
      </p:sp>
      <p:sp>
        <p:nvSpPr>
          <p:cNvPr id="249" name="Google Shape;249;p24"/>
          <p:cNvSpPr txBox="1"/>
          <p:nvPr/>
        </p:nvSpPr>
        <p:spPr>
          <a:xfrm>
            <a:off x="571500" y="3758803"/>
            <a:ext cx="11049000" cy="1340643"/>
          </a:xfrm>
          <a:prstGeom prst="rect">
            <a:avLst/>
          </a:prstGeom>
          <a:noFill/>
          <a:ln>
            <a:noFill/>
          </a:ln>
        </p:spPr>
        <p:txBody>
          <a:bodyPr spcFirstLastPara="1" wrap="square" lIns="0" tIns="0" rIns="0" bIns="0" anchor="t" anchorCtr="0">
            <a:spAutoFit/>
          </a:bodyPr>
          <a:lstStyle/>
          <a:p>
            <a:pPr marL="0" marR="0" lvl="0" indent="0" algn="ctr" rtl="0">
              <a:lnSpc>
                <a:spcPct val="146666"/>
              </a:lnSpc>
              <a:spcBef>
                <a:spcPts val="0"/>
              </a:spcBef>
              <a:spcAft>
                <a:spcPts val="0"/>
              </a:spcAft>
              <a:buNone/>
            </a:pPr>
            <a:r>
              <a:rPr lang="en-US" sz="1650" b="1" i="0" u="none" strike="noStrike" cap="none">
                <a:solidFill>
                  <a:srgbClr val="A8CFFF"/>
                </a:solidFill>
                <a:latin typeface="Lato"/>
                <a:ea typeface="Lato"/>
                <a:cs typeface="Lato"/>
                <a:sym typeface="Lato"/>
              </a:rPr>
              <a:t>Key References:</a:t>
            </a:r>
            <a:r>
              <a:rPr lang="en-US" sz="1650" b="0" i="0" u="none" strike="noStrike" cap="none">
                <a:solidFill>
                  <a:srgbClr val="E0E0E0"/>
                </a:solidFill>
                <a:latin typeface="Lato"/>
                <a:ea typeface="Lato"/>
                <a:cs typeface="Lato"/>
                <a:sym typeface="Lato"/>
              </a:rPr>
              <a:t> </a:t>
            </a:r>
            <a:br>
              <a:rPr lang="en-US" sz="1800" b="0" i="0" u="none" strike="noStrike" cap="none">
                <a:solidFill>
                  <a:schemeClr val="dk1"/>
                </a:solidFill>
                <a:latin typeface="Calibri"/>
                <a:ea typeface="Calibri"/>
                <a:cs typeface="Calibri"/>
                <a:sym typeface="Calibri"/>
              </a:rPr>
            </a:br>
            <a:r>
              <a:rPr lang="en-US" sz="1650" b="0" i="0" u="none" strike="noStrike" cap="none">
                <a:solidFill>
                  <a:srgbClr val="E0E0E0"/>
                </a:solidFill>
                <a:latin typeface="Lato"/>
                <a:ea typeface="Lato"/>
                <a:cs typeface="Lato"/>
                <a:sym typeface="Lato"/>
              </a:rPr>
              <a:t> Forouzan, B. A. (2012). </a:t>
            </a:r>
            <a:r>
              <a:rPr lang="en-US" sz="1650" b="0" i="1" u="none" strike="noStrike" cap="none">
                <a:solidFill>
                  <a:srgbClr val="E0E0E0"/>
                </a:solidFill>
                <a:latin typeface="Lato"/>
                <a:ea typeface="Lato"/>
                <a:cs typeface="Lato"/>
                <a:sym typeface="Lato"/>
              </a:rPr>
              <a:t>Data Communications and Networking.</a:t>
            </a:r>
            <a:r>
              <a:rPr lang="en-US" sz="1650" b="0" i="0" u="none" strike="noStrike" cap="none">
                <a:solidFill>
                  <a:srgbClr val="E0E0E0"/>
                </a:solidFill>
                <a:latin typeface="Lato"/>
                <a:ea typeface="Lato"/>
                <a:cs typeface="Lato"/>
                <a:sym typeface="Lato"/>
              </a:rPr>
              <a:t> </a:t>
            </a:r>
            <a:br>
              <a:rPr lang="en-US" sz="1800" b="0" i="0" u="none" strike="noStrike" cap="none">
                <a:solidFill>
                  <a:schemeClr val="dk1"/>
                </a:solidFill>
                <a:latin typeface="Calibri"/>
                <a:ea typeface="Calibri"/>
                <a:cs typeface="Calibri"/>
                <a:sym typeface="Calibri"/>
              </a:rPr>
            </a:br>
            <a:r>
              <a:rPr lang="en-US" sz="1650" b="0" i="0" u="none" strike="noStrike" cap="none">
                <a:solidFill>
                  <a:srgbClr val="E0E0E0"/>
                </a:solidFill>
                <a:latin typeface="Lato"/>
                <a:ea typeface="Lato"/>
                <a:cs typeface="Lato"/>
                <a:sym typeface="Lato"/>
              </a:rPr>
              <a:t> Kurose, J. F., &amp; Ross, K. W. (2021). </a:t>
            </a:r>
            <a:r>
              <a:rPr lang="en-US" sz="1650" b="0" i="1" u="none" strike="noStrike" cap="none">
                <a:solidFill>
                  <a:srgbClr val="E0E0E0"/>
                </a:solidFill>
                <a:latin typeface="Lato"/>
                <a:ea typeface="Lato"/>
                <a:cs typeface="Lato"/>
                <a:sym typeface="Lato"/>
              </a:rPr>
              <a:t>Computer Networking: A Top-Down Approach.</a:t>
            </a:r>
            <a:r>
              <a:rPr lang="en-US" sz="1650" b="0" i="0" u="none" strike="noStrike" cap="none">
                <a:solidFill>
                  <a:srgbClr val="E0E0E0"/>
                </a:solidFill>
                <a:latin typeface="Lato"/>
                <a:ea typeface="Lato"/>
                <a:cs typeface="Lato"/>
                <a:sym typeface="Lato"/>
              </a:rPr>
              <a:t> </a:t>
            </a:r>
            <a:br>
              <a:rPr lang="en-US" sz="1800" b="0" i="0" u="none" strike="noStrike" cap="none">
                <a:solidFill>
                  <a:schemeClr val="dk1"/>
                </a:solidFill>
                <a:latin typeface="Calibri"/>
                <a:ea typeface="Calibri"/>
                <a:cs typeface="Calibri"/>
                <a:sym typeface="Calibri"/>
              </a:rPr>
            </a:br>
            <a:r>
              <a:rPr lang="en-US" sz="1650" b="0" i="0" u="none" strike="noStrike" cap="none">
                <a:solidFill>
                  <a:srgbClr val="E0E0E0"/>
                </a:solidFill>
                <a:latin typeface="Lato"/>
                <a:ea typeface="Lato"/>
                <a:cs typeface="Lato"/>
                <a:sym typeface="Lato"/>
              </a:rPr>
              <a:t> Official Wireshark Documentation (wireshark.org)</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1058</Words>
  <Application>Microsoft Office PowerPoint</Application>
  <PresentationFormat>Widescreen</PresentationFormat>
  <Paragraphs>90</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Lato</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Prosenjit mondol</cp:lastModifiedBy>
  <cp:revision>1</cp:revision>
  <dcterms:modified xsi:type="dcterms:W3CDTF">2025-11-17T13:32:05Z</dcterms:modified>
</cp:coreProperties>
</file>